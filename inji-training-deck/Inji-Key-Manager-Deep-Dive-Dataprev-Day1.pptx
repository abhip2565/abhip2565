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Open by naming the stakes: everything the issuance side does — every credential, every DID document, every status list — is only worth something because a private key stayed private. This session is about the component that makes that true.</a:t>
            </a:r>
          </a:p>
          <a:p>
            <a:r>
              <a:rPr sz="1100"/>
              <a:t>• Tell the room the shape of the 90 minutes: 8 topics, roughly 10 minutes each, diagram-led. Questions welcome throughout; anything that needs the hands-on environment gets parked for the 15:10 lab.</a:t>
            </a:r>
          </a:p>
          <a:p>
            <a:r>
              <a:rPr sz="1100"/>
              <a:t>• Ask up front: who here has run an HSM in production? Who has done a key rotation on a live service? The answers tell you how deep to go in topics 4 and 5.</a:t>
            </a:r>
          </a:p>
          <a:p>
            <a:r>
              <a:rPr b="1" sz="1100"/>
              <a:t>CAVEATS / GOTCHAS</a:t>
            </a:r>
          </a:p>
          <a:p>
            <a:r>
              <a:rPr sz="1100"/>
              <a:t>• This is the MOSIP Key Manager (mosip/keymanager, kernel-keymanager-service). Inji Certify embeds the same library rather than calling it over HTTP — that distinction comes up in topic 2 and matters for deployment.</a:t>
            </a:r>
          </a:p>
          <a:p>
            <a:r>
              <a:rPr sz="1100"/>
              <a:t>• Numbers on these slides (validity days, pre-expire days) come from the shipped key_policy_def seed data. Dataprev will set its own.</a:t>
            </a:r>
          </a:p>
          <a:p>
            <a:r>
              <a:rPr b="1" sz="1100"/>
              <a:t>TIME: 2 min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Keep this to ninety seconds. The room is technical and impatient.</a:t>
            </a:r>
          </a:p>
          <a:p>
            <a:r>
              <a:rPr sz="1100"/>
              <a:t>• Do flag the shape: topics 1–3 are the model, topics 4–8 are consequences. If we run long, topic 7 compresses and topic 8 does not — incident response is the one people remember.</a:t>
            </a:r>
          </a:p>
          <a:p>
            <a:r>
              <a:rPr sz="1100"/>
              <a:t>• The callout is the thesis of the session. Say it now, and say it again in the recap.</a:t>
            </a:r>
          </a:p>
          <a:p>
            <a:r>
              <a:rPr b="1" sz="1100"/>
              <a:t>TIME: 2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Do not present this as theory. Ask the room how key material is handled in the systems they operate today, and let the left-hand box be uncomfortable.</a:t>
            </a:r>
          </a:p>
          <a:p>
            <a:r>
              <a:rPr sz="1100"/>
              <a:t>• The strongest of the three benefits for a national issuer is the audit trail. When a credential is disputed years later, 'which key signed this and was it valid at the time' has to have one answer, from one system.</a:t>
            </a:r>
          </a:p>
          <a:p>
            <a:r>
              <a:rPr sz="1100"/>
              <a:t>• The policy point is concrete in MOSIP: key_policy_def is a database table with app_id, key_validity_duration and pre_expire_days. Changing rotation cadence is a data change, not a release.</a:t>
            </a:r>
          </a:p>
          <a:p>
            <a:r>
              <a:rPr sz="1100"/>
              <a:t>• Note that 'Key Manager' here is a library as much as a service — Certify embeds it. We come back to that on the next slide.</a:t>
            </a:r>
          </a:p>
          <a:p>
            <a:r>
              <a:rPr b="1" sz="1100"/>
              <a:t>CAVEATS / GOTCHAS</a:t>
            </a:r>
          </a:p>
          <a:p>
            <a:r>
              <a:rPr sz="1100"/>
              <a:t>• Centralisation is also concentration of risk. One Key Manager compromised is worse than one service compromised. That is precisely why the HSM and the role model matter, and why topic 8 exists.</a:t>
            </a:r>
          </a:p>
          <a:p>
            <a:r>
              <a:rPr sz="1100"/>
              <a:t>• Do not oversell: a Key Manager does not remove the need for network segmentation, secrets management or least-privilege service accounts.</a:t>
            </a:r>
          </a:p>
          <a:p>
            <a:r>
              <a:rPr b="1" sz="1100"/>
              <a:t>LIKELY QUESTIONS</a:t>
            </a:r>
          </a:p>
          <a:p>
            <a:r>
              <a:rPr sz="1100"/>
              <a:t>– Isn't this a single point of failure? — For availability, yes; design for HA. For confidentiality it is the opposite: one hardened point beats three soft ones.</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slide prevents a real deployment misunderstanding. In a full MOSIP platform the Key Manager is a shared REST service. In the Inji stack, Certify links the same library in-process and owns its own keystore and key tables.</a:t>
            </a:r>
          </a:p>
          <a:p>
            <a:r>
              <a:rPr sz="1100"/>
              <a:t>• The evidence is in certify-default.properties: mosip.kernel.keymanager.hsm.keystore-type, config-path and keystore-pass are set on Certify itself. Show that file in the hands-on if people doubt it.</a:t>
            </a:r>
          </a:p>
          <a:p>
            <a:r>
              <a:rPr sz="1100"/>
              <a:t>• Consequences to state explicitly: no network hop for signing (good for latency), no shared custody across services (good for isolation), but also no single audit point across Certify and eSignet — each has its own.</a:t>
            </a:r>
          </a:p>
          <a:p>
            <a:r>
              <a:rPr sz="1100"/>
              <a:t>• For Dataprev: which shape you want is a real architecture decision. If several Dataprev services will sign credentials, Shape A gives you one custody point; Shape B gives you simpler operations per service.</a:t>
            </a:r>
          </a:p>
          <a:p>
            <a:r>
              <a:rPr b="1" sz="1100"/>
              <a:t>CAVEATS / GOTCHAS</a:t>
            </a:r>
          </a:p>
          <a:p>
            <a:r>
              <a:rPr sz="1100"/>
              <a:t>• Shape B means every Certify replica needs access to the keystore. With PKCS11 that means every pod needs the HSM client library and credentials — this is a real operational constraint we return to in topic 4.</a:t>
            </a:r>
          </a:p>
          <a:p>
            <a:r>
              <a:rPr sz="1100"/>
              <a:t>• Do not assume the local PKCS12 file in the default config is acceptable anywhere but a laptop.</a:t>
            </a:r>
          </a:p>
          <a:p>
            <a:r>
              <a:rPr b="1" sz="1100"/>
              <a:t>LIKELY QUESTIONS</a:t>
            </a:r>
          </a:p>
          <a:p>
            <a:r>
              <a:rPr sz="1100"/>
              <a:t>– Can we run Certify against a separate Key Manager service? — Not out of the box in the current code path; it links the library. Treat it as a change to propose upstream, not a config flag.</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Draw this on the whiteboard as you talk. Three tiers, and the relationship between them is 'signs the certificate of'.</a:t>
            </a:r>
          </a:p>
          <a:p>
            <a:r>
              <a:rPr sz="1100"/>
              <a:t>• Tier 1, ROOT: app_id ROOT in key_policy_def, 2920 days validity in the shipped seed data. It signs module certificates and nothing else. If you ever see a credential signed directly by ROOT, something is wrong.</a:t>
            </a:r>
          </a:p>
          <a:p>
            <a:r>
              <a:rPr sz="1100"/>
              <a:t>• Tier 2, module or master key: one per app_id. In Certify these are CERTIFY_VC_SIGN_RSA, CERTIFY_VC_SIGN_ED25519, CERTIFY_VC_SIGN_EC_R1, CERTIFY_VC_SIGN_EC_K1 — one per signature algorithm. Its certificate is signed by ROOT. It lives in the HSM.</a:t>
            </a:r>
          </a:p>
          <a:p>
            <a:r>
              <a:rPr sz="1100"/>
              <a:t>• Tier 3, base or reference key: identified by app_id PLUS ref_id. This is the key that actually signs a credential. Here is the part people miss: it is generated in software, its private key is then encrypted with the module public key and stored as a row in key_store, and its certificate is signed by the module private key inside the HSM.</a:t>
            </a:r>
          </a:p>
          <a:p>
            <a:r>
              <a:rPr sz="1100"/>
              <a:t>• So the honest security statement is: module and root private keys never exist outside the HSM. Base private keys do exist in process memory while in use, but at rest they are wrapped by a key that only the HSM can unwrap.</a:t>
            </a:r>
          </a:p>
          <a:p>
            <a:r>
              <a:rPr b="1" sz="1100"/>
              <a:t>CAVEATS / GOTCHAS</a:t>
            </a:r>
          </a:p>
          <a:p>
            <a:r>
              <a:rPr sz="1100"/>
              <a:t>• That last point matters and is often over-claimed. Do not tell an auditor 'all private keys are in the HSM' — say 'root and module keys are in the HSM; operational signing keys are wrapped by them and unwrapped in memory on use'.</a:t>
            </a:r>
          </a:p>
          <a:p>
            <a:r>
              <a:rPr sz="1100"/>
              <a:t>• The wrapping is done with the module PUBLIC key at generation time (keymanagerUtil.encryptKey) and unwrapped with the module private key from the HSM (PrivateKeyDecryptorHelper). Reading those two classes is the fastest way to convince a sceptic.</a:t>
            </a:r>
          </a:p>
          <a:p>
            <a:r>
              <a:rPr sz="1100"/>
              <a:t>• Some reference ids are handled as HSM keys directly rather than DB-stored — the signing refs such as ED25519_SIGN, EC_SECP256R1_SIGN, EC_SECP256K1_SIGN go to the HSM path in getAllCertificates. Check the branch for the key you care about.</a:t>
            </a:r>
          </a:p>
          <a:p>
            <a:r>
              <a:rPr b="1" sz="1100"/>
              <a:t>LIKELY QUESTIONS</a:t>
            </a:r>
          </a:p>
          <a:p>
            <a:r>
              <a:rPr sz="1100"/>
              <a:t>– Why not keep every key in the HSM? — Cost and throughput. HSM key slots and operations are finite and expensive; this design puts the crown jewels in hardware and scales the rest.</a:t>
            </a:r>
          </a:p>
          <a:p>
            <a:r>
              <a:rPr sz="1100"/>
              <a:t>– Can we force VC signing keys into the HSM? — For the Ed25519/EC sign reference ids the code already takes the HSM path. Verify for your chosen algorithm in the lab.</a:t>
            </a:r>
          </a:p>
          <a:p>
            <a:r>
              <a:rPr b="1" sz="1100"/>
              <a:t>TIME: 10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Walk this slowly; it is the mechanism behind the previous slide's claim.</a:t>
            </a:r>
          </a:p>
          <a:p>
            <a:r>
              <a:rPr sz="1100"/>
              <a:t>• Step 4: the key pair is generated in software by the BouncyCastle key generator — getAsymmetricKey(), or getEd25519KeyPair() for the Ed25519 signing reference.</a:t>
            </a:r>
          </a:p>
          <a:p>
            <a:r>
              <a:rPr sz="1100"/>
              <a:t>• Step 8: keymanagerUtil.encryptKey(privateKey, masterPublicKey). The private key is wrapped with the MODULE PUBLIC key, so wrapping needs no HSM secret — only unwrapping does.</a:t>
            </a:r>
          </a:p>
          <a:p>
            <a:r>
              <a:rPr sz="1100"/>
              <a:t>• Step 9: CertificateUtility.generateX509Certificate is called with the module private key entry obtained from the HSM keystore. The signature happens inside the HSM provider; the Key Manager holds a handle, not bytes.</a:t>
            </a:r>
          </a:p>
          <a:p>
            <a:r>
              <a:rPr sz="1100"/>
              <a:t>• Step 12: uni_ident is appId_refId_timestamp and carries a unique constraint — that is what stops two 'current' keys existing for the same app_id and ref_id.</a:t>
            </a:r>
          </a:p>
          <a:p>
            <a:r>
              <a:rPr sz="1100"/>
              <a:t>• Ask the room: where would you attack this? The honest answers are the HSM credentials, the process memory while a base key is unwrapped, and the operator with permission to call the signing API. That leads directly into topic 4 and topic 8.</a:t>
            </a:r>
          </a:p>
          <a:p>
            <a:r>
              <a:rPr b="1" sz="1100"/>
              <a:t>CAVEATS / GOTCHAS</a:t>
            </a:r>
          </a:p>
          <a:p>
            <a:r>
              <a:rPr sz="1100"/>
              <a:t>• The unwrap path (PrivateKeyDecryptorHelper) explicitly refuses to decrypt with a master key, and refuses when the alias equals the master alias or the stored private key is the 'NA' marker used for other-domain certificates. Those guards exist to stop the module key being used as an ordinary key.</a:t>
            </a:r>
          </a:p>
          <a:p>
            <a:r>
              <a:rPr sz="1100"/>
              <a:t>• Certificate CN is set to appId-refId. That is convenient for debugging and it means your certificates are self-describing — do not treat it as a security control.</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answer to 'how does Certify sign without touching key material'. It calls a signing API with an identifier, and gets a signature back.</a:t>
            </a:r>
          </a:p>
          <a:p>
            <a:r>
              <a:rPr sz="1100"/>
              <a:t>• Show the key-alias-mapper property on screen. It is the seam between 'which algorithm does this credential type use' and 'which key in the Key Manager'. Dataprev will edit exactly this line when choosing an algorithm.</a:t>
            </a:r>
          </a:p>
          <a:p>
            <a:r>
              <a:rPr sz="1100"/>
              <a:t>• Step 6 and 7 are the nuance from the previous slide: the base private key is unwrapped into process memory to sign. For the Ed25519 and EC signing reference ids the code path goes to the HSM directly instead — worth verifying for whichever algorithm you pick.</a:t>
            </a:r>
          </a:p>
          <a:p>
            <a:r>
              <a:rPr sz="1100"/>
              <a:t>• Point at the last bullet as an operational gotcha: lazy generation means the very first credential after a rotation boundary pays the cost of generating a key pair and writing two rows.</a:t>
            </a:r>
          </a:p>
          <a:p>
            <a:r>
              <a:rPr b="1" sz="1100"/>
              <a:t>CAVEATS / GOTCHAS</a:t>
            </a:r>
          </a:p>
          <a:p>
            <a:r>
              <a:rPr sz="1100"/>
              <a:t>• kid continuity is critical. If you change the algorithm for a credential type, you change the key, so you change the kid — and every already-issued credential still references the old one. That is fine, because old certificates stay published, but only if you do not prune them.</a:t>
            </a:r>
          </a:p>
          <a:p>
            <a:r>
              <a:rPr sz="1100"/>
              <a:t>• Signing throughput with a real HSM is bounded by the HSM, not by your pods. Load-test it before you promise a rate.</a:t>
            </a:r>
          </a:p>
          <a:p>
            <a:r>
              <a:rPr b="1" sz="1100"/>
              <a:t>LIKELY QUESTIONS</a:t>
            </a:r>
          </a:p>
          <a:p>
            <a:r>
              <a:rPr sz="1100"/>
              <a:t>– Can two credential types use different algorithms? — Yes; the mapper is per algorithm and the credential configuration chooses the algorithm.</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Put the three code boxes on screen and let people read. Then make three points.</a:t>
            </a:r>
          </a:p>
          <a:p>
            <a:r>
              <a:rPr sz="1100"/>
              <a:t>• One: key_alias is append-only in practice. Nothing removes rows. That is how history is preserved.</a:t>
            </a:r>
          </a:p>
          <a:p>
            <a:r>
              <a:rPr sz="1100"/>
              <a:t>• Two: key_store.master_key is a foreign-key-ish pointer to the key_alias id of the module key that wrapped this private key. That is the link that makes unwrapping possible and the link that makes a database dump useless on its own.</a:t>
            </a:r>
          </a:p>
          <a:p>
            <a:r>
              <a:rPr sz="1100"/>
              <a:t>• Three: uni_ident carries a unique constraint on appId_refId_timestamp. If you ever see a 'no unique alias' error in the logs, this is the constraint the code is defending — it means two current keys were found for one app_id/ref_id, which should be impossible.</a:t>
            </a:r>
          </a:p>
          <a:p>
            <a:r>
              <a:rPr sz="1100"/>
              <a:t>• The policy table is where Dataprev will make a real decision: how long should a VC signing key live, and how much overlap do you want? Those two numbers drive everything in topic 3.</a:t>
            </a:r>
          </a:p>
          <a:p>
            <a:r>
              <a:rPr b="1" sz="1100"/>
              <a:t>CAVEATS / GOTCHAS</a:t>
            </a:r>
          </a:p>
          <a:p>
            <a:r>
              <a:rPr sz="1100"/>
              <a:t>• The seed numbers are MOSIP defaults, not recommendations for Brazil. A two-year signing key with a 30-day overlap is a policy choice you should make deliberately.</a:t>
            </a:r>
          </a:p>
          <a:p>
            <a:r>
              <a:rPr sz="1100"/>
              <a:t>• cert_thumbprint is how a credential is traced back to the key that signed it. Keep it in your logs; it is far more useful than a key id in an incident.</a:t>
            </a:r>
          </a:p>
          <a:p>
            <a:r>
              <a:rPr sz="1100"/>
              <a:t>• There are more tables — ca_cert_store, partner_cert_store, data_encrypt_keystore — but these three carry the signing story.</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Reference slide — do not read it out. Point at three rows.</a:t>
            </a:r>
          </a:p>
          <a:p>
            <a:r>
              <a:rPr sz="1100"/>
              <a:t>• getAllCertificates versus getCertificate is the single most important distinction on this slide. getCertificate gives you today's key. getAllCertificates gives you every key that alias has ever had. Certify's jwks.json is built from getAllCertificates, and that is exactly why rotation does not break old credentials.</a:t>
            </a:r>
          </a:p>
          <a:p>
            <a:r>
              <a:rPr sz="1100"/>
              <a:t>• revokeKey does something much less dramatic than the name suggests — we cover it in topic 3. Flag it now so nobody leaves thinking it destroys anything.</a:t>
            </a:r>
          </a:p>
          <a:p>
            <a:r>
              <a:rPr sz="1100"/>
              <a:t>• generateCSR plus uploadCertificate is the path for Dataprev if the trust chain must come from an external or national CA rather than the self-signed ROOT. That is a likely requirement for a government issuer and worth flagging to whoever owns PKI.</a:t>
            </a:r>
          </a:p>
          <a:p>
            <a:r>
              <a:rPr b="1" sz="1100"/>
              <a:t>CAVEATS / GOTCHAS</a:t>
            </a:r>
          </a:p>
          <a:p>
            <a:r>
              <a:rPr sz="1100"/>
              <a:t>• All of these are protected by role-based authorisation (mosip.role.keymanager.*). In the embedded-in-Certify shape, most are not exposed at all — Certify calls the library directly.</a:t>
            </a:r>
          </a:p>
          <a:p>
            <a:r>
              <a:rPr sz="1100"/>
              <a:t>• Do not expose the Key Manager API to anything but trusted internal callers. There is no scenario where a wallet or a verifier should reach it.</a:t>
            </a:r>
          </a:p>
          <a:p>
            <a:r>
              <a:rPr b="1" sz="1100"/>
              <a:t>TIME: 4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state that surprises people is SUPERSEDED. A key stops being used for new signatures before it expires, and the gap between those two moments is the whole point.</a:t>
            </a:r>
          </a:p>
          <a:p>
            <a:r>
              <a:rPr sz="1100"/>
              <a:t>• The mechanism is one line in KeymanagerUtil.isValidTimestamp: a key counts as current only while now is before keyExpiryTime minus preExpireDays. Once that boundary passes, the key is filtered out of the 'current' list, and the next signing request generates a fresh one.</a:t>
            </a:r>
          </a:p>
          <a:p>
            <a:r>
              <a:rPr sz="1100"/>
              <a:t>• Note that generation is lazy. Nothing schedules a rotation. The first signing request after the boundary pays the cost. If your issuance volume is bursty, that first request can be noticeably slower — worth knowing before someone opens a latency ticket.</a:t>
            </a:r>
          </a:p>
          <a:p>
            <a:r>
              <a:rPr sz="1100"/>
              <a:t>• RETAINED is a policy statement more than a state: nothing in the code deletes key_alias or key_store rows, and nothing should.</a:t>
            </a:r>
          </a:p>
          <a:p>
            <a:r>
              <a:rPr b="1" sz="1100"/>
              <a:t>CAVEATS / GOTCHAS</a:t>
            </a:r>
          </a:p>
          <a:p>
            <a:r>
              <a:rPr sz="1100"/>
              <a:t>• 'Verifiers should reject' for EXPIRED is about what a correct verifier does with the certificate's notAfter. The Key Manager does not reach out and stop anything.</a:t>
            </a:r>
          </a:p>
          <a:p>
            <a:r>
              <a:rPr sz="1100"/>
              <a:t>• If you ever need to prune the database for size, understand that you are deciding which historical credentials stop verifying. That is a policy decision with a legal dimension, not a housekeeping task.</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slide is the heart of topic 3. Let the timeline sit on screen while you talk.</a:t>
            </a:r>
          </a:p>
          <a:p>
            <a:r>
              <a:rPr sz="1100"/>
              <a:t>• The arithmetic with shipped defaults: 730 days validity, 30 days pre-expire, so a key is used for new signatures for 700 days and then remains valid for verification for 30 more.</a:t>
            </a:r>
          </a:p>
          <a:p>
            <a:r>
              <a:rPr sz="1100"/>
              <a:t>• Now pose the question that matters: if a credential Dataprev issues is valid for five years, and the signing key rotates every two, how does a verifier check a four-year-old credential? The answer is that the old certificate is still published in jwks.json and the DID document, because getAllCertificates returns every certificate the alias has ever had. Publication lifetime is driven by credential lifetime, not key lifetime.</a:t>
            </a:r>
          </a:p>
          <a:p>
            <a:r>
              <a:rPr sz="1100"/>
              <a:t>• Then the policy table. Ask the room which row Dataprev is in today and which row it should be in.</a:t>
            </a:r>
          </a:p>
          <a:p>
            <a:r>
              <a:rPr sz="1100"/>
              <a:t>• If anyone asks about automated rotation: there is no scheduler. Rotation happens because the next signing request finds no current key. That is simple and robust, but it also means rotation is invisible until it happens — so monitor key_alias for new rows.</a:t>
            </a:r>
          </a:p>
          <a:p>
            <a:r>
              <a:rPr b="1" sz="1100"/>
              <a:t>CAVEATS / GOTCHAS</a:t>
            </a:r>
          </a:p>
          <a:p>
            <a:r>
              <a:rPr sz="1100"/>
              <a:t>• Overlap does not protect you from a publication failure. If jwks.json or the DID document is stale or unreachable at the moment a verifier checks, the overlap window is irrelevant. Monitor those endpoints as production dependencies.</a:t>
            </a:r>
          </a:p>
          <a:p>
            <a:r>
              <a:rPr sz="1100"/>
              <a:t>• Changing key_validity_duration affects only keys generated after the change. Existing keys keep the expiry they were born with.</a:t>
            </a:r>
          </a:p>
          <a:p>
            <a:r>
              <a:rPr b="1" sz="1100"/>
              <a:t>LIKELY QUESTIONS</a:t>
            </a:r>
          </a:p>
          <a:p>
            <a:r>
              <a:rPr sz="1100"/>
              <a:t>– Can we force a rotation early? — revokeKey expires the current key immediately, which triggers generation of a new one. See topic 8.</a:t>
            </a:r>
          </a:p>
          <a:p>
            <a:r>
              <a:rPr sz="1100"/>
              <a:t>– Do we need to re-sign old credentials after rotation? — No, and you must not; that would change them.</a:t>
            </a:r>
          </a:p>
          <a:p>
            <a:r>
              <a:rPr b="1" sz="1100"/>
              <a:t>TIME: 9 min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slide to slow down on. The revokeKey behaviour genuinely surprises experienced people.</a:t>
            </a:r>
          </a:p>
          <a:p>
            <a:r>
              <a:rPr sz="1100"/>
              <a:t>• Read the implementation with them if there is any doubt: revokeKey computes expireTime as now minus one minute and calls storeKeyInAlias with it. That is the entire effect. No row is deleted, no certificate is withdrawn, no credential is touched.</a:t>
            </a:r>
          </a:p>
          <a:p>
            <a:r>
              <a:rPr sz="1100"/>
              <a:t>• So the practical rule: revokeKey is an emergency rotation, useful when you believe a key is compromised and you want to stop signing NEW things with it. It does nothing about what was already signed.</a:t>
            </a:r>
          </a:p>
          <a:p>
            <a:r>
              <a:rPr sz="1100"/>
              <a:t>• To withdraw something already issued you need the status list — topic 6 — or, if the key itself is compromised and you must repudiate everything it signed, you have to stop publishing its certificate, which invalidates every credential it ever signed. That is the nuclear option in topic 8.</a:t>
            </a:r>
          </a:p>
          <a:p>
            <a:r>
              <a:rPr sz="1100"/>
              <a:t>• Ask the room: for a Dataprev credential, which of these four events is most likely in the first year of operation? Usually the answer is rotation, and usually nobody has tested it.</a:t>
            </a:r>
          </a:p>
          <a:p>
            <a:r>
              <a:rPr b="1" sz="1100"/>
              <a:t>CAVEATS / GOTCHAS</a:t>
            </a:r>
          </a:p>
          <a:p>
            <a:r>
              <a:rPr sz="1100"/>
              <a:t>• KERNEL/SIGN is explicitly not revocable — the code refuses. Know which aliases are protected before you plan an incident response.</a:t>
            </a:r>
          </a:p>
          <a:p>
            <a:r>
              <a:rPr sz="1100"/>
              <a:t>• The 'key expired' column depends on the verifier actually checking the certificate validity window. Not every verifier does. Do not rely on expiry as an access control.</a:t>
            </a:r>
          </a:p>
          <a:p>
            <a:r>
              <a:rPr b="1" sz="1100"/>
              <a:t>LIKELY QUESTIONS</a:t>
            </a:r>
          </a:p>
          <a:p>
            <a:r>
              <a:rPr sz="1100"/>
              <a:t>– Can we invalidate every credential signed by one key? — Only by removing that certificate from publication, which is drastic and irreversible for holders. Status lists are the surgical tool.</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architectural point is that the Key Manager talks to one interface, ECKeyStore, and the implementation is selected by a property. Moving from a p12 file to a network HSM is a configuration and operations exercise, not a development one.</a:t>
            </a:r>
          </a:p>
          <a:p>
            <a:r>
              <a:rPr sz="1100"/>
              <a:t>• PKCS11 is the path you want in production. It uses the JDK's SunPKCS11 provider with a config file that points at the vendor's shared library and a slot. SoftHSM implements the same interface in software, which is why you can develop against PKCS11 locally and deploy against real hardware with the same code path — a genuinely good design decision.</a:t>
            </a:r>
          </a:p>
          <a:p>
            <a:r>
              <a:rPr sz="1100"/>
              <a:t>• PKCS12 is what the shipped Certify configuration uses for local development: CERTIFY_PKCS12/local.p12 with password 'local'. That is fine on a laptop and unacceptable anywhere else. Say that plainly.</a:t>
            </a:r>
          </a:p>
          <a:p>
            <a:r>
              <a:rPr sz="1100"/>
              <a:t>• Offline exists for deployments that only verify and never sign. JCE covers vendor providers such as CloudHSM.</a:t>
            </a:r>
          </a:p>
          <a:p>
            <a:r>
              <a:rPr sz="1100"/>
              <a:t>• For Dataprev, the decision to force is: which of these three boxes at the bottom, and who operates it. That has procurement lead time, so it should be decided early.</a:t>
            </a:r>
          </a:p>
          <a:p>
            <a:r>
              <a:rPr b="1" sz="1100"/>
              <a:t>CAVEATS / GOTCHAS</a:t>
            </a:r>
          </a:p>
          <a:p>
            <a:r>
              <a:rPr sz="1100"/>
              <a:t>• With the embedded shape from topic 1, every Certify pod needs the HSM client library, the config file and the credentials. That is a real constraint on container images and on secret distribution — plan it with whoever runs the cluster.</a:t>
            </a:r>
          </a:p>
          <a:p>
            <a:r>
              <a:rPr sz="1100"/>
              <a:t>• SoftHSM is not a security control. Its key material is a file on disk protected by a PIN in configuration. Use it to prove the PKCS11 path works, never to protect anything real.</a:t>
            </a:r>
          </a:p>
          <a:p>
            <a:r>
              <a:rPr b="1" sz="1100"/>
              <a:t>LIKELY QUESTIONS</a:t>
            </a:r>
          </a:p>
          <a:p>
            <a:r>
              <a:rPr sz="1100"/>
              <a:t>– Can different environments use different keystore types? — Yes, and they should: PKCS12 locally, PKCS11 everywhere else.</a:t>
            </a:r>
          </a:p>
          <a:p>
            <a:r>
              <a:rPr sz="1100"/>
              <a:t>– Does the HSM become a throughput bottleneck? — It can. Signing rate is an HSM specification; get numbers before you size.</a:t>
            </a:r>
          </a:p>
          <a:p>
            <a:r>
              <a:rPr b="1" sz="1100"/>
              <a:t>TIME: 7 min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Frame this as a risk conversation rather than a technology preference, and let the room argue.</a:t>
            </a:r>
          </a:p>
          <a:p>
            <a:r>
              <a:rPr sz="1100"/>
              <a:t>• Row 3 is the one to dwell on. Exfiltration versus use. A stolen file is forever; misuse of an HSM-held key ends when access ends. For a national issuer that distinction is the difference between rotating a key and repudiating years of credentials.</a:t>
            </a:r>
          </a:p>
          <a:p>
            <a:r>
              <a:rPr sz="1100"/>
              <a:t>• Be balanced about the costs. An HSM is a new hard dependency with its own availability story, its own failover drill and its own backup procedure — and backup is genuinely hard and vendor-specific. Teams buy the hardware and never rehearse recovery.</a:t>
            </a:r>
          </a:p>
          <a:p>
            <a:r>
              <a:rPr sz="1100"/>
              <a:t>• The throughput row matters for Dataprev specifically: if issuance volume is high, the HSM signing rate is a design input, not an afterthought.</a:t>
            </a:r>
          </a:p>
          <a:p>
            <a:r>
              <a:rPr sz="1100"/>
              <a:t>• Land the ask: whoever owns infrastructure needs to start the HSM conversation now, because procurement and key ceremony take months, not sprints.</a:t>
            </a:r>
          </a:p>
          <a:p>
            <a:r>
              <a:rPr b="1" sz="1100"/>
              <a:t>CAVEATS / GOTCHAS</a:t>
            </a:r>
          </a:p>
          <a:p>
            <a:r>
              <a:rPr sz="1100"/>
              <a:t>• A managed cloud HSM removes some operational burden and adds a data-residency question — which is a live question for a Brazilian government issuer.</a:t>
            </a:r>
          </a:p>
          <a:p>
            <a:r>
              <a:rPr sz="1100"/>
              <a:t>• HSM does not protect against an authorised caller misusing the signing API. Role-based access and monitoring still matter; the hardware only stops exfiltration.</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Walk the five stages, then land on the callout: the first four are code, the fifth is a decision made by humans in a trust framework.</a:t>
            </a:r>
          </a:p>
          <a:p>
            <a:r>
              <a:rPr sz="1100"/>
              <a:t>• The DID document is generated by Certify's DIDDocumentUtil from the configured did-url and the certificates in the Key Manager. Ed25519 keys are published as Ed25519VerificationKey2020 with a base58btc publicKeyMultibase; others go out as JsonWebKey2020.</a:t>
            </a:r>
          </a:p>
          <a:p>
            <a:r>
              <a:rPr sz="1100"/>
              <a:t>• The jwks.json endpoint is built by iterating the key-alias-mapper and calling getAllCertificates for each. That is why the highlighted second entry — last year's key — is there, and that is the mechanism that makes rotation non-breaking. Show this to anyone who doubts the retention argument from topic 3.</a:t>
            </a:r>
          </a:p>
          <a:p>
            <a:r>
              <a:rPr sz="1100"/>
              <a:t>• did:web is worth explaining in one line: the DID resolves to an HTTPS URL on the domain in the identifier, so the security of the anchor is the security of that domain and its TLS. Whoever controls DNS for that host controls the trust anchor.</a:t>
            </a:r>
          </a:p>
          <a:p>
            <a:r>
              <a:rPr sz="1100"/>
              <a:t>• For Dataprev: the domain you choose here is a long-term commitment. Changing it later invalidates every credential that references it.</a:t>
            </a:r>
          </a:p>
          <a:p>
            <a:r>
              <a:rPr b="1" sz="1100"/>
              <a:t>CAVEATS / GOTCHAS</a:t>
            </a:r>
          </a:p>
          <a:p>
            <a:r>
              <a:rPr sz="1100"/>
              <a:t>• did:web trust is domain trust. Protect DNS, protect TLS certificate issuance for that host, and monitor the endpoint. A takeover of that hostname is a takeover of the issuer's identity.</a:t>
            </a:r>
          </a:p>
          <a:p>
            <a:r>
              <a:rPr sz="1100"/>
              <a:t>• Certify serves did.json and jwks.json under /.well-known/. If a CDN, WAF or reverse proxy caches or challenges those paths, verifiers fail in ways that look like credential errors. This is a genuinely common production failure.</a:t>
            </a:r>
          </a:p>
          <a:p>
            <a:r>
              <a:rPr b="1" sz="1100"/>
              <a:t>LIKELY QUESTIONS</a:t>
            </a:r>
          </a:p>
          <a:p>
            <a:r>
              <a:rPr sz="1100"/>
              <a:t>– Should we use did:web or an X.509 chain from a national CA? — Both are legitimate; a government issuer often needs the CA chain for legal recognition. generateCSR plus uploadCertificate is the path.</a:t>
            </a:r>
          </a:p>
          <a:p>
            <a:r>
              <a:rPr b="1" sz="1100"/>
              <a:t>TIME: 8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a runbook, not a concept. Suggest the team turns it into an actual checklist.</a:t>
            </a:r>
          </a:p>
          <a:p>
            <a:r>
              <a:rPr sz="1100"/>
              <a:t>• Rule 3 is the one that catches people. Overlap must exceed the longest cache TTL anywhere in the chain — verifier caches, CDN caches, and the Mimoto-style caches on the wallet side. If an overlap of 30 days sounds generous, remember that a badly configured CDN can serve a stale document for a week.</a:t>
            </a:r>
          </a:p>
          <a:p>
            <a:r>
              <a:rPr sz="1100"/>
              <a:t>• Rule 4 deserves emphasis: kid is how a credential points at the key that signed it. Reuse breaks that pointer silently, and the resulting failures look like tampering rather than misconfiguration.</a:t>
            </a:r>
          </a:p>
          <a:p>
            <a:r>
              <a:rPr sz="1100"/>
              <a:t>• Rule 5 is an availability ask, not a security one. Put jwks.json and did.json on the same monitoring and alerting as the credential endpoint. Most teams do not, and then spend a day debugging 'random verification failures'.</a:t>
            </a:r>
          </a:p>
          <a:p>
            <a:r>
              <a:rPr sz="1100"/>
              <a:t>• Ask: who at Dataprev owns these two URLs today? Frequently the answer is nobody, which is the finding.</a:t>
            </a:r>
          </a:p>
          <a:p>
            <a:r>
              <a:rPr b="1" sz="1100"/>
              <a:t>CAVEATS / GOTCHAS</a:t>
            </a:r>
          </a:p>
          <a:p>
            <a:r>
              <a:rPr sz="1100"/>
              <a:t>• Because rotation is lazy — triggered by the first signing request after the boundary — 'publish first, sign later' is not automatic. If you need a controlled rotation, generate the key deliberately and confirm it appears in the published documents before traffic reaches it.</a:t>
            </a:r>
          </a:p>
          <a:p>
            <a:r>
              <a:rPr sz="1100"/>
              <a:t>• If Dataprev uses an external CA chain rather than the self-signed ROOT, rotation also involves the CA's timelines. Add those to the plan.</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Start with the bitstring picture. It is the simplest possible idea: one bit per credential, and a URL that says where the bitstring lives.</a:t>
            </a:r>
          </a:p>
          <a:p>
            <a:r>
              <a:rPr sz="1100"/>
              <a:t>• The privacy property is the reason this design exists. The verifier downloads the entire list, so the issuer's server sees a request for a list, not a request about a person. Contrast that with OCSP-style per-credential lookups, which leak exactly who is being checked and when. For a national credential that difference is material.</a:t>
            </a:r>
          </a:p>
          <a:p>
            <a:r>
              <a:rPr sz="1100"/>
              <a:t>• In Certify, status list credentials are rows in the database with a vc_document column, served by id. The default size is 16 KB of bitstring, and indices are handed out by a database index provider. Allowed status purposes are configured — the shipped configuration allows 'revocation'.</a:t>
            </a:r>
          </a:p>
          <a:p>
            <a:r>
              <a:rPr sz="1100"/>
              <a:t>• Draw attention to step 5: the status list is itself a Verifiable Credential and it is re-signed every time a bit changes. That is the hook into the next slide.</a:t>
            </a:r>
          </a:p>
          <a:p>
            <a:r>
              <a:rPr sz="1100"/>
              <a:t>• Ask: who at Dataprev will have authority to flip a bit, and through what interface? Revocation authority is a governance question that usually has no owner on day one.</a:t>
            </a:r>
          </a:p>
          <a:p>
            <a:r>
              <a:rPr b="1" sz="1100"/>
              <a:t>CAVEATS / GOTCHAS</a:t>
            </a:r>
          </a:p>
          <a:p>
            <a:r>
              <a:rPr sz="1100"/>
              <a:t>• The verifier must actually check status. Nothing forces it. If your verifiers skip the check, revocation does nothing — and note that Inji Wallet does not perform revocation checking today, so this lands on the verifier side.</a:t>
            </a:r>
          </a:p>
          <a:p>
            <a:r>
              <a:rPr sz="1100"/>
              <a:t>• Downloading a full list costs bandwidth. 16 KB is small, but at national scale you will have many lists; plan caching and CDN behaviour, and remember caching delays revocation.</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The left card is the non-obvious dependency and the reason this slide exists. Nobody expects the revocation mechanism to have a key dependency, and then one day status checks start failing after a routine rotation.</a:t>
            </a:r>
          </a:p>
          <a:p>
            <a:r>
              <a:rPr sz="1100"/>
              <a:t>• Read the property names out: mosip.certify.status-list.signature-crypto-suite defaults to Ed25519Signature2020 and mosip.certify.status-list.key-manager-ref-id defaults to ED25519_SIGN. Those are real defaults in the shipped configuration.</a:t>
            </a:r>
          </a:p>
          <a:p>
            <a:r>
              <a:rPr sz="1100"/>
              <a:t>• The comparison table is the takeaway. Print it. The 'Reversible?' row is worth pausing on — status list revocation is reversible by clearing a bit; key revocation is not reversible in the sense people expect, because the old key does not become current again.</a:t>
            </a:r>
          </a:p>
          <a:p>
            <a:r>
              <a:rPr sz="1100"/>
              <a:t>• The last row is the honest one. Neither mechanism does the thing people most often assume: status lists do nothing if verifiers skip the check, and key revocation does nothing about already-issued credentials.</a:t>
            </a:r>
          </a:p>
          <a:p>
            <a:r>
              <a:rPr b="1" sz="1100"/>
              <a:t>CAVEATS / GOTCHAS</a:t>
            </a:r>
          </a:p>
          <a:p>
            <a:r>
              <a:rPr sz="1100"/>
              <a:t>• Suspension versus revocation: the status purpose is configurable, and the shipped configuration allows only 'revocation'. If Dataprev needs suspension — temporary withdrawal — that is a configuration change plus a verifier-side behaviour to agree.</a:t>
            </a:r>
          </a:p>
          <a:p>
            <a:r>
              <a:rPr sz="1100"/>
              <a:t>• Re-signing a status list on every bit change means status list updates are signing operations. At high revocation volume that is HSM load; batch if you can.</a:t>
            </a:r>
          </a:p>
          <a:p>
            <a:r>
              <a:rPr b="1" sz="1100"/>
              <a:t>LIKELY QUESTIONS</a:t>
            </a:r>
          </a:p>
          <a:p>
            <a:r>
              <a:rPr sz="1100"/>
              <a:t>– If a signing key is compromised, do we revoke every credential it signed via status lists? — That is exactly the question in topic 8, and usually the answer is yes, in batches.</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Be precise here, because 'multi-tenant' means different things to different people and the honest answer is 'logically isolated, physically shared'.</a:t>
            </a:r>
          </a:p>
          <a:p>
            <a:r>
              <a:rPr sz="1100"/>
              <a:t>• The top three rows are genuinely strong: different app_id gives you different module keys, different policy and different published certificates. A verifier can pin exactly one tenant's key and ignore the rest.</a:t>
            </a:r>
          </a:p>
          <a:p>
            <a:r>
              <a:rPr sz="1100"/>
              <a:t>• The bottom three rows are the caveats. One database, one keystore configuration, one host. If the threat model includes 'one tenant's operator should not be able to reach another tenant's keys', logical separation on a shared instance is not enough — you need separate Key Manager instances, and probably separate HSM partitions.</a:t>
            </a:r>
          </a:p>
          <a:p>
            <a:r>
              <a:rPr sz="1100"/>
              <a:t>• For Dataprev the question is concrete: will different Brazilian agencies issue through one Certify deployment or several? If several agencies with different legal accountability share one instance, expect that to be challenged in a security review.</a:t>
            </a:r>
          </a:p>
          <a:p>
            <a:r>
              <a:rPr b="1" sz="1100"/>
              <a:t>CAVEATS / GOTCHAS</a:t>
            </a:r>
          </a:p>
          <a:p>
            <a:r>
              <a:rPr sz="1100"/>
              <a:t>• Being trusted outside Dataprev is a separate question from isolation — it is on the next slide.</a:t>
            </a:r>
          </a:p>
          <a:p>
            <a:r>
              <a:rPr sz="1100"/>
              <a:t>• Role configuration (mosip.role.keymanager.*) is a list of role names per endpoint. It does not express 'this caller may only use these aliases'. If you need that, it is additional work.</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Close topic 7 by widening the frame: everything in this session makes credentials verifiable, and verifiability is necessary but not sufficient. Acceptance is a governance product.</a:t>
            </a:r>
          </a:p>
          <a:p>
            <a:r>
              <a:rPr sz="1100"/>
              <a:t>• The 'recognised chain' card is where a government issuer usually differs from a pilot. A self-signed root is fine while Dataprev is both issuer and verifier. The moment a bank, an airline or another country has to accept the credential, they will ask whose CA signed it. generateCSR plus uploadCertificate is the mechanism; the CA relationship is the work.</a:t>
            </a:r>
          </a:p>
          <a:p>
            <a:r>
              <a:rPr sz="1100"/>
              <a:t>• Run the four discussion questions as an actual discussion. Capture answers and owners on a flipchart — they feed straight into Day 3's security hardening session.</a:t>
            </a:r>
          </a:p>
          <a:p>
            <a:r>
              <a:rPr sz="1100"/>
              <a:t>• If the room does not know the answer to the ICP-Brasil question, that is itself the most useful output of the session.</a:t>
            </a:r>
          </a:p>
          <a:p>
            <a:r>
              <a:rPr b="1" sz="1100"/>
              <a:t>CAVEATS / GOTCHAS</a:t>
            </a:r>
          </a:p>
          <a:p>
            <a:r>
              <a:rPr sz="1100"/>
              <a:t>• Do not let 'we will decide the CA later' pass quietly. CA onboarding has months of lead time and it constrains the key algorithms you may use.</a:t>
            </a:r>
          </a:p>
          <a:p>
            <a:r>
              <a:rPr sz="1100"/>
              <a:t>• The published profile is cheap to write and saves enormous time with every external partner. Offer to draft it.</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Run this as a drill, not a lecture. Give the room the scenario — 'a Certify pod was compromised, we do not know for how long' — and let them walk the timeline.</a:t>
            </a:r>
          </a:p>
          <a:p>
            <a:r>
              <a:rPr sz="1100"/>
              <a:t>• Step order matters. Containment comes before revocation: if the attacker still has HSM access, generating a new key just gives them a second key.</a:t>
            </a:r>
          </a:p>
          <a:p>
            <a:r>
              <a:rPr sz="1100"/>
              <a:t>• The Assess step is where preparation pays. If you are not recording cert_thumbprint against every issued credential, you cannot answer 'what did this key sign', and every subsequent decision becomes guesswork. Make that a logging requirement today.</a:t>
            </a:r>
          </a:p>
          <a:p>
            <a:r>
              <a:rPr sz="1100"/>
              <a:t>• The bottom table is the fork in the road, and it is decided by a choice made months earlier: HSM or file. That is the strongest practical argument for the HSM, stronger than any compliance checkbox.</a:t>
            </a:r>
          </a:p>
          <a:p>
            <a:r>
              <a:rPr sz="1100"/>
              <a:t>• Land the ask: Dataprev should rehearse this once, in a non-production environment, before go-live. A drill takes an afternoon and finds the gaps.</a:t>
            </a:r>
          </a:p>
          <a:p>
            <a:r>
              <a:rPr b="1" sz="1100"/>
              <a:t>CAVEATS / GOTCHAS</a:t>
            </a:r>
          </a:p>
          <a:p>
            <a:r>
              <a:rPr sz="1100"/>
              <a:t>• KERNEL/SIGN cannot be revoked through the API — the code refuses. Know which aliases are protected before the incident, not during it.</a:t>
            </a:r>
          </a:p>
          <a:p>
            <a:r>
              <a:rPr sz="1100"/>
              <a:t>• Revocation is not reversible in the way people expect: the old key does not come back as current. If you revoke by mistake you get an unplanned rotation, which is survivable but noisy.</a:t>
            </a:r>
          </a:p>
          <a:p>
            <a:r>
              <a:rPr b="1" sz="1100"/>
              <a:t>LIKELY QUESTIONS</a:t>
            </a:r>
          </a:p>
          <a:p>
            <a:r>
              <a:rPr sz="1100"/>
              <a:t>– How fast can trust actually be withdrawn? — Stopping new signatures is immediate. Withdrawing already-issued credentials is bounded by verifier cache TTLs, so hours to days. Plan for days.</a:t>
            </a:r>
          </a:p>
          <a:p>
            <a:r>
              <a:rPr b="1" sz="1100"/>
              <a:t>TIME: 6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This is the slide that connects the whole session together. Make the connection explicit.</a:t>
            </a:r>
          </a:p>
          <a:p>
            <a:r>
              <a:rPr sz="1100"/>
              <a:t>• Walk the three options in order of increasing pain. The middle one — rotate plus targeted status-list revocation — is where you want to be, and it is only available if two things are true: you can identify the fraudulent credentials, and your verifiers actually check status.</a:t>
            </a:r>
          </a:p>
          <a:p>
            <a:r>
              <a:rPr sz="1100"/>
              <a:t>• The third option is the one nobody plans for. Un-publishing a certificate breaks every credential it signed, including millions issued legitimately. For a national credential that is a front-page event.</a:t>
            </a:r>
          </a:p>
          <a:p>
            <a:r>
              <a:rPr sz="1100"/>
              <a:t>• Now tie it back: whether you ever face option three is decided by the keystore choice made in topic 4, and whether option two is available is decided by the status list design in topic 6 and by verifier behaviour. Every earlier topic converges here.</a:t>
            </a:r>
          </a:p>
          <a:p>
            <a:r>
              <a:rPr sz="1100"/>
              <a:t>• Close topic 8 by asking the room to estimate, for Dataprev's planned volume, how long a mass re-issuance would take. The number is usually sobering and it makes the HSM business case by itself.</a:t>
            </a:r>
          </a:p>
          <a:p>
            <a:r>
              <a:rPr b="1" sz="1100"/>
              <a:t>CAVEATS / GOTCHAS</a:t>
            </a:r>
          </a:p>
          <a:p>
            <a:r>
              <a:rPr sz="1100"/>
              <a:t>• Option two depends on verifiers checking status. If a significant share of Brazilian verifiers do not, option two degrades towards option one and you are relying on the attacker not using what they stole.</a:t>
            </a:r>
          </a:p>
          <a:p>
            <a:r>
              <a:rPr sz="1100"/>
              <a:t>• Do not treat option three as theoretical. Write the runbook for it, including holder communications, before you need it.</a:t>
            </a:r>
          </a:p>
          <a:p>
            <a:r>
              <a:rPr b="1" sz="1100"/>
              <a:t>TIME: 5 min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Read all six aloud, slowly. This is the last thing the room hears before lunch.</a:t>
            </a:r>
          </a:p>
          <a:p>
            <a:r>
              <a:rPr sz="1100"/>
              <a:t>• Then ask which one surprised them most. In most rooms it is number five, and that is a good sign — it means the distinction landed.</a:t>
            </a:r>
          </a:p>
          <a:p>
            <a:r>
              <a:rPr sz="1100"/>
              <a:t>• Point out that numbers three and four together are the reason the design looks odd at first: an append-only key table and a lazy rotation are exactly what you need when the artefacts you sign outlive your keys.</a:t>
            </a:r>
          </a:p>
          <a:p>
            <a:r>
              <a:rPr sz="1100"/>
              <a:t>• Hand over to lunch with the discussion questions from the next slide on screen.</a:t>
            </a:r>
          </a:p>
          <a:p>
            <a:r>
              <a:rPr b="1" sz="1100"/>
              <a:t>TIME: 3 min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b="1" sz="1100"/>
              <a:t>WHAT TO EXPLAIN</a:t>
            </a:r>
          </a:p>
          <a:p>
            <a:r>
              <a:rPr sz="1100"/>
              <a:t>• Close by making the session actionable rather than interesting.</a:t>
            </a:r>
          </a:p>
          <a:p>
            <a:r>
              <a:rPr sz="1100"/>
              <a:t>• The third lab item is the best one: revoke a key, issue again, and confirm the previously issued credential still verifies. Five minutes of hands-on makes the revokeKey point permanent in a way no slide can.</a:t>
            </a:r>
          </a:p>
          <a:p>
            <a:r>
              <a:rPr sz="1100"/>
              <a:t>• The four decisions have different lead times. HSM procurement is the longest — start it this week even if the rest is undecided.</a:t>
            </a:r>
          </a:p>
          <a:p>
            <a:r>
              <a:rPr sz="1100"/>
              <a:t>• Carry the parked questions forward to Day 3's security hardening block so the thread is not dropped. Assign a name to each before people leave for lunch.</a:t>
            </a:r>
          </a:p>
          <a:p>
            <a:r>
              <a:rPr sz="1100"/>
              <a:t>• If there is time before lunch, take open questions. If not, note them and open Day 2's recap with them.</a:t>
            </a:r>
          </a:p>
          <a:p>
            <a:r>
              <a:rPr b="1" sz="1100"/>
              <a:t>TIME: 3 min, then lunch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33"/>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0B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818120" y="91440"/>
            <a:ext cx="4370832" cy="6766560"/>
          </a:xfrm>
          <a:prstGeom prst="rect">
            <a:avLst/>
          </a:prstGeom>
          <a:solidFill>
            <a:srgbClr val="142E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818120" y="91440"/>
            <a:ext cx="41148" cy="6766560"/>
          </a:xfrm>
          <a:prstGeom prst="rect">
            <a:avLst/>
          </a:prstGeom>
          <a:solidFill>
            <a:srgbClr val="1E3F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188720"/>
            <a:ext cx="6675120" cy="365760"/>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E9488"/>
                </a:solidFill>
                <a:latin typeface="Arial"/>
              </a:rPr>
              <a:t>DATAPREV INJI DEEP-DIVE  ·  DAY 1  ·  11:35–13:05</a:t>
            </a:r>
          </a:p>
        </p:txBody>
      </p:sp>
      <p:sp>
        <p:nvSpPr>
          <p:cNvPr id="7" name="TextBox 6"/>
          <p:cNvSpPr txBox="1"/>
          <p:nvPr/>
        </p:nvSpPr>
        <p:spPr>
          <a:xfrm>
            <a:off x="868680" y="1664208"/>
            <a:ext cx="6766560" cy="1828800"/>
          </a:xfrm>
          <a:prstGeom prst="rect">
            <a:avLst/>
          </a:prstGeom>
          <a:noFill/>
        </p:spPr>
        <p:txBody>
          <a:bodyPr wrap="square" lIns="0" rIns="0" tIns="0" bIns="0" anchor="t">
            <a:spAutoFit/>
          </a:bodyPr>
          <a:lstStyle/>
          <a:p>
            <a:pPr algn="l">
              <a:lnSpc>
                <a:spcPct val="100000"/>
              </a:lnSpc>
              <a:spcBef>
                <a:spcPts val="0"/>
              </a:spcBef>
              <a:spcAft>
                <a:spcPts val="0"/>
              </a:spcAft>
            </a:pPr>
            <a:r>
              <a:rPr sz="4600" b="1" i="0">
                <a:solidFill>
                  <a:srgbClr val="FFFFFF"/>
                </a:solidFill>
                <a:latin typeface="Arial"/>
              </a:rPr>
              <a:t>Key Manager</a:t>
            </a:r>
          </a:p>
          <a:p>
            <a:pPr algn="l">
              <a:lnSpc>
                <a:spcPct val="120000"/>
              </a:lnSpc>
              <a:spcBef>
                <a:spcPts val="800"/>
              </a:spcBef>
              <a:spcAft>
                <a:spcPts val="0"/>
              </a:spcAft>
            </a:pPr>
            <a:r>
              <a:rPr sz="1800" b="0" i="0">
                <a:solidFill>
                  <a:srgbClr val="8FAEC8"/>
                </a:solidFill>
                <a:latin typeface="Arial"/>
              </a:rPr>
              <a:t>Trust and key management,
from the core idea to production detail</a:t>
            </a:r>
          </a:p>
        </p:txBody>
      </p:sp>
      <p:cxnSp>
        <p:nvCxnSpPr>
          <p:cNvPr id="8" name="Connector 7"/>
          <p:cNvCxnSpPr/>
          <p:nvPr/>
        </p:nvCxnSpPr>
        <p:spPr>
          <a:xfrm>
            <a:off x="868680" y="4069080"/>
            <a:ext cx="3886200" cy="0"/>
          </a:xfrm>
          <a:prstGeom prst="line">
            <a:avLst/>
          </a:prstGeom>
          <a:ln w="31750">
            <a:solidFill>
              <a:srgbClr val="0E9488"/>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68680" y="4297680"/>
            <a:ext cx="6675120" cy="1371600"/>
          </a:xfrm>
          <a:prstGeom prst="rect">
            <a:avLst/>
          </a:prstGeom>
          <a:noFill/>
        </p:spPr>
        <p:txBody>
          <a:bodyPr wrap="square" lIns="0" rIns="0" tIns="0" bIns="0" anchor="t">
            <a:spAutoFit/>
          </a:bodyPr>
          <a:lstStyle/>
          <a:p>
            <a:pPr algn="l">
              <a:lnSpc>
                <a:spcPct val="114000"/>
              </a:lnSpc>
              <a:spcBef>
                <a:spcPts val="0"/>
              </a:spcBef>
              <a:spcAft>
                <a:spcPts val="0"/>
              </a:spcAft>
            </a:pPr>
            <a:r>
              <a:rPr sz="1300" b="0" i="0">
                <a:solidFill>
                  <a:srgbClr val="C6D6E4"/>
                </a:solidFill>
                <a:latin typeface="Arial"/>
              </a:rPr>
              <a:t>90 minutes  ·  8 topics  ·  17 architecture and flow diagrams</a:t>
            </a:r>
          </a:p>
          <a:p>
            <a:pPr algn="l">
              <a:lnSpc>
                <a:spcPct val="130000"/>
              </a:lnSpc>
              <a:spcBef>
                <a:spcPts val="800"/>
              </a:spcBef>
              <a:spcAft>
                <a:spcPts val="0"/>
              </a:spcAft>
            </a:pPr>
            <a:r>
              <a:rPr sz="1050" b="0" i="0">
                <a:solidFill>
                  <a:srgbClr val="62809B"/>
                </a:solidFill>
                <a:latin typeface="Arial"/>
              </a:rPr>
              <a:t>Every claim on these slides was checked against mosip/keymanager and mosip/inji-certify. Version-specific behaviour is flagged where it matters.</a:t>
            </a:r>
          </a:p>
        </p:txBody>
      </p:sp>
      <p:sp>
        <p:nvSpPr>
          <p:cNvPr id="10" name="TextBox 9"/>
          <p:cNvSpPr txBox="1"/>
          <p:nvPr/>
        </p:nvSpPr>
        <p:spPr>
          <a:xfrm>
            <a:off x="8211312" y="1097280"/>
            <a:ext cx="3749039" cy="274320"/>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latin typeface="Arial"/>
              </a:rPr>
              <a:t>THE EIGHT QUESTIONS WE ANSWER</a:t>
            </a:r>
          </a:p>
        </p:txBody>
      </p:sp>
      <p:sp>
        <p:nvSpPr>
          <p:cNvPr id="11" name="Oval 10"/>
          <p:cNvSpPr/>
          <p:nvPr/>
        </p:nvSpPr>
        <p:spPr>
          <a:xfrm>
            <a:off x="8211312" y="1481328"/>
            <a:ext cx="256032" cy="2560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B1F33"/>
                </a:solidFill>
                <a:latin typeface="Arial"/>
              </a:rPr>
              <a:t>1</a:t>
            </a:r>
          </a:p>
        </p:txBody>
      </p:sp>
      <p:sp>
        <p:nvSpPr>
          <p:cNvPr id="12" name="TextBox 11"/>
          <p:cNvSpPr txBox="1"/>
          <p:nvPr/>
        </p:nvSpPr>
        <p:spPr>
          <a:xfrm>
            <a:off x="8558784" y="1463040"/>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C6D6E4"/>
                </a:solidFill>
                <a:latin typeface="Arial"/>
              </a:rPr>
              <a:t>Why a dedicated Key Manager at all?</a:t>
            </a:r>
          </a:p>
        </p:txBody>
      </p:sp>
      <p:sp>
        <p:nvSpPr>
          <p:cNvPr id="13" name="Oval 12"/>
          <p:cNvSpPr/>
          <p:nvPr/>
        </p:nvSpPr>
        <p:spPr>
          <a:xfrm>
            <a:off x="8211312" y="2048256"/>
            <a:ext cx="256032" cy="2560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B1F33"/>
                </a:solidFill>
                <a:latin typeface="Arial"/>
              </a:rPr>
              <a:t>2</a:t>
            </a:r>
          </a:p>
        </p:txBody>
      </p:sp>
      <p:sp>
        <p:nvSpPr>
          <p:cNvPr id="14" name="TextBox 13"/>
          <p:cNvSpPr txBox="1"/>
          <p:nvPr/>
        </p:nvSpPr>
        <p:spPr>
          <a:xfrm>
            <a:off x="8558784" y="2029968"/>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C6D6E4"/>
                </a:solidFill>
                <a:latin typeface="Arial"/>
              </a:rPr>
              <a:t>What is the key hierarchy, really?</a:t>
            </a:r>
          </a:p>
        </p:txBody>
      </p:sp>
      <p:sp>
        <p:nvSpPr>
          <p:cNvPr id="15" name="Oval 14"/>
          <p:cNvSpPr/>
          <p:nvPr/>
        </p:nvSpPr>
        <p:spPr>
          <a:xfrm>
            <a:off x="8211312" y="2615184"/>
            <a:ext cx="256032" cy="2560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B1F33"/>
                </a:solidFill>
                <a:latin typeface="Arial"/>
              </a:rPr>
              <a:t>3</a:t>
            </a:r>
          </a:p>
        </p:txBody>
      </p:sp>
      <p:sp>
        <p:nvSpPr>
          <p:cNvPr id="16" name="TextBox 15"/>
          <p:cNvSpPr txBox="1"/>
          <p:nvPr/>
        </p:nvSpPr>
        <p:spPr>
          <a:xfrm>
            <a:off x="8558784" y="2596896"/>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C6D6E4"/>
                </a:solidFill>
                <a:latin typeface="Arial"/>
              </a:rPr>
              <a:t>How does Certify sign without holding a key?</a:t>
            </a:r>
          </a:p>
        </p:txBody>
      </p:sp>
      <p:sp>
        <p:nvSpPr>
          <p:cNvPr id="17" name="Oval 16"/>
          <p:cNvSpPr/>
          <p:nvPr/>
        </p:nvSpPr>
        <p:spPr>
          <a:xfrm>
            <a:off x="8211312" y="3182112"/>
            <a:ext cx="256032" cy="2560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B1F33"/>
                </a:solidFill>
                <a:latin typeface="Arial"/>
              </a:rPr>
              <a:t>4</a:t>
            </a:r>
          </a:p>
        </p:txBody>
      </p:sp>
      <p:sp>
        <p:nvSpPr>
          <p:cNvPr id="18" name="TextBox 17"/>
          <p:cNvSpPr txBox="1"/>
          <p:nvPr/>
        </p:nvSpPr>
        <p:spPr>
          <a:xfrm>
            <a:off x="8558784" y="3163824"/>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C6D6E4"/>
                </a:solidFill>
                <a:latin typeface="Arial"/>
              </a:rPr>
              <a:t>What happens at rotation, expiry, revocation?</a:t>
            </a:r>
          </a:p>
        </p:txBody>
      </p:sp>
      <p:sp>
        <p:nvSpPr>
          <p:cNvPr id="19" name="Oval 18"/>
          <p:cNvSpPr/>
          <p:nvPr/>
        </p:nvSpPr>
        <p:spPr>
          <a:xfrm>
            <a:off x="8211312" y="3749039"/>
            <a:ext cx="256032" cy="2560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B1F33"/>
                </a:solidFill>
                <a:latin typeface="Arial"/>
              </a:rPr>
              <a:t>5</a:t>
            </a:r>
          </a:p>
        </p:txBody>
      </p:sp>
      <p:sp>
        <p:nvSpPr>
          <p:cNvPr id="20" name="TextBox 19"/>
          <p:cNvSpPr txBox="1"/>
          <p:nvPr/>
        </p:nvSpPr>
        <p:spPr>
          <a:xfrm>
            <a:off x="8558784" y="3730752"/>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C6D6E4"/>
                </a:solidFill>
                <a:latin typeface="Arial"/>
              </a:rPr>
              <a:t>Software keystore or HSM — and why?</a:t>
            </a:r>
          </a:p>
        </p:txBody>
      </p:sp>
      <p:sp>
        <p:nvSpPr>
          <p:cNvPr id="21" name="Oval 20"/>
          <p:cNvSpPr/>
          <p:nvPr/>
        </p:nvSpPr>
        <p:spPr>
          <a:xfrm>
            <a:off x="8211312" y="4315968"/>
            <a:ext cx="256032" cy="2560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B1F33"/>
                </a:solidFill>
                <a:latin typeface="Arial"/>
              </a:rPr>
              <a:t>6</a:t>
            </a:r>
          </a:p>
        </p:txBody>
      </p:sp>
      <p:sp>
        <p:nvSpPr>
          <p:cNvPr id="22" name="TextBox 21"/>
          <p:cNvSpPr txBox="1"/>
          <p:nvPr/>
        </p:nvSpPr>
        <p:spPr>
          <a:xfrm>
            <a:off x="8558784" y="4297680"/>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C6D6E4"/>
                </a:solidFill>
                <a:latin typeface="Arial"/>
              </a:rPr>
              <a:t>How does a key become a trust anchor?</a:t>
            </a:r>
          </a:p>
        </p:txBody>
      </p:sp>
      <p:sp>
        <p:nvSpPr>
          <p:cNvPr id="23" name="Oval 22"/>
          <p:cNvSpPr/>
          <p:nvPr/>
        </p:nvSpPr>
        <p:spPr>
          <a:xfrm>
            <a:off x="8211312" y="4882896"/>
            <a:ext cx="256032" cy="2560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B1F33"/>
                </a:solidFill>
                <a:latin typeface="Arial"/>
              </a:rPr>
              <a:t>7</a:t>
            </a:r>
          </a:p>
        </p:txBody>
      </p:sp>
      <p:sp>
        <p:nvSpPr>
          <p:cNvPr id="24" name="TextBox 23"/>
          <p:cNvSpPr txBox="1"/>
          <p:nvPr/>
        </p:nvSpPr>
        <p:spPr>
          <a:xfrm>
            <a:off x="8558784" y="4864608"/>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C6D6E4"/>
                </a:solidFill>
                <a:latin typeface="Arial"/>
              </a:rPr>
              <a:t>How do status lists and keys interact?</a:t>
            </a:r>
          </a:p>
        </p:txBody>
      </p:sp>
      <p:sp>
        <p:nvSpPr>
          <p:cNvPr id="25" name="Oval 24"/>
          <p:cNvSpPr/>
          <p:nvPr/>
        </p:nvSpPr>
        <p:spPr>
          <a:xfrm>
            <a:off x="8211312" y="5449824"/>
            <a:ext cx="256032" cy="256032"/>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0B1F33"/>
                </a:solidFill>
                <a:latin typeface="Arial"/>
              </a:rPr>
              <a:t>8</a:t>
            </a:r>
          </a:p>
        </p:txBody>
      </p:sp>
      <p:sp>
        <p:nvSpPr>
          <p:cNvPr id="26" name="TextBox 25"/>
          <p:cNvSpPr txBox="1"/>
          <p:nvPr/>
        </p:nvSpPr>
        <p:spPr>
          <a:xfrm>
            <a:off x="8558784" y="5431536"/>
            <a:ext cx="3291840" cy="548640"/>
          </a:xfrm>
          <a:prstGeom prst="rect">
            <a:avLst/>
          </a:prstGeom>
          <a:noFill/>
        </p:spPr>
        <p:txBody>
          <a:bodyPr wrap="square" lIns="0" rIns="0" tIns="0" bIns="0" anchor="t">
            <a:spAutoFit/>
          </a:bodyPr>
          <a:lstStyle/>
          <a:p>
            <a:pPr algn="l">
              <a:lnSpc>
                <a:spcPct val="120000"/>
              </a:lnSpc>
              <a:spcBef>
                <a:spcPts val="0"/>
              </a:spcBef>
              <a:spcAft>
                <a:spcPts val="0"/>
              </a:spcAft>
            </a:pPr>
            <a:r>
              <a:rPr sz="1000" b="0" i="0">
                <a:solidFill>
                  <a:srgbClr val="C6D6E4"/>
                </a:solidFill>
                <a:latin typeface="Arial"/>
              </a:rPr>
              <a:t>What do we do if a key is compromised?</a:t>
            </a:r>
          </a:p>
        </p:txBody>
      </p:sp>
      <p:sp>
        <p:nvSpPr>
          <p:cNvPr id="27" name="TextBox 2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64809B"/>
                </a:solidFill>
                <a:latin typeface="Arial"/>
              </a:rPr>
              <a:t>Key Manager — trust &amp; key management</a:t>
            </a:r>
          </a:p>
        </p:txBody>
      </p:sp>
      <p:sp>
        <p:nvSpPr>
          <p:cNvPr id="28" name="TextBox 2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64809B"/>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SESSION MAP</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How the 90 minutes runs</a:t>
            </a:r>
          </a:p>
        </p:txBody>
      </p:sp>
      <p:sp>
        <p:nvSpPr>
          <p:cNvPr id="4" name="TextBox 3"/>
          <p:cNvSpPr txBox="1"/>
          <p:nvPr/>
        </p:nvSpPr>
        <p:spPr>
          <a:xfrm>
            <a:off x="502920" y="1078992"/>
            <a:ext cx="11185855" cy="308912"/>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Eight topics. The first three build the model; the rest are consequences of it.</a:t>
            </a:r>
          </a:p>
        </p:txBody>
      </p:sp>
      <p:cxnSp>
        <p:nvCxnSpPr>
          <p:cNvPr id="5" name="Connector 4"/>
          <p:cNvCxnSpPr/>
          <p:nvPr/>
        </p:nvCxnSpPr>
        <p:spPr>
          <a:xfrm>
            <a:off x="502920" y="1479344"/>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79228"/>
          <a:ext cx="11185854" cy="3652432"/>
        </p:xfrm>
        <a:graphic>
          <a:graphicData uri="http://schemas.openxmlformats.org/drawingml/2006/table">
            <a:tbl>
              <a:tblPr firstRow="1">
                <a:tableStyleId>{2D5ABB26-0587-4C30-8999-92F81FD0307C}</a:tableStyleId>
              </a:tblPr>
              <a:tblGrid>
                <a:gridCol w="454709"/>
                <a:gridCol w="3001083"/>
                <a:gridCol w="818477"/>
                <a:gridCol w="5911224"/>
                <a:gridCol w="1000361"/>
              </a:tblGrid>
              <a:tr h="308912">
                <a:tc>
                  <a:txBody>
                    <a:bodyPr wrap="square"/>
                    <a:lstStyle/>
                    <a:p>
                      <a:pPr algn="l"/>
                      <a:r>
                        <a:rPr sz="950" b="1">
                          <a:solidFill>
                            <a:srgbClr val="FFFFFF"/>
                          </a:solidFill>
                          <a:latin typeface="Arial"/>
                        </a:rPr>
                        <a:t>#</a:t>
                      </a:r>
                    </a:p>
                  </a:txBody>
                  <a:tcPr marL="64008" marR="54864" marT="27432" marB="27432" anchor="ctr">
                    <a:solidFill>
                      <a:srgbClr val="1D4E89"/>
                    </a:solidFill>
                  </a:tcPr>
                </a:tc>
                <a:tc>
                  <a:txBody>
                    <a:bodyPr wrap="square"/>
                    <a:lstStyle/>
                    <a:p>
                      <a:pPr algn="l"/>
                      <a:r>
                        <a:rPr sz="950" b="1">
                          <a:solidFill>
                            <a:srgbClr val="FFFFFF"/>
                          </a:solidFill>
                          <a:latin typeface="Arial"/>
                        </a:rPr>
                        <a:t>Topic</a:t>
                      </a:r>
                    </a:p>
                  </a:txBody>
                  <a:tcPr marL="64008" marR="54864" marT="27432" marB="27432" anchor="ctr">
                    <a:solidFill>
                      <a:srgbClr val="1D4E89"/>
                    </a:solidFill>
                  </a:tcPr>
                </a:tc>
                <a:tc>
                  <a:txBody>
                    <a:bodyPr wrap="square"/>
                    <a:lstStyle/>
                    <a:p>
                      <a:pPr algn="l"/>
                      <a:r>
                        <a:rPr sz="950" b="1">
                          <a:solidFill>
                            <a:srgbClr val="FFFFFF"/>
                          </a:solidFill>
                          <a:latin typeface="Arial"/>
                        </a:rPr>
                        <a:t>Time</a:t>
                      </a:r>
                    </a:p>
                  </a:txBody>
                  <a:tcPr marL="64008" marR="54864" marT="27432" marB="27432" anchor="ctr">
                    <a:solidFill>
                      <a:srgbClr val="1D4E89"/>
                    </a:solidFill>
                  </a:tcPr>
                </a:tc>
                <a:tc>
                  <a:txBody>
                    <a:bodyPr wrap="square"/>
                    <a:lstStyle/>
                    <a:p>
                      <a:pPr algn="l"/>
                      <a:r>
                        <a:rPr sz="950" b="1">
                          <a:solidFill>
                            <a:srgbClr val="FFFFFF"/>
                          </a:solidFill>
                          <a:latin typeface="Arial"/>
                        </a:rPr>
                        <a:t>What it covers</a:t>
                      </a:r>
                    </a:p>
                  </a:txBody>
                  <a:tcPr marL="64008" marR="54864" marT="27432" marB="27432" anchor="ctr">
                    <a:solidFill>
                      <a:srgbClr val="1D4E89"/>
                    </a:solidFill>
                  </a:tcPr>
                </a:tc>
                <a:tc>
                  <a:txBody>
                    <a:bodyPr wrap="square"/>
                    <a:lstStyle/>
                    <a:p>
                      <a:pPr algn="l"/>
                      <a:r>
                        <a:rPr sz="950" b="1">
                          <a:solidFill>
                            <a:srgbClr val="FFFFFF"/>
                          </a:solidFill>
                          <a:latin typeface="Arial"/>
                        </a:rPr>
                        <a:t>Visuals</a:t>
                      </a:r>
                    </a:p>
                  </a:txBody>
                  <a:tcPr marL="64008" marR="54864" marT="27432" marB="27432" anchor="ctr">
                    <a:solidFill>
                      <a:srgbClr val="1D4E89"/>
                    </a:solidFill>
                  </a:tcPr>
                </a:tc>
              </a:tr>
              <a:tr h="417940">
                <a:tc>
                  <a:txBody>
                    <a:bodyPr wrap="square"/>
                    <a:lstStyle/>
                    <a:p>
                      <a:pPr algn="l">
                        <a:lnSpc>
                          <a:spcPct val="105000"/>
                        </a:lnSpc>
                      </a:pPr>
                      <a:r>
                        <a:rPr sz="950" b="0">
                          <a:solidFill>
                            <a:srgbClr val="1E293B"/>
                          </a:solidFill>
                          <a:latin typeface="Arial"/>
                        </a:rPr>
                        <a:t>1</a:t>
                      </a:r>
                    </a:p>
                  </a:txBody>
                  <a:tcPr marL="64008" marR="54864" marT="18288" marB="18288" anchor="ctr">
                    <a:solidFill>
                      <a:srgbClr val="FFFFFF"/>
                    </a:solidFill>
                  </a:tcPr>
                </a:tc>
                <a:tc>
                  <a:txBody>
                    <a:bodyPr wrap="square"/>
                    <a:lstStyle/>
                    <a:p>
                      <a:pPr algn="l">
                        <a:lnSpc>
                          <a:spcPct val="105000"/>
                        </a:lnSpc>
                      </a:pPr>
                      <a:r>
                        <a:rPr sz="950" b="1">
                          <a:solidFill>
                            <a:srgbClr val="0F172A"/>
                          </a:solidFill>
                          <a:latin typeface="Arial"/>
                        </a:rPr>
                        <a:t>Why a Key Manager at all</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10 min</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Ad-hoc key handling vs. centralised custody, policy and audit</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2 diagrams</a:t>
                      </a:r>
                    </a:p>
                  </a:txBody>
                  <a:tcPr marL="64008" marR="54864" marT="18288" marB="18288" anchor="ctr">
                    <a:solidFill>
                      <a:srgbClr val="FFFFFF"/>
                    </a:solidFill>
                  </a:tcPr>
                </a:tc>
              </a:tr>
              <a:tr h="417940">
                <a:tc>
                  <a:txBody>
                    <a:bodyPr wrap="square"/>
                    <a:lstStyle/>
                    <a:p>
                      <a:pPr algn="l">
                        <a:lnSpc>
                          <a:spcPct val="105000"/>
                        </a:lnSpc>
                      </a:pPr>
                      <a:r>
                        <a:rPr sz="950" b="0">
                          <a:solidFill>
                            <a:srgbClr val="1E293B"/>
                          </a:solidFill>
                          <a:latin typeface="Arial"/>
                        </a:rPr>
                        <a:t>2</a:t>
                      </a:r>
                    </a:p>
                  </a:txBody>
                  <a:tcPr marL="64008" marR="54864" marT="18288" marB="18288" anchor="ctr">
                    <a:solidFill>
                      <a:srgbClr val="F3F6F9"/>
                    </a:solidFill>
                  </a:tcPr>
                </a:tc>
                <a:tc>
                  <a:txBody>
                    <a:bodyPr wrap="square"/>
                    <a:lstStyle/>
                    <a:p>
                      <a:pPr algn="l">
                        <a:lnSpc>
                          <a:spcPct val="105000"/>
                        </a:lnSpc>
                      </a:pPr>
                      <a:r>
                        <a:rPr sz="950" b="1">
                          <a:solidFill>
                            <a:srgbClr val="0F172A"/>
                          </a:solidFill>
                          <a:latin typeface="Arial"/>
                        </a:rPr>
                        <a:t>Key Manager architecture</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20 min</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Three-tier hierarchy, HSM vs database, signing without key access, data model, APIs</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6 diagrams</a:t>
                      </a:r>
                    </a:p>
                  </a:txBody>
                  <a:tcPr marL="64008" marR="54864" marT="18288" marB="18288" anchor="ctr">
                    <a:solidFill>
                      <a:srgbClr val="F3F6F9"/>
                    </a:solidFill>
                  </a:tcPr>
                </a:tc>
              </a:tr>
              <a:tr h="417940">
                <a:tc>
                  <a:txBody>
                    <a:bodyPr wrap="square"/>
                    <a:lstStyle/>
                    <a:p>
                      <a:pPr algn="l">
                        <a:lnSpc>
                          <a:spcPct val="105000"/>
                        </a:lnSpc>
                      </a:pPr>
                      <a:r>
                        <a:rPr sz="950" b="0">
                          <a:solidFill>
                            <a:srgbClr val="1E293B"/>
                          </a:solidFill>
                          <a:latin typeface="Arial"/>
                        </a:rPr>
                        <a:t>3</a:t>
                      </a:r>
                    </a:p>
                  </a:txBody>
                  <a:tcPr marL="64008" marR="54864" marT="18288" marB="18288" anchor="ctr">
                    <a:solidFill>
                      <a:srgbClr val="FFFFFF"/>
                    </a:solidFill>
                  </a:tcPr>
                </a:tc>
                <a:tc>
                  <a:txBody>
                    <a:bodyPr wrap="square"/>
                    <a:lstStyle/>
                    <a:p>
                      <a:pPr algn="l">
                        <a:lnSpc>
                          <a:spcPct val="105000"/>
                        </a:lnSpc>
                      </a:pPr>
                      <a:r>
                        <a:rPr sz="950" b="1">
                          <a:solidFill>
                            <a:srgbClr val="0F172A"/>
                          </a:solidFill>
                          <a:latin typeface="Arial"/>
                        </a:rPr>
                        <a:t>Key lifecycle in detail</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15 min</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Generate, activate, rotate, expire, revoke — and what happens to credentials already issued</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3 diagrams</a:t>
                      </a:r>
                    </a:p>
                  </a:txBody>
                  <a:tcPr marL="64008" marR="54864" marT="18288" marB="18288" anchor="ctr">
                    <a:solidFill>
                      <a:srgbClr val="FFFFFF"/>
                    </a:solidFill>
                  </a:tcPr>
                </a:tc>
              </a:tr>
              <a:tr h="417940">
                <a:tc>
                  <a:txBody>
                    <a:bodyPr wrap="square"/>
                    <a:lstStyle/>
                    <a:p>
                      <a:pPr algn="l">
                        <a:lnSpc>
                          <a:spcPct val="105000"/>
                        </a:lnSpc>
                      </a:pPr>
                      <a:r>
                        <a:rPr sz="950" b="0">
                          <a:solidFill>
                            <a:srgbClr val="1E293B"/>
                          </a:solidFill>
                          <a:latin typeface="Arial"/>
                        </a:rPr>
                        <a:t>4</a:t>
                      </a:r>
                    </a:p>
                  </a:txBody>
                  <a:tcPr marL="64008" marR="54864" marT="18288" marB="18288" anchor="ctr">
                    <a:solidFill>
                      <a:srgbClr val="F3F6F9"/>
                    </a:solidFill>
                  </a:tcPr>
                </a:tc>
                <a:tc>
                  <a:txBody>
                    <a:bodyPr wrap="square"/>
                    <a:lstStyle/>
                    <a:p>
                      <a:pPr algn="l">
                        <a:lnSpc>
                          <a:spcPct val="105000"/>
                        </a:lnSpc>
                      </a:pPr>
                      <a:r>
                        <a:rPr sz="950" b="1">
                          <a:solidFill>
                            <a:srgbClr val="0F172A"/>
                          </a:solidFill>
                          <a:latin typeface="Arial"/>
                        </a:rPr>
                        <a:t>HSM integration</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12 min</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PKCS#11, PKCS12, Offline, JCE; SoftHSM vs a real HSM; production trade-offs</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2 diagrams</a:t>
                      </a:r>
                    </a:p>
                  </a:txBody>
                  <a:tcPr marL="64008" marR="54864" marT="18288" marB="18288" anchor="ctr">
                    <a:solidFill>
                      <a:srgbClr val="F3F6F9"/>
                    </a:solidFill>
                  </a:tcPr>
                </a:tc>
              </a:tr>
              <a:tr h="417940">
                <a:tc>
                  <a:txBody>
                    <a:bodyPr wrap="square"/>
                    <a:lstStyle/>
                    <a:p>
                      <a:pPr algn="l">
                        <a:lnSpc>
                          <a:spcPct val="105000"/>
                        </a:lnSpc>
                      </a:pPr>
                      <a:r>
                        <a:rPr sz="950" b="0">
                          <a:solidFill>
                            <a:srgbClr val="1E293B"/>
                          </a:solidFill>
                          <a:latin typeface="Arial"/>
                        </a:rPr>
                        <a:t>5</a:t>
                      </a:r>
                    </a:p>
                  </a:txBody>
                  <a:tcPr marL="64008" marR="54864" marT="18288" marB="18288" anchor="ctr">
                    <a:solidFill>
                      <a:srgbClr val="FFFFFF"/>
                    </a:solidFill>
                  </a:tcPr>
                </a:tc>
                <a:tc>
                  <a:txBody>
                    <a:bodyPr wrap="square"/>
                    <a:lstStyle/>
                    <a:p>
                      <a:pPr algn="l">
                        <a:lnSpc>
                          <a:spcPct val="105000"/>
                        </a:lnSpc>
                      </a:pPr>
                      <a:r>
                        <a:rPr sz="950" b="1">
                          <a:solidFill>
                            <a:srgbClr val="0F172A"/>
                          </a:solidFill>
                          <a:latin typeface="Arial"/>
                        </a:rPr>
                        <a:t>Trust anchors</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12 min</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How a public key becomes something a verifier trusts; </a:t>
                      </a:r>
                      <a:r>
                        <a:rPr sz="950" b="0">
                          <a:solidFill>
                            <a:srgbClr val="1D4E89"/>
                          </a:solidFill>
                          <a:latin typeface="Consolas"/>
                        </a:rPr>
                        <a:t>did.json</a:t>
                      </a:r>
                      <a:r>
                        <a:rPr sz="950" b="0">
                          <a:solidFill>
                            <a:srgbClr val="1E293B"/>
                          </a:solidFill>
                          <a:latin typeface="Arial"/>
                        </a:rPr>
                        <a:t>, </a:t>
                      </a:r>
                      <a:r>
                        <a:rPr sz="950" b="0">
                          <a:solidFill>
                            <a:srgbClr val="1D4E89"/>
                          </a:solidFill>
                          <a:latin typeface="Consolas"/>
                        </a:rPr>
                        <a:t>jwks.json</a:t>
                      </a:r>
                      <a:r>
                        <a:rPr sz="950" b="0">
                          <a:solidFill>
                            <a:srgbClr val="1E293B"/>
                          </a:solidFill>
                          <a:latin typeface="Arial"/>
                        </a:rPr>
                        <a:t>, safe rotation</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2 diagrams</a:t>
                      </a:r>
                    </a:p>
                  </a:txBody>
                  <a:tcPr marL="64008" marR="54864" marT="18288" marB="18288" anchor="ctr">
                    <a:solidFill>
                      <a:srgbClr val="FFFFFF"/>
                    </a:solidFill>
                  </a:tcPr>
                </a:tc>
              </a:tr>
              <a:tr h="417940">
                <a:tc>
                  <a:txBody>
                    <a:bodyPr wrap="square"/>
                    <a:lstStyle/>
                    <a:p>
                      <a:pPr algn="l">
                        <a:lnSpc>
                          <a:spcPct val="105000"/>
                        </a:lnSpc>
                      </a:pPr>
                      <a:r>
                        <a:rPr sz="950" b="0">
                          <a:solidFill>
                            <a:srgbClr val="1E293B"/>
                          </a:solidFill>
                          <a:latin typeface="Arial"/>
                        </a:rPr>
                        <a:t>6</a:t>
                      </a:r>
                    </a:p>
                  </a:txBody>
                  <a:tcPr marL="64008" marR="54864" marT="18288" marB="18288" anchor="ctr">
                    <a:solidFill>
                      <a:srgbClr val="F3F6F9"/>
                    </a:solidFill>
                  </a:tcPr>
                </a:tc>
                <a:tc>
                  <a:txBody>
                    <a:bodyPr wrap="square"/>
                    <a:lstStyle/>
                    <a:p>
                      <a:pPr algn="l">
                        <a:lnSpc>
                          <a:spcPct val="105000"/>
                        </a:lnSpc>
                      </a:pPr>
                      <a:r>
                        <a:rPr sz="950" b="1">
                          <a:solidFill>
                            <a:srgbClr val="0F172A"/>
                          </a:solidFill>
                          <a:latin typeface="Arial"/>
                        </a:rPr>
                        <a:t>Status list mechanics</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10 min</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Revocation and suspension, and how status lists interact with key rotation</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2 diagrams</a:t>
                      </a:r>
                    </a:p>
                  </a:txBody>
                  <a:tcPr marL="64008" marR="54864" marT="18288" marB="18288" anchor="ctr">
                    <a:solidFill>
                      <a:srgbClr val="F3F6F9"/>
                    </a:solidFill>
                  </a:tcPr>
                </a:tc>
              </a:tr>
              <a:tr h="417940">
                <a:tc>
                  <a:txBody>
                    <a:bodyPr wrap="square"/>
                    <a:lstStyle/>
                    <a:p>
                      <a:pPr algn="l">
                        <a:lnSpc>
                          <a:spcPct val="105000"/>
                        </a:lnSpc>
                      </a:pPr>
                      <a:r>
                        <a:rPr sz="950" b="0">
                          <a:solidFill>
                            <a:srgbClr val="1E293B"/>
                          </a:solidFill>
                          <a:latin typeface="Arial"/>
                        </a:rPr>
                        <a:t>7</a:t>
                      </a:r>
                    </a:p>
                  </a:txBody>
                  <a:tcPr marL="64008" marR="54864" marT="18288" marB="18288" anchor="ctr">
                    <a:solidFill>
                      <a:srgbClr val="FFFFFF"/>
                    </a:solidFill>
                  </a:tcPr>
                </a:tc>
                <a:tc>
                  <a:txBody>
                    <a:bodyPr wrap="square"/>
                    <a:lstStyle/>
                    <a:p>
                      <a:pPr algn="l">
                        <a:lnSpc>
                          <a:spcPct val="105000"/>
                        </a:lnSpc>
                      </a:pPr>
                      <a:r>
                        <a:rPr sz="950" b="1">
                          <a:solidFill>
                            <a:srgbClr val="0F172A"/>
                          </a:solidFill>
                          <a:latin typeface="Arial"/>
                        </a:rPr>
                        <a:t>Multi-issuer and multi-tenant trust</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6 min</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Key isolation on one Key Manager; being trusted outside Dataprev</a:t>
                      </a:r>
                    </a:p>
                  </a:txBody>
                  <a:tcPr marL="64008" marR="54864" marT="18288" marB="18288" anchor="ctr">
                    <a:solidFill>
                      <a:srgbClr val="FFFFFF"/>
                    </a:solidFill>
                  </a:tcPr>
                </a:tc>
                <a:tc>
                  <a:txBody>
                    <a:bodyPr wrap="square"/>
                    <a:lstStyle/>
                    <a:p>
                      <a:pPr algn="l">
                        <a:lnSpc>
                          <a:spcPct val="105000"/>
                        </a:lnSpc>
                      </a:pPr>
                      <a:r>
                        <a:rPr sz="950" b="0">
                          <a:solidFill>
                            <a:srgbClr val="1E293B"/>
                          </a:solidFill>
                          <a:latin typeface="Arial"/>
                        </a:rPr>
                        <a:t>1 diagram</a:t>
                      </a:r>
                    </a:p>
                  </a:txBody>
                  <a:tcPr marL="64008" marR="54864" marT="18288" marB="18288" anchor="ctr">
                    <a:solidFill>
                      <a:srgbClr val="FFFFFF"/>
                    </a:solidFill>
                  </a:tcPr>
                </a:tc>
              </a:tr>
              <a:tr h="417940">
                <a:tc>
                  <a:txBody>
                    <a:bodyPr wrap="square"/>
                    <a:lstStyle/>
                    <a:p>
                      <a:pPr algn="l">
                        <a:lnSpc>
                          <a:spcPct val="105000"/>
                        </a:lnSpc>
                      </a:pPr>
                      <a:r>
                        <a:rPr sz="950" b="0">
                          <a:solidFill>
                            <a:srgbClr val="1E293B"/>
                          </a:solidFill>
                          <a:latin typeface="Arial"/>
                        </a:rPr>
                        <a:t>8</a:t>
                      </a:r>
                    </a:p>
                  </a:txBody>
                  <a:tcPr marL="64008" marR="54864" marT="18288" marB="18288" anchor="ctr">
                    <a:solidFill>
                      <a:srgbClr val="F3F6F9"/>
                    </a:solidFill>
                  </a:tcPr>
                </a:tc>
                <a:tc>
                  <a:txBody>
                    <a:bodyPr wrap="square"/>
                    <a:lstStyle/>
                    <a:p>
                      <a:pPr algn="l">
                        <a:lnSpc>
                          <a:spcPct val="105000"/>
                        </a:lnSpc>
                      </a:pPr>
                      <a:r>
                        <a:rPr sz="950" b="1">
                          <a:solidFill>
                            <a:srgbClr val="0F172A"/>
                          </a:solidFill>
                          <a:latin typeface="Arial"/>
                        </a:rPr>
                        <a:t>Incident: key compromise</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5 min</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What to do in the first hour, and how fast trust can actually be withdrawn</a:t>
                      </a:r>
                    </a:p>
                  </a:txBody>
                  <a:tcPr marL="64008" marR="54864" marT="18288" marB="18288" anchor="ctr">
                    <a:solidFill>
                      <a:srgbClr val="F3F6F9"/>
                    </a:solidFill>
                  </a:tcPr>
                </a:tc>
                <a:tc>
                  <a:txBody>
                    <a:bodyPr wrap="square"/>
                    <a:lstStyle/>
                    <a:p>
                      <a:pPr algn="l">
                        <a:lnSpc>
                          <a:spcPct val="105000"/>
                        </a:lnSpc>
                      </a:pPr>
                      <a:r>
                        <a:rPr sz="950" b="0">
                          <a:solidFill>
                            <a:srgbClr val="1E293B"/>
                          </a:solidFill>
                          <a:latin typeface="Arial"/>
                        </a:rPr>
                        <a:t>1 diagram</a:t>
                      </a:r>
                    </a:p>
                  </a:txBody>
                  <a:tcPr marL="64008" marR="54864" marT="18288" marB="18288" anchor="ctr">
                    <a:solidFill>
                      <a:srgbClr val="F3F6F9"/>
                    </a:solidFill>
                  </a:tcPr>
                </a:tc>
              </a:tr>
            </a:tbl>
          </a:graphicData>
        </a:graphic>
      </p:graphicFrame>
      <p:sp>
        <p:nvSpPr>
          <p:cNvPr id="7" name="Rounded Rectangle 6"/>
          <p:cNvSpPr/>
          <p:nvPr/>
        </p:nvSpPr>
        <p:spPr>
          <a:xfrm>
            <a:off x="502920" y="5549717"/>
            <a:ext cx="11185855" cy="723066"/>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549717"/>
            <a:ext cx="45720" cy="723066"/>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640573"/>
            <a:ext cx="10820095" cy="577696"/>
          </a:xfrm>
          <a:prstGeom prst="rect">
            <a:avLst/>
          </a:prstGeom>
          <a:noFill/>
        </p:spPr>
        <p:txBody>
          <a:bodyPr wrap="square" lIns="0" rIns="0" tIns="0" bIns="0" anchor="t">
            <a:spAutoFit/>
          </a:bodyPr>
          <a:lstStyle/>
          <a:p>
            <a:pPr algn="l">
              <a:lnSpc>
                <a:spcPct val="122000"/>
              </a:lnSpc>
              <a:spcBef>
                <a:spcPts val="0"/>
              </a:spcBef>
              <a:spcAft>
                <a:spcPts val="0"/>
              </a:spcAft>
            </a:pPr>
            <a:r>
              <a:rPr sz="1100" b="0" i="0">
                <a:solidFill>
                  <a:srgbClr val="1E293B"/>
                </a:solidFill>
                <a:latin typeface="Arial"/>
              </a:rPr>
              <a:t>Two ideas carry the whole session. </a:t>
            </a:r>
            <a:r>
              <a:rPr sz="1100" b="1" i="0">
                <a:solidFill>
                  <a:srgbClr val="0E9488"/>
                </a:solidFill>
                <a:latin typeface="Arial"/>
              </a:rPr>
              <a:t>One:</a:t>
            </a:r>
            <a:r>
              <a:rPr sz="1100" b="0" i="0">
                <a:solidFill>
                  <a:srgbClr val="1E293B"/>
                </a:solidFill>
                <a:latin typeface="Arial"/>
              </a:rPr>
              <a:t> private keys live in exactly one place and never move. </a:t>
            </a:r>
            <a:r>
              <a:rPr sz="1100" b="1" i="0">
                <a:solidFill>
                  <a:srgbClr val="0E9488"/>
                </a:solidFill>
                <a:latin typeface="Arial"/>
              </a:rPr>
              <a:t>Two:</a:t>
            </a:r>
            <a:r>
              <a:rPr sz="1100" b="0" i="0">
                <a:solidFill>
                  <a:srgbClr val="1E293B"/>
                </a:solidFill>
                <a:latin typeface="Arial"/>
              </a:rPr>
              <a:t> a key is never deleted — it is superseded, and the old one stays published so yesterday's credentials still verify. Almost every design decision in the Key Manager follows from those two.</a:t>
            </a:r>
          </a:p>
        </p:txBody>
      </p:sp>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1 — THE CORE IDEA</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Why not just keep keys in the application?</a:t>
            </a:r>
          </a:p>
        </p:txBody>
      </p:sp>
      <p:sp>
        <p:nvSpPr>
          <p:cNvPr id="4" name="TextBox 3"/>
          <p:cNvSpPr txBox="1"/>
          <p:nvPr/>
        </p:nvSpPr>
        <p:spPr>
          <a:xfrm>
            <a:off x="502920" y="1078992"/>
            <a:ext cx="11185855" cy="305422"/>
          </a:xfrm>
          <a:prstGeom prst="rect">
            <a:avLst/>
          </a:prstGeom>
          <a:noFill/>
        </p:spPr>
        <p:txBody>
          <a:bodyPr wrap="square" lIns="0" rIns="0" tIns="0" bIns="0" anchor="t">
            <a:spAutoFit/>
          </a:bodyPr>
          <a:lstStyle/>
          <a:p>
            <a:pPr algn="l">
              <a:lnSpc>
                <a:spcPct val="114000"/>
              </a:lnSpc>
              <a:spcBef>
                <a:spcPts val="0"/>
              </a:spcBef>
              <a:spcAft>
                <a:spcPts val="0"/>
              </a:spcAft>
            </a:pPr>
            <a:r>
              <a:rPr sz="1140" b="0" i="0">
                <a:solidFill>
                  <a:srgbClr val="5B6B7F"/>
                </a:solidFill>
                <a:latin typeface="Arial"/>
              </a:rPr>
              <a:t>The honest version of what happens when each service handles its own key material.</a:t>
            </a:r>
          </a:p>
        </p:txBody>
      </p:sp>
      <p:cxnSp>
        <p:nvCxnSpPr>
          <p:cNvPr id="5" name="Connector 4"/>
          <p:cNvCxnSpPr/>
          <p:nvPr/>
        </p:nvCxnSpPr>
        <p:spPr>
          <a:xfrm>
            <a:off x="502920" y="1475854"/>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73480"/>
            <a:ext cx="5440680" cy="3188970"/>
          </a:xfrm>
          <a:prstGeom prst="roundRect">
            <a:avLst>
              <a:gd name="adj" fmla="val 3000"/>
            </a:avLst>
          </a:prstGeom>
          <a:solidFill>
            <a:srgbClr val="FCE6E6"/>
          </a:solidFill>
          <a:ln w="17780">
            <a:solidFill>
              <a:srgbClr val="B31B1B"/>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936" y="1547718"/>
            <a:ext cx="1927555" cy="251524"/>
          </a:xfrm>
          <a:prstGeom prst="roundRect">
            <a:avLst>
              <a:gd name="adj" fmla="val 22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50" b="1">
                <a:solidFill>
                  <a:srgbClr val="FFFFFF"/>
                </a:solidFill>
                <a:latin typeface="Arial"/>
              </a:rPr>
              <a:t>WITHOUT A KEY MANAGER</a:t>
            </a:r>
          </a:p>
        </p:txBody>
      </p:sp>
      <p:sp>
        <p:nvSpPr>
          <p:cNvPr id="8" name="Rounded Rectangle 7"/>
          <p:cNvSpPr/>
          <p:nvPr/>
        </p:nvSpPr>
        <p:spPr>
          <a:xfrm>
            <a:off x="822960" y="2167546"/>
            <a:ext cx="1444752" cy="646777"/>
          </a:xfrm>
          <a:prstGeom prst="roundRect">
            <a:avLst>
              <a:gd name="adj" fmla="val 10000"/>
            </a:avLst>
          </a:prstGeom>
          <a:solidFill>
            <a:srgbClr val="FFFFFF"/>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Arial"/>
              </a:rPr>
              <a:t>Certify</a:t>
            </a:r>
          </a:p>
        </p:txBody>
      </p:sp>
      <p:sp>
        <p:nvSpPr>
          <p:cNvPr id="9" name="Rounded Rectangle 8"/>
          <p:cNvSpPr/>
          <p:nvPr/>
        </p:nvSpPr>
        <p:spPr>
          <a:xfrm>
            <a:off x="822960" y="3038898"/>
            <a:ext cx="1444752" cy="556946"/>
          </a:xfrm>
          <a:prstGeom prst="roundRect">
            <a:avLst>
              <a:gd name="adj" fmla="val 10000"/>
            </a:avLst>
          </a:prstGeom>
          <a:solidFill>
            <a:srgbClr val="FCE6E6"/>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40" b="1">
                <a:solidFill>
                  <a:srgbClr val="B31B1B"/>
                </a:solidFill>
                <a:latin typeface="Consolas"/>
              </a:rPr>
              <a:t>key.p12</a:t>
            </a:r>
          </a:p>
          <a:p>
            <a:pPr algn="ctr">
              <a:lnSpc>
                <a:spcPct val="110000"/>
              </a:lnSpc>
              <a:spcBef>
                <a:spcPts val="200"/>
              </a:spcBef>
            </a:pPr>
            <a:r>
              <a:rPr sz="740">
                <a:solidFill>
                  <a:srgbClr val="B31B1B"/>
                </a:solidFill>
                <a:latin typeface="Arial"/>
              </a:rPr>
              <a:t>on local disk</a:t>
            </a:r>
          </a:p>
        </p:txBody>
      </p:sp>
      <p:cxnSp>
        <p:nvCxnSpPr>
          <p:cNvPr id="10" name="Connector 9"/>
          <p:cNvCxnSpPr/>
          <p:nvPr/>
        </p:nvCxnSpPr>
        <p:spPr>
          <a:xfrm>
            <a:off x="1545336" y="2814323"/>
            <a:ext cx="0" cy="224575"/>
          </a:xfrm>
          <a:prstGeom prst="line">
            <a:avLst/>
          </a:prstGeom>
          <a:ln w="15240">
            <a:solidFill>
              <a:srgbClr val="B31B1B"/>
            </a:solidFill>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50592" y="2167546"/>
            <a:ext cx="1444752" cy="646777"/>
          </a:xfrm>
          <a:prstGeom prst="roundRect">
            <a:avLst>
              <a:gd name="adj" fmla="val 10000"/>
            </a:avLst>
          </a:prstGeom>
          <a:solidFill>
            <a:srgbClr val="FFFFFF"/>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Arial"/>
              </a:rPr>
              <a:t>eSignet</a:t>
            </a:r>
          </a:p>
        </p:txBody>
      </p:sp>
      <p:sp>
        <p:nvSpPr>
          <p:cNvPr id="12" name="Rounded Rectangle 11"/>
          <p:cNvSpPr/>
          <p:nvPr/>
        </p:nvSpPr>
        <p:spPr>
          <a:xfrm>
            <a:off x="2450592" y="3038898"/>
            <a:ext cx="1444752" cy="556946"/>
          </a:xfrm>
          <a:prstGeom prst="roundRect">
            <a:avLst>
              <a:gd name="adj" fmla="val 10000"/>
            </a:avLst>
          </a:prstGeom>
          <a:solidFill>
            <a:srgbClr val="FCE6E6"/>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40" b="1">
                <a:solidFill>
                  <a:srgbClr val="B31B1B"/>
                </a:solidFill>
                <a:latin typeface="Consolas"/>
              </a:rPr>
              <a:t>key.p12</a:t>
            </a:r>
          </a:p>
          <a:p>
            <a:pPr algn="ctr">
              <a:lnSpc>
                <a:spcPct val="110000"/>
              </a:lnSpc>
              <a:spcBef>
                <a:spcPts val="200"/>
              </a:spcBef>
            </a:pPr>
            <a:r>
              <a:rPr sz="740">
                <a:solidFill>
                  <a:srgbClr val="B31B1B"/>
                </a:solidFill>
                <a:latin typeface="Arial"/>
              </a:rPr>
              <a:t>on local disk</a:t>
            </a:r>
          </a:p>
        </p:txBody>
      </p:sp>
      <p:cxnSp>
        <p:nvCxnSpPr>
          <p:cNvPr id="13" name="Connector 12"/>
          <p:cNvCxnSpPr/>
          <p:nvPr/>
        </p:nvCxnSpPr>
        <p:spPr>
          <a:xfrm>
            <a:off x="3172968" y="2814323"/>
            <a:ext cx="0" cy="224575"/>
          </a:xfrm>
          <a:prstGeom prst="line">
            <a:avLst/>
          </a:prstGeom>
          <a:ln w="15240">
            <a:solidFill>
              <a:srgbClr val="B31B1B"/>
            </a:solidFill>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078224" y="2167546"/>
            <a:ext cx="1444752" cy="646777"/>
          </a:xfrm>
          <a:prstGeom prst="roundRect">
            <a:avLst>
              <a:gd name="adj" fmla="val 10000"/>
            </a:avLst>
          </a:prstGeom>
          <a:solidFill>
            <a:srgbClr val="FFFFFF"/>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Arial"/>
              </a:rPr>
              <a:t>IDA</a:t>
            </a:r>
          </a:p>
        </p:txBody>
      </p:sp>
      <p:sp>
        <p:nvSpPr>
          <p:cNvPr id="15" name="Rounded Rectangle 14"/>
          <p:cNvSpPr/>
          <p:nvPr/>
        </p:nvSpPr>
        <p:spPr>
          <a:xfrm>
            <a:off x="4078224" y="3038898"/>
            <a:ext cx="1444752" cy="556946"/>
          </a:xfrm>
          <a:prstGeom prst="roundRect">
            <a:avLst>
              <a:gd name="adj" fmla="val 10000"/>
            </a:avLst>
          </a:prstGeom>
          <a:solidFill>
            <a:srgbClr val="FCE6E6"/>
          </a:solidFill>
          <a:ln w="15240">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40" b="1">
                <a:solidFill>
                  <a:srgbClr val="B31B1B"/>
                </a:solidFill>
                <a:latin typeface="Consolas"/>
              </a:rPr>
              <a:t>key.p12</a:t>
            </a:r>
          </a:p>
          <a:p>
            <a:pPr algn="ctr">
              <a:lnSpc>
                <a:spcPct val="110000"/>
              </a:lnSpc>
              <a:spcBef>
                <a:spcPts val="200"/>
              </a:spcBef>
            </a:pPr>
            <a:r>
              <a:rPr sz="740">
                <a:solidFill>
                  <a:srgbClr val="B31B1B"/>
                </a:solidFill>
                <a:latin typeface="Arial"/>
              </a:rPr>
              <a:t>on local disk</a:t>
            </a:r>
          </a:p>
        </p:txBody>
      </p:sp>
      <p:cxnSp>
        <p:nvCxnSpPr>
          <p:cNvPr id="16" name="Connector 15"/>
          <p:cNvCxnSpPr/>
          <p:nvPr/>
        </p:nvCxnSpPr>
        <p:spPr>
          <a:xfrm>
            <a:off x="4800600" y="2814323"/>
            <a:ext cx="0" cy="224575"/>
          </a:xfrm>
          <a:prstGeom prst="line">
            <a:avLst/>
          </a:prstGeom>
          <a:ln w="15240">
            <a:solidFill>
              <a:srgbClr val="B31B1B"/>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822960" y="3793472"/>
            <a:ext cx="4800600" cy="898301"/>
          </a:xfrm>
          <a:prstGeom prst="rect">
            <a:avLst/>
          </a:prstGeom>
          <a:noFill/>
        </p:spPr>
        <p:txBody>
          <a:bodyPr wrap="square" lIns="0" rIns="0" tIns="0" bIns="0" anchor="t">
            <a:spAutoFit/>
          </a:bodyPr>
          <a:lstStyle/>
          <a:p>
            <a:pPr algn="l">
              <a:lnSpc>
                <a:spcPct val="120000"/>
              </a:lnSpc>
              <a:spcBef>
                <a:spcPts val="300"/>
              </a:spcBef>
              <a:spcAft>
                <a:spcPts val="0"/>
              </a:spcAft>
            </a:pPr>
            <a:r>
              <a:rPr sz="950" b="1" i="0">
                <a:solidFill>
                  <a:srgbClr val="B31B1B"/>
                </a:solidFill>
                <a:latin typeface="Arial"/>
              </a:rPr>
              <a:t>•  </a:t>
            </a:r>
            <a:r>
              <a:rPr sz="950" b="0" i="0">
                <a:solidFill>
                  <a:srgbClr val="1E293B"/>
                </a:solidFill>
                <a:latin typeface="Arial"/>
              </a:rPr>
              <a:t>Three copies of the trust problem, three rotation schedules.</a:t>
            </a:r>
          </a:p>
          <a:p>
            <a:pPr algn="l">
              <a:lnSpc>
                <a:spcPct val="120000"/>
              </a:lnSpc>
              <a:spcBef>
                <a:spcPts val="300"/>
              </a:spcBef>
              <a:spcAft>
                <a:spcPts val="0"/>
              </a:spcAft>
            </a:pPr>
            <a:r>
              <a:rPr sz="950" b="1" i="0">
                <a:solidFill>
                  <a:srgbClr val="B31B1B"/>
                </a:solidFill>
                <a:latin typeface="Arial"/>
              </a:rPr>
              <a:t>•  </a:t>
            </a:r>
            <a:r>
              <a:rPr sz="950" b="0" i="0">
                <a:solidFill>
                  <a:srgbClr val="1E293B"/>
                </a:solidFill>
                <a:latin typeface="Arial"/>
              </a:rPr>
              <a:t>Key material sits in config, in backups, in container images.</a:t>
            </a:r>
          </a:p>
          <a:p>
            <a:pPr algn="l">
              <a:lnSpc>
                <a:spcPct val="120000"/>
              </a:lnSpc>
              <a:spcBef>
                <a:spcPts val="300"/>
              </a:spcBef>
              <a:spcAft>
                <a:spcPts val="0"/>
              </a:spcAft>
            </a:pPr>
            <a:r>
              <a:rPr sz="950" b="1" i="0">
                <a:solidFill>
                  <a:srgbClr val="B31B1B"/>
                </a:solidFill>
                <a:latin typeface="Arial"/>
              </a:rPr>
              <a:t>•  </a:t>
            </a:r>
            <a:r>
              <a:rPr sz="950" b="0" i="0">
                <a:solidFill>
                  <a:srgbClr val="1E293B"/>
                </a:solidFill>
                <a:latin typeface="Arial"/>
              </a:rPr>
              <a:t>No single answer to 'which key signed this credential, and when?'</a:t>
            </a:r>
          </a:p>
          <a:p>
            <a:pPr algn="l">
              <a:lnSpc>
                <a:spcPct val="120000"/>
              </a:lnSpc>
              <a:spcBef>
                <a:spcPts val="300"/>
              </a:spcBef>
              <a:spcAft>
                <a:spcPts val="0"/>
              </a:spcAft>
            </a:pPr>
            <a:r>
              <a:rPr sz="950" b="1" i="0">
                <a:solidFill>
                  <a:srgbClr val="B31B1B"/>
                </a:solidFill>
                <a:latin typeface="Arial"/>
              </a:rPr>
              <a:t>•  </a:t>
            </a:r>
            <a:r>
              <a:rPr sz="950" b="0" i="0">
                <a:solidFill>
                  <a:srgbClr val="1E293B"/>
                </a:solidFill>
                <a:latin typeface="Arial"/>
              </a:rPr>
              <a:t>Policy lives in three codebases and drifts.</a:t>
            </a:r>
          </a:p>
        </p:txBody>
      </p:sp>
      <p:sp>
        <p:nvSpPr>
          <p:cNvPr id="18" name="Rounded Rectangle 17"/>
          <p:cNvSpPr/>
          <p:nvPr/>
        </p:nvSpPr>
        <p:spPr>
          <a:xfrm>
            <a:off x="6245352" y="1673480"/>
            <a:ext cx="5440680" cy="3188970"/>
          </a:xfrm>
          <a:prstGeom prst="roundRect">
            <a:avLst>
              <a:gd name="adj" fmla="val 3000"/>
            </a:avLst>
          </a:prstGeom>
          <a:solidFill>
            <a:srgbClr val="DFF1E5"/>
          </a:solidFill>
          <a:ln w="17780">
            <a:solidFill>
              <a:srgbClr val="15703D"/>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73368" y="1547718"/>
            <a:ext cx="1686153" cy="251524"/>
          </a:xfrm>
          <a:prstGeom prst="roundRect">
            <a:avLst>
              <a:gd name="adj" fmla="val 2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50" b="1">
                <a:solidFill>
                  <a:srgbClr val="FFFFFF"/>
                </a:solidFill>
                <a:latin typeface="Arial"/>
              </a:rPr>
              <a:t>WITH A KEY MANAGER</a:t>
            </a:r>
          </a:p>
        </p:txBody>
      </p:sp>
      <p:sp>
        <p:nvSpPr>
          <p:cNvPr id="20" name="Rounded Rectangle 19"/>
          <p:cNvSpPr/>
          <p:nvPr/>
        </p:nvSpPr>
        <p:spPr>
          <a:xfrm>
            <a:off x="6537959" y="2167546"/>
            <a:ext cx="1444752" cy="646777"/>
          </a:xfrm>
          <a:prstGeom prst="roundRect">
            <a:avLst>
              <a:gd name="adj" fmla="val 10000"/>
            </a:avLst>
          </a:prstGeom>
          <a:solidFill>
            <a:srgbClr val="FFFFFF"/>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Arial"/>
              </a:rPr>
              <a:t>Certify</a:t>
            </a:r>
          </a:p>
        </p:txBody>
      </p:sp>
      <p:cxnSp>
        <p:nvCxnSpPr>
          <p:cNvPr id="21" name="Connector 20"/>
          <p:cNvCxnSpPr/>
          <p:nvPr/>
        </p:nvCxnSpPr>
        <p:spPr>
          <a:xfrm>
            <a:off x="7260336" y="2814323"/>
            <a:ext cx="1709928" cy="404235"/>
          </a:xfrm>
          <a:prstGeom prst="line">
            <a:avLst/>
          </a:prstGeom>
          <a:ln w="15240">
            <a:solidFill>
              <a:srgbClr val="15703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65592" y="2167546"/>
            <a:ext cx="1444752" cy="646777"/>
          </a:xfrm>
          <a:prstGeom prst="roundRect">
            <a:avLst>
              <a:gd name="adj" fmla="val 10000"/>
            </a:avLst>
          </a:prstGeom>
          <a:solidFill>
            <a:srgbClr val="FFFFFF"/>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Arial"/>
              </a:rPr>
              <a:t>eSignet</a:t>
            </a:r>
          </a:p>
        </p:txBody>
      </p:sp>
      <p:cxnSp>
        <p:nvCxnSpPr>
          <p:cNvPr id="23" name="Connector 22"/>
          <p:cNvCxnSpPr/>
          <p:nvPr/>
        </p:nvCxnSpPr>
        <p:spPr>
          <a:xfrm>
            <a:off x="8887967" y="2814323"/>
            <a:ext cx="82297" cy="404235"/>
          </a:xfrm>
          <a:prstGeom prst="line">
            <a:avLst/>
          </a:prstGeom>
          <a:ln w="15240">
            <a:solidFill>
              <a:srgbClr val="15703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793224" y="2167546"/>
            <a:ext cx="1444752" cy="646777"/>
          </a:xfrm>
          <a:prstGeom prst="roundRect">
            <a:avLst>
              <a:gd name="adj" fmla="val 10000"/>
            </a:avLst>
          </a:prstGeom>
          <a:solidFill>
            <a:srgbClr val="FFFFFF"/>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40" b="1">
                <a:solidFill>
                  <a:srgbClr val="0F172A"/>
                </a:solidFill>
                <a:latin typeface="Arial"/>
              </a:rPr>
              <a:t>IDA</a:t>
            </a:r>
          </a:p>
        </p:txBody>
      </p:sp>
      <p:cxnSp>
        <p:nvCxnSpPr>
          <p:cNvPr id="25" name="Connector 24"/>
          <p:cNvCxnSpPr/>
          <p:nvPr/>
        </p:nvCxnSpPr>
        <p:spPr>
          <a:xfrm flipH="1">
            <a:off x="8970264" y="2814323"/>
            <a:ext cx="1545336" cy="404235"/>
          </a:xfrm>
          <a:prstGeom prst="line">
            <a:avLst/>
          </a:prstGeom>
          <a:ln w="15240">
            <a:solidFill>
              <a:srgbClr val="15703D"/>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15200" y="3245508"/>
            <a:ext cx="3310128" cy="646777"/>
          </a:xfrm>
          <a:prstGeom prst="roundRect">
            <a:avLst>
              <a:gd name="adj" fmla="val 10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190" b="1">
                <a:solidFill>
                  <a:srgbClr val="FFFFFF"/>
                </a:solidFill>
                <a:latin typeface="Arial"/>
              </a:rPr>
              <a:t>Key Manager</a:t>
            </a:r>
          </a:p>
          <a:p>
            <a:pPr algn="ctr">
              <a:lnSpc>
                <a:spcPct val="110000"/>
              </a:lnSpc>
              <a:spcBef>
                <a:spcPts val="200"/>
              </a:spcBef>
            </a:pPr>
            <a:r>
              <a:rPr sz="790">
                <a:solidFill>
                  <a:srgbClr val="FFFFFF"/>
                </a:solidFill>
                <a:latin typeface="Arial"/>
              </a:rPr>
              <a:t>one custody point, one policy set</a:t>
            </a:r>
          </a:p>
        </p:txBody>
      </p:sp>
      <p:sp>
        <p:nvSpPr>
          <p:cNvPr id="27" name="Rounded Rectangle 26"/>
          <p:cNvSpPr/>
          <p:nvPr/>
        </p:nvSpPr>
        <p:spPr>
          <a:xfrm>
            <a:off x="8092440" y="4116860"/>
            <a:ext cx="1755648" cy="503048"/>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90" b="1">
                <a:solidFill>
                  <a:srgbClr val="FFFFFF"/>
                </a:solidFill>
                <a:latin typeface="Arial"/>
              </a:rPr>
              <a:t>HSM</a:t>
            </a:r>
          </a:p>
          <a:p>
            <a:pPr algn="ctr">
              <a:lnSpc>
                <a:spcPct val="110000"/>
              </a:lnSpc>
              <a:spcBef>
                <a:spcPts val="200"/>
              </a:spcBef>
            </a:pPr>
            <a:r>
              <a:rPr sz="740">
                <a:solidFill>
                  <a:srgbClr val="FFFFFF"/>
                </a:solidFill>
                <a:latin typeface="Arial"/>
              </a:rPr>
              <a:t>keys never leave</a:t>
            </a:r>
          </a:p>
        </p:txBody>
      </p:sp>
      <p:cxnSp>
        <p:nvCxnSpPr>
          <p:cNvPr id="28" name="Connector 27"/>
          <p:cNvCxnSpPr/>
          <p:nvPr/>
        </p:nvCxnSpPr>
        <p:spPr>
          <a:xfrm>
            <a:off x="8970264" y="3892285"/>
            <a:ext cx="0" cy="224575"/>
          </a:xfrm>
          <a:prstGeom prst="line">
            <a:avLst/>
          </a:prstGeom>
          <a:ln w="15240">
            <a:solidFill>
              <a:srgbClr val="15703D"/>
            </a:solidFill>
          </a:ln>
          <a:effectLst/>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502920" y="5087026"/>
            <a:ext cx="3594506" cy="1185757"/>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2920" y="5087026"/>
            <a:ext cx="50292" cy="1185757"/>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4088" y="5212787"/>
            <a:ext cx="3210458" cy="269490"/>
          </a:xfrm>
          <a:prstGeom prst="rect">
            <a:avLst/>
          </a:prstGeom>
          <a:noFill/>
        </p:spPr>
        <p:txBody>
          <a:bodyPr wrap="square" lIns="0" rIns="0" tIns="0" bIns="0" anchor="t">
            <a:spAutoFit/>
          </a:bodyPr>
          <a:lstStyle/>
          <a:p>
            <a:pPr algn="l">
              <a:lnSpc>
                <a:spcPct val="114000"/>
              </a:lnSpc>
              <a:spcBef>
                <a:spcPts val="0"/>
              </a:spcBef>
              <a:spcAft>
                <a:spcPts val="0"/>
              </a:spcAft>
            </a:pPr>
            <a:r>
              <a:rPr sz="1140" b="1" i="0">
                <a:solidFill>
                  <a:srgbClr val="1D4E89"/>
                </a:solidFill>
                <a:latin typeface="Arial"/>
              </a:rPr>
              <a:t>Centralised custody</a:t>
            </a:r>
          </a:p>
        </p:txBody>
      </p:sp>
      <p:sp>
        <p:nvSpPr>
          <p:cNvPr id="32" name="TextBox 31"/>
          <p:cNvSpPr txBox="1"/>
          <p:nvPr/>
        </p:nvSpPr>
        <p:spPr>
          <a:xfrm>
            <a:off x="704088" y="5518209"/>
            <a:ext cx="3210458" cy="673726"/>
          </a:xfrm>
          <a:prstGeom prst="rect">
            <a:avLst/>
          </a:prstGeom>
          <a:noFill/>
        </p:spPr>
        <p:txBody>
          <a:bodyPr wrap="square" lIns="0" rIns="0" tIns="0" bIns="0" anchor="t">
            <a:spAutoFit/>
          </a:bodyPr>
          <a:lstStyle/>
          <a:p>
            <a:pPr algn="l">
              <a:lnSpc>
                <a:spcPct val="125000"/>
              </a:lnSpc>
              <a:spcBef>
                <a:spcPts val="0"/>
              </a:spcBef>
              <a:spcAft>
                <a:spcPts val="0"/>
              </a:spcAft>
            </a:pPr>
            <a:r>
              <a:rPr sz="940" b="0" i="0">
                <a:solidFill>
                  <a:srgbClr val="5B6B7F"/>
                </a:solidFill>
                <a:latin typeface="Arial"/>
              </a:rPr>
              <a:t>One place holds private keys, one place to harden, one place to audit access.</a:t>
            </a:r>
          </a:p>
        </p:txBody>
      </p:sp>
      <p:sp>
        <p:nvSpPr>
          <p:cNvPr id="33" name="Rounded Rectangle 32"/>
          <p:cNvSpPr/>
          <p:nvPr/>
        </p:nvSpPr>
        <p:spPr>
          <a:xfrm>
            <a:off x="4298594" y="5087026"/>
            <a:ext cx="3594506" cy="1185757"/>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298594" y="5087026"/>
            <a:ext cx="50292" cy="1185757"/>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99762" y="5212787"/>
            <a:ext cx="3210458" cy="269490"/>
          </a:xfrm>
          <a:prstGeom prst="rect">
            <a:avLst/>
          </a:prstGeom>
          <a:noFill/>
        </p:spPr>
        <p:txBody>
          <a:bodyPr wrap="square" lIns="0" rIns="0" tIns="0" bIns="0" anchor="t">
            <a:spAutoFit/>
          </a:bodyPr>
          <a:lstStyle/>
          <a:p>
            <a:pPr algn="l">
              <a:lnSpc>
                <a:spcPct val="114000"/>
              </a:lnSpc>
              <a:spcBef>
                <a:spcPts val="0"/>
              </a:spcBef>
              <a:spcAft>
                <a:spcPts val="0"/>
              </a:spcAft>
            </a:pPr>
            <a:r>
              <a:rPr sz="1140" b="1" i="0">
                <a:solidFill>
                  <a:srgbClr val="0E9488"/>
                </a:solidFill>
                <a:latin typeface="Arial"/>
              </a:rPr>
              <a:t>Consistent policy</a:t>
            </a:r>
          </a:p>
        </p:txBody>
      </p:sp>
      <p:sp>
        <p:nvSpPr>
          <p:cNvPr id="36" name="TextBox 35"/>
          <p:cNvSpPr txBox="1"/>
          <p:nvPr/>
        </p:nvSpPr>
        <p:spPr>
          <a:xfrm>
            <a:off x="4499762" y="5518209"/>
            <a:ext cx="3210458" cy="673726"/>
          </a:xfrm>
          <a:prstGeom prst="rect">
            <a:avLst/>
          </a:prstGeom>
          <a:noFill/>
        </p:spPr>
        <p:txBody>
          <a:bodyPr wrap="square" lIns="0" rIns="0" tIns="0" bIns="0" anchor="t">
            <a:spAutoFit/>
          </a:bodyPr>
          <a:lstStyle/>
          <a:p>
            <a:pPr algn="l">
              <a:lnSpc>
                <a:spcPct val="125000"/>
              </a:lnSpc>
              <a:spcBef>
                <a:spcPts val="0"/>
              </a:spcBef>
              <a:spcAft>
                <a:spcPts val="0"/>
              </a:spcAft>
            </a:pPr>
            <a:r>
              <a:rPr sz="940" b="0" i="0">
                <a:solidFill>
                  <a:srgbClr val="5B6B7F"/>
                </a:solidFill>
                <a:latin typeface="Arial"/>
              </a:rPr>
              <a:t>Validity, rotation cadence and algorithm are data in </a:t>
            </a:r>
            <a:r>
              <a:rPr sz="940" b="0" i="0">
                <a:solidFill>
                  <a:srgbClr val="1D4E89"/>
                </a:solidFill>
                <a:latin typeface="Consolas"/>
              </a:rPr>
              <a:t>key_policy_def</a:t>
            </a:r>
            <a:r>
              <a:rPr sz="940" b="0" i="0">
                <a:solidFill>
                  <a:srgbClr val="5B6B7F"/>
                </a:solidFill>
                <a:latin typeface="Arial"/>
              </a:rPr>
              <a:t>, not code in three services.</a:t>
            </a:r>
          </a:p>
        </p:txBody>
      </p:sp>
      <p:sp>
        <p:nvSpPr>
          <p:cNvPr id="37" name="Rounded Rectangle 36"/>
          <p:cNvSpPr/>
          <p:nvPr/>
        </p:nvSpPr>
        <p:spPr>
          <a:xfrm>
            <a:off x="8094268" y="5087026"/>
            <a:ext cx="3594506" cy="1185757"/>
          </a:xfrm>
          <a:prstGeom prst="roundRect">
            <a:avLst>
              <a:gd name="adj" fmla="val 6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94268" y="5087026"/>
            <a:ext cx="50292" cy="1185757"/>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95436" y="5212787"/>
            <a:ext cx="3210458" cy="269490"/>
          </a:xfrm>
          <a:prstGeom prst="rect">
            <a:avLst/>
          </a:prstGeom>
          <a:noFill/>
        </p:spPr>
        <p:txBody>
          <a:bodyPr wrap="square" lIns="0" rIns="0" tIns="0" bIns="0" anchor="t">
            <a:spAutoFit/>
          </a:bodyPr>
          <a:lstStyle/>
          <a:p>
            <a:pPr algn="l">
              <a:lnSpc>
                <a:spcPct val="114000"/>
              </a:lnSpc>
              <a:spcBef>
                <a:spcPts val="0"/>
              </a:spcBef>
              <a:spcAft>
                <a:spcPts val="0"/>
              </a:spcAft>
            </a:pPr>
            <a:r>
              <a:rPr sz="1140" b="1" i="0">
                <a:solidFill>
                  <a:srgbClr val="6D28D9"/>
                </a:solidFill>
                <a:latin typeface="Arial"/>
              </a:rPr>
              <a:t>One audit trail</a:t>
            </a:r>
          </a:p>
        </p:txBody>
      </p:sp>
      <p:sp>
        <p:nvSpPr>
          <p:cNvPr id="40" name="TextBox 39"/>
          <p:cNvSpPr txBox="1"/>
          <p:nvPr/>
        </p:nvSpPr>
        <p:spPr>
          <a:xfrm>
            <a:off x="8295436" y="5518209"/>
            <a:ext cx="3210458" cy="673726"/>
          </a:xfrm>
          <a:prstGeom prst="rect">
            <a:avLst/>
          </a:prstGeom>
          <a:noFill/>
        </p:spPr>
        <p:txBody>
          <a:bodyPr wrap="square" lIns="0" rIns="0" tIns="0" bIns="0" anchor="t">
            <a:spAutoFit/>
          </a:bodyPr>
          <a:lstStyle/>
          <a:p>
            <a:pPr algn="l">
              <a:lnSpc>
                <a:spcPct val="125000"/>
              </a:lnSpc>
              <a:spcBef>
                <a:spcPts val="0"/>
              </a:spcBef>
              <a:spcAft>
                <a:spcPts val="0"/>
              </a:spcAft>
            </a:pPr>
            <a:r>
              <a:rPr sz="940" b="0" i="0">
                <a:solidFill>
                  <a:srgbClr val="5B6B7F"/>
                </a:solidFill>
                <a:latin typeface="Arial"/>
              </a:rPr>
              <a:t>Every signing operation goes through one service, so 'which key signed what' has a single answer.</a:t>
            </a:r>
          </a:p>
        </p:txBody>
      </p:sp>
      <p:sp>
        <p:nvSpPr>
          <p:cNvPr id="41" name="TextBox 4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42" name="TextBox 4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1 — PLACEMENT</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Where the Key Manager sits in the Inji stack</a:t>
            </a:r>
          </a:p>
        </p:txBody>
      </p:sp>
      <p:sp>
        <p:nvSpPr>
          <p:cNvPr id="4" name="TextBox 3"/>
          <p:cNvSpPr txBox="1"/>
          <p:nvPr/>
        </p:nvSpPr>
        <p:spPr>
          <a:xfrm>
            <a:off x="502920" y="1078992"/>
            <a:ext cx="11185855" cy="298075"/>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5B6B7F"/>
                </a:solidFill>
                <a:latin typeface="Arial"/>
              </a:rPr>
              <a:t>Two deployment shapes, and Inji Certify uses the second one.</a:t>
            </a:r>
          </a:p>
        </p:txBody>
      </p:sp>
      <p:cxnSp>
        <p:nvCxnSpPr>
          <p:cNvPr id="5" name="Connector 4"/>
          <p:cNvCxnSpPr/>
          <p:nvPr/>
        </p:nvCxnSpPr>
        <p:spPr>
          <a:xfrm>
            <a:off x="502920" y="1468507"/>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61379"/>
            <a:ext cx="5440680" cy="3419101"/>
          </a:xfrm>
          <a:prstGeom prst="roundRect">
            <a:avLst>
              <a:gd name="adj" fmla="val 3000"/>
            </a:avLst>
          </a:prstGeom>
          <a:solidFill>
            <a:srgbClr val="DCE7F4"/>
          </a:solidFill>
          <a:ln w="17780">
            <a:solidFill>
              <a:srgbClr val="1D4E89"/>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30936" y="1538642"/>
            <a:ext cx="2168956" cy="245473"/>
          </a:xfrm>
          <a:prstGeom prst="roundRect">
            <a:avLst>
              <a:gd name="adj" fmla="val 22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40" b="1">
                <a:solidFill>
                  <a:srgbClr val="FFFFFF"/>
                </a:solidFill>
                <a:latin typeface="Arial"/>
              </a:rPr>
              <a:t>SHAPE A — SHARED SERVICE</a:t>
            </a:r>
          </a:p>
        </p:txBody>
      </p:sp>
      <p:sp>
        <p:nvSpPr>
          <p:cNvPr id="8" name="Rounded Rectangle 7"/>
          <p:cNvSpPr/>
          <p:nvPr/>
        </p:nvSpPr>
        <p:spPr>
          <a:xfrm>
            <a:off x="868680" y="2099726"/>
            <a:ext cx="1463040" cy="543549"/>
          </a:xfrm>
          <a:prstGeom prst="roundRect">
            <a:avLst>
              <a:gd name="adj" fmla="val 10000"/>
            </a:avLst>
          </a:prstGeom>
          <a:solidFill>
            <a:srgbClr val="FFFFFF"/>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0F172A"/>
                </a:solidFill>
                <a:latin typeface="Arial"/>
              </a:rPr>
              <a:t>Certify</a:t>
            </a:r>
          </a:p>
        </p:txBody>
      </p:sp>
      <p:sp>
        <p:nvSpPr>
          <p:cNvPr id="9" name="Rounded Rectangle 8"/>
          <p:cNvSpPr/>
          <p:nvPr/>
        </p:nvSpPr>
        <p:spPr>
          <a:xfrm>
            <a:off x="2514600" y="2099726"/>
            <a:ext cx="1417320" cy="543549"/>
          </a:xfrm>
          <a:prstGeom prst="roundRect">
            <a:avLst>
              <a:gd name="adj" fmla="val 10000"/>
            </a:avLst>
          </a:prstGeom>
          <a:solidFill>
            <a:srgbClr val="FFFFFF"/>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0F172A"/>
                </a:solidFill>
                <a:latin typeface="Arial"/>
              </a:rPr>
              <a:t>eSignet</a:t>
            </a:r>
          </a:p>
        </p:txBody>
      </p:sp>
      <p:sp>
        <p:nvSpPr>
          <p:cNvPr id="10" name="Rounded Rectangle 9"/>
          <p:cNvSpPr/>
          <p:nvPr/>
        </p:nvSpPr>
        <p:spPr>
          <a:xfrm>
            <a:off x="4114800" y="2099726"/>
            <a:ext cx="1417320" cy="543549"/>
          </a:xfrm>
          <a:prstGeom prst="roundRect">
            <a:avLst>
              <a:gd name="adj" fmla="val 10000"/>
            </a:avLst>
          </a:prstGeom>
          <a:solidFill>
            <a:srgbClr val="FFFFFF"/>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30" b="1">
                <a:solidFill>
                  <a:srgbClr val="0F172A"/>
                </a:solidFill>
                <a:latin typeface="Arial"/>
              </a:rPr>
              <a:t>IDA / others</a:t>
            </a:r>
          </a:p>
        </p:txBody>
      </p:sp>
      <p:sp>
        <p:nvSpPr>
          <p:cNvPr id="11" name="Rounded Rectangle 10"/>
          <p:cNvSpPr/>
          <p:nvPr/>
        </p:nvSpPr>
        <p:spPr>
          <a:xfrm>
            <a:off x="1691640" y="3169291"/>
            <a:ext cx="3063240" cy="683820"/>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80" b="1">
                <a:solidFill>
                  <a:srgbClr val="FFFFFF"/>
                </a:solidFill>
                <a:latin typeface="Arial"/>
              </a:rPr>
              <a:t>kernel-keymanager-service</a:t>
            </a:r>
          </a:p>
          <a:p>
            <a:pPr algn="ctr">
              <a:lnSpc>
                <a:spcPct val="110000"/>
              </a:lnSpc>
              <a:spcBef>
                <a:spcPts val="200"/>
              </a:spcBef>
            </a:pPr>
            <a:r>
              <a:rPr sz="790">
                <a:solidFill>
                  <a:srgbClr val="FFFFFF"/>
                </a:solidFill>
                <a:latin typeface="Arial"/>
              </a:rPr>
              <a:t>REST · /v1/keymanager</a:t>
            </a:r>
          </a:p>
        </p:txBody>
      </p:sp>
      <p:cxnSp>
        <p:nvCxnSpPr>
          <p:cNvPr id="12" name="Connector 11"/>
          <p:cNvCxnSpPr/>
          <p:nvPr/>
        </p:nvCxnSpPr>
        <p:spPr>
          <a:xfrm>
            <a:off x="1581912" y="2643275"/>
            <a:ext cx="1645920" cy="526015"/>
          </a:xfrm>
          <a:prstGeom prst="line">
            <a:avLst/>
          </a:prstGeom>
          <a:ln w="13970">
            <a:solidFill>
              <a:srgbClr val="1D4E8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209544" y="2643275"/>
            <a:ext cx="18288" cy="526015"/>
          </a:xfrm>
          <a:prstGeom prst="line">
            <a:avLst/>
          </a:prstGeom>
          <a:ln w="13970">
            <a:solidFill>
              <a:srgbClr val="1D4E89"/>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227832" y="2643275"/>
            <a:ext cx="1609344" cy="526015"/>
          </a:xfrm>
          <a:prstGeom prst="line">
            <a:avLst/>
          </a:prstGeom>
          <a:ln w="13970">
            <a:solidFill>
              <a:srgbClr val="1D4E89"/>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14400" y="4168721"/>
            <a:ext cx="2148840" cy="543549"/>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FFFFFF"/>
                </a:solidFill>
                <a:latin typeface="Arial"/>
              </a:rPr>
              <a:t>HSM</a:t>
            </a:r>
          </a:p>
          <a:p>
            <a:pPr algn="ctr">
              <a:lnSpc>
                <a:spcPct val="110000"/>
              </a:lnSpc>
              <a:spcBef>
                <a:spcPts val="200"/>
              </a:spcBef>
            </a:pPr>
            <a:r>
              <a:rPr sz="740">
                <a:solidFill>
                  <a:srgbClr val="FFFFFF"/>
                </a:solidFill>
                <a:latin typeface="Arial"/>
              </a:rPr>
              <a:t>PKCS#11</a:t>
            </a:r>
          </a:p>
        </p:txBody>
      </p:sp>
      <p:sp>
        <p:nvSpPr>
          <p:cNvPr id="16" name="Rounded Rectangle 15"/>
          <p:cNvSpPr/>
          <p:nvPr/>
        </p:nvSpPr>
        <p:spPr>
          <a:xfrm>
            <a:off x="3383280" y="4168721"/>
            <a:ext cx="2148840" cy="543549"/>
          </a:xfrm>
          <a:prstGeom prst="roundRect">
            <a:avLst>
              <a:gd name="adj" fmla="val 1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FFFFFF"/>
                </a:solidFill>
                <a:latin typeface="Arial"/>
              </a:rPr>
              <a:t>Postgres</a:t>
            </a:r>
          </a:p>
          <a:p>
            <a:pPr algn="ctr">
              <a:lnSpc>
                <a:spcPct val="110000"/>
              </a:lnSpc>
              <a:spcBef>
                <a:spcPts val="200"/>
              </a:spcBef>
            </a:pPr>
            <a:r>
              <a:rPr sz="740">
                <a:solidFill>
                  <a:srgbClr val="FFFFFF"/>
                </a:solidFill>
                <a:latin typeface="Arial"/>
              </a:rPr>
              <a:t>mosip_keymgr</a:t>
            </a:r>
          </a:p>
        </p:txBody>
      </p:sp>
      <p:cxnSp>
        <p:nvCxnSpPr>
          <p:cNvPr id="17" name="Connector 16"/>
          <p:cNvCxnSpPr/>
          <p:nvPr/>
        </p:nvCxnSpPr>
        <p:spPr>
          <a:xfrm flipH="1">
            <a:off x="1984248" y="3853111"/>
            <a:ext cx="530352" cy="315609"/>
          </a:xfrm>
          <a:prstGeom prst="line">
            <a:avLst/>
          </a:prstGeom>
          <a:ln w="13970">
            <a:solidFill>
              <a:srgbClr val="1D4E89"/>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794760" y="3853111"/>
            <a:ext cx="658368" cy="315609"/>
          </a:xfrm>
          <a:prstGeom prst="line">
            <a:avLst/>
          </a:prstGeom>
          <a:ln w="13970">
            <a:solidFill>
              <a:srgbClr val="1D4E89"/>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45352" y="1661379"/>
            <a:ext cx="5440680" cy="3419101"/>
          </a:xfrm>
          <a:prstGeom prst="roundRect">
            <a:avLst>
              <a:gd name="adj" fmla="val 3000"/>
            </a:avLst>
          </a:prstGeom>
          <a:solidFill>
            <a:srgbClr val="D6F0ED"/>
          </a:solidFill>
          <a:ln w="17780">
            <a:solidFill>
              <a:srgbClr val="0E948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73368" y="1538642"/>
            <a:ext cx="4100169" cy="245473"/>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40" b="1">
                <a:solidFill>
                  <a:srgbClr val="FFFFFF"/>
                </a:solidFill>
                <a:latin typeface="Arial"/>
              </a:rPr>
              <a:t>SHAPE B — EMBEDDED LIBRARY  (Inji Certify today)</a:t>
            </a:r>
          </a:p>
        </p:txBody>
      </p:sp>
      <p:sp>
        <p:nvSpPr>
          <p:cNvPr id="21" name="Rounded Rectangle 20"/>
          <p:cNvSpPr/>
          <p:nvPr/>
        </p:nvSpPr>
        <p:spPr>
          <a:xfrm>
            <a:off x="6611112" y="2099726"/>
            <a:ext cx="4709160" cy="1753385"/>
          </a:xfrm>
          <a:prstGeom prst="roundRect">
            <a:avLst>
              <a:gd name="adj" fmla="val 5000"/>
            </a:avLst>
          </a:prstGeom>
          <a:solidFill>
            <a:srgbClr val="FFFFFF"/>
          </a:solidFill>
          <a:ln w="1778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66559" y="2204929"/>
            <a:ext cx="4389120" cy="245473"/>
          </a:xfrm>
          <a:prstGeom prst="rect">
            <a:avLst/>
          </a:prstGeom>
          <a:noFill/>
        </p:spPr>
        <p:txBody>
          <a:bodyPr wrap="square" lIns="0" rIns="0" tIns="0" bIns="0" anchor="t">
            <a:spAutoFit/>
          </a:bodyPr>
          <a:lstStyle/>
          <a:p>
            <a:pPr algn="l">
              <a:lnSpc>
                <a:spcPct val="114000"/>
              </a:lnSpc>
              <a:spcBef>
                <a:spcPts val="0"/>
              </a:spcBef>
              <a:spcAft>
                <a:spcPts val="0"/>
              </a:spcAft>
            </a:pPr>
            <a:r>
              <a:rPr sz="1030" b="1" i="0">
                <a:solidFill>
                  <a:srgbClr val="0E9488"/>
                </a:solidFill>
                <a:latin typeface="Arial"/>
              </a:rPr>
              <a:t>Inji Certify process</a:t>
            </a:r>
          </a:p>
        </p:txBody>
      </p:sp>
      <p:sp>
        <p:nvSpPr>
          <p:cNvPr id="23" name="Rounded Rectangle 22"/>
          <p:cNvSpPr/>
          <p:nvPr/>
        </p:nvSpPr>
        <p:spPr>
          <a:xfrm>
            <a:off x="6812280" y="2538072"/>
            <a:ext cx="2103120" cy="526015"/>
          </a:xfrm>
          <a:prstGeom prst="roundRect">
            <a:avLst>
              <a:gd name="adj" fmla="val 10000"/>
            </a:avLst>
          </a:prstGeom>
          <a:solidFill>
            <a:srgbClr val="D6F0ED"/>
          </a:solidFill>
          <a:ln w="1524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30" b="1">
                <a:solidFill>
                  <a:srgbClr val="0E9488"/>
                </a:solidFill>
                <a:latin typeface="Arial"/>
              </a:rPr>
              <a:t>Certify services</a:t>
            </a:r>
          </a:p>
          <a:p>
            <a:pPr algn="ctr">
              <a:lnSpc>
                <a:spcPct val="110000"/>
              </a:lnSpc>
              <a:spcBef>
                <a:spcPts val="200"/>
              </a:spcBef>
            </a:pPr>
            <a:r>
              <a:rPr sz="740">
                <a:solidFill>
                  <a:srgbClr val="0E9488"/>
                </a:solidFill>
                <a:latin typeface="Arial"/>
              </a:rPr>
              <a:t>VC issuance</a:t>
            </a:r>
          </a:p>
        </p:txBody>
      </p:sp>
      <p:sp>
        <p:nvSpPr>
          <p:cNvPr id="24" name="Rounded Rectangle 23"/>
          <p:cNvSpPr/>
          <p:nvPr/>
        </p:nvSpPr>
        <p:spPr>
          <a:xfrm>
            <a:off x="9052560" y="2538072"/>
            <a:ext cx="2103120" cy="526015"/>
          </a:xfrm>
          <a:prstGeom prst="roundRect">
            <a:avLst>
              <a:gd name="adj" fmla="val 10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30" b="1">
                <a:solidFill>
                  <a:srgbClr val="FFFFFF"/>
                </a:solidFill>
                <a:latin typeface="Arial"/>
              </a:rPr>
              <a:t>keymanager lib</a:t>
            </a:r>
          </a:p>
          <a:p>
            <a:pPr algn="ctr">
              <a:lnSpc>
                <a:spcPct val="110000"/>
              </a:lnSpc>
              <a:spcBef>
                <a:spcPts val="200"/>
              </a:spcBef>
            </a:pPr>
            <a:r>
              <a:rPr sz="740">
                <a:solidFill>
                  <a:srgbClr val="FFFFFF"/>
                </a:solidFill>
                <a:latin typeface="Arial"/>
              </a:rPr>
              <a:t>kernel-keymanager</a:t>
            </a:r>
          </a:p>
        </p:txBody>
      </p:sp>
      <p:cxnSp>
        <p:nvCxnSpPr>
          <p:cNvPr id="25" name="Connector 24"/>
          <p:cNvCxnSpPr/>
          <p:nvPr/>
        </p:nvCxnSpPr>
        <p:spPr>
          <a:xfrm>
            <a:off x="8933688" y="2801080"/>
            <a:ext cx="100584" cy="0"/>
          </a:xfrm>
          <a:prstGeom prst="line">
            <a:avLst/>
          </a:prstGeom>
          <a:ln w="16510">
            <a:solidFill>
              <a:srgbClr val="0E948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12280" y="3169291"/>
            <a:ext cx="4343400" cy="543549"/>
          </a:xfrm>
          <a:prstGeom prst="rect">
            <a:avLst/>
          </a:prstGeom>
          <a:noFill/>
        </p:spPr>
        <p:txBody>
          <a:bodyPr wrap="square" lIns="0" rIns="0" tIns="0" bIns="0" anchor="t">
            <a:spAutoFit/>
          </a:bodyPr>
          <a:lstStyle/>
          <a:p>
            <a:pPr algn="l">
              <a:lnSpc>
                <a:spcPct val="122000"/>
              </a:lnSpc>
              <a:spcBef>
                <a:spcPts val="0"/>
              </a:spcBef>
              <a:spcAft>
                <a:spcPts val="0"/>
              </a:spcAft>
            </a:pPr>
            <a:r>
              <a:rPr sz="900" b="0" i="1">
                <a:solidFill>
                  <a:srgbClr val="5B6B7F"/>
                </a:solidFill>
                <a:latin typeface="Arial"/>
              </a:rPr>
              <a:t>In-process method call. No network hop, no token, no separate service to operate.</a:t>
            </a:r>
          </a:p>
        </p:txBody>
      </p:sp>
      <p:sp>
        <p:nvSpPr>
          <p:cNvPr id="27" name="Rounded Rectangle 26"/>
          <p:cNvSpPr/>
          <p:nvPr/>
        </p:nvSpPr>
        <p:spPr>
          <a:xfrm>
            <a:off x="6656832" y="4168721"/>
            <a:ext cx="2148840" cy="543549"/>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FFFFFF"/>
                </a:solidFill>
                <a:latin typeface="Arial"/>
              </a:rPr>
              <a:t>HSM / PKCS12</a:t>
            </a:r>
          </a:p>
          <a:p>
            <a:pPr algn="ctr">
              <a:lnSpc>
                <a:spcPct val="110000"/>
              </a:lnSpc>
              <a:spcBef>
                <a:spcPts val="200"/>
              </a:spcBef>
            </a:pPr>
            <a:r>
              <a:rPr sz="740">
                <a:solidFill>
                  <a:srgbClr val="FFFFFF"/>
                </a:solidFill>
                <a:latin typeface="Arial"/>
              </a:rPr>
              <a:t>keystore</a:t>
            </a:r>
          </a:p>
        </p:txBody>
      </p:sp>
      <p:sp>
        <p:nvSpPr>
          <p:cNvPr id="28" name="Rounded Rectangle 27"/>
          <p:cNvSpPr/>
          <p:nvPr/>
        </p:nvSpPr>
        <p:spPr>
          <a:xfrm>
            <a:off x="9125712" y="4168721"/>
            <a:ext cx="2148840" cy="543549"/>
          </a:xfrm>
          <a:prstGeom prst="roundRect">
            <a:avLst>
              <a:gd name="adj" fmla="val 1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980" b="1">
                <a:solidFill>
                  <a:srgbClr val="FFFFFF"/>
                </a:solidFill>
                <a:latin typeface="Arial"/>
              </a:rPr>
              <a:t>Postgres</a:t>
            </a:r>
          </a:p>
          <a:p>
            <a:pPr algn="ctr">
              <a:lnSpc>
                <a:spcPct val="110000"/>
              </a:lnSpc>
              <a:spcBef>
                <a:spcPts val="200"/>
              </a:spcBef>
            </a:pPr>
            <a:r>
              <a:rPr sz="740">
                <a:solidFill>
                  <a:srgbClr val="FFFFFF"/>
                </a:solidFill>
                <a:latin typeface="Arial"/>
              </a:rPr>
              <a:t>certify schema</a:t>
            </a:r>
          </a:p>
        </p:txBody>
      </p:sp>
      <p:cxnSp>
        <p:nvCxnSpPr>
          <p:cNvPr id="29" name="Connector 28"/>
          <p:cNvCxnSpPr/>
          <p:nvPr/>
        </p:nvCxnSpPr>
        <p:spPr>
          <a:xfrm flipH="1">
            <a:off x="7726680" y="3853111"/>
            <a:ext cx="365760" cy="315609"/>
          </a:xfrm>
          <a:prstGeom prst="line">
            <a:avLst/>
          </a:prstGeom>
          <a:ln w="13970">
            <a:solidFill>
              <a:srgbClr val="0E9488"/>
            </a:solidFill>
          </a:ln>
          <a:effectLst/>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829800" y="3853111"/>
            <a:ext cx="365760" cy="315609"/>
          </a:xfrm>
          <a:prstGeom prst="line">
            <a:avLst/>
          </a:prstGeom>
          <a:ln w="13970">
            <a:solidFill>
              <a:srgbClr val="0E9488"/>
            </a:solidFill>
          </a:ln>
          <a:effectLst/>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502920" y="5308421"/>
            <a:ext cx="5440680" cy="964362"/>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 y="5422392"/>
            <a:ext cx="5148072" cy="736421"/>
          </a:xfrm>
          <a:prstGeom prst="rect">
            <a:avLst/>
          </a:prstGeom>
          <a:noFill/>
        </p:spPr>
        <p:txBody>
          <a:bodyPr wrap="square" lIns="0" rIns="0" tIns="0" bIns="0" anchor="t">
            <a:spAutoFit/>
          </a:bodyPr>
          <a:lstStyle/>
          <a:p>
            <a:pPr>
              <a:lnSpc>
                <a:spcPct val="116000"/>
              </a:lnSpc>
              <a:spcBef>
                <a:spcPts val="0"/>
              </a:spcBef>
              <a:spcAft>
                <a:spcPts val="0"/>
              </a:spcAft>
            </a:pPr>
            <a:r>
              <a:rPr sz="840">
                <a:solidFill>
                  <a:srgbClr val="7E93A8"/>
                </a:solidFill>
                <a:latin typeface="Consolas"/>
              </a:rPr>
              <a:t># in certify-default.properties — Certify owns a keystore directly</a:t>
            </a:r>
          </a:p>
          <a:p>
            <a:pPr>
              <a:lnSpc>
                <a:spcPct val="116000"/>
              </a:lnSpc>
              <a:spcBef>
                <a:spcPts val="0"/>
              </a:spcBef>
              <a:spcAft>
                <a:spcPts val="0"/>
              </a:spcAft>
            </a:pPr>
            <a:r>
              <a:rPr sz="840" b="1">
                <a:solidFill>
                  <a:srgbClr val="FFD56B"/>
                </a:solidFill>
                <a:latin typeface="Consolas"/>
              </a:rPr>
              <a:t>mosip.kernel.keymanager.hsm.keystore-type = PKCS12</a:t>
            </a:r>
          </a:p>
          <a:p>
            <a:pPr>
              <a:lnSpc>
                <a:spcPct val="116000"/>
              </a:lnSpc>
              <a:spcBef>
                <a:spcPts val="0"/>
              </a:spcBef>
              <a:spcAft>
                <a:spcPts val="0"/>
              </a:spcAft>
            </a:pPr>
            <a:r>
              <a:rPr sz="840">
                <a:solidFill>
                  <a:srgbClr val="CBD9E8"/>
                </a:solidFill>
                <a:latin typeface="Consolas"/>
              </a:rPr>
              <a:t>mosip.kernel.keymanager.hsm.config-path  = CERTIFY_PKCS12/local.p12</a:t>
            </a:r>
          </a:p>
          <a:p>
            <a:pPr>
              <a:lnSpc>
                <a:spcPct val="116000"/>
              </a:lnSpc>
              <a:spcBef>
                <a:spcPts val="0"/>
              </a:spcBef>
              <a:spcAft>
                <a:spcPts val="0"/>
              </a:spcAft>
            </a:pPr>
            <a:r>
              <a:rPr sz="840">
                <a:solidFill>
                  <a:srgbClr val="7E93A8"/>
                </a:solidFill>
                <a:latin typeface="Consolas"/>
              </a:rPr>
              <a:t># production: switch to PKCS11 + an HSM config file</a:t>
            </a:r>
          </a:p>
        </p:txBody>
      </p:sp>
      <p:sp>
        <p:nvSpPr>
          <p:cNvPr id="33" name="Rounded Rectangle 32"/>
          <p:cNvSpPr/>
          <p:nvPr/>
        </p:nvSpPr>
        <p:spPr>
          <a:xfrm>
            <a:off x="6245352" y="5308421"/>
            <a:ext cx="5440680" cy="821168"/>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45352" y="5308421"/>
            <a:ext cx="45720" cy="82116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46520" y="5396091"/>
            <a:ext cx="5074920" cy="680898"/>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1E293B"/>
                </a:solidFill>
                <a:latin typeface="Arial"/>
              </a:rPr>
              <a:t>Because Certify </a:t>
            </a:r>
            <a:r>
              <a:rPr sz="1000" b="1" i="0">
                <a:solidFill>
                  <a:srgbClr val="B45309"/>
                </a:solidFill>
                <a:latin typeface="Arial"/>
              </a:rPr>
              <a:t>embeds</a:t>
            </a:r>
            <a:r>
              <a:rPr sz="1000" b="0" i="0">
                <a:solidFill>
                  <a:srgbClr val="1E293B"/>
                </a:solidFill>
                <a:latin typeface="Arial"/>
              </a:rPr>
              <a:t> the key manager, </a:t>
            </a:r>
            <a:r>
              <a:rPr sz="1000" b="0" i="0">
                <a:solidFill>
                  <a:srgbClr val="1D4E89"/>
                </a:solidFill>
                <a:latin typeface="Consolas"/>
              </a:rPr>
              <a:t>mosip.kernel.keymanager.*</a:t>
            </a:r>
            <a:r>
              <a:rPr sz="1000" b="0" i="0">
                <a:solidFill>
                  <a:srgbClr val="1E293B"/>
                </a:solidFill>
                <a:latin typeface="Arial"/>
              </a:rPr>
              <a:t> properties are Certify's own configuration. There is no separate Key Manager pod to point at in the Inji stack — a frequent source of confusion when people come from a full MOSIP deployment.</a:t>
            </a:r>
          </a:p>
        </p:txBody>
      </p:sp>
      <p:sp>
        <p:nvSpPr>
          <p:cNvPr id="36" name="TextBox 3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37" name="TextBox 3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2 — ARCHITECTURE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The three-tier key hierarchy</a:t>
            </a:r>
          </a:p>
        </p:txBody>
      </p:sp>
      <p:sp>
        <p:nvSpPr>
          <p:cNvPr id="4" name="TextBox 3"/>
          <p:cNvSpPr txBox="1"/>
          <p:nvPr/>
        </p:nvSpPr>
        <p:spPr>
          <a:xfrm>
            <a:off x="502920" y="1078992"/>
            <a:ext cx="11185855" cy="297564"/>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5B6B7F"/>
                </a:solidFill>
                <a:latin typeface="Arial"/>
              </a:rPr>
              <a:t>The single most important diagram in this session. Everything else is a consequence of it.</a:t>
            </a:r>
          </a:p>
        </p:txBody>
      </p:sp>
      <p:cxnSp>
        <p:nvCxnSpPr>
          <p:cNvPr id="5" name="Connector 4"/>
          <p:cNvCxnSpPr/>
          <p:nvPr/>
        </p:nvCxnSpPr>
        <p:spPr>
          <a:xfrm>
            <a:off x="502920" y="1467996"/>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731520" y="1660537"/>
            <a:ext cx="5532120" cy="805173"/>
          </a:xfrm>
          <a:prstGeom prst="roundRect">
            <a:avLst>
              <a:gd name="adj" fmla="val 1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270" b="1">
                <a:solidFill>
                  <a:srgbClr val="FFFFFF"/>
                </a:solidFill>
                <a:latin typeface="Arial"/>
              </a:rPr>
              <a:t>ROOT key</a:t>
            </a:r>
          </a:p>
          <a:p>
            <a:pPr algn="ctr">
              <a:lnSpc>
                <a:spcPct val="110000"/>
              </a:lnSpc>
              <a:spcBef>
                <a:spcPts val="200"/>
              </a:spcBef>
            </a:pPr>
            <a:r>
              <a:rPr sz="819">
                <a:solidFill>
                  <a:srgbClr val="FFFFFF"/>
                </a:solidFill>
                <a:latin typeface="Arial"/>
              </a:rPr>
              <a:t>self-signed root certificate  ·  app_id = ROOT</a:t>
            </a:r>
          </a:p>
        </p:txBody>
      </p:sp>
      <p:sp>
        <p:nvSpPr>
          <p:cNvPr id="7" name="TextBox 6"/>
          <p:cNvSpPr txBox="1"/>
          <p:nvPr/>
        </p:nvSpPr>
        <p:spPr>
          <a:xfrm>
            <a:off x="6537959" y="1748056"/>
            <a:ext cx="4937760" cy="656391"/>
          </a:xfrm>
          <a:prstGeom prst="rect">
            <a:avLst/>
          </a:prstGeom>
          <a:noFill/>
        </p:spPr>
        <p:txBody>
          <a:bodyPr wrap="square" lIns="0" rIns="0" tIns="0" bIns="0" anchor="t">
            <a:spAutoFit/>
          </a:bodyPr>
          <a:lstStyle/>
          <a:p>
            <a:pPr algn="l">
              <a:lnSpc>
                <a:spcPct val="125000"/>
              </a:lnSpc>
              <a:spcBef>
                <a:spcPts val="0"/>
              </a:spcBef>
              <a:spcAft>
                <a:spcPts val="0"/>
              </a:spcAft>
            </a:pPr>
            <a:r>
              <a:rPr sz="960" b="0" i="0">
                <a:solidFill>
                  <a:srgbClr val="1E293B"/>
                </a:solidFill>
                <a:latin typeface="Arial"/>
              </a:rPr>
              <a:t>Lives in the HSM. Never used to sign a credential — only to sign module keys.</a:t>
            </a:r>
          </a:p>
        </p:txBody>
      </p:sp>
      <p:cxnSp>
        <p:nvCxnSpPr>
          <p:cNvPr id="8" name="Connector 7"/>
          <p:cNvCxnSpPr/>
          <p:nvPr/>
        </p:nvCxnSpPr>
        <p:spPr>
          <a:xfrm>
            <a:off x="3497580" y="2465711"/>
            <a:ext cx="0" cy="262556"/>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354580" y="2483215"/>
            <a:ext cx="2286000" cy="21004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354580" y="2483215"/>
            <a:ext cx="2286000" cy="210045"/>
          </a:xfrm>
          <a:prstGeom prst="rect">
            <a:avLst/>
          </a:prstGeom>
          <a:noFill/>
        </p:spPr>
        <p:txBody>
          <a:bodyPr wrap="none" lIns="0" rIns="0" tIns="0" bIns="0" anchor="ctr">
            <a:spAutoFit/>
          </a:bodyPr>
          <a:lstStyle/>
          <a:p>
            <a:pPr algn="ctr">
              <a:lnSpc>
                <a:spcPct val="114000"/>
              </a:lnSpc>
              <a:spcBef>
                <a:spcPts val="0"/>
              </a:spcBef>
              <a:spcAft>
                <a:spcPts val="0"/>
              </a:spcAft>
            </a:pPr>
            <a:r>
              <a:rPr sz="760" b="1" i="0">
                <a:solidFill>
                  <a:srgbClr val="5B6B7F"/>
                </a:solidFill>
                <a:latin typeface="Arial"/>
              </a:rPr>
              <a:t>signs the certificate below</a:t>
            </a:r>
          </a:p>
        </p:txBody>
      </p:sp>
      <p:sp>
        <p:nvSpPr>
          <p:cNvPr id="11" name="Rounded Rectangle 10"/>
          <p:cNvSpPr/>
          <p:nvPr/>
        </p:nvSpPr>
        <p:spPr>
          <a:xfrm>
            <a:off x="1005840" y="2728268"/>
            <a:ext cx="4983480" cy="805173"/>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270" b="1">
                <a:solidFill>
                  <a:srgbClr val="FFFFFF"/>
                </a:solidFill>
                <a:latin typeface="Arial"/>
              </a:rPr>
              <a:t>Module / master key</a:t>
            </a:r>
          </a:p>
          <a:p>
            <a:pPr algn="ctr">
              <a:lnSpc>
                <a:spcPct val="110000"/>
              </a:lnSpc>
              <a:spcBef>
                <a:spcPts val="200"/>
              </a:spcBef>
            </a:pPr>
            <a:r>
              <a:rPr sz="819">
                <a:solidFill>
                  <a:srgbClr val="FFFFFF"/>
                </a:solidFill>
                <a:latin typeface="Arial"/>
              </a:rPr>
              <a:t>one per app_id, e.g. CERTIFY_VC_SIGN_RSA  ·  cert signed by ROOT</a:t>
            </a:r>
          </a:p>
        </p:txBody>
      </p:sp>
      <p:sp>
        <p:nvSpPr>
          <p:cNvPr id="12" name="TextBox 11"/>
          <p:cNvSpPr txBox="1"/>
          <p:nvPr/>
        </p:nvSpPr>
        <p:spPr>
          <a:xfrm>
            <a:off x="6537959" y="2815787"/>
            <a:ext cx="4937760" cy="656391"/>
          </a:xfrm>
          <a:prstGeom prst="rect">
            <a:avLst/>
          </a:prstGeom>
          <a:noFill/>
        </p:spPr>
        <p:txBody>
          <a:bodyPr wrap="square" lIns="0" rIns="0" tIns="0" bIns="0" anchor="t">
            <a:spAutoFit/>
          </a:bodyPr>
          <a:lstStyle/>
          <a:p>
            <a:pPr algn="l">
              <a:lnSpc>
                <a:spcPct val="125000"/>
              </a:lnSpc>
              <a:spcBef>
                <a:spcPts val="0"/>
              </a:spcBef>
              <a:spcAft>
                <a:spcPts val="0"/>
              </a:spcAft>
            </a:pPr>
            <a:r>
              <a:rPr sz="960" b="0" i="0">
                <a:solidFill>
                  <a:srgbClr val="1E293B"/>
                </a:solidFill>
                <a:latin typeface="Arial"/>
              </a:rPr>
              <a:t>Lives in the HSM. Signs base-key certificates and wraps base private keys.</a:t>
            </a:r>
          </a:p>
        </p:txBody>
      </p:sp>
      <p:cxnSp>
        <p:nvCxnSpPr>
          <p:cNvPr id="13" name="Connector 12"/>
          <p:cNvCxnSpPr/>
          <p:nvPr/>
        </p:nvCxnSpPr>
        <p:spPr>
          <a:xfrm>
            <a:off x="3497580" y="3533442"/>
            <a:ext cx="0" cy="262556"/>
          </a:xfrm>
          <a:prstGeom prst="line">
            <a:avLst/>
          </a:prstGeom>
          <a:ln w="1905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2354580" y="3550946"/>
            <a:ext cx="2286000" cy="21004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354580" y="3550946"/>
            <a:ext cx="2286000" cy="210045"/>
          </a:xfrm>
          <a:prstGeom prst="rect">
            <a:avLst/>
          </a:prstGeom>
          <a:noFill/>
        </p:spPr>
        <p:txBody>
          <a:bodyPr wrap="none" lIns="0" rIns="0" tIns="0" bIns="0" anchor="ctr">
            <a:spAutoFit/>
          </a:bodyPr>
          <a:lstStyle/>
          <a:p>
            <a:pPr algn="ctr">
              <a:lnSpc>
                <a:spcPct val="114000"/>
              </a:lnSpc>
              <a:spcBef>
                <a:spcPts val="0"/>
              </a:spcBef>
              <a:spcAft>
                <a:spcPts val="0"/>
              </a:spcAft>
            </a:pPr>
            <a:r>
              <a:rPr sz="760" b="1" i="0">
                <a:solidFill>
                  <a:srgbClr val="5B6B7F"/>
                </a:solidFill>
                <a:latin typeface="Arial"/>
              </a:rPr>
              <a:t>signs the certificate below</a:t>
            </a:r>
          </a:p>
        </p:txBody>
      </p:sp>
      <p:sp>
        <p:nvSpPr>
          <p:cNvPr id="16" name="Rounded Rectangle 15"/>
          <p:cNvSpPr/>
          <p:nvPr/>
        </p:nvSpPr>
        <p:spPr>
          <a:xfrm>
            <a:off x="1280160" y="3795999"/>
            <a:ext cx="4434840" cy="805173"/>
          </a:xfrm>
          <a:prstGeom prst="roundRect">
            <a:avLst>
              <a:gd name="adj" fmla="val 10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270" b="1">
                <a:solidFill>
                  <a:srgbClr val="FFFFFF"/>
                </a:solidFill>
                <a:latin typeface="Arial"/>
              </a:rPr>
              <a:t>Base / reference key</a:t>
            </a:r>
          </a:p>
          <a:p>
            <a:pPr algn="ctr">
              <a:lnSpc>
                <a:spcPct val="110000"/>
              </a:lnSpc>
              <a:spcBef>
                <a:spcPts val="200"/>
              </a:spcBef>
            </a:pPr>
            <a:r>
              <a:rPr sz="819">
                <a:solidFill>
                  <a:srgbClr val="FFFFFF"/>
                </a:solidFill>
                <a:latin typeface="Arial"/>
              </a:rPr>
              <a:t>app_id + ref_id, e.g. CERTIFY_VC_SIGN_ED25519 + ED25519_SIGN</a:t>
            </a:r>
          </a:p>
        </p:txBody>
      </p:sp>
      <p:sp>
        <p:nvSpPr>
          <p:cNvPr id="17" name="TextBox 16"/>
          <p:cNvSpPr txBox="1"/>
          <p:nvPr/>
        </p:nvSpPr>
        <p:spPr>
          <a:xfrm>
            <a:off x="6537959" y="3883517"/>
            <a:ext cx="4937760" cy="656391"/>
          </a:xfrm>
          <a:prstGeom prst="rect">
            <a:avLst/>
          </a:prstGeom>
          <a:noFill/>
        </p:spPr>
        <p:txBody>
          <a:bodyPr wrap="square" lIns="0" rIns="0" tIns="0" bIns="0" anchor="t">
            <a:spAutoFit/>
          </a:bodyPr>
          <a:lstStyle/>
          <a:p>
            <a:pPr algn="l">
              <a:lnSpc>
                <a:spcPct val="125000"/>
              </a:lnSpc>
              <a:spcBef>
                <a:spcPts val="0"/>
              </a:spcBef>
              <a:spcAft>
                <a:spcPts val="0"/>
              </a:spcAft>
            </a:pPr>
            <a:r>
              <a:rPr sz="960" b="0" i="0">
                <a:solidFill>
                  <a:srgbClr val="1E293B"/>
                </a:solidFill>
                <a:latin typeface="Arial"/>
              </a:rPr>
              <a:t>Generated in software. Private key encrypted with the module public key, stored in Postgres.</a:t>
            </a:r>
          </a:p>
        </p:txBody>
      </p:sp>
      <p:sp>
        <p:nvSpPr>
          <p:cNvPr id="18" name="Rounded Rectangle 17"/>
          <p:cNvSpPr/>
          <p:nvPr/>
        </p:nvSpPr>
        <p:spPr>
          <a:xfrm>
            <a:off x="502920" y="4916241"/>
            <a:ext cx="5440680" cy="1356542"/>
          </a:xfrm>
          <a:prstGeom prst="roundRect">
            <a:avLst>
              <a:gd name="adj" fmla="val 3000"/>
            </a:avLst>
          </a:prstGeom>
          <a:solidFill>
            <a:srgbClr val="F3F6F9"/>
          </a:solidFill>
          <a:ln w="17780">
            <a:solidFill>
              <a:srgbClr val="0F172A"/>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0936" y="4793714"/>
            <a:ext cx="1525219" cy="245052"/>
          </a:xfrm>
          <a:prstGeom prst="roundRect">
            <a:avLst>
              <a:gd name="adj" fmla="val 22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40" b="1">
                <a:solidFill>
                  <a:srgbClr val="FFFFFF"/>
                </a:solidFill>
                <a:latin typeface="Arial"/>
              </a:rPr>
              <a:t>STAYS IN THE HSM</a:t>
            </a:r>
          </a:p>
        </p:txBody>
      </p:sp>
      <p:sp>
        <p:nvSpPr>
          <p:cNvPr id="20" name="TextBox 19"/>
          <p:cNvSpPr txBox="1"/>
          <p:nvPr/>
        </p:nvSpPr>
        <p:spPr>
          <a:xfrm>
            <a:off x="758952" y="5178797"/>
            <a:ext cx="4937760" cy="1006467"/>
          </a:xfrm>
          <a:prstGeom prst="rect">
            <a:avLst/>
          </a:prstGeom>
          <a:noFill/>
        </p:spPr>
        <p:txBody>
          <a:bodyPr wrap="square" lIns="0" rIns="0" tIns="0" bIns="0" anchor="t">
            <a:spAutoFit/>
          </a:bodyPr>
          <a:lstStyle/>
          <a:p>
            <a:pPr algn="l">
              <a:lnSpc>
                <a:spcPct val="122000"/>
              </a:lnSpc>
              <a:spcBef>
                <a:spcPts val="400"/>
              </a:spcBef>
              <a:spcAft>
                <a:spcPts val="0"/>
              </a:spcAft>
            </a:pPr>
            <a:r>
              <a:rPr sz="940" b="1" i="0">
                <a:solidFill>
                  <a:srgbClr val="0F172A"/>
                </a:solidFill>
                <a:latin typeface="Arial"/>
              </a:rPr>
              <a:t>ROOT</a:t>
            </a:r>
            <a:r>
              <a:rPr sz="940" b="0" i="0">
                <a:solidFill>
                  <a:srgbClr val="5B6B7F"/>
                </a:solidFill>
                <a:latin typeface="Arial"/>
              </a:rPr>
              <a:t> private key — signs module certificates only.</a:t>
            </a:r>
          </a:p>
          <a:p>
            <a:pPr algn="l">
              <a:lnSpc>
                <a:spcPct val="122000"/>
              </a:lnSpc>
              <a:spcBef>
                <a:spcPts val="400"/>
              </a:spcBef>
              <a:spcAft>
                <a:spcPts val="0"/>
              </a:spcAft>
            </a:pPr>
            <a:r>
              <a:rPr sz="940" b="1" i="0">
                <a:solidFill>
                  <a:srgbClr val="0F172A"/>
                </a:solidFill>
                <a:latin typeface="Arial"/>
              </a:rPr>
              <a:t>Module/master</a:t>
            </a:r>
            <a:r>
              <a:rPr sz="940" b="0" i="0">
                <a:solidFill>
                  <a:srgbClr val="5B6B7F"/>
                </a:solidFill>
                <a:latin typeface="Arial"/>
              </a:rPr>
              <a:t> private keys — sign base certificates, and unwrap base private keys.</a:t>
            </a:r>
          </a:p>
          <a:p>
            <a:pPr algn="l">
              <a:lnSpc>
                <a:spcPct val="122000"/>
              </a:lnSpc>
              <a:spcBef>
                <a:spcPts val="400"/>
              </a:spcBef>
              <a:spcAft>
                <a:spcPts val="0"/>
              </a:spcAft>
            </a:pPr>
            <a:r>
              <a:rPr sz="940" b="0" i="0">
                <a:solidFill>
                  <a:srgbClr val="5B6B7F"/>
                </a:solidFill>
                <a:latin typeface="Arial"/>
              </a:rPr>
              <a:t>Neither ever leaves the device. The Key Manager asks the HSM to sign; it never reads the key.</a:t>
            </a:r>
          </a:p>
        </p:txBody>
      </p:sp>
      <p:sp>
        <p:nvSpPr>
          <p:cNvPr id="21" name="Rounded Rectangle 20"/>
          <p:cNvSpPr/>
          <p:nvPr/>
        </p:nvSpPr>
        <p:spPr>
          <a:xfrm>
            <a:off x="6245352" y="4916241"/>
            <a:ext cx="5440680" cy="1356542"/>
          </a:xfrm>
          <a:prstGeom prst="roundRect">
            <a:avLst>
              <a:gd name="adj" fmla="val 3000"/>
            </a:avLst>
          </a:prstGeom>
          <a:solidFill>
            <a:srgbClr val="D6F0ED"/>
          </a:solidFill>
          <a:ln w="17780">
            <a:solidFill>
              <a:srgbClr val="0E948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373368" y="4793714"/>
            <a:ext cx="1686153" cy="245052"/>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40" b="1">
                <a:solidFill>
                  <a:srgbClr val="FFFFFF"/>
                </a:solidFill>
                <a:latin typeface="Arial"/>
              </a:rPr>
              <a:t>STORED IN POSTGRES</a:t>
            </a:r>
          </a:p>
        </p:txBody>
      </p:sp>
      <p:sp>
        <p:nvSpPr>
          <p:cNvPr id="23" name="TextBox 22"/>
          <p:cNvSpPr txBox="1"/>
          <p:nvPr/>
        </p:nvSpPr>
        <p:spPr>
          <a:xfrm>
            <a:off x="6501383" y="5178797"/>
            <a:ext cx="4937760" cy="1006467"/>
          </a:xfrm>
          <a:prstGeom prst="rect">
            <a:avLst/>
          </a:prstGeom>
          <a:noFill/>
        </p:spPr>
        <p:txBody>
          <a:bodyPr wrap="square" lIns="0" rIns="0" tIns="0" bIns="0" anchor="t">
            <a:spAutoFit/>
          </a:bodyPr>
          <a:lstStyle/>
          <a:p>
            <a:pPr algn="l">
              <a:lnSpc>
                <a:spcPct val="122000"/>
              </a:lnSpc>
              <a:spcBef>
                <a:spcPts val="400"/>
              </a:spcBef>
              <a:spcAft>
                <a:spcPts val="0"/>
              </a:spcAft>
            </a:pPr>
            <a:r>
              <a:rPr sz="940" b="0" i="0">
                <a:solidFill>
                  <a:srgbClr val="0E9488"/>
                </a:solidFill>
                <a:latin typeface="Consolas"/>
              </a:rPr>
              <a:t>key_store</a:t>
            </a:r>
            <a:r>
              <a:rPr sz="940" b="0" i="0">
                <a:solidFill>
                  <a:srgbClr val="5B6B7F"/>
                </a:solidFill>
                <a:latin typeface="Arial"/>
              </a:rPr>
              <a:t> — the base private key, </a:t>
            </a:r>
            <a:r>
              <a:rPr sz="940" b="1" i="0">
                <a:solidFill>
                  <a:srgbClr val="0F172A"/>
                </a:solidFill>
                <a:latin typeface="Arial"/>
              </a:rPr>
              <a:t>encrypted with the module public key</a:t>
            </a:r>
            <a:r>
              <a:rPr sz="940" b="0" i="0">
                <a:solidFill>
                  <a:srgbClr val="5B6B7F"/>
                </a:solidFill>
                <a:latin typeface="Arial"/>
              </a:rPr>
              <a:t>, plus its PEM certificate.</a:t>
            </a:r>
          </a:p>
          <a:p>
            <a:pPr algn="l">
              <a:lnSpc>
                <a:spcPct val="122000"/>
              </a:lnSpc>
              <a:spcBef>
                <a:spcPts val="400"/>
              </a:spcBef>
              <a:spcAft>
                <a:spcPts val="0"/>
              </a:spcAft>
            </a:pPr>
            <a:r>
              <a:rPr sz="940" b="0" i="0">
                <a:solidFill>
                  <a:srgbClr val="0E9488"/>
                </a:solidFill>
                <a:latin typeface="Consolas"/>
              </a:rPr>
              <a:t>key_alias</a:t>
            </a:r>
            <a:r>
              <a:rPr sz="940" b="0" i="0">
                <a:solidFill>
                  <a:srgbClr val="5B6B7F"/>
                </a:solidFill>
                <a:latin typeface="Arial"/>
              </a:rPr>
              <a:t> — metadata: app_id, ref_id, generation and expiry time, thumbprint.</a:t>
            </a:r>
          </a:p>
          <a:p>
            <a:pPr algn="l">
              <a:lnSpc>
                <a:spcPct val="122000"/>
              </a:lnSpc>
              <a:spcBef>
                <a:spcPts val="400"/>
              </a:spcBef>
              <a:spcAft>
                <a:spcPts val="0"/>
              </a:spcAft>
            </a:pPr>
            <a:r>
              <a:rPr sz="940" b="0" i="0">
                <a:solidFill>
                  <a:srgbClr val="5B6B7F"/>
                </a:solidFill>
                <a:latin typeface="Arial"/>
              </a:rPr>
              <a:t>Stolen database rows alone are useless: unwrapping needs the module private key in the HSM.</a:t>
            </a:r>
          </a:p>
        </p:txBody>
      </p:sp>
      <p:sp>
        <p:nvSpPr>
          <p:cNvPr id="24" name="TextBox 23"/>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25" name="TextBox 24"/>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2 — CUSTODY</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What lives where — and why a stolen database is not enough</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Follow one base key from generation to storage. The wrap is the whole security argument.</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2241"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Caller (Certify)</a:t>
            </a:r>
          </a:p>
        </p:txBody>
      </p:sp>
      <p:cxnSp>
        <p:nvCxnSpPr>
          <p:cNvPr id="7" name="Connector 6"/>
          <p:cNvCxnSpPr/>
          <p:nvPr/>
        </p:nvCxnSpPr>
        <p:spPr>
          <a:xfrm>
            <a:off x="1621505"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75785"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75785"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9412"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Key Manager</a:t>
            </a:r>
          </a:p>
        </p:txBody>
      </p:sp>
      <p:cxnSp>
        <p:nvCxnSpPr>
          <p:cNvPr id="11" name="Connector 10"/>
          <p:cNvCxnSpPr/>
          <p:nvPr/>
        </p:nvCxnSpPr>
        <p:spPr>
          <a:xfrm>
            <a:off x="3858676"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812956"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12956"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6583"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Key generator</a:t>
            </a:r>
          </a:p>
        </p:txBody>
      </p:sp>
      <p:cxnSp>
        <p:nvCxnSpPr>
          <p:cNvPr id="15" name="Connector 14"/>
          <p:cNvCxnSpPr/>
          <p:nvPr/>
        </p:nvCxnSpPr>
        <p:spPr>
          <a:xfrm>
            <a:off x="6095847"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050127"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50127"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63754"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HSM</a:t>
            </a:r>
          </a:p>
        </p:txBody>
      </p:sp>
      <p:cxnSp>
        <p:nvCxnSpPr>
          <p:cNvPr id="19" name="Connector 18"/>
          <p:cNvCxnSpPr/>
          <p:nvPr/>
        </p:nvCxnSpPr>
        <p:spPr>
          <a:xfrm>
            <a:off x="8333018"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87298"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7298"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00925" y="1298448"/>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Postgres</a:t>
            </a:r>
          </a:p>
        </p:txBody>
      </p:sp>
      <p:cxnSp>
        <p:nvCxnSpPr>
          <p:cNvPr id="23" name="Connector 22"/>
          <p:cNvCxnSpPr/>
          <p:nvPr/>
        </p:nvCxnSpPr>
        <p:spPr>
          <a:xfrm>
            <a:off x="10570189" y="1682495"/>
            <a:ext cx="0" cy="3547873"/>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0524469" y="1682495"/>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24469" y="51800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648937" y="2050788"/>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99642" y="1851660"/>
            <a:ext cx="4280896"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5362" y="1865376"/>
            <a:ext cx="4189456"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  </a:t>
            </a:r>
            <a:r>
              <a:rPr sz="869" b="0" i="0">
                <a:solidFill>
                  <a:srgbClr val="1E293B"/>
                </a:solidFill>
                <a:latin typeface="Arial"/>
              </a:rPr>
              <a:t>Need a signing key for </a:t>
            </a:r>
            <a:r>
              <a:rPr sz="869" b="0" i="0">
                <a:solidFill>
                  <a:srgbClr val="1D4E89"/>
                </a:solidFill>
                <a:latin typeface="Consolas"/>
              </a:rPr>
              <a:t>CERTIFY_VC_SIGN_ED25519</a:t>
            </a:r>
            <a:r>
              <a:rPr sz="869" b="0" i="0">
                <a:solidFill>
                  <a:srgbClr val="1E293B"/>
                </a:solidFill>
                <a:latin typeface="Arial"/>
              </a:rPr>
              <a:t> / </a:t>
            </a:r>
            <a:r>
              <a:rPr sz="869" b="0" i="0">
                <a:solidFill>
                  <a:srgbClr val="1D4E89"/>
                </a:solidFill>
                <a:latin typeface="Consolas"/>
              </a:rPr>
              <a:t>ED25519_SIGN</a:t>
            </a:r>
          </a:p>
        </p:txBody>
      </p:sp>
      <p:cxnSp>
        <p:nvCxnSpPr>
          <p:cNvPr id="29" name="Connector 28"/>
          <p:cNvCxnSpPr/>
          <p:nvPr/>
        </p:nvCxnSpPr>
        <p:spPr>
          <a:xfrm>
            <a:off x="3886108" y="2305413"/>
            <a:ext cx="6656649"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319272" y="2106285"/>
            <a:ext cx="3790321"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64992" y="2120001"/>
            <a:ext cx="3698881"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2  </a:t>
            </a:r>
            <a:r>
              <a:rPr sz="869" b="0" i="0">
                <a:solidFill>
                  <a:srgbClr val="1E293B"/>
                </a:solidFill>
                <a:latin typeface="Arial"/>
              </a:rPr>
              <a:t>Look for a current </a:t>
            </a:r>
            <a:r>
              <a:rPr sz="869" b="0" i="0">
                <a:solidFill>
                  <a:srgbClr val="1D4E89"/>
                </a:solidFill>
                <a:latin typeface="Consolas"/>
              </a:rPr>
              <a:t>key_alias</a:t>
            </a:r>
            <a:r>
              <a:rPr sz="869" b="0" i="0">
                <a:solidFill>
                  <a:srgbClr val="1E293B"/>
                </a:solidFill>
                <a:latin typeface="Arial"/>
              </a:rPr>
              <a:t> row for this app_id + ref_id</a:t>
            </a:r>
          </a:p>
        </p:txBody>
      </p:sp>
      <p:cxnSp>
        <p:nvCxnSpPr>
          <p:cNvPr id="32" name="Connector 31"/>
          <p:cNvCxnSpPr/>
          <p:nvPr/>
        </p:nvCxnSpPr>
        <p:spPr>
          <a:xfrm flipH="1">
            <a:off x="3886108" y="2560038"/>
            <a:ext cx="6656649"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509039" y="2360910"/>
            <a:ext cx="3410788"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554759" y="2374626"/>
            <a:ext cx="3319348"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3  </a:t>
            </a:r>
            <a:r>
              <a:rPr sz="869" b="0" i="0">
                <a:solidFill>
                  <a:srgbClr val="5B6B7F"/>
                </a:solidFill>
                <a:latin typeface="Arial"/>
              </a:rPr>
              <a:t>none found (first use, or the previous one aged out)</a:t>
            </a:r>
          </a:p>
        </p:txBody>
      </p:sp>
      <p:cxnSp>
        <p:nvCxnSpPr>
          <p:cNvPr id="35" name="Connector 34"/>
          <p:cNvCxnSpPr/>
          <p:nvPr/>
        </p:nvCxnSpPr>
        <p:spPr>
          <a:xfrm>
            <a:off x="3886108" y="2814663"/>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3619911" y="2615535"/>
            <a:ext cx="2714701"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65631" y="2629251"/>
            <a:ext cx="2623261"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4  </a:t>
            </a:r>
            <a:r>
              <a:rPr sz="869" b="0" i="0">
                <a:solidFill>
                  <a:srgbClr val="1E293B"/>
                </a:solidFill>
                <a:latin typeface="Arial"/>
              </a:rPr>
              <a:t>Generate a fresh key pair (BouncyCastle)</a:t>
            </a:r>
          </a:p>
        </p:txBody>
      </p:sp>
      <p:cxnSp>
        <p:nvCxnSpPr>
          <p:cNvPr id="38" name="Connector 37"/>
          <p:cNvCxnSpPr/>
          <p:nvPr/>
        </p:nvCxnSpPr>
        <p:spPr>
          <a:xfrm flipH="1">
            <a:off x="3886108" y="3069289"/>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3880944" y="2870160"/>
            <a:ext cx="2192635"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926664" y="2883876"/>
            <a:ext cx="2101195"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5  </a:t>
            </a:r>
            <a:r>
              <a:rPr sz="869" b="0" i="0">
                <a:solidFill>
                  <a:srgbClr val="5B6B7F"/>
                </a:solidFill>
                <a:latin typeface="Arial"/>
              </a:rPr>
              <a:t>public + private key, in memory</a:t>
            </a:r>
          </a:p>
        </p:txBody>
      </p:sp>
      <p:cxnSp>
        <p:nvCxnSpPr>
          <p:cNvPr id="41" name="Connector 40"/>
          <p:cNvCxnSpPr/>
          <p:nvPr/>
        </p:nvCxnSpPr>
        <p:spPr>
          <a:xfrm>
            <a:off x="3886108" y="3323914"/>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4609223" y="3124786"/>
            <a:ext cx="2973247"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654943" y="3138502"/>
            <a:ext cx="2881807"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6  </a:t>
            </a:r>
            <a:r>
              <a:rPr sz="869" b="0" i="0">
                <a:solidFill>
                  <a:srgbClr val="1E293B"/>
                </a:solidFill>
                <a:latin typeface="Arial"/>
              </a:rPr>
              <a:t>Fetch the </a:t>
            </a:r>
            <a:r>
              <a:rPr sz="869" b="1" i="0">
                <a:solidFill>
                  <a:srgbClr val="0F172A"/>
                </a:solidFill>
                <a:latin typeface="Arial"/>
              </a:rPr>
              <a:t>module</a:t>
            </a:r>
            <a:r>
              <a:rPr sz="869" b="0" i="0">
                <a:solidFill>
                  <a:srgbClr val="1E293B"/>
                </a:solidFill>
                <a:latin typeface="Arial"/>
              </a:rPr>
              <a:t> certificate for this app_id</a:t>
            </a:r>
          </a:p>
        </p:txBody>
      </p:sp>
      <p:cxnSp>
        <p:nvCxnSpPr>
          <p:cNvPr id="44" name="Connector 43"/>
          <p:cNvCxnSpPr/>
          <p:nvPr/>
        </p:nvCxnSpPr>
        <p:spPr>
          <a:xfrm flipH="1">
            <a:off x="3886108" y="3578539"/>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4767500" y="3379411"/>
            <a:ext cx="2656693"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813220" y="3393127"/>
            <a:ext cx="2565253"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7  </a:t>
            </a:r>
            <a:r>
              <a:rPr sz="869" b="0" i="0">
                <a:solidFill>
                  <a:srgbClr val="5B6B7F"/>
                </a:solidFill>
                <a:latin typeface="Arial"/>
              </a:rPr>
              <a:t>module certificate (public key + alias)</a:t>
            </a:r>
          </a:p>
        </p:txBody>
      </p:sp>
      <p:sp>
        <p:nvSpPr>
          <p:cNvPr id="47" name="Rectangle 46"/>
          <p:cNvSpPr/>
          <p:nvPr/>
        </p:nvSpPr>
        <p:spPr>
          <a:xfrm>
            <a:off x="3858676" y="3741724"/>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H="1">
            <a:off x="3876964" y="3888028"/>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4169572" y="3634036"/>
            <a:ext cx="3553320"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215292" y="3647752"/>
            <a:ext cx="3461880" cy="157867"/>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0E9488"/>
                </a:solidFill>
                <a:latin typeface="Arial"/>
              </a:rPr>
              <a:t>8  </a:t>
            </a:r>
            <a:r>
              <a:rPr sz="869" b="0" i="0">
                <a:solidFill>
                  <a:srgbClr val="1E293B"/>
                </a:solidFill>
                <a:latin typeface="Arial"/>
              </a:rPr>
              <a:t>Encrypt the new private key with the module </a:t>
            </a:r>
            <a:r>
              <a:rPr sz="869" b="1" i="0">
                <a:solidFill>
                  <a:srgbClr val="0F172A"/>
                </a:solidFill>
                <a:latin typeface="Arial"/>
              </a:rPr>
              <a:t>public</a:t>
            </a:r>
            <a:r>
              <a:rPr sz="869" b="0" i="0">
                <a:solidFill>
                  <a:srgbClr val="1E293B"/>
                </a:solidFill>
                <a:latin typeface="Arial"/>
              </a:rPr>
              <a:t> key</a:t>
            </a:r>
          </a:p>
        </p:txBody>
      </p:sp>
      <p:cxnSp>
        <p:nvCxnSpPr>
          <p:cNvPr id="51" name="Connector 50"/>
          <p:cNvCxnSpPr/>
          <p:nvPr/>
        </p:nvCxnSpPr>
        <p:spPr>
          <a:xfrm>
            <a:off x="3886108" y="4087790"/>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4448460" y="3888661"/>
            <a:ext cx="3294773"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494180" y="3902377"/>
            <a:ext cx="3203333"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9  </a:t>
            </a:r>
            <a:r>
              <a:rPr sz="869" b="0" i="0">
                <a:solidFill>
                  <a:srgbClr val="1E293B"/>
                </a:solidFill>
                <a:latin typeface="Arial"/>
              </a:rPr>
              <a:t>Sign the new X.509 certificate  (CN = appId-refId)</a:t>
            </a:r>
          </a:p>
        </p:txBody>
      </p:sp>
      <p:cxnSp>
        <p:nvCxnSpPr>
          <p:cNvPr id="54" name="Connector 53"/>
          <p:cNvCxnSpPr/>
          <p:nvPr/>
        </p:nvCxnSpPr>
        <p:spPr>
          <a:xfrm flipH="1">
            <a:off x="3886108" y="4342415"/>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4071413" y="4143287"/>
            <a:ext cx="4048867"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117133" y="4157003"/>
            <a:ext cx="3957427"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10  </a:t>
            </a:r>
            <a:r>
              <a:rPr sz="869" b="0" i="0">
                <a:solidFill>
                  <a:srgbClr val="5B6B7F"/>
                </a:solidFill>
                <a:latin typeface="Arial"/>
              </a:rPr>
              <a:t>certificate signed by the module private key — which never left</a:t>
            </a:r>
          </a:p>
        </p:txBody>
      </p:sp>
      <p:cxnSp>
        <p:nvCxnSpPr>
          <p:cNvPr id="57" name="Connector 56"/>
          <p:cNvCxnSpPr/>
          <p:nvPr/>
        </p:nvCxnSpPr>
        <p:spPr>
          <a:xfrm>
            <a:off x="3886108" y="4597040"/>
            <a:ext cx="6656649"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5058239" y="4397912"/>
            <a:ext cx="4312386"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103959" y="4411628"/>
            <a:ext cx="4220946"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11  </a:t>
            </a:r>
            <a:r>
              <a:rPr sz="869" b="0" i="0">
                <a:solidFill>
                  <a:srgbClr val="1E293B"/>
                </a:solidFill>
                <a:latin typeface="Arial"/>
              </a:rPr>
              <a:t>INSERT </a:t>
            </a:r>
            <a:r>
              <a:rPr sz="869" b="0" i="0">
                <a:solidFill>
                  <a:srgbClr val="1D4E89"/>
                </a:solidFill>
                <a:latin typeface="Consolas"/>
              </a:rPr>
              <a:t>key_store</a:t>
            </a:r>
            <a:r>
              <a:rPr sz="869" b="0" i="0">
                <a:solidFill>
                  <a:srgbClr val="1E293B"/>
                </a:solidFill>
                <a:latin typeface="Arial"/>
              </a:rPr>
              <a:t> (id, master_key, encrypted private key, cert PEM)</a:t>
            </a:r>
          </a:p>
        </p:txBody>
      </p:sp>
      <p:cxnSp>
        <p:nvCxnSpPr>
          <p:cNvPr id="60" name="Connector 59"/>
          <p:cNvCxnSpPr/>
          <p:nvPr/>
        </p:nvCxnSpPr>
        <p:spPr>
          <a:xfrm>
            <a:off x="3886108" y="4851665"/>
            <a:ext cx="6656649"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1" name="Rectangle 60"/>
          <p:cNvSpPr/>
          <p:nvPr/>
        </p:nvSpPr>
        <p:spPr>
          <a:xfrm>
            <a:off x="5000232" y="4652537"/>
            <a:ext cx="4428401"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045952" y="4666253"/>
            <a:ext cx="4336961"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12  </a:t>
            </a:r>
            <a:r>
              <a:rPr sz="869" b="0" i="0">
                <a:solidFill>
                  <a:srgbClr val="1E293B"/>
                </a:solidFill>
                <a:latin typeface="Arial"/>
              </a:rPr>
              <a:t>INSERT </a:t>
            </a:r>
            <a:r>
              <a:rPr sz="869" b="0" i="0">
                <a:solidFill>
                  <a:srgbClr val="1D4E89"/>
                </a:solidFill>
                <a:latin typeface="Consolas"/>
              </a:rPr>
              <a:t>key_alias</a:t>
            </a:r>
            <a:r>
              <a:rPr sz="869" b="0" i="0">
                <a:solidFill>
                  <a:srgbClr val="1E293B"/>
                </a:solidFill>
                <a:latin typeface="Arial"/>
              </a:rPr>
              <a:t> (app_id, ref_id, gen/expiry, thumbprint, uni_ident)</a:t>
            </a:r>
          </a:p>
        </p:txBody>
      </p:sp>
      <p:cxnSp>
        <p:nvCxnSpPr>
          <p:cNvPr id="63" name="Connector 62"/>
          <p:cNvCxnSpPr/>
          <p:nvPr/>
        </p:nvCxnSpPr>
        <p:spPr>
          <a:xfrm flipH="1">
            <a:off x="1648937" y="5106290"/>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4" name="Rectangle 63"/>
          <p:cNvSpPr/>
          <p:nvPr/>
        </p:nvSpPr>
        <p:spPr>
          <a:xfrm>
            <a:off x="1266725" y="4907162"/>
            <a:ext cx="2946730" cy="15786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312445" y="4920878"/>
            <a:ext cx="2855290" cy="15786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13  </a:t>
            </a:r>
            <a:r>
              <a:rPr sz="869" b="0" i="0">
                <a:solidFill>
                  <a:srgbClr val="5B6B7F"/>
                </a:solidFill>
                <a:latin typeface="Arial"/>
              </a:rPr>
              <a:t>certificate + key id — never the private key</a:t>
            </a:r>
          </a:p>
        </p:txBody>
      </p:sp>
      <p:sp>
        <p:nvSpPr>
          <p:cNvPr id="66" name="Rounded Rectangle 65"/>
          <p:cNvSpPr/>
          <p:nvPr/>
        </p:nvSpPr>
        <p:spPr>
          <a:xfrm>
            <a:off x="502920" y="5486400"/>
            <a:ext cx="11185855" cy="532892"/>
          </a:xfrm>
          <a:prstGeom prst="roundRect">
            <a:avLst>
              <a:gd name="adj" fmla="val 9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502920" y="5486400"/>
            <a:ext cx="45720" cy="532892"/>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04088" y="5577840"/>
            <a:ext cx="10820095" cy="386588"/>
          </a:xfrm>
          <a:prstGeom prst="rect">
            <a:avLst/>
          </a:prstGeom>
          <a:noFill/>
        </p:spPr>
        <p:txBody>
          <a:bodyPr wrap="square" lIns="0" rIns="0" tIns="0" bIns="0" anchor="t">
            <a:spAutoFit/>
          </a:bodyPr>
          <a:lstStyle/>
          <a:p>
            <a:pPr algn="l">
              <a:lnSpc>
                <a:spcPct val="122000"/>
              </a:lnSpc>
              <a:spcBef>
                <a:spcPts val="0"/>
              </a:spcBef>
              <a:spcAft>
                <a:spcPts val="0"/>
              </a:spcAft>
            </a:pPr>
            <a:r>
              <a:rPr sz="1060" b="0" i="0">
                <a:solidFill>
                  <a:srgbClr val="1E293B"/>
                </a:solidFill>
                <a:latin typeface="Arial"/>
              </a:rPr>
              <a:t>Read step 8 and step 11 together. The row in </a:t>
            </a:r>
            <a:r>
              <a:rPr sz="1060" b="0" i="0">
                <a:solidFill>
                  <a:srgbClr val="1D4E89"/>
                </a:solidFill>
                <a:latin typeface="Consolas"/>
              </a:rPr>
              <a:t>key_store</a:t>
            </a:r>
            <a:r>
              <a:rPr sz="1060" b="0" i="0">
                <a:solidFill>
                  <a:srgbClr val="1E293B"/>
                </a:solidFill>
                <a:latin typeface="Arial"/>
              </a:rPr>
              <a:t> holds a private key that </a:t>
            </a:r>
            <a:r>
              <a:rPr sz="1060" b="1" i="0">
                <a:solidFill>
                  <a:srgbClr val="15703D"/>
                </a:solidFill>
                <a:latin typeface="Arial"/>
              </a:rPr>
              <a:t>only the HSM can unwrap</a:t>
            </a:r>
            <a:r>
              <a:rPr sz="1060" b="0" i="0">
                <a:solidFill>
                  <a:srgbClr val="1E293B"/>
                </a:solidFill>
                <a:latin typeface="Arial"/>
              </a:rPr>
              <a:t>. An attacker with a full database dump, and no HSM access, has a pile of ciphertext.</a:t>
            </a:r>
          </a:p>
        </p:txBody>
      </p:sp>
      <p:sp>
        <p:nvSpPr>
          <p:cNvPr id="69" name="TextBox 6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70" name="TextBox 6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2 — THE SIGNING PATH</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Signing without ever holding a key</a:t>
            </a:r>
          </a:p>
        </p:txBody>
      </p:sp>
      <p:sp>
        <p:nvSpPr>
          <p:cNvPr id="4" name="TextBox 3"/>
          <p:cNvSpPr txBox="1"/>
          <p:nvPr/>
        </p:nvSpPr>
        <p:spPr>
          <a:xfrm>
            <a:off x="502920" y="1078992"/>
            <a:ext cx="11185855" cy="286743"/>
          </a:xfrm>
          <a:prstGeom prst="rect">
            <a:avLst/>
          </a:prstGeom>
          <a:noFill/>
        </p:spPr>
        <p:txBody>
          <a:bodyPr wrap="square" lIns="0" rIns="0" tIns="0" bIns="0" anchor="t">
            <a:spAutoFit/>
          </a:bodyPr>
          <a:lstStyle/>
          <a:p>
            <a:pPr algn="l">
              <a:lnSpc>
                <a:spcPct val="114000"/>
              </a:lnSpc>
              <a:spcBef>
                <a:spcPts val="0"/>
              </a:spcBef>
              <a:spcAft>
                <a:spcPts val="0"/>
              </a:spcAft>
            </a:pPr>
            <a:r>
              <a:rPr sz="1110" b="0" i="0">
                <a:solidFill>
                  <a:srgbClr val="5B6B7F"/>
                </a:solidFill>
                <a:latin typeface="Arial"/>
              </a:rPr>
              <a:t>What actually happens when Certify signs a Verifiable Credential.</a:t>
            </a:r>
          </a:p>
        </p:txBody>
      </p:sp>
      <p:cxnSp>
        <p:nvCxnSpPr>
          <p:cNvPr id="5" name="Connector 4"/>
          <p:cNvCxnSpPr/>
          <p:nvPr/>
        </p:nvCxnSpPr>
        <p:spPr>
          <a:xfrm>
            <a:off x="502920" y="1457175"/>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652241"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Arial"/>
              </a:rPr>
              <a:t>Certify VC service</a:t>
            </a:r>
          </a:p>
        </p:txBody>
      </p:sp>
      <p:cxnSp>
        <p:nvCxnSpPr>
          <p:cNvPr id="7" name="Connector 6"/>
          <p:cNvCxnSpPr/>
          <p:nvPr/>
        </p:nvCxnSpPr>
        <p:spPr>
          <a:xfrm>
            <a:off x="1621505"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75785"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575785"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889412"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Arial"/>
              </a:rPr>
              <a:t>key-alias mapper</a:t>
            </a:r>
          </a:p>
        </p:txBody>
      </p:sp>
      <p:cxnSp>
        <p:nvCxnSpPr>
          <p:cNvPr id="11" name="Connector 10"/>
          <p:cNvCxnSpPr/>
          <p:nvPr/>
        </p:nvCxnSpPr>
        <p:spPr>
          <a:xfrm>
            <a:off x="3858676"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3812956"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812956"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126583"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Arial"/>
              </a:rPr>
              <a:t>Key Manager</a:t>
            </a:r>
          </a:p>
        </p:txBody>
      </p:sp>
      <p:cxnSp>
        <p:nvCxnSpPr>
          <p:cNvPr id="15" name="Connector 14"/>
          <p:cNvCxnSpPr/>
          <p:nvPr/>
        </p:nvCxnSpPr>
        <p:spPr>
          <a:xfrm>
            <a:off x="6095847"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6050127"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050127"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63754"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Arial"/>
              </a:rPr>
              <a:t>HSM</a:t>
            </a:r>
          </a:p>
        </p:txBody>
      </p:sp>
      <p:cxnSp>
        <p:nvCxnSpPr>
          <p:cNvPr id="19" name="Connector 18"/>
          <p:cNvCxnSpPr/>
          <p:nvPr/>
        </p:nvCxnSpPr>
        <p:spPr>
          <a:xfrm>
            <a:off x="8333018"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8287298"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287298"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600925" y="1288502"/>
            <a:ext cx="1938528" cy="354212"/>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00" b="1">
                <a:solidFill>
                  <a:srgbClr val="FFFFFF"/>
                </a:solidFill>
                <a:latin typeface="Arial"/>
              </a:rPr>
              <a:t>Postgres</a:t>
            </a:r>
          </a:p>
        </p:txBody>
      </p:sp>
      <p:cxnSp>
        <p:nvCxnSpPr>
          <p:cNvPr id="23" name="Connector 22"/>
          <p:cNvCxnSpPr/>
          <p:nvPr/>
        </p:nvCxnSpPr>
        <p:spPr>
          <a:xfrm>
            <a:off x="10570189" y="1642714"/>
            <a:ext cx="0" cy="2766234"/>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10524469" y="164271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0524469" y="4362564"/>
            <a:ext cx="91440" cy="46385"/>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1648937" y="1998278"/>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096847" y="1798738"/>
            <a:ext cx="3286486"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142567" y="1811388"/>
            <a:ext cx="3195046"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0E9488"/>
                </a:solidFill>
                <a:latin typeface="Arial"/>
              </a:rPr>
              <a:t>1  </a:t>
            </a:r>
            <a:r>
              <a:rPr sz="840" b="0" i="0">
                <a:solidFill>
                  <a:srgbClr val="1E293B"/>
                </a:solidFill>
                <a:latin typeface="Arial"/>
              </a:rPr>
              <a:t>Credential is ready; signature algorithm is </a:t>
            </a:r>
            <a:r>
              <a:rPr sz="840" b="0" i="0">
                <a:solidFill>
                  <a:srgbClr val="1D4E89"/>
                </a:solidFill>
                <a:latin typeface="Consolas"/>
              </a:rPr>
              <a:t>EdDSA</a:t>
            </a:r>
          </a:p>
        </p:txBody>
      </p:sp>
      <p:cxnSp>
        <p:nvCxnSpPr>
          <p:cNvPr id="29" name="Connector 28"/>
          <p:cNvCxnSpPr/>
          <p:nvPr/>
        </p:nvCxnSpPr>
        <p:spPr>
          <a:xfrm flipH="1">
            <a:off x="1648937" y="2252973"/>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889678" y="2053433"/>
            <a:ext cx="3700824"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35398" y="2066083"/>
            <a:ext cx="3609384"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0E9488"/>
                </a:solidFill>
                <a:latin typeface="Arial"/>
              </a:rPr>
              <a:t>2  </a:t>
            </a:r>
            <a:r>
              <a:rPr sz="840" b="0" i="0">
                <a:solidFill>
                  <a:srgbClr val="5B6B7F"/>
                </a:solidFill>
                <a:latin typeface="Arial"/>
              </a:rPr>
              <a:t>app_id </a:t>
            </a:r>
            <a:r>
              <a:rPr sz="840" b="0" i="0">
                <a:solidFill>
                  <a:srgbClr val="5B6B7F"/>
                </a:solidFill>
                <a:latin typeface="Consolas"/>
              </a:rPr>
              <a:t>CERTIFY_VC_SIGN_ED25519</a:t>
            </a:r>
            <a:r>
              <a:rPr sz="840" b="0" i="0">
                <a:solidFill>
                  <a:srgbClr val="5B6B7F"/>
                </a:solidFill>
                <a:latin typeface="Arial"/>
              </a:rPr>
              <a:t>, ref_id </a:t>
            </a:r>
            <a:r>
              <a:rPr sz="840" b="0" i="0">
                <a:solidFill>
                  <a:srgbClr val="5B6B7F"/>
                </a:solidFill>
                <a:latin typeface="Consolas"/>
              </a:rPr>
              <a:t>ED25519_SIGN</a:t>
            </a:r>
          </a:p>
        </p:txBody>
      </p:sp>
      <p:cxnSp>
        <p:nvCxnSpPr>
          <p:cNvPr id="32" name="Connector 31"/>
          <p:cNvCxnSpPr/>
          <p:nvPr/>
        </p:nvCxnSpPr>
        <p:spPr>
          <a:xfrm>
            <a:off x="1648937" y="2507669"/>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2820365" y="2308129"/>
            <a:ext cx="2076621"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866085" y="2320779"/>
            <a:ext cx="1985181"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0E9488"/>
                </a:solidFill>
                <a:latin typeface="Arial"/>
              </a:rPr>
              <a:t>3  </a:t>
            </a:r>
            <a:r>
              <a:rPr sz="840" b="0" i="0">
                <a:solidFill>
                  <a:srgbClr val="1E293B"/>
                </a:solidFill>
                <a:latin typeface="Arial"/>
              </a:rPr>
              <a:t>sign(payload, app_id, ref_id)</a:t>
            </a:r>
          </a:p>
        </p:txBody>
      </p:sp>
      <p:cxnSp>
        <p:nvCxnSpPr>
          <p:cNvPr id="35" name="Connector 34"/>
          <p:cNvCxnSpPr/>
          <p:nvPr/>
        </p:nvCxnSpPr>
        <p:spPr>
          <a:xfrm>
            <a:off x="6123279" y="2762365"/>
            <a:ext cx="4419478"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6799160" y="2562825"/>
            <a:ext cx="3067716"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44880" y="2575476"/>
            <a:ext cx="2976276"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0E9488"/>
                </a:solidFill>
                <a:latin typeface="Arial"/>
              </a:rPr>
              <a:t>4  </a:t>
            </a:r>
            <a:r>
              <a:rPr sz="840" b="0" i="0">
                <a:solidFill>
                  <a:srgbClr val="1E293B"/>
                </a:solidFill>
                <a:latin typeface="Arial"/>
              </a:rPr>
              <a:t>Fetch the current </a:t>
            </a:r>
            <a:r>
              <a:rPr sz="840" b="0" i="0">
                <a:solidFill>
                  <a:srgbClr val="1D4E89"/>
                </a:solidFill>
                <a:latin typeface="Consolas"/>
              </a:rPr>
              <a:t>key_alias</a:t>
            </a:r>
            <a:r>
              <a:rPr sz="840" b="0" i="0">
                <a:solidFill>
                  <a:srgbClr val="1E293B"/>
                </a:solidFill>
                <a:latin typeface="Arial"/>
              </a:rPr>
              <a:t> + </a:t>
            </a:r>
            <a:r>
              <a:rPr sz="840" b="0" i="0">
                <a:solidFill>
                  <a:srgbClr val="1D4E89"/>
                </a:solidFill>
                <a:latin typeface="Consolas"/>
              </a:rPr>
              <a:t>key_store</a:t>
            </a:r>
            <a:r>
              <a:rPr sz="840" b="0" i="0">
                <a:solidFill>
                  <a:srgbClr val="1E293B"/>
                </a:solidFill>
                <a:latin typeface="Arial"/>
              </a:rPr>
              <a:t> row</a:t>
            </a:r>
          </a:p>
        </p:txBody>
      </p:sp>
      <p:cxnSp>
        <p:nvCxnSpPr>
          <p:cNvPr id="38" name="Connector 37"/>
          <p:cNvCxnSpPr/>
          <p:nvPr/>
        </p:nvCxnSpPr>
        <p:spPr>
          <a:xfrm flipH="1">
            <a:off x="6123279" y="3017061"/>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39" name="Rectangle 38"/>
          <p:cNvSpPr/>
          <p:nvPr/>
        </p:nvSpPr>
        <p:spPr>
          <a:xfrm>
            <a:off x="7178693" y="2817521"/>
            <a:ext cx="2308650"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224413" y="2830172"/>
            <a:ext cx="2217210"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0E9488"/>
                </a:solidFill>
                <a:latin typeface="Arial"/>
              </a:rPr>
              <a:t>5  </a:t>
            </a:r>
            <a:r>
              <a:rPr sz="840" b="0" i="0">
                <a:solidFill>
                  <a:srgbClr val="5B6B7F"/>
                </a:solidFill>
                <a:latin typeface="Arial"/>
              </a:rPr>
              <a:t>wrapped private key + certificate</a:t>
            </a:r>
          </a:p>
        </p:txBody>
      </p:sp>
      <p:cxnSp>
        <p:nvCxnSpPr>
          <p:cNvPr id="41" name="Connector 40"/>
          <p:cNvCxnSpPr/>
          <p:nvPr/>
        </p:nvCxnSpPr>
        <p:spPr>
          <a:xfrm>
            <a:off x="6123279" y="3271757"/>
            <a:ext cx="2182307"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2" name="Rectangle 41"/>
          <p:cNvSpPr/>
          <p:nvPr/>
        </p:nvSpPr>
        <p:spPr>
          <a:xfrm>
            <a:off x="5770071" y="3072217"/>
            <a:ext cx="2888722"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15791" y="3084868"/>
            <a:ext cx="2797282"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0E9488"/>
                </a:solidFill>
                <a:latin typeface="Arial"/>
              </a:rPr>
              <a:t>6  </a:t>
            </a:r>
            <a:r>
              <a:rPr sz="840" b="0" i="0">
                <a:solidFill>
                  <a:srgbClr val="1E293B"/>
                </a:solidFill>
                <a:latin typeface="Arial"/>
              </a:rPr>
              <a:t>Unwrap: decrypt with the module private key</a:t>
            </a:r>
          </a:p>
        </p:txBody>
      </p:sp>
      <p:cxnSp>
        <p:nvCxnSpPr>
          <p:cNvPr id="44" name="Connector 43"/>
          <p:cNvCxnSpPr/>
          <p:nvPr/>
        </p:nvCxnSpPr>
        <p:spPr>
          <a:xfrm flipH="1">
            <a:off x="6123279" y="3526452"/>
            <a:ext cx="2182307"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6089111" y="3326912"/>
            <a:ext cx="2250643"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134831" y="3339563"/>
            <a:ext cx="2159203"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0E9488"/>
                </a:solidFill>
                <a:latin typeface="Arial"/>
              </a:rPr>
              <a:t>7  </a:t>
            </a:r>
            <a:r>
              <a:rPr sz="840" b="0" i="0">
                <a:solidFill>
                  <a:srgbClr val="5B6B7F"/>
                </a:solidFill>
                <a:latin typeface="Arial"/>
              </a:rPr>
              <a:t>base private key, in memory only</a:t>
            </a:r>
          </a:p>
        </p:txBody>
      </p:sp>
      <p:sp>
        <p:nvSpPr>
          <p:cNvPr id="47" name="Rectangle 46"/>
          <p:cNvSpPr/>
          <p:nvPr/>
        </p:nvSpPr>
        <p:spPr>
          <a:xfrm>
            <a:off x="6095847" y="3696812"/>
            <a:ext cx="237744" cy="134938"/>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flipH="1">
            <a:off x="6114135" y="3831750"/>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49" name="Rectangle 48"/>
          <p:cNvSpPr/>
          <p:nvPr/>
        </p:nvSpPr>
        <p:spPr>
          <a:xfrm>
            <a:off x="6406743" y="3581609"/>
            <a:ext cx="3120751"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52463" y="3594259"/>
            <a:ext cx="3029311" cy="157911"/>
          </a:xfrm>
          <a:prstGeom prst="rect">
            <a:avLst/>
          </a:prstGeom>
          <a:noFill/>
        </p:spPr>
        <p:txBody>
          <a:bodyPr wrap="none" lIns="0" rIns="0" tIns="0" bIns="0" anchor="ctr">
            <a:spAutoFit/>
          </a:bodyPr>
          <a:lstStyle/>
          <a:p>
            <a:pPr algn="l">
              <a:lnSpc>
                <a:spcPct val="100000"/>
              </a:lnSpc>
              <a:spcBef>
                <a:spcPts val="0"/>
              </a:spcBef>
              <a:spcAft>
                <a:spcPts val="0"/>
              </a:spcAft>
            </a:pPr>
            <a:r>
              <a:rPr sz="840" b="1" i="0">
                <a:solidFill>
                  <a:srgbClr val="0E9488"/>
                </a:solidFill>
                <a:latin typeface="Arial"/>
              </a:rPr>
              <a:t>8  </a:t>
            </a:r>
            <a:r>
              <a:rPr sz="840" b="0" i="0">
                <a:solidFill>
                  <a:srgbClr val="1E293B"/>
                </a:solidFill>
                <a:latin typeface="Arial"/>
              </a:rPr>
              <a:t>Produce the signature (JWS / Linked Data Proof)</a:t>
            </a:r>
          </a:p>
        </p:txBody>
      </p:sp>
      <p:cxnSp>
        <p:nvCxnSpPr>
          <p:cNvPr id="51" name="Connector 50"/>
          <p:cNvCxnSpPr/>
          <p:nvPr/>
        </p:nvCxnSpPr>
        <p:spPr>
          <a:xfrm flipH="1">
            <a:off x="1648937" y="4035845"/>
            <a:ext cx="4419478"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2544417" y="3836305"/>
            <a:ext cx="2628519"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590137" y="3848955"/>
            <a:ext cx="2537079" cy="157911"/>
          </a:xfrm>
          <a:prstGeom prst="rect">
            <a:avLst/>
          </a:prstGeom>
          <a:noFill/>
        </p:spPr>
        <p:txBody>
          <a:bodyPr wrap="none" lIns="0" rIns="0" tIns="0" bIns="0" anchor="ctr">
            <a:spAutoFit/>
          </a:bodyPr>
          <a:lstStyle/>
          <a:p>
            <a:pPr algn="ctr">
              <a:lnSpc>
                <a:spcPct val="100000"/>
              </a:lnSpc>
              <a:spcBef>
                <a:spcPts val="0"/>
              </a:spcBef>
              <a:spcAft>
                <a:spcPts val="0"/>
              </a:spcAft>
            </a:pPr>
            <a:r>
              <a:rPr sz="840" b="1" i="0">
                <a:solidFill>
                  <a:srgbClr val="0E9488"/>
                </a:solidFill>
                <a:latin typeface="Arial"/>
              </a:rPr>
              <a:t>9  </a:t>
            </a:r>
            <a:r>
              <a:rPr sz="840" b="0" i="0">
                <a:solidFill>
                  <a:srgbClr val="5B6B7F"/>
                </a:solidFill>
                <a:latin typeface="Arial"/>
              </a:rPr>
              <a:t>signature + key id (</a:t>
            </a:r>
            <a:r>
              <a:rPr sz="840" b="0" i="0">
                <a:solidFill>
                  <a:srgbClr val="5B6B7F"/>
                </a:solidFill>
                <a:latin typeface="Consolas"/>
              </a:rPr>
              <a:t>kid</a:t>
            </a:r>
            <a:r>
              <a:rPr sz="840" b="0" i="0">
                <a:solidFill>
                  <a:srgbClr val="5B6B7F"/>
                </a:solidFill>
                <a:latin typeface="Arial"/>
              </a:rPr>
              <a:t>) + certificate</a:t>
            </a:r>
          </a:p>
        </p:txBody>
      </p:sp>
      <p:sp>
        <p:nvSpPr>
          <p:cNvPr id="54" name="Rectangle 53"/>
          <p:cNvSpPr/>
          <p:nvPr/>
        </p:nvSpPr>
        <p:spPr>
          <a:xfrm>
            <a:off x="1621505" y="4206204"/>
            <a:ext cx="237744" cy="134938"/>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5" name="Connector 54"/>
          <p:cNvCxnSpPr/>
          <p:nvPr/>
        </p:nvCxnSpPr>
        <p:spPr>
          <a:xfrm flipH="1">
            <a:off x="1639793" y="4341142"/>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1932401" y="4091001"/>
            <a:ext cx="2946730" cy="157911"/>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78121" y="4103651"/>
            <a:ext cx="2855290" cy="157911"/>
          </a:xfrm>
          <a:prstGeom prst="rect">
            <a:avLst/>
          </a:prstGeom>
          <a:noFill/>
        </p:spPr>
        <p:txBody>
          <a:bodyPr wrap="none" lIns="0" rIns="0" tIns="0" bIns="0" anchor="ctr">
            <a:spAutoFit/>
          </a:bodyPr>
          <a:lstStyle/>
          <a:p>
            <a:pPr algn="l">
              <a:lnSpc>
                <a:spcPct val="100000"/>
              </a:lnSpc>
              <a:spcBef>
                <a:spcPts val="0"/>
              </a:spcBef>
              <a:spcAft>
                <a:spcPts val="0"/>
              </a:spcAft>
            </a:pPr>
            <a:r>
              <a:rPr sz="840" b="1" i="0">
                <a:solidFill>
                  <a:srgbClr val="0E9488"/>
                </a:solidFill>
                <a:latin typeface="Arial"/>
              </a:rPr>
              <a:t>10  </a:t>
            </a:r>
            <a:r>
              <a:rPr sz="840" b="0" i="0">
                <a:solidFill>
                  <a:srgbClr val="1E293B"/>
                </a:solidFill>
                <a:latin typeface="Arial"/>
              </a:rPr>
              <a:t>Attach proof to the credential and return it</a:t>
            </a:r>
          </a:p>
        </p:txBody>
      </p:sp>
      <p:sp>
        <p:nvSpPr>
          <p:cNvPr id="58" name="Rounded Rectangle 57"/>
          <p:cNvSpPr/>
          <p:nvPr/>
        </p:nvSpPr>
        <p:spPr>
          <a:xfrm>
            <a:off x="502920" y="4661958"/>
            <a:ext cx="5623560" cy="1197576"/>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49224" y="4771596"/>
            <a:ext cx="5330952" cy="978302"/>
          </a:xfrm>
          <a:prstGeom prst="rect">
            <a:avLst/>
          </a:prstGeom>
          <a:noFill/>
        </p:spPr>
        <p:txBody>
          <a:bodyPr wrap="square" lIns="0" rIns="0" tIns="0" bIns="0" anchor="t">
            <a:spAutoFit/>
          </a:bodyPr>
          <a:lstStyle/>
          <a:p>
            <a:pPr>
              <a:lnSpc>
                <a:spcPct val="116000"/>
              </a:lnSpc>
              <a:spcBef>
                <a:spcPts val="0"/>
              </a:spcBef>
              <a:spcAft>
                <a:spcPts val="0"/>
              </a:spcAft>
            </a:pPr>
            <a:r>
              <a:rPr sz="800">
                <a:solidFill>
                  <a:srgbClr val="7E93A8"/>
                </a:solidFill>
                <a:latin typeface="Consolas"/>
              </a:rPr>
              <a:t># certify-default.properties — algorithm to Key Manager alias</a:t>
            </a:r>
          </a:p>
          <a:p>
            <a:pPr>
              <a:lnSpc>
                <a:spcPct val="116000"/>
              </a:lnSpc>
              <a:spcBef>
                <a:spcPts val="0"/>
              </a:spcBef>
              <a:spcAft>
                <a:spcPts val="0"/>
              </a:spcAft>
            </a:pPr>
            <a:r>
              <a:rPr sz="800">
                <a:solidFill>
                  <a:srgbClr val="CBD9E8"/>
                </a:solidFill>
                <a:latin typeface="Consolas"/>
              </a:rPr>
              <a:t>mosip.certify.signature-algo.key-alias-mapper = {                    \</a:t>
            </a:r>
          </a:p>
          <a:p>
            <a:pPr>
              <a:lnSpc>
                <a:spcPct val="116000"/>
              </a:lnSpc>
              <a:spcBef>
                <a:spcPts val="0"/>
              </a:spcBef>
              <a:spcAft>
                <a:spcPts val="0"/>
              </a:spcAft>
            </a:pPr>
            <a:r>
              <a:rPr sz="800">
                <a:solidFill>
                  <a:srgbClr val="CBD9E8"/>
                </a:solidFill>
                <a:latin typeface="Consolas"/>
              </a:rPr>
              <a:t>  'RS256' : {{'CERTIFY_VC_SIGN_RSA',     ''                }}, \</a:t>
            </a:r>
          </a:p>
          <a:p>
            <a:pPr>
              <a:lnSpc>
                <a:spcPct val="116000"/>
              </a:lnSpc>
              <a:spcBef>
                <a:spcPts val="0"/>
              </a:spcBef>
              <a:spcAft>
                <a:spcPts val="0"/>
              </a:spcAft>
            </a:pPr>
            <a:r>
              <a:rPr sz="800" b="1">
                <a:solidFill>
                  <a:srgbClr val="FFD56B"/>
                </a:solidFill>
                <a:latin typeface="Consolas"/>
              </a:rPr>
              <a:t>  'EdDSA' : {{'CERTIFY_VC_SIGN_ED25519', 'ED25519_SIGN'    }}, \</a:t>
            </a:r>
          </a:p>
          <a:p>
            <a:pPr>
              <a:lnSpc>
                <a:spcPct val="116000"/>
              </a:lnSpc>
              <a:spcBef>
                <a:spcPts val="0"/>
              </a:spcBef>
              <a:spcAft>
                <a:spcPts val="0"/>
              </a:spcAft>
            </a:pPr>
            <a:r>
              <a:rPr sz="800">
                <a:solidFill>
                  <a:srgbClr val="CBD9E8"/>
                </a:solidFill>
                <a:latin typeface="Consolas"/>
              </a:rPr>
              <a:t>  'ES256' : {{'CERTIFY_VC_SIGN_EC_R1',   'EC_SECP256R1_SIGN'}}, \</a:t>
            </a:r>
          </a:p>
          <a:p>
            <a:pPr>
              <a:lnSpc>
                <a:spcPct val="116000"/>
              </a:lnSpc>
              <a:spcBef>
                <a:spcPts val="0"/>
              </a:spcBef>
              <a:spcAft>
                <a:spcPts val="0"/>
              </a:spcAft>
            </a:pPr>
            <a:r>
              <a:rPr sz="800">
                <a:solidFill>
                  <a:srgbClr val="CBD9E8"/>
                </a:solidFill>
                <a:latin typeface="Consolas"/>
              </a:rPr>
              <a:t>  'ES256K': {{'CERTIFY_VC_SIGN_EC_K1',   'EC_SECP256K1_SIGN'}}  }</a:t>
            </a:r>
          </a:p>
        </p:txBody>
      </p:sp>
      <p:sp>
        <p:nvSpPr>
          <p:cNvPr id="60" name="Oval 59"/>
          <p:cNvSpPr/>
          <p:nvPr/>
        </p:nvSpPr>
        <p:spPr>
          <a:xfrm>
            <a:off x="6432804" y="4638532"/>
            <a:ext cx="77724" cy="7168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20256" y="4577622"/>
            <a:ext cx="5065775" cy="396381"/>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The application never asks for *a key*. It asks for *a signature*, by algorithm.</a:t>
            </a:r>
          </a:p>
        </p:txBody>
      </p:sp>
      <p:sp>
        <p:nvSpPr>
          <p:cNvPr id="62" name="Oval 61"/>
          <p:cNvSpPr/>
          <p:nvPr/>
        </p:nvSpPr>
        <p:spPr>
          <a:xfrm>
            <a:off x="6432804" y="5022262"/>
            <a:ext cx="77724" cy="7168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620256" y="4961353"/>
            <a:ext cx="5065775" cy="543969"/>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The mapping from algorithm to </a:t>
            </a:r>
            <a:r>
              <a:rPr sz="969" b="0" i="0">
                <a:solidFill>
                  <a:srgbClr val="1D4E89"/>
                </a:solidFill>
                <a:latin typeface="Consolas"/>
              </a:rPr>
              <a:t>app_id</a:t>
            </a:r>
            <a:r>
              <a:rPr sz="969" b="0" i="0">
                <a:solidFill>
                  <a:srgbClr val="0F172A"/>
                </a:solidFill>
                <a:latin typeface="Arial"/>
              </a:rPr>
              <a:t> / </a:t>
            </a:r>
            <a:r>
              <a:rPr sz="969" b="0" i="0">
                <a:solidFill>
                  <a:srgbClr val="1D4E89"/>
                </a:solidFill>
                <a:latin typeface="Consolas"/>
              </a:rPr>
              <a:t>ref_id</a:t>
            </a:r>
            <a:r>
              <a:rPr sz="969" b="0" i="0">
                <a:solidFill>
                  <a:srgbClr val="0F172A"/>
                </a:solidFill>
                <a:latin typeface="Arial"/>
              </a:rPr>
              <a:t> is </a:t>
            </a:r>
            <a:r>
              <a:rPr sz="969" b="1" i="0">
                <a:solidFill>
                  <a:srgbClr val="0F172A"/>
                </a:solidFill>
                <a:latin typeface="Arial"/>
              </a:rPr>
              <a:t>configuration</a:t>
            </a:r>
            <a:r>
              <a:rPr sz="969" b="0" i="0">
                <a:solidFill>
                  <a:srgbClr val="0F172A"/>
                </a:solidFill>
                <a:latin typeface="Arial"/>
              </a:rPr>
              <a:t>, so changing the signing algorithm for a credential type is a property change, not code.</a:t>
            </a:r>
          </a:p>
        </p:txBody>
      </p:sp>
      <p:sp>
        <p:nvSpPr>
          <p:cNvPr id="64" name="Oval 63"/>
          <p:cNvSpPr/>
          <p:nvPr/>
        </p:nvSpPr>
        <p:spPr>
          <a:xfrm>
            <a:off x="6432804" y="5553581"/>
            <a:ext cx="77724" cy="7168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20256" y="5492672"/>
            <a:ext cx="5065775" cy="396381"/>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The returned </a:t>
            </a:r>
            <a:r>
              <a:rPr sz="969" b="0" i="0">
                <a:solidFill>
                  <a:srgbClr val="1D4E89"/>
                </a:solidFill>
                <a:latin typeface="Consolas"/>
              </a:rPr>
              <a:t>kid</a:t>
            </a:r>
            <a:r>
              <a:rPr sz="969" b="0" i="0">
                <a:solidFill>
                  <a:srgbClr val="0F172A"/>
                </a:solidFill>
                <a:latin typeface="Arial"/>
              </a:rPr>
              <a:t> is what a verifier will use to find the right public key in </a:t>
            </a:r>
            <a:r>
              <a:rPr sz="969" b="0" i="0">
                <a:solidFill>
                  <a:srgbClr val="1D4E89"/>
                </a:solidFill>
                <a:latin typeface="Consolas"/>
              </a:rPr>
              <a:t>jwks.json</a:t>
            </a:r>
            <a:r>
              <a:rPr sz="969" b="0" i="0">
                <a:solidFill>
                  <a:srgbClr val="0F172A"/>
                </a:solidFill>
                <a:latin typeface="Arial"/>
              </a:rPr>
              <a:t> or the DID document.</a:t>
            </a:r>
          </a:p>
        </p:txBody>
      </p:sp>
      <p:sp>
        <p:nvSpPr>
          <p:cNvPr id="66" name="Oval 65"/>
          <p:cNvSpPr/>
          <p:nvPr/>
        </p:nvSpPr>
        <p:spPr>
          <a:xfrm>
            <a:off x="6432804" y="5937312"/>
            <a:ext cx="77724" cy="7168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620256" y="5876402"/>
            <a:ext cx="5065775" cy="396381"/>
          </a:xfrm>
          <a:prstGeom prst="rect">
            <a:avLst/>
          </a:prstGeom>
          <a:noFill/>
        </p:spPr>
        <p:txBody>
          <a:bodyPr wrap="square" lIns="0" rIns="0" tIns="0" bIns="0" anchor="t">
            <a:spAutoFit/>
          </a:bodyPr>
          <a:lstStyle/>
          <a:p>
            <a:pPr algn="l">
              <a:lnSpc>
                <a:spcPct val="124000"/>
              </a:lnSpc>
              <a:spcBef>
                <a:spcPts val="0"/>
              </a:spcBef>
              <a:spcAft>
                <a:spcPts val="0"/>
              </a:spcAft>
            </a:pPr>
            <a:r>
              <a:rPr sz="969" b="0" i="0">
                <a:solidFill>
                  <a:srgbClr val="0F172A"/>
                </a:solidFill>
                <a:latin typeface="Arial"/>
              </a:rPr>
              <a:t>If no current key exists for that alias, one is generated on the spot — first signature of the day can be slower.</a:t>
            </a:r>
          </a:p>
        </p:txBody>
      </p:sp>
      <p:sp>
        <p:nvSpPr>
          <p:cNvPr id="68" name="TextBox 6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69" name="TextBox 6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2 — SCHEMA</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The data model — three tables you will read a lot</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Schema </a:t>
            </a:r>
            <a:r>
              <a:rPr sz="1150" b="0" i="0">
                <a:solidFill>
                  <a:srgbClr val="1D4E89"/>
                </a:solidFill>
                <a:latin typeface="Consolas"/>
              </a:rPr>
              <a:t>keymgr</a:t>
            </a:r>
            <a:r>
              <a:rPr sz="1150" b="0" i="0">
                <a:solidFill>
                  <a:srgbClr val="5B6B7F"/>
                </a:solidFill>
                <a:latin typeface="Arial"/>
              </a:rPr>
              <a:t> in Postgres. Learn these three and most Key Manager questions answer themselves.</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463040"/>
            <a:ext cx="562356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latin typeface="Arial"/>
              </a:rPr>
              <a:t>POLICY</a:t>
            </a:r>
          </a:p>
        </p:txBody>
      </p:sp>
      <p:sp>
        <p:nvSpPr>
          <p:cNvPr id="7" name="Rounded Rectangle 6"/>
          <p:cNvSpPr/>
          <p:nvPr/>
        </p:nvSpPr>
        <p:spPr>
          <a:xfrm>
            <a:off x="502920" y="1682496"/>
            <a:ext cx="5623560" cy="148132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9224" y="1801368"/>
            <a:ext cx="5330952" cy="1243584"/>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keymgr.key_policy_def          -- the rules</a:t>
            </a:r>
          </a:p>
          <a:p>
            <a:pPr>
              <a:lnSpc>
                <a:spcPct val="116000"/>
              </a:lnSpc>
              <a:spcBef>
                <a:spcPts val="0"/>
              </a:spcBef>
              <a:spcAft>
                <a:spcPts val="0"/>
              </a:spcAft>
            </a:pPr>
            <a:r>
              <a:rPr sz="850">
                <a:solidFill>
                  <a:srgbClr val="CBD9E8"/>
                </a:solidFill>
                <a:latin typeface="Consolas"/>
              </a:rPr>
              <a:t>  app_id                  PK   -- ROOT, BASE, CERTIFY_VC_SIGN_RSA …</a:t>
            </a:r>
          </a:p>
          <a:p>
            <a:pPr>
              <a:lnSpc>
                <a:spcPct val="116000"/>
              </a:lnSpc>
              <a:spcBef>
                <a:spcPts val="0"/>
              </a:spcBef>
              <a:spcAft>
                <a:spcPts val="0"/>
              </a:spcAft>
            </a:pPr>
            <a:r>
              <a:rPr sz="850">
                <a:solidFill>
                  <a:srgbClr val="CBD9E8"/>
                </a:solidFill>
                <a:latin typeface="Consolas"/>
              </a:rPr>
              <a:t>  key_validity_duration        -- days the key is valid</a:t>
            </a:r>
          </a:p>
          <a:p>
            <a:pPr>
              <a:lnSpc>
                <a:spcPct val="116000"/>
              </a:lnSpc>
              <a:spcBef>
                <a:spcPts val="0"/>
              </a:spcBef>
              <a:spcAft>
                <a:spcPts val="0"/>
              </a:spcAft>
            </a:pPr>
            <a:r>
              <a:rPr sz="850" b="1">
                <a:solidFill>
                  <a:srgbClr val="FFD56B"/>
                </a:solidFill>
                <a:latin typeface="Consolas"/>
              </a:rPr>
              <a:t>  pre_expire_days              -- stop using it this many days early</a:t>
            </a:r>
          </a:p>
          <a:p>
            <a:pPr>
              <a:lnSpc>
                <a:spcPct val="116000"/>
              </a:lnSpc>
              <a:spcBef>
                <a:spcPts val="0"/>
              </a:spcBef>
              <a:spcAft>
                <a:spcPts val="0"/>
              </a:spcAft>
            </a:pPr>
            <a:r>
              <a:rPr sz="850">
                <a:solidFill>
                  <a:srgbClr val="CBD9E8"/>
                </a:solidFill>
                <a:latin typeface="Consolas"/>
              </a:rPr>
              <a:t>  is_active</a:t>
            </a:r>
          </a:p>
        </p:txBody>
      </p:sp>
      <p:sp>
        <p:nvSpPr>
          <p:cNvPr id="9" name="TextBox 8"/>
          <p:cNvSpPr txBox="1"/>
          <p:nvPr/>
        </p:nvSpPr>
        <p:spPr>
          <a:xfrm>
            <a:off x="502920" y="3218687"/>
            <a:ext cx="5623560"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latin typeface="Arial"/>
              </a:rPr>
              <a:t>METADATA</a:t>
            </a:r>
          </a:p>
        </p:txBody>
      </p:sp>
      <p:sp>
        <p:nvSpPr>
          <p:cNvPr id="10" name="Rounded Rectangle 9"/>
          <p:cNvSpPr/>
          <p:nvPr/>
        </p:nvSpPr>
        <p:spPr>
          <a:xfrm>
            <a:off x="502920" y="3438144"/>
            <a:ext cx="5623560" cy="175564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 y="3557015"/>
            <a:ext cx="5330952" cy="1517904"/>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keymgr.key_alias               -- one row per key, ever</a:t>
            </a:r>
          </a:p>
          <a:p>
            <a:pPr>
              <a:lnSpc>
                <a:spcPct val="116000"/>
              </a:lnSpc>
              <a:spcBef>
                <a:spcPts val="0"/>
              </a:spcBef>
              <a:spcAft>
                <a:spcPts val="0"/>
              </a:spcAft>
            </a:pPr>
            <a:r>
              <a:rPr sz="850">
                <a:solidFill>
                  <a:srgbClr val="CBD9E8"/>
                </a:solidFill>
                <a:latin typeface="Consolas"/>
              </a:rPr>
              <a:t>  id                      PK   -- UUID; also the alias inside the HSM</a:t>
            </a:r>
          </a:p>
          <a:p>
            <a:pPr>
              <a:lnSpc>
                <a:spcPct val="116000"/>
              </a:lnSpc>
              <a:spcBef>
                <a:spcPts val="0"/>
              </a:spcBef>
              <a:spcAft>
                <a:spcPts val="0"/>
              </a:spcAft>
            </a:pPr>
            <a:r>
              <a:rPr sz="850">
                <a:solidFill>
                  <a:srgbClr val="CBD9E8"/>
                </a:solidFill>
                <a:latin typeface="Consolas"/>
              </a:rPr>
              <a:t>  app_id, ref_id               -- which key this is</a:t>
            </a:r>
          </a:p>
          <a:p>
            <a:pPr>
              <a:lnSpc>
                <a:spcPct val="116000"/>
              </a:lnSpc>
              <a:spcBef>
                <a:spcPts val="0"/>
              </a:spcBef>
              <a:spcAft>
                <a:spcPts val="0"/>
              </a:spcAft>
            </a:pPr>
            <a:r>
              <a:rPr sz="850">
                <a:solidFill>
                  <a:srgbClr val="CBD9E8"/>
                </a:solidFill>
                <a:latin typeface="Consolas"/>
              </a:rPr>
              <a:t>  key_gen_dtimes               -- when it was created</a:t>
            </a:r>
          </a:p>
          <a:p>
            <a:pPr>
              <a:lnSpc>
                <a:spcPct val="116000"/>
              </a:lnSpc>
              <a:spcBef>
                <a:spcPts val="0"/>
              </a:spcBef>
              <a:spcAft>
                <a:spcPts val="0"/>
              </a:spcAft>
            </a:pPr>
            <a:r>
              <a:rPr sz="850" b="1">
                <a:solidFill>
                  <a:srgbClr val="FFD56B"/>
                </a:solidFill>
                <a:latin typeface="Consolas"/>
              </a:rPr>
              <a:t>  key_expire_dtimes            -- when it stops being valid</a:t>
            </a:r>
          </a:p>
          <a:p>
            <a:pPr>
              <a:lnSpc>
                <a:spcPct val="116000"/>
              </a:lnSpc>
              <a:spcBef>
                <a:spcPts val="0"/>
              </a:spcBef>
              <a:spcAft>
                <a:spcPts val="0"/>
              </a:spcAft>
            </a:pPr>
            <a:r>
              <a:rPr sz="850">
                <a:solidFill>
                  <a:srgbClr val="CBD9E8"/>
                </a:solidFill>
                <a:latin typeface="Consolas"/>
              </a:rPr>
              <a:t>  cert_thumbprint              -- ties a credential back to this key</a:t>
            </a:r>
          </a:p>
          <a:p>
            <a:pPr>
              <a:lnSpc>
                <a:spcPct val="116000"/>
              </a:lnSpc>
              <a:spcBef>
                <a:spcPts val="0"/>
              </a:spcBef>
              <a:spcAft>
                <a:spcPts val="0"/>
              </a:spcAft>
            </a:pPr>
            <a:r>
              <a:rPr sz="850" b="1">
                <a:solidFill>
                  <a:srgbClr val="FFD56B"/>
                </a:solidFill>
                <a:latin typeface="Consolas"/>
              </a:rPr>
              <a:t>  uni_ident               UQ   -- appId_refId_timestamp</a:t>
            </a:r>
          </a:p>
        </p:txBody>
      </p:sp>
      <p:sp>
        <p:nvSpPr>
          <p:cNvPr id="12" name="TextBox 11"/>
          <p:cNvSpPr txBox="1"/>
          <p:nvPr/>
        </p:nvSpPr>
        <p:spPr>
          <a:xfrm>
            <a:off x="6409944" y="1463040"/>
            <a:ext cx="5276088"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latin typeface="Arial"/>
              </a:rPr>
              <a:t>MATERIAL</a:t>
            </a:r>
          </a:p>
        </p:txBody>
      </p:sp>
      <p:sp>
        <p:nvSpPr>
          <p:cNvPr id="13" name="Rounded Rectangle 12"/>
          <p:cNvSpPr/>
          <p:nvPr/>
        </p:nvSpPr>
        <p:spPr>
          <a:xfrm>
            <a:off x="6409944" y="1682496"/>
            <a:ext cx="5276088" cy="148132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6248" y="1801368"/>
            <a:ext cx="4983479" cy="1243584"/>
          </a:xfrm>
          <a:prstGeom prst="rect">
            <a:avLst/>
          </a:prstGeom>
          <a:noFill/>
        </p:spPr>
        <p:txBody>
          <a:bodyPr wrap="square" lIns="0" rIns="0" tIns="0" bIns="0" anchor="t">
            <a:spAutoFit/>
          </a:bodyPr>
          <a:lstStyle/>
          <a:p>
            <a:pPr>
              <a:lnSpc>
                <a:spcPct val="116000"/>
              </a:lnSpc>
              <a:spcBef>
                <a:spcPts val="0"/>
              </a:spcBef>
              <a:spcAft>
                <a:spcPts val="0"/>
              </a:spcAft>
            </a:pPr>
            <a:r>
              <a:rPr sz="850">
                <a:solidFill>
                  <a:srgbClr val="CBD9E8"/>
                </a:solidFill>
                <a:latin typeface="Consolas"/>
              </a:rPr>
              <a:t>keymgr.key_store               -- the wrapped material</a:t>
            </a:r>
          </a:p>
          <a:p>
            <a:pPr>
              <a:lnSpc>
                <a:spcPct val="116000"/>
              </a:lnSpc>
              <a:spcBef>
                <a:spcPts val="0"/>
              </a:spcBef>
              <a:spcAft>
                <a:spcPts val="0"/>
              </a:spcAft>
            </a:pPr>
            <a:r>
              <a:rPr sz="850">
                <a:solidFill>
                  <a:srgbClr val="CBD9E8"/>
                </a:solidFill>
                <a:latin typeface="Consolas"/>
              </a:rPr>
              <a:t>  id                      PK   -- = key_alias.id</a:t>
            </a:r>
          </a:p>
          <a:p>
            <a:pPr>
              <a:lnSpc>
                <a:spcPct val="116000"/>
              </a:lnSpc>
              <a:spcBef>
                <a:spcPts val="0"/>
              </a:spcBef>
              <a:spcAft>
                <a:spcPts val="0"/>
              </a:spcAft>
            </a:pPr>
            <a:r>
              <a:rPr sz="850" b="1">
                <a:solidFill>
                  <a:srgbClr val="FFD56B"/>
                </a:solidFill>
                <a:latin typeface="Consolas"/>
              </a:rPr>
              <a:t>  master_key                   -- alias of the module key that wrapped it</a:t>
            </a:r>
          </a:p>
          <a:p>
            <a:pPr>
              <a:lnSpc>
                <a:spcPct val="116000"/>
              </a:lnSpc>
              <a:spcBef>
                <a:spcPts val="0"/>
              </a:spcBef>
              <a:spcAft>
                <a:spcPts val="0"/>
              </a:spcAft>
            </a:pPr>
            <a:r>
              <a:rPr sz="850" b="1">
                <a:solidFill>
                  <a:srgbClr val="FFD56B"/>
                </a:solidFill>
                <a:latin typeface="Consolas"/>
              </a:rPr>
              <a:t>  private_key                  -- base64url, encrypted</a:t>
            </a:r>
          </a:p>
          <a:p>
            <a:pPr>
              <a:lnSpc>
                <a:spcPct val="116000"/>
              </a:lnSpc>
              <a:spcBef>
                <a:spcPts val="0"/>
              </a:spcBef>
              <a:spcAft>
                <a:spcPts val="0"/>
              </a:spcAft>
            </a:pPr>
            <a:r>
              <a:rPr sz="850">
                <a:solidFill>
                  <a:srgbClr val="CBD9E8"/>
                </a:solidFill>
                <a:latin typeface="Consolas"/>
              </a:rPr>
              <a:t>  certificate_data             -- PEM</a:t>
            </a:r>
          </a:p>
        </p:txBody>
      </p:sp>
      <p:sp>
        <p:nvSpPr>
          <p:cNvPr id="15" name="TextBox 14"/>
          <p:cNvSpPr txBox="1"/>
          <p:nvPr/>
        </p:nvSpPr>
        <p:spPr>
          <a:xfrm>
            <a:off x="6409944" y="3218687"/>
            <a:ext cx="5276088" cy="219456"/>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latin typeface="Arial"/>
              </a:rPr>
              <a:t>SEED POLICY SHIPPED WITH THE PRODUCT</a:t>
            </a:r>
          </a:p>
        </p:txBody>
      </p:sp>
      <p:graphicFrame>
        <p:nvGraphicFramePr>
          <p:cNvPr id="16" name="Table 15"/>
          <p:cNvGraphicFramePr>
            <a:graphicFrameLocks noGrp="1"/>
          </p:cNvGraphicFramePr>
          <p:nvPr/>
        </p:nvGraphicFramePr>
        <p:xfrm>
          <a:off x="6409944" y="3438144"/>
          <a:ext cx="5276086" cy="1444752"/>
        </p:xfrm>
        <a:graphic>
          <a:graphicData uri="http://schemas.openxmlformats.org/drawingml/2006/table">
            <a:tbl>
              <a:tblPr firstRow="1">
                <a:tableStyleId>{2D5ABB26-0587-4C30-8999-92F81FD0307C}</a:tableStyleId>
              </a:tblPr>
              <a:tblGrid>
                <a:gridCol w="1364505"/>
                <a:gridCol w="1455472"/>
                <a:gridCol w="909670"/>
                <a:gridCol w="1546439"/>
              </a:tblGrid>
              <a:tr h="292608">
                <a:tc>
                  <a:txBody>
                    <a:bodyPr wrap="square"/>
                    <a:lstStyle/>
                    <a:p>
                      <a:pPr algn="l"/>
                      <a:r>
                        <a:rPr sz="950" b="1">
                          <a:solidFill>
                            <a:srgbClr val="FFFFFF"/>
                          </a:solidFill>
                          <a:latin typeface="Arial"/>
                        </a:rPr>
                        <a:t>app_id</a:t>
                      </a:r>
                    </a:p>
                  </a:txBody>
                  <a:tcPr marL="64008" marR="54864" marT="27432" marB="27432" anchor="ctr">
                    <a:solidFill>
                      <a:srgbClr val="1D4E89"/>
                    </a:solidFill>
                  </a:tcPr>
                </a:tc>
                <a:tc>
                  <a:txBody>
                    <a:bodyPr wrap="square"/>
                    <a:lstStyle/>
                    <a:p>
                      <a:pPr algn="l"/>
                      <a:r>
                        <a:rPr sz="950" b="1">
                          <a:solidFill>
                            <a:srgbClr val="FFFFFF"/>
                          </a:solidFill>
                          <a:latin typeface="Arial"/>
                        </a:rPr>
                        <a:t>validity (days)</a:t>
                      </a:r>
                    </a:p>
                  </a:txBody>
                  <a:tcPr marL="64008" marR="54864" marT="27432" marB="27432" anchor="ctr">
                    <a:solidFill>
                      <a:srgbClr val="1D4E89"/>
                    </a:solidFill>
                  </a:tcPr>
                </a:tc>
                <a:tc>
                  <a:txBody>
                    <a:bodyPr wrap="square"/>
                    <a:lstStyle/>
                    <a:p>
                      <a:pPr algn="l"/>
                      <a:r>
                        <a:rPr sz="950" b="1">
                          <a:solidFill>
                            <a:srgbClr val="FFFFFF"/>
                          </a:solidFill>
                          <a:latin typeface="Arial"/>
                        </a:rPr>
                        <a:t>pre-expire</a:t>
                      </a:r>
                    </a:p>
                  </a:txBody>
                  <a:tcPr marL="64008" marR="54864" marT="27432" marB="27432" anchor="ctr">
                    <a:solidFill>
                      <a:srgbClr val="1D4E89"/>
                    </a:solidFill>
                  </a:tcPr>
                </a:tc>
                <a:tc>
                  <a:txBody>
                    <a:bodyPr wrap="square"/>
                    <a:lstStyle/>
                    <a:p>
                      <a:pPr algn="l"/>
                      <a:r>
                        <a:rPr sz="950" b="1">
                          <a:solidFill>
                            <a:srgbClr val="FFFFFF"/>
                          </a:solidFill>
                          <a:latin typeface="Arial"/>
                        </a:rPr>
                        <a:t>Role</a:t>
                      </a:r>
                    </a:p>
                  </a:txBody>
                  <a:tcPr marL="64008" marR="54864" marT="27432" marB="27432" anchor="ctr">
                    <a:solidFill>
                      <a:srgbClr val="1D4E89"/>
                    </a:solidFill>
                  </a:tcPr>
                </a:tc>
              </a:tr>
              <a:tr h="384048">
                <a:tc>
                  <a:txBody>
                    <a:bodyPr wrap="square"/>
                    <a:lstStyle/>
                    <a:p>
                      <a:pPr algn="l">
                        <a:lnSpc>
                          <a:spcPct val="105000"/>
                        </a:lnSpc>
                      </a:pPr>
                      <a:r>
                        <a:rPr sz="900" b="0">
                          <a:solidFill>
                            <a:srgbClr val="1D4E89"/>
                          </a:solidFill>
                          <a:latin typeface="Consolas"/>
                        </a:rPr>
                        <a:t>ROOT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2920  (8 years)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1125</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Signs module certificates only</a:t>
                      </a:r>
                    </a:p>
                  </a:txBody>
                  <a:tcPr marL="64008" marR="54864" marT="18288" marB="18288" anchor="ctr">
                    <a:solidFill>
                      <a:srgbClr val="FFFFFF"/>
                    </a:solidFill>
                  </a:tcPr>
                </a:tc>
              </a:tr>
              <a:tr h="384048">
                <a:tc>
                  <a:txBody>
                    <a:bodyPr wrap="square"/>
                    <a:lstStyle/>
                    <a:p>
                      <a:pPr algn="l">
                        <a:lnSpc>
                          <a:spcPct val="105000"/>
                        </a:lnSpc>
                      </a:pPr>
                      <a:r>
                        <a:rPr sz="900" b="0">
                          <a:solidFill>
                            <a:srgbClr val="1D4E89"/>
                          </a:solidFill>
                          <a:latin typeface="Consolas"/>
                        </a:rPr>
                        <a:t>BASE</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730  (2 years)</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30</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Default for base/reference keys</a:t>
                      </a:r>
                    </a:p>
                  </a:txBody>
                  <a:tcPr marL="64008" marR="54864" marT="18288" marB="18288" anchor="ctr">
                    <a:solidFill>
                      <a:srgbClr val="F3F6F9"/>
                    </a:solidFill>
                  </a:tcPr>
                </a:tc>
              </a:tr>
              <a:tr h="384048">
                <a:tc>
                  <a:txBody>
                    <a:bodyPr wrap="square"/>
                    <a:lstStyle/>
                    <a:p>
                      <a:pPr algn="l">
                        <a:lnSpc>
                          <a:spcPct val="105000"/>
                        </a:lnSpc>
                      </a:pPr>
                      <a:r>
                        <a:rPr sz="900" b="0">
                          <a:solidFill>
                            <a:srgbClr val="1E293B"/>
                          </a:solidFill>
                          <a:latin typeface="Arial"/>
                        </a:rPr>
                        <a:t>Module app ids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1095  (3 years)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60</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e.g. </a:t>
                      </a:r>
                      <a:r>
                        <a:rPr sz="900" b="0">
                          <a:solidFill>
                            <a:srgbClr val="1D4E89"/>
                          </a:solidFill>
                          <a:latin typeface="Consolas"/>
                        </a:rPr>
                        <a:t>KERNEL</a:t>
                      </a:r>
                      <a:r>
                        <a:rPr sz="900" b="0">
                          <a:solidFill>
                            <a:srgbClr val="1E293B"/>
                          </a:solidFill>
                          <a:latin typeface="Arial"/>
                        </a:rPr>
                        <a:t>, </a:t>
                      </a:r>
                      <a:r>
                        <a:rPr sz="900" b="0">
                          <a:solidFill>
                            <a:srgbClr val="1D4E89"/>
                          </a:solidFill>
                          <a:latin typeface="Consolas"/>
                        </a:rPr>
                        <a:t>PMS</a:t>
                      </a:r>
                      <a:r>
                        <a:rPr sz="900" b="0">
                          <a:solidFill>
                            <a:srgbClr val="1E293B"/>
                          </a:solidFill>
                          <a:latin typeface="Arial"/>
                        </a:rPr>
                        <a:t>, </a:t>
                      </a:r>
                      <a:r>
                        <a:rPr sz="900" b="0">
                          <a:solidFill>
                            <a:srgbClr val="1D4E89"/>
                          </a:solidFill>
                          <a:latin typeface="Consolas"/>
                        </a:rPr>
                        <a:t>RESIDENT</a:t>
                      </a:r>
                    </a:p>
                  </a:txBody>
                  <a:tcPr marL="64008" marR="54864" marT="18288" marB="18288" anchor="ctr">
                    <a:solidFill>
                      <a:srgbClr val="FFFFFF"/>
                    </a:solidFill>
                  </a:tcPr>
                </a:tc>
              </a:tr>
            </a:tbl>
          </a:graphicData>
        </a:graphic>
      </p:graphicFrame>
      <p:sp>
        <p:nvSpPr>
          <p:cNvPr id="17" name="Rounded Rectangle 16"/>
          <p:cNvSpPr/>
          <p:nvPr/>
        </p:nvSpPr>
        <p:spPr>
          <a:xfrm>
            <a:off x="6409944" y="4846320"/>
            <a:ext cx="5276088" cy="678180"/>
          </a:xfrm>
          <a:prstGeom prst="roundRect">
            <a:avLst>
              <a:gd name="adj" fmla="val 90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409944" y="4846320"/>
            <a:ext cx="45720" cy="67818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11112" y="4937760"/>
            <a:ext cx="4910327" cy="531876"/>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1D4E89"/>
                </a:solidFill>
                <a:latin typeface="Consolas"/>
              </a:rPr>
              <a:t>pre_expire_days</a:t>
            </a:r>
            <a:r>
              <a:rPr sz="1000" b="0" i="0">
                <a:solidFill>
                  <a:srgbClr val="1E293B"/>
                </a:solidFill>
                <a:latin typeface="Arial"/>
              </a:rPr>
              <a:t> is the rotation lever. A key stops being handed out for </a:t>
            </a:r>
            <a:r>
              <a:rPr sz="1000" b="1" i="0">
                <a:solidFill>
                  <a:srgbClr val="0E9488"/>
                </a:solidFill>
                <a:latin typeface="Arial"/>
              </a:rPr>
              <a:t>new</a:t>
            </a:r>
            <a:r>
              <a:rPr sz="1000" b="0" i="0">
                <a:solidFill>
                  <a:srgbClr val="1E293B"/>
                </a:solidFill>
                <a:latin typeface="Arial"/>
              </a:rPr>
              <a:t> signatures that many days before it actually expires — which creates the overlap window on the next slide.</a:t>
            </a:r>
          </a:p>
        </p:txBody>
      </p:sp>
      <p:sp>
        <p:nvSpPr>
          <p:cNvPr id="20" name="Rounded Rectangle 19"/>
          <p:cNvSpPr/>
          <p:nvPr/>
        </p:nvSpPr>
        <p:spPr>
          <a:xfrm>
            <a:off x="502920" y="5321808"/>
            <a:ext cx="5623560" cy="678180"/>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2920" y="5321808"/>
            <a:ext cx="45720" cy="6781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4088" y="5413248"/>
            <a:ext cx="5257800" cy="531876"/>
          </a:xfrm>
          <a:prstGeom prst="rect">
            <a:avLst/>
          </a:prstGeom>
          <a:noFill/>
        </p:spPr>
        <p:txBody>
          <a:bodyPr wrap="square" lIns="0" rIns="0" tIns="0" bIns="0" anchor="t">
            <a:spAutoFit/>
          </a:bodyPr>
          <a:lstStyle/>
          <a:p>
            <a:pPr algn="l">
              <a:lnSpc>
                <a:spcPct val="122000"/>
              </a:lnSpc>
              <a:spcBef>
                <a:spcPts val="0"/>
              </a:spcBef>
              <a:spcAft>
                <a:spcPts val="0"/>
              </a:spcAft>
            </a:pPr>
            <a:r>
              <a:rPr sz="1000" b="0" i="0">
                <a:solidFill>
                  <a:srgbClr val="1E293B"/>
                </a:solidFill>
                <a:latin typeface="Arial"/>
              </a:rPr>
              <a:t>There is </a:t>
            </a:r>
            <a:r>
              <a:rPr sz="1000" b="1" i="0">
                <a:solidFill>
                  <a:srgbClr val="B45309"/>
                </a:solidFill>
                <a:latin typeface="Arial"/>
              </a:rPr>
              <a:t>no delete</a:t>
            </a:r>
            <a:r>
              <a:rPr sz="1000" b="0" i="0">
                <a:solidFill>
                  <a:srgbClr val="1E293B"/>
                </a:solidFill>
                <a:latin typeface="Arial"/>
              </a:rPr>
              <a:t>. </a:t>
            </a:r>
            <a:r>
              <a:rPr sz="1000" b="0" i="0">
                <a:solidFill>
                  <a:srgbClr val="1D4E89"/>
                </a:solidFill>
                <a:latin typeface="Consolas"/>
              </a:rPr>
              <a:t>key_alias</a:t>
            </a:r>
            <a:r>
              <a:rPr sz="1000" b="0" i="0">
                <a:solidFill>
                  <a:srgbClr val="1E293B"/>
                </a:solidFill>
                <a:latin typeface="Arial"/>
              </a:rPr>
              <a:t> accumulates every key the system has ever had, and that is deliberate — it is what lets a three-year-old credential still verify.</a:t>
            </a:r>
          </a:p>
        </p:txBody>
      </p:sp>
      <p:sp>
        <p:nvSpPr>
          <p:cNvPr id="23" name="TextBox 2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24" name="TextBox 2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2 — INTERFACES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The API surface</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Base path </a:t>
            </a:r>
            <a:r>
              <a:rPr sz="1150" b="0" i="0">
                <a:solidFill>
                  <a:srgbClr val="1D4E89"/>
                </a:solidFill>
                <a:latin typeface="Consolas"/>
              </a:rPr>
              <a:t>/v1/keymanager</a:t>
            </a:r>
            <a:r>
              <a:rPr sz="1150" b="0" i="0">
                <a:solidFill>
                  <a:srgbClr val="5B6B7F"/>
                </a:solidFill>
                <a:latin typeface="Arial"/>
              </a:rPr>
              <a:t>. Grouped by what you would actually use them for.</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82496"/>
          <a:ext cx="11185853" cy="4311904"/>
        </p:xfrm>
        <a:graphic>
          <a:graphicData uri="http://schemas.openxmlformats.org/drawingml/2006/table">
            <a:tbl>
              <a:tblPr firstRow="1">
                <a:tableStyleId>{2D5ABB26-0587-4C30-8999-92F81FD0307C}</a:tableStyleId>
              </a:tblPr>
              <a:tblGrid>
                <a:gridCol w="1485621"/>
                <a:gridCol w="3757748"/>
                <a:gridCol w="2971242"/>
                <a:gridCol w="2971242"/>
              </a:tblGrid>
              <a:tr h="292608">
                <a:tc>
                  <a:txBody>
                    <a:bodyPr wrap="square"/>
                    <a:lstStyle/>
                    <a:p>
                      <a:pPr algn="l"/>
                      <a:r>
                        <a:rPr sz="950" b="1">
                          <a:solidFill>
                            <a:srgbClr val="FFFFFF"/>
                          </a:solidFill>
                          <a:latin typeface="Arial"/>
                        </a:rPr>
                        <a:t>Group</a:t>
                      </a:r>
                    </a:p>
                  </a:txBody>
                  <a:tcPr marL="64008" marR="54864" marT="27432" marB="27432" anchor="ctr">
                    <a:solidFill>
                      <a:srgbClr val="1D4E89"/>
                    </a:solidFill>
                  </a:tcPr>
                </a:tc>
                <a:tc>
                  <a:txBody>
                    <a:bodyPr wrap="square"/>
                    <a:lstStyle/>
                    <a:p>
                      <a:pPr algn="l"/>
                      <a:r>
                        <a:rPr sz="950" b="1">
                          <a:solidFill>
                            <a:srgbClr val="FFFFFF"/>
                          </a:solidFill>
                          <a:latin typeface="Arial"/>
                        </a:rPr>
                        <a:t>Endpoint</a:t>
                      </a:r>
                    </a:p>
                  </a:txBody>
                  <a:tcPr marL="64008" marR="54864" marT="27432" marB="27432" anchor="ctr">
                    <a:solidFill>
                      <a:srgbClr val="1D4E89"/>
                    </a:solidFill>
                  </a:tcPr>
                </a:tc>
                <a:tc>
                  <a:txBody>
                    <a:bodyPr wrap="square"/>
                    <a:lstStyle/>
                    <a:p>
                      <a:pPr algn="l"/>
                      <a:r>
                        <a:rPr sz="950" b="1">
                          <a:solidFill>
                            <a:srgbClr val="FFFFFF"/>
                          </a:solidFill>
                          <a:latin typeface="Arial"/>
                        </a:rPr>
                        <a:t>What it does</a:t>
                      </a:r>
                    </a:p>
                  </a:txBody>
                  <a:tcPr marL="64008" marR="54864" marT="27432" marB="27432" anchor="ctr">
                    <a:solidFill>
                      <a:srgbClr val="1D4E89"/>
                    </a:solidFill>
                  </a:tcPr>
                </a:tc>
                <a:tc>
                  <a:txBody>
                    <a:bodyPr wrap="square"/>
                    <a:lstStyle/>
                    <a:p>
                      <a:pPr algn="l"/>
                      <a:r>
                        <a:rPr sz="950" b="1">
                          <a:solidFill>
                            <a:srgbClr val="FFFFFF"/>
                          </a:solidFill>
                          <a:latin typeface="Arial"/>
                        </a:rPr>
                        <a:t>When you reach for it</a:t>
                      </a:r>
                    </a:p>
                  </a:txBody>
                  <a:tcPr marL="64008" marR="54864" marT="27432" marB="27432" anchor="ctr">
                    <a:solidFill>
                      <a:srgbClr val="1D4E89"/>
                    </a:solidFill>
                  </a:tcPr>
                </a:tc>
              </a:tr>
              <a:tr h="301752">
                <a:tc>
                  <a:txBody>
                    <a:bodyPr wrap="square"/>
                    <a:lstStyle/>
                    <a:p>
                      <a:pPr algn="l">
                        <a:lnSpc>
                          <a:spcPct val="105000"/>
                        </a:lnSpc>
                      </a:pPr>
                      <a:r>
                        <a:rPr sz="880" b="1">
                          <a:solidFill>
                            <a:srgbClr val="0F172A"/>
                          </a:solidFill>
                          <a:latin typeface="Arial"/>
                        </a:rPr>
                        <a:t>Key lifecycle</a:t>
                      </a: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POST /generateMasterKey/{objectType}</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Create a module/master key in the keystore</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Bootstrap, new app_id</a:t>
                      </a:r>
                    </a:p>
                  </a:txBody>
                  <a:tcPr marL="64008" marR="54864" marT="18288" marB="18288" anchor="ctr">
                    <a:solidFill>
                      <a:srgbClr val="FFFFFF"/>
                    </a:solidFill>
                  </a:tcPr>
                </a:tc>
              </a:tr>
              <a:tr h="301752">
                <a:tc>
                  <a:txBody>
                    <a:bodyPr wrap="square"/>
                    <a:lstStyle/>
                    <a:p>
                      <a:pPr algn="l">
                        <a:lnSpc>
                          <a:spcPct val="105000"/>
                        </a:lnSpc>
                      </a:pP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POST /generateECSignKey/{objectType}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Create an EC signing key</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EC-based credential signing</a:t>
                      </a:r>
                    </a:p>
                  </a:txBody>
                  <a:tcPr marL="64008" marR="54864" marT="18288" marB="18288" anchor="ctr">
                    <a:solidFill>
                      <a:srgbClr val="F3F6F9"/>
                    </a:solidFill>
                  </a:tcPr>
                </a:tc>
              </a:tr>
              <a:tr h="301752">
                <a:tc>
                  <a:txBody>
                    <a:bodyPr wrap="square"/>
                    <a:lstStyle/>
                    <a:p>
                      <a:pPr algn="l">
                        <a:lnSpc>
                          <a:spcPct val="105000"/>
                        </a:lnSpc>
                      </a:pP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PUT /revokeKey</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Expire the current key for an app_id + ref_id</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Suspected compromise — see topic 8</a:t>
                      </a:r>
                    </a:p>
                  </a:txBody>
                  <a:tcPr marL="64008" marR="54864" marT="18288" marB="18288" anchor="ctr">
                    <a:solidFill>
                      <a:srgbClr val="FFFFFF"/>
                    </a:solidFill>
                  </a:tcPr>
                </a:tc>
              </a:tr>
              <a:tr h="301752">
                <a:tc>
                  <a:txBody>
                    <a:bodyPr wrap="square"/>
                    <a:lstStyle/>
                    <a:p>
                      <a:pPr algn="l">
                        <a:lnSpc>
                          <a:spcPct val="105000"/>
                        </a:lnSpc>
                      </a:pPr>
                      <a:r>
                        <a:rPr sz="880" b="1">
                          <a:solidFill>
                            <a:srgbClr val="0F172A"/>
                          </a:solidFill>
                          <a:latin typeface="Arial"/>
                        </a:rPr>
                        <a:t>Certificates</a:t>
                      </a: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GET /getCertificate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Current certificate for an app_id + ref_id</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Publishing, debugging</a:t>
                      </a:r>
                    </a:p>
                  </a:txBody>
                  <a:tcPr marL="64008" marR="54864" marT="18288" marB="18288" anchor="ctr">
                    <a:solidFill>
                      <a:srgbClr val="F3F6F9"/>
                    </a:solidFill>
                  </a:tcPr>
                </a:tc>
              </a:tr>
              <a:tr h="350012">
                <a:tc>
                  <a:txBody>
                    <a:bodyPr wrap="square"/>
                    <a:lstStyle/>
                    <a:p>
                      <a:pPr algn="l">
                        <a:lnSpc>
                          <a:spcPct val="105000"/>
                        </a:lnSpc>
                      </a:pP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GET /getAllCertificates</a:t>
                      </a:r>
                    </a:p>
                  </a:txBody>
                  <a:tcPr marL="64008" marR="54864" marT="18288" marB="18288" anchor="ctr">
                    <a:solidFill>
                      <a:srgbClr val="FFFFFF"/>
                    </a:solidFill>
                  </a:tcPr>
                </a:tc>
                <a:tc>
                  <a:txBody>
                    <a:bodyPr wrap="square"/>
                    <a:lstStyle/>
                    <a:p>
                      <a:pPr algn="l">
                        <a:lnSpc>
                          <a:spcPct val="105000"/>
                        </a:lnSpc>
                      </a:pPr>
                      <a:r>
                        <a:rPr sz="880" b="1">
                          <a:solidFill>
                            <a:srgbClr val="0F172A"/>
                          </a:solidFill>
                          <a:latin typeface="Arial"/>
                        </a:rPr>
                        <a:t>Every</a:t>
                      </a:r>
                      <a:r>
                        <a:rPr sz="880" b="0">
                          <a:solidFill>
                            <a:srgbClr val="1E293B"/>
                          </a:solidFill>
                          <a:latin typeface="Arial"/>
                        </a:rPr>
                        <a:t> certificate ever issued for that alias</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Building </a:t>
                      </a:r>
                      <a:r>
                        <a:rPr sz="880" b="0">
                          <a:solidFill>
                            <a:srgbClr val="1D4E89"/>
                          </a:solidFill>
                          <a:latin typeface="Consolas"/>
                        </a:rPr>
                        <a:t>jwks.json</a:t>
                      </a:r>
                      <a:r>
                        <a:rPr sz="880" b="0">
                          <a:solidFill>
                            <a:srgbClr val="1E293B"/>
                          </a:solidFill>
                          <a:latin typeface="Arial"/>
                        </a:rPr>
                        <a:t> — this is the rotation-safe one</a:t>
                      </a:r>
                    </a:p>
                  </a:txBody>
                  <a:tcPr marL="64008" marR="54864" marT="18288" marB="18288" anchor="ctr">
                    <a:solidFill>
                      <a:srgbClr val="FFFFFF"/>
                    </a:solidFill>
                  </a:tcPr>
                </a:tc>
              </a:tr>
              <a:tr h="301752">
                <a:tc>
                  <a:txBody>
                    <a:bodyPr wrap="square"/>
                    <a:lstStyle/>
                    <a:p>
                      <a:pPr algn="l">
                        <a:lnSpc>
                          <a:spcPct val="105000"/>
                        </a:lnSpc>
                      </a:pP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GET /getCertificateChain</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Certificate chain up to ROOT</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Chain validation by a relying party</a:t>
                      </a:r>
                    </a:p>
                  </a:txBody>
                  <a:tcPr marL="64008" marR="54864" marT="18288" marB="18288" anchor="ctr">
                    <a:solidFill>
                      <a:srgbClr val="F3F6F9"/>
                    </a:solidFill>
                  </a:tcPr>
                </a:tc>
              </a:tr>
              <a:tr h="350012">
                <a:tc>
                  <a:txBody>
                    <a:bodyPr wrap="square"/>
                    <a:lstStyle/>
                    <a:p>
                      <a:pPr algn="l">
                        <a:lnSpc>
                          <a:spcPct val="105000"/>
                        </a:lnSpc>
                      </a:pP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POST /generateCSR</a:t>
                      </a:r>
                      <a:r>
                        <a:rPr sz="880" b="0">
                          <a:solidFill>
                            <a:srgbClr val="1E293B"/>
                          </a:solidFill>
                          <a:latin typeface="Arial"/>
                        </a:rPr>
                        <a:t>  ·  </a:t>
                      </a:r>
                      <a:r>
                        <a:rPr sz="880" b="0">
                          <a:solidFill>
                            <a:srgbClr val="1D4E89"/>
                          </a:solidFill>
                          <a:latin typeface="Consolas"/>
                        </a:rPr>
                        <a:t>POST /uploadCertificate</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Get a CSR signed by an external CA and load it back</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Bringing in an externally anchored trust chain</a:t>
                      </a:r>
                    </a:p>
                  </a:txBody>
                  <a:tcPr marL="64008" marR="54864" marT="18288" marB="18288" anchor="ctr">
                    <a:solidFill>
                      <a:srgbClr val="FFFFFF"/>
                    </a:solidFill>
                  </a:tcPr>
                </a:tc>
              </a:tr>
              <a:tr h="301752">
                <a:tc>
                  <a:txBody>
                    <a:bodyPr wrap="square"/>
                    <a:lstStyle/>
                    <a:p>
                      <a:pPr algn="l">
                        <a:lnSpc>
                          <a:spcPct val="105000"/>
                        </a:lnSpc>
                      </a:pPr>
                      <a:r>
                        <a:rPr sz="880" b="1">
                          <a:solidFill>
                            <a:srgbClr val="0F172A"/>
                          </a:solidFill>
                          <a:latin typeface="Arial"/>
                        </a:rPr>
                        <a:t>Signing</a:t>
                      </a: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POST /sign</a:t>
                      </a:r>
                      <a:r>
                        <a:rPr sz="880" b="0">
                          <a:solidFill>
                            <a:srgbClr val="1E293B"/>
                          </a:solidFill>
                          <a:latin typeface="Arial"/>
                        </a:rPr>
                        <a:t>  ·  </a:t>
                      </a:r>
                      <a:r>
                        <a:rPr sz="880" b="0">
                          <a:solidFill>
                            <a:srgbClr val="1D4E89"/>
                          </a:solidFill>
                          <a:latin typeface="Consolas"/>
                        </a:rPr>
                        <a:t>/signV2</a:t>
                      </a:r>
                      <a:r>
                        <a:rPr sz="880" b="0">
                          <a:solidFill>
                            <a:srgbClr val="1E293B"/>
                          </a:solidFill>
                          <a:latin typeface="Arial"/>
                        </a:rPr>
                        <a:t>  ·  </a:t>
                      </a:r>
                      <a:r>
                        <a:rPr sz="880" b="0">
                          <a:solidFill>
                            <a:srgbClr val="1D4E89"/>
                          </a:solidFill>
                          <a:latin typeface="Consolas"/>
                        </a:rPr>
                        <a:t>/jwtSign</a:t>
                      </a:r>
                      <a:r>
                        <a:rPr sz="880" b="0">
                          <a:solidFill>
                            <a:srgbClr val="1E293B"/>
                          </a:solidFill>
                          <a:latin typeface="Arial"/>
                        </a:rPr>
                        <a:t>  ·  </a:t>
                      </a:r>
                      <a:r>
                        <a:rPr sz="880" b="0">
                          <a:solidFill>
                            <a:srgbClr val="1D4E89"/>
                          </a:solidFill>
                          <a:latin typeface="Consolas"/>
                        </a:rPr>
                        <a:t>/jwsSign</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Produce a signature over data</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VC signing, response signing</a:t>
                      </a:r>
                    </a:p>
                  </a:txBody>
                  <a:tcPr marL="64008" marR="54864" marT="18288" marB="18288" anchor="ctr">
                    <a:solidFill>
                      <a:srgbClr val="F3F6F9"/>
                    </a:solidFill>
                  </a:tcPr>
                </a:tc>
              </a:tr>
              <a:tr h="301752">
                <a:tc>
                  <a:txBody>
                    <a:bodyPr wrap="square"/>
                    <a:lstStyle/>
                    <a:p>
                      <a:pPr algn="l">
                        <a:lnSpc>
                          <a:spcPct val="105000"/>
                        </a:lnSpc>
                      </a:pP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POST /coseSign1</a:t>
                      </a:r>
                      <a:r>
                        <a:rPr sz="880" b="0">
                          <a:solidFill>
                            <a:srgbClr val="1E293B"/>
                          </a:solidFill>
                          <a:latin typeface="Arial"/>
                        </a:rPr>
                        <a:t>  ·  </a:t>
                      </a:r>
                      <a:r>
                        <a:rPr sz="880" b="0">
                          <a:solidFill>
                            <a:srgbClr val="1D4E89"/>
                          </a:solidFill>
                          <a:latin typeface="Consolas"/>
                        </a:rPr>
                        <a:t>/cwtSign</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COSE / CWT signatures</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mDoc and CBOR credentials</a:t>
                      </a:r>
                    </a:p>
                  </a:txBody>
                  <a:tcPr marL="64008" marR="54864" marT="18288" marB="18288" anchor="ctr">
                    <a:solidFill>
                      <a:srgbClr val="FFFFFF"/>
                    </a:solidFill>
                  </a:tcPr>
                </a:tc>
              </a:tr>
              <a:tr h="301752">
                <a:tc>
                  <a:txBody>
                    <a:bodyPr wrap="square"/>
                    <a:lstStyle/>
                    <a:p>
                      <a:pPr algn="l">
                        <a:lnSpc>
                          <a:spcPct val="105000"/>
                        </a:lnSpc>
                      </a:pP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POST /jwtVerify</a:t>
                      </a:r>
                      <a:r>
                        <a:rPr sz="880" b="0">
                          <a:solidFill>
                            <a:srgbClr val="1E293B"/>
                          </a:solidFill>
                          <a:latin typeface="Arial"/>
                        </a:rPr>
                        <a:t>  ·  </a:t>
                      </a:r>
                      <a:r>
                        <a:rPr sz="880" b="0">
                          <a:solidFill>
                            <a:srgbClr val="1D4E89"/>
                          </a:solidFill>
                          <a:latin typeface="Consolas"/>
                        </a:rPr>
                        <a:t>/csverifysign</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Verify a signature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Verifier-side and internal checks</a:t>
                      </a:r>
                    </a:p>
                  </a:txBody>
                  <a:tcPr marL="64008" marR="54864" marT="18288" marB="18288" anchor="ctr">
                    <a:solidFill>
                      <a:srgbClr val="F3F6F9"/>
                    </a:solidFill>
                  </a:tcPr>
                </a:tc>
              </a:tr>
              <a:tr h="301752">
                <a:tc>
                  <a:txBody>
                    <a:bodyPr wrap="square"/>
                    <a:lstStyle/>
                    <a:p>
                      <a:pPr algn="l">
                        <a:lnSpc>
                          <a:spcPct val="105000"/>
                        </a:lnSpc>
                      </a:pPr>
                      <a:r>
                        <a:rPr sz="880" b="1">
                          <a:solidFill>
                            <a:srgbClr val="0F172A"/>
                          </a:solidFill>
                          <a:latin typeface="Arial"/>
                        </a:rPr>
                        <a:t>Crypto</a:t>
                      </a: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POST /encrypt</a:t>
                      </a:r>
                      <a:r>
                        <a:rPr sz="880" b="0">
                          <a:solidFill>
                            <a:srgbClr val="1E293B"/>
                          </a:solidFill>
                          <a:latin typeface="Arial"/>
                        </a:rPr>
                        <a:t>  ·  </a:t>
                      </a:r>
                      <a:r>
                        <a:rPr sz="880" b="0">
                          <a:solidFill>
                            <a:srgbClr val="1D4E89"/>
                          </a:solidFill>
                          <a:latin typeface="Consolas"/>
                        </a:rPr>
                        <a:t>/decrypt</a:t>
                      </a:r>
                      <a:r>
                        <a:rPr sz="880" b="0">
                          <a:solidFill>
                            <a:srgbClr val="1E293B"/>
                          </a:solidFill>
                          <a:latin typeface="Arial"/>
                        </a:rPr>
                        <a:t>  ·  </a:t>
                      </a:r>
                      <a:r>
                        <a:rPr sz="880" b="0">
                          <a:solidFill>
                            <a:srgbClr val="1D4E89"/>
                          </a:solidFill>
                          <a:latin typeface="Consolas"/>
                        </a:rPr>
                        <a:t>/encryptWithPin</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Data encryption using managed keys</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Protecting data at rest</a:t>
                      </a:r>
                    </a:p>
                  </a:txBody>
                  <a:tcPr marL="64008" marR="54864" marT="18288" marB="18288" anchor="ctr">
                    <a:solidFill>
                      <a:srgbClr val="FFFFFF"/>
                    </a:solidFill>
                  </a:tcPr>
                </a:tc>
              </a:tr>
              <a:tr h="301752">
                <a:tc>
                  <a:txBody>
                    <a:bodyPr wrap="square"/>
                    <a:lstStyle/>
                    <a:p>
                      <a:pPr algn="l">
                        <a:lnSpc>
                          <a:spcPct val="105000"/>
                        </a:lnSpc>
                      </a:pPr>
                      <a:r>
                        <a:rPr sz="880" b="1">
                          <a:solidFill>
                            <a:srgbClr val="0F172A"/>
                          </a:solidFill>
                          <a:latin typeface="Arial"/>
                        </a:rPr>
                        <a:t>Trust store</a:t>
                      </a:r>
                    </a:p>
                  </a:txBody>
                  <a:tcPr marL="64008" marR="54864" marT="18288" marB="18288" anchor="ctr">
                    <a:solidFill>
                      <a:srgbClr val="F3F6F9"/>
                    </a:solidFill>
                  </a:tcPr>
                </a:tc>
                <a:tc>
                  <a:txBody>
                    <a:bodyPr wrap="square"/>
                    <a:lstStyle/>
                    <a:p>
                      <a:pPr algn="l">
                        <a:lnSpc>
                          <a:spcPct val="105000"/>
                        </a:lnSpc>
                      </a:pPr>
                      <a:r>
                        <a:rPr sz="880" b="0">
                          <a:solidFill>
                            <a:srgbClr val="1D4E89"/>
                          </a:solidFill>
                          <a:latin typeface="Consolas"/>
                        </a:rPr>
                        <a:t>POST /uploadCACertificate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Register a CA or sub-CA certificate</a:t>
                      </a:r>
                    </a:p>
                  </a:txBody>
                  <a:tcPr marL="64008" marR="54864" marT="18288" marB="18288" anchor="ctr">
                    <a:solidFill>
                      <a:srgbClr val="F3F6F9"/>
                    </a:solidFill>
                  </a:tcPr>
                </a:tc>
                <a:tc>
                  <a:txBody>
                    <a:bodyPr wrap="square"/>
                    <a:lstStyle/>
                    <a:p>
                      <a:pPr algn="l">
                        <a:lnSpc>
                          <a:spcPct val="105000"/>
                        </a:lnSpc>
                      </a:pPr>
                      <a:r>
                        <a:rPr sz="880" b="0">
                          <a:solidFill>
                            <a:srgbClr val="1E293B"/>
                          </a:solidFill>
                          <a:latin typeface="Arial"/>
                        </a:rPr>
                        <a:t>Building the trust store</a:t>
                      </a:r>
                    </a:p>
                  </a:txBody>
                  <a:tcPr marL="64008" marR="54864" marT="18288" marB="18288" anchor="ctr">
                    <a:solidFill>
                      <a:srgbClr val="F3F6F9"/>
                    </a:solidFill>
                  </a:tcPr>
                </a:tc>
              </a:tr>
              <a:tr h="301752">
                <a:tc>
                  <a:txBody>
                    <a:bodyPr wrap="square"/>
                    <a:lstStyle/>
                    <a:p>
                      <a:pPr algn="l">
                        <a:lnSpc>
                          <a:spcPct val="105000"/>
                        </a:lnSpc>
                      </a:pPr>
                    </a:p>
                  </a:txBody>
                  <a:tcPr marL="64008" marR="54864" marT="18288" marB="18288" anchor="ctr">
                    <a:solidFill>
                      <a:srgbClr val="FFFFFF"/>
                    </a:solidFill>
                  </a:tcPr>
                </a:tc>
                <a:tc>
                  <a:txBody>
                    <a:bodyPr wrap="square"/>
                    <a:lstStyle/>
                    <a:p>
                      <a:pPr algn="l">
                        <a:lnSpc>
                          <a:spcPct val="105000"/>
                        </a:lnSpc>
                      </a:pPr>
                      <a:r>
                        <a:rPr sz="880" b="0">
                          <a:solidFill>
                            <a:srgbClr val="1D4E89"/>
                          </a:solidFill>
                          <a:latin typeface="Consolas"/>
                        </a:rPr>
                        <a:t>POST /uploadPartnerCertificate</a:t>
                      </a:r>
                      <a:r>
                        <a:rPr sz="880" b="0">
                          <a:solidFill>
                            <a:srgbClr val="1E293B"/>
                          </a:solidFill>
                          <a:latin typeface="Arial"/>
                        </a:rPr>
                        <a:t>  ·  </a:t>
                      </a:r>
                      <a:r>
                        <a:rPr sz="880" b="0">
                          <a:solidFill>
                            <a:srgbClr val="1D4E89"/>
                          </a:solidFill>
                          <a:latin typeface="Consolas"/>
                        </a:rPr>
                        <a:t>/verifyCertificateTrust</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Partner certificates and trust-path validation</a:t>
                      </a:r>
                    </a:p>
                  </a:txBody>
                  <a:tcPr marL="64008" marR="54864" marT="18288" marB="18288" anchor="ctr">
                    <a:solidFill>
                      <a:srgbClr val="FFFFFF"/>
                    </a:solidFill>
                  </a:tcPr>
                </a:tc>
                <a:tc>
                  <a:txBody>
                    <a:bodyPr wrap="square"/>
                    <a:lstStyle/>
                    <a:p>
                      <a:pPr algn="l">
                        <a:lnSpc>
                          <a:spcPct val="105000"/>
                        </a:lnSpc>
                      </a:pPr>
                      <a:r>
                        <a:rPr sz="880" b="0">
                          <a:solidFill>
                            <a:srgbClr val="1E293B"/>
                          </a:solidFill>
                          <a:latin typeface="Arial"/>
                        </a:rPr>
                        <a:t>Onboarding external parties</a:t>
                      </a:r>
                    </a:p>
                  </a:txBody>
                  <a:tcPr marL="64008" marR="54864" marT="18288" marB="18288" anchor="ctr">
                    <a:solidFill>
                      <a:srgbClr val="FFFFFF"/>
                    </a:solidFill>
                  </a:tcPr>
                </a:tc>
              </a:tr>
            </a:tbl>
          </a:graphicData>
        </a:graphic>
      </p:graphicFrame>
      <p:sp>
        <p:nvSpPr>
          <p:cNvPr id="7" name="TextBox 6"/>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8" name="TextBox 7"/>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3 — LIFECYCLE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The life of one key</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Five states. Only one of them is 'being used to sign', and none of them is 'deleted'.</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956816"/>
            <a:ext cx="2017715" cy="868680"/>
          </a:xfrm>
          <a:prstGeom prst="roundRect">
            <a:avLst>
              <a:gd name="adj" fmla="val 16000"/>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Arial"/>
              </a:rPr>
              <a:t>GENERATED</a:t>
            </a:r>
          </a:p>
          <a:p>
            <a:pPr algn="ctr">
              <a:lnSpc>
                <a:spcPct val="110000"/>
              </a:lnSpc>
              <a:spcBef>
                <a:spcPts val="200"/>
              </a:spcBef>
            </a:pPr>
            <a:r>
              <a:rPr sz="800">
                <a:solidFill>
                  <a:srgbClr val="FFFFFF"/>
                </a:solidFill>
                <a:latin typeface="Arial"/>
              </a:rPr>
              <a:t>key pair created,
wrapped, stored</a:t>
            </a:r>
          </a:p>
        </p:txBody>
      </p:sp>
      <p:cxnSp>
        <p:nvCxnSpPr>
          <p:cNvPr id="7" name="Connector 6"/>
          <p:cNvCxnSpPr/>
          <p:nvPr/>
        </p:nvCxnSpPr>
        <p:spPr>
          <a:xfrm>
            <a:off x="2557211" y="2391156"/>
            <a:ext cx="201168" cy="0"/>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94955" y="1956816"/>
            <a:ext cx="2017715" cy="868680"/>
          </a:xfrm>
          <a:prstGeom prst="roundRect">
            <a:avLst>
              <a:gd name="adj" fmla="val 16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Arial"/>
              </a:rPr>
              <a:t>CURRENT</a:t>
            </a:r>
          </a:p>
          <a:p>
            <a:pPr algn="ctr">
              <a:lnSpc>
                <a:spcPct val="110000"/>
              </a:lnSpc>
              <a:spcBef>
                <a:spcPts val="200"/>
              </a:spcBef>
            </a:pPr>
            <a:r>
              <a:rPr sz="800">
                <a:solidFill>
                  <a:srgbClr val="FFFFFF"/>
                </a:solidFill>
                <a:latin typeface="Arial"/>
              </a:rPr>
              <a:t>the one handed out
for new signatures</a:t>
            </a:r>
          </a:p>
        </p:txBody>
      </p:sp>
      <p:cxnSp>
        <p:nvCxnSpPr>
          <p:cNvPr id="9" name="Connector 8"/>
          <p:cNvCxnSpPr/>
          <p:nvPr/>
        </p:nvCxnSpPr>
        <p:spPr>
          <a:xfrm>
            <a:off x="4849246" y="2391156"/>
            <a:ext cx="201168" cy="0"/>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86990" y="1956816"/>
            <a:ext cx="2017715" cy="868680"/>
          </a:xfrm>
          <a:prstGeom prst="roundRect">
            <a:avLst>
              <a:gd name="adj" fmla="val 16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Arial"/>
              </a:rPr>
              <a:t>SUPERSEDED</a:t>
            </a:r>
          </a:p>
          <a:p>
            <a:pPr algn="ctr">
              <a:lnSpc>
                <a:spcPct val="110000"/>
              </a:lnSpc>
              <a:spcBef>
                <a:spcPts val="200"/>
              </a:spcBef>
            </a:pPr>
            <a:r>
              <a:rPr sz="800">
                <a:solidFill>
                  <a:srgbClr val="FFFFFF"/>
                </a:solidFill>
                <a:latin typeface="Arial"/>
              </a:rPr>
              <a:t>pre-expire reached;
still valid for verifying</a:t>
            </a:r>
          </a:p>
        </p:txBody>
      </p:sp>
      <p:cxnSp>
        <p:nvCxnSpPr>
          <p:cNvPr id="11" name="Connector 10"/>
          <p:cNvCxnSpPr/>
          <p:nvPr/>
        </p:nvCxnSpPr>
        <p:spPr>
          <a:xfrm>
            <a:off x="7141281" y="2391156"/>
            <a:ext cx="201168" cy="0"/>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379025" y="1956816"/>
            <a:ext cx="2017715" cy="868680"/>
          </a:xfrm>
          <a:prstGeom prst="roundRect">
            <a:avLst>
              <a:gd name="adj" fmla="val 16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Arial"/>
              </a:rPr>
              <a:t>EXPIRED</a:t>
            </a:r>
          </a:p>
          <a:p>
            <a:pPr algn="ctr">
              <a:lnSpc>
                <a:spcPct val="110000"/>
              </a:lnSpc>
              <a:spcBef>
                <a:spcPts val="200"/>
              </a:spcBef>
            </a:pPr>
            <a:r>
              <a:rPr sz="800">
                <a:solidFill>
                  <a:srgbClr val="FFFFFF"/>
                </a:solidFill>
                <a:latin typeface="Arial"/>
              </a:rPr>
              <a:t>past key_expire_dtimes;
verification should fail</a:t>
            </a:r>
          </a:p>
        </p:txBody>
      </p:sp>
      <p:cxnSp>
        <p:nvCxnSpPr>
          <p:cNvPr id="13" name="Connector 12"/>
          <p:cNvCxnSpPr/>
          <p:nvPr/>
        </p:nvCxnSpPr>
        <p:spPr>
          <a:xfrm>
            <a:off x="9433316" y="2391156"/>
            <a:ext cx="201168" cy="0"/>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71060" y="1956816"/>
            <a:ext cx="2017715" cy="868680"/>
          </a:xfrm>
          <a:prstGeom prst="roundRect">
            <a:avLst>
              <a:gd name="adj" fmla="val 16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FFFFFF"/>
                </a:solidFill>
                <a:latin typeface="Arial"/>
              </a:rPr>
              <a:t>RETAINED</a:t>
            </a:r>
          </a:p>
          <a:p>
            <a:pPr algn="ctr">
              <a:lnSpc>
                <a:spcPct val="110000"/>
              </a:lnSpc>
              <a:spcBef>
                <a:spcPts val="200"/>
              </a:spcBef>
            </a:pPr>
            <a:r>
              <a:rPr sz="800">
                <a:solidFill>
                  <a:srgbClr val="FFFFFF"/>
                </a:solidFill>
                <a:latin typeface="Arial"/>
              </a:rPr>
              <a:t>row stays forever,
certificate stays published</a:t>
            </a:r>
          </a:p>
        </p:txBody>
      </p:sp>
      <p:graphicFrame>
        <p:nvGraphicFramePr>
          <p:cNvPr id="15" name="Table 14"/>
          <p:cNvGraphicFramePr>
            <a:graphicFrameLocks noGrp="1"/>
          </p:cNvGraphicFramePr>
          <p:nvPr/>
        </p:nvGraphicFramePr>
        <p:xfrm>
          <a:off x="502920" y="3163824"/>
          <a:ext cx="11185853" cy="2578608"/>
        </p:xfrm>
        <a:graphic>
          <a:graphicData uri="http://schemas.openxmlformats.org/drawingml/2006/table">
            <a:tbl>
              <a:tblPr firstRow="1">
                <a:tableStyleId>{2D5ABB26-0587-4C30-8999-92F81FD0307C}</a:tableStyleId>
              </a:tblPr>
              <a:tblGrid>
                <a:gridCol w="1398231"/>
                <a:gridCol w="3058632"/>
                <a:gridCol w="3932527"/>
                <a:gridCol w="2796463"/>
              </a:tblGrid>
              <a:tr h="292608">
                <a:tc>
                  <a:txBody>
                    <a:bodyPr wrap="square"/>
                    <a:lstStyle/>
                    <a:p>
                      <a:pPr algn="l"/>
                      <a:r>
                        <a:rPr sz="950" b="1">
                          <a:solidFill>
                            <a:srgbClr val="FFFFFF"/>
                          </a:solidFill>
                          <a:latin typeface="Arial"/>
                        </a:rPr>
                        <a:t>State</a:t>
                      </a:r>
                    </a:p>
                  </a:txBody>
                  <a:tcPr marL="64008" marR="54864" marT="27432" marB="27432" anchor="ctr">
                    <a:solidFill>
                      <a:srgbClr val="1D4E89"/>
                    </a:solidFill>
                  </a:tcPr>
                </a:tc>
                <a:tc>
                  <a:txBody>
                    <a:bodyPr wrap="square"/>
                    <a:lstStyle/>
                    <a:p>
                      <a:pPr algn="l"/>
                      <a:r>
                        <a:rPr sz="950" b="1">
                          <a:solidFill>
                            <a:srgbClr val="FFFFFF"/>
                          </a:solidFill>
                          <a:latin typeface="Arial"/>
                        </a:rPr>
                        <a:t>Entered when</a:t>
                      </a:r>
                    </a:p>
                  </a:txBody>
                  <a:tcPr marL="64008" marR="54864" marT="27432" marB="27432" anchor="ctr">
                    <a:solidFill>
                      <a:srgbClr val="1D4E89"/>
                    </a:solidFill>
                  </a:tcPr>
                </a:tc>
                <a:tc>
                  <a:txBody>
                    <a:bodyPr wrap="square"/>
                    <a:lstStyle/>
                    <a:p>
                      <a:pPr algn="l"/>
                      <a:r>
                        <a:rPr sz="950" b="1">
                          <a:solidFill>
                            <a:srgbClr val="FFFFFF"/>
                          </a:solidFill>
                          <a:latin typeface="Arial"/>
                        </a:rPr>
                        <a:t>What it means operationally</a:t>
                      </a:r>
                    </a:p>
                  </a:txBody>
                  <a:tcPr marL="64008" marR="54864" marT="27432" marB="27432" anchor="ctr">
                    <a:solidFill>
                      <a:srgbClr val="1D4E89"/>
                    </a:solidFill>
                  </a:tcPr>
                </a:tc>
                <a:tc>
                  <a:txBody>
                    <a:bodyPr wrap="square"/>
                    <a:lstStyle/>
                    <a:p>
                      <a:pPr algn="l"/>
                      <a:r>
                        <a:rPr sz="950" b="1">
                          <a:solidFill>
                            <a:srgbClr val="FFFFFF"/>
                          </a:solidFill>
                          <a:latin typeface="Arial"/>
                        </a:rPr>
                        <a:t>Watch out for</a:t>
                      </a:r>
                    </a:p>
                  </a:txBody>
                  <a:tcPr marL="64008" marR="54864" marT="27432" marB="27432" anchor="ctr">
                    <a:solidFill>
                      <a:srgbClr val="1D4E89"/>
                    </a:solidFill>
                  </a:tcPr>
                </a:tc>
              </a:tr>
              <a:tr h="457200">
                <a:tc>
                  <a:txBody>
                    <a:bodyPr wrap="square"/>
                    <a:lstStyle/>
                    <a:p>
                      <a:pPr algn="l">
                        <a:lnSpc>
                          <a:spcPct val="105000"/>
                        </a:lnSpc>
                      </a:pPr>
                      <a:r>
                        <a:rPr sz="900" b="1">
                          <a:solidFill>
                            <a:srgbClr val="0F172A"/>
                          </a:solidFill>
                          <a:latin typeface="Arial"/>
                        </a:rPr>
                        <a:t>GENERATED</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On first use of an </a:t>
                      </a:r>
                      <a:r>
                        <a:rPr sz="900" b="0">
                          <a:solidFill>
                            <a:srgbClr val="1D4E89"/>
                          </a:solidFill>
                          <a:latin typeface="Consolas"/>
                        </a:rPr>
                        <a:t>app_id</a:t>
                      </a:r>
                      <a:r>
                        <a:rPr sz="900" b="0">
                          <a:solidFill>
                            <a:srgbClr val="1E293B"/>
                          </a:solidFill>
                          <a:latin typeface="Arial"/>
                        </a:rPr>
                        <a:t> + </a:t>
                      </a:r>
                      <a:r>
                        <a:rPr sz="900" b="0">
                          <a:solidFill>
                            <a:srgbClr val="1D4E89"/>
                          </a:solidFill>
                          <a:latin typeface="Consolas"/>
                        </a:rPr>
                        <a:t>ref_id</a:t>
                      </a:r>
                      <a:r>
                        <a:rPr sz="900" b="0">
                          <a:solidFill>
                            <a:srgbClr val="1E293B"/>
                          </a:solidFill>
                          <a:latin typeface="Arial"/>
                        </a:rPr>
                        <a:t>, or when no current key exists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Row written to </a:t>
                      </a:r>
                      <a:r>
                        <a:rPr sz="900" b="0">
                          <a:solidFill>
                            <a:srgbClr val="1D4E89"/>
                          </a:solidFill>
                          <a:latin typeface="Consolas"/>
                        </a:rPr>
                        <a:t>key_alias</a:t>
                      </a:r>
                      <a:r>
                        <a:rPr sz="900" b="0">
                          <a:solidFill>
                            <a:srgbClr val="1E293B"/>
                          </a:solidFill>
                          <a:latin typeface="Arial"/>
                        </a:rPr>
                        <a:t> and </a:t>
                      </a:r>
                      <a:r>
                        <a:rPr sz="900" b="0">
                          <a:solidFill>
                            <a:srgbClr val="1D4E89"/>
                          </a:solidFill>
                          <a:latin typeface="Consolas"/>
                        </a:rPr>
                        <a:t>key_store</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Lazy — no scheduler triggers it</a:t>
                      </a:r>
                    </a:p>
                  </a:txBody>
                  <a:tcPr marL="64008" marR="54864" marT="18288" marB="18288" anchor="ctr">
                    <a:solidFill>
                      <a:srgbClr val="FFFFFF"/>
                    </a:solidFill>
                  </a:tcPr>
                </a:tc>
              </a:tr>
              <a:tr h="457200">
                <a:tc>
                  <a:txBody>
                    <a:bodyPr wrap="square"/>
                    <a:lstStyle/>
                    <a:p>
                      <a:pPr algn="l">
                        <a:lnSpc>
                          <a:spcPct val="105000"/>
                        </a:lnSpc>
                      </a:pPr>
                      <a:r>
                        <a:rPr sz="900" b="1">
                          <a:solidFill>
                            <a:srgbClr val="0F172A"/>
                          </a:solidFill>
                          <a:latin typeface="Arial"/>
                        </a:rPr>
                        <a:t>CURRENT</a:t>
                      </a:r>
                    </a:p>
                  </a:txBody>
                  <a:tcPr marL="64008" marR="54864" marT="18288" marB="18288" anchor="ctr">
                    <a:solidFill>
                      <a:srgbClr val="F3F6F9"/>
                    </a:solidFill>
                  </a:tcPr>
                </a:tc>
                <a:tc>
                  <a:txBody>
                    <a:bodyPr wrap="square"/>
                    <a:lstStyle/>
                    <a:p>
                      <a:pPr algn="l">
                        <a:lnSpc>
                          <a:spcPct val="105000"/>
                        </a:lnSpc>
                      </a:pPr>
                      <a:r>
                        <a:rPr sz="900" b="0">
                          <a:solidFill>
                            <a:srgbClr val="1D4E89"/>
                          </a:solidFill>
                          <a:latin typeface="Consolas"/>
                        </a:rPr>
                        <a:t>now</a:t>
                      </a:r>
                      <a:r>
                        <a:rPr sz="900" b="0">
                          <a:solidFill>
                            <a:srgbClr val="1E293B"/>
                          </a:solidFill>
                          <a:latin typeface="Arial"/>
                        </a:rPr>
                        <a:t> is before </a:t>
                      </a:r>
                      <a:r>
                        <a:rPr sz="900" b="0">
                          <a:solidFill>
                            <a:srgbClr val="1D4E89"/>
                          </a:solidFill>
                          <a:latin typeface="Consolas"/>
                        </a:rPr>
                        <a:t>key_expire_dtimes − pre_expire_days</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Returned by </a:t>
                      </a:r>
                      <a:r>
                        <a:rPr sz="900" b="0">
                          <a:solidFill>
                            <a:srgbClr val="1D4E89"/>
                          </a:solidFill>
                          <a:latin typeface="Consolas"/>
                        </a:rPr>
                        <a:t>getCertificate</a:t>
                      </a:r>
                      <a:r>
                        <a:rPr sz="900" b="0">
                          <a:solidFill>
                            <a:srgbClr val="1E293B"/>
                          </a:solidFill>
                          <a:latin typeface="Arial"/>
                        </a:rPr>
                        <a:t>; used for every new signature</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Exactly one per app_id + ref_id</a:t>
                      </a:r>
                    </a:p>
                  </a:txBody>
                  <a:tcPr marL="64008" marR="54864" marT="18288" marB="18288" anchor="ctr">
                    <a:solidFill>
                      <a:srgbClr val="F3F6F9"/>
                    </a:solidFill>
                  </a:tcPr>
                </a:tc>
              </a:tr>
              <a:tr h="457200">
                <a:tc>
                  <a:txBody>
                    <a:bodyPr wrap="square"/>
                    <a:lstStyle/>
                    <a:p>
                      <a:pPr algn="l">
                        <a:lnSpc>
                          <a:spcPct val="105000"/>
                        </a:lnSpc>
                      </a:pPr>
                      <a:r>
                        <a:rPr sz="900" b="1">
                          <a:solidFill>
                            <a:srgbClr val="0F172A"/>
                          </a:solidFill>
                          <a:latin typeface="Arial"/>
                        </a:rPr>
                        <a:t>SUPERSEDED</a:t>
                      </a:r>
                    </a:p>
                  </a:txBody>
                  <a:tcPr marL="64008" marR="54864" marT="18288" marB="18288" anchor="ctr">
                    <a:solidFill>
                      <a:srgbClr val="FFFFFF"/>
                    </a:solidFill>
                  </a:tcPr>
                </a:tc>
                <a:tc>
                  <a:txBody>
                    <a:bodyPr wrap="square"/>
                    <a:lstStyle/>
                    <a:p>
                      <a:pPr algn="l">
                        <a:lnSpc>
                          <a:spcPct val="105000"/>
                        </a:lnSpc>
                      </a:pPr>
                      <a:r>
                        <a:rPr sz="900" b="0">
                          <a:solidFill>
                            <a:srgbClr val="1D4E89"/>
                          </a:solidFill>
                          <a:latin typeface="Consolas"/>
                        </a:rPr>
                        <a:t>now</a:t>
                      </a:r>
                      <a:r>
                        <a:rPr sz="900" b="0">
                          <a:solidFill>
                            <a:srgbClr val="1E293B"/>
                          </a:solidFill>
                          <a:latin typeface="Arial"/>
                        </a:rPr>
                        <a:t> has passed the pre-expire boundary</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No longer used for new signatures. A new key is generated on the next request</a:t>
                      </a:r>
                    </a:p>
                  </a:txBody>
                  <a:tcPr marL="64008" marR="54864" marT="18288" marB="18288" anchor="ctr">
                    <a:solidFill>
                      <a:srgbClr val="FFFFFF"/>
                    </a:solidFill>
                  </a:tcPr>
                </a:tc>
                <a:tc>
                  <a:txBody>
                    <a:bodyPr wrap="square"/>
                    <a:lstStyle/>
                    <a:p>
                      <a:pPr algn="l">
                        <a:lnSpc>
                          <a:spcPct val="105000"/>
                        </a:lnSpc>
                      </a:pPr>
                      <a:r>
                        <a:rPr sz="900" b="1">
                          <a:solidFill>
                            <a:srgbClr val="0F172A"/>
                          </a:solidFill>
                          <a:latin typeface="Arial"/>
                        </a:rPr>
                        <a:t>Still verifies</a:t>
                      </a:r>
                      <a:r>
                        <a:rPr sz="900" b="0">
                          <a:solidFill>
                            <a:srgbClr val="1E293B"/>
                          </a:solidFill>
                          <a:latin typeface="Arial"/>
                        </a:rPr>
                        <a:t> — this is the overlap window</a:t>
                      </a:r>
                    </a:p>
                  </a:txBody>
                  <a:tcPr marL="64008" marR="54864" marT="18288" marB="18288" anchor="ctr">
                    <a:solidFill>
                      <a:srgbClr val="FFFFFF"/>
                    </a:solidFill>
                  </a:tcPr>
                </a:tc>
              </a:tr>
              <a:tr h="457200">
                <a:tc>
                  <a:txBody>
                    <a:bodyPr wrap="square"/>
                    <a:lstStyle/>
                    <a:p>
                      <a:pPr algn="l">
                        <a:lnSpc>
                          <a:spcPct val="105000"/>
                        </a:lnSpc>
                      </a:pPr>
                      <a:r>
                        <a:rPr sz="900" b="1">
                          <a:solidFill>
                            <a:srgbClr val="0F172A"/>
                          </a:solidFill>
                          <a:latin typeface="Arial"/>
                        </a:rPr>
                        <a:t>EXPIRED</a:t>
                      </a:r>
                    </a:p>
                  </a:txBody>
                  <a:tcPr marL="64008" marR="54864" marT="18288" marB="18288" anchor="ctr">
                    <a:solidFill>
                      <a:srgbClr val="F3F6F9"/>
                    </a:solidFill>
                  </a:tcPr>
                </a:tc>
                <a:tc>
                  <a:txBody>
                    <a:bodyPr wrap="square"/>
                    <a:lstStyle/>
                    <a:p>
                      <a:pPr algn="l">
                        <a:lnSpc>
                          <a:spcPct val="105000"/>
                        </a:lnSpc>
                      </a:pPr>
                      <a:r>
                        <a:rPr sz="900" b="0">
                          <a:solidFill>
                            <a:srgbClr val="1D4E89"/>
                          </a:solidFill>
                          <a:latin typeface="Consolas"/>
                        </a:rPr>
                        <a:t>now</a:t>
                      </a:r>
                      <a:r>
                        <a:rPr sz="900" b="0">
                          <a:solidFill>
                            <a:srgbClr val="1E293B"/>
                          </a:solidFill>
                          <a:latin typeface="Arial"/>
                        </a:rPr>
                        <a:t> is past </a:t>
                      </a:r>
                      <a:r>
                        <a:rPr sz="900" b="0">
                          <a:solidFill>
                            <a:srgbClr val="1D4E89"/>
                          </a:solidFill>
                          <a:latin typeface="Consolas"/>
                        </a:rPr>
                        <a:t>key_expire_dtimes</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Verifiers should reject signatures dated after this</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Certificate </a:t>
                      </a:r>
                      <a:r>
                        <a:rPr sz="900" b="0">
                          <a:solidFill>
                            <a:srgbClr val="1D4E89"/>
                          </a:solidFill>
                          <a:latin typeface="Consolas"/>
                        </a:rPr>
                        <a:t>notAfter</a:t>
                      </a:r>
                      <a:r>
                        <a:rPr sz="900" b="0">
                          <a:solidFill>
                            <a:srgbClr val="1E293B"/>
                          </a:solidFill>
                          <a:latin typeface="Arial"/>
                        </a:rPr>
                        <a:t> carries the same date</a:t>
                      </a:r>
                    </a:p>
                  </a:txBody>
                  <a:tcPr marL="64008" marR="54864" marT="18288" marB="18288" anchor="ctr">
                    <a:solidFill>
                      <a:srgbClr val="F3F6F9"/>
                    </a:solidFill>
                  </a:tcPr>
                </a:tc>
              </a:tr>
              <a:tr h="457200">
                <a:tc>
                  <a:txBody>
                    <a:bodyPr wrap="square"/>
                    <a:lstStyle/>
                    <a:p>
                      <a:pPr algn="l">
                        <a:lnSpc>
                          <a:spcPct val="105000"/>
                        </a:lnSpc>
                      </a:pPr>
                      <a:r>
                        <a:rPr sz="900" b="1">
                          <a:solidFill>
                            <a:srgbClr val="0F172A"/>
                          </a:solidFill>
                          <a:latin typeface="Arial"/>
                        </a:rPr>
                        <a:t>RETAINED</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Always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Still returned by </a:t>
                      </a:r>
                      <a:r>
                        <a:rPr sz="900" b="0">
                          <a:solidFill>
                            <a:srgbClr val="1D4E89"/>
                          </a:solidFill>
                          <a:latin typeface="Consolas"/>
                        </a:rPr>
                        <a:t>getAllCertificates</a:t>
                      </a:r>
                      <a:r>
                        <a:rPr sz="900" b="0">
                          <a:solidFill>
                            <a:srgbClr val="1E293B"/>
                          </a:solidFill>
                          <a:latin typeface="Arial"/>
                        </a:rPr>
                        <a:t>; still published in </a:t>
                      </a:r>
                      <a:r>
                        <a:rPr sz="900" b="0">
                          <a:solidFill>
                            <a:srgbClr val="1D4E89"/>
                          </a:solidFill>
                          <a:latin typeface="Consolas"/>
                        </a:rPr>
                        <a:t>jwks.json</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Never delete these rows</a:t>
                      </a:r>
                    </a:p>
                  </a:txBody>
                  <a:tcPr marL="64008" marR="54864" marT="18288" marB="18288" anchor="ctr">
                    <a:solidFill>
                      <a:srgbClr val="FFFFFF"/>
                    </a:solidFill>
                  </a:tcPr>
                </a:tc>
              </a:tr>
            </a:tbl>
          </a:graphicData>
        </a:graphic>
      </p:graphicFrame>
      <p:sp>
        <p:nvSpPr>
          <p:cNvPr id="16" name="TextBox 1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17" name="TextBox 1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3 — ROTATION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Rotation: what the overlap window actually buys you</a:t>
            </a:r>
          </a:p>
        </p:txBody>
      </p:sp>
      <p:sp>
        <p:nvSpPr>
          <p:cNvPr id="4" name="TextBox 3"/>
          <p:cNvSpPr txBox="1"/>
          <p:nvPr/>
        </p:nvSpPr>
        <p:spPr>
          <a:xfrm>
            <a:off x="502920" y="1078992"/>
            <a:ext cx="11185855" cy="275365"/>
          </a:xfrm>
          <a:prstGeom prst="rect">
            <a:avLst/>
          </a:prstGeom>
          <a:noFill/>
        </p:spPr>
        <p:txBody>
          <a:bodyPr wrap="square" lIns="0" rIns="0" tIns="0" bIns="0" anchor="t">
            <a:spAutoFit/>
          </a:bodyPr>
          <a:lstStyle/>
          <a:p>
            <a:pPr algn="l">
              <a:lnSpc>
                <a:spcPct val="114000"/>
              </a:lnSpc>
              <a:spcBef>
                <a:spcPts val="0"/>
              </a:spcBef>
              <a:spcAft>
                <a:spcPts val="0"/>
              </a:spcAft>
            </a:pPr>
            <a:r>
              <a:rPr sz="1090" b="0" i="0">
                <a:solidFill>
                  <a:srgbClr val="5B6B7F"/>
                </a:solidFill>
                <a:latin typeface="Arial"/>
              </a:rPr>
              <a:t>Using the shipped BASE policy: 730 days validity, 30 days pre-expire.</a:t>
            </a:r>
          </a:p>
        </p:txBody>
      </p:sp>
      <p:cxnSp>
        <p:nvCxnSpPr>
          <p:cNvPr id="5" name="Connector 4"/>
          <p:cNvCxnSpPr/>
          <p:nvPr/>
        </p:nvCxnSpPr>
        <p:spPr>
          <a:xfrm>
            <a:off x="502920" y="1445797"/>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2093714"/>
            <a:ext cx="7269480" cy="0"/>
          </a:xfrm>
          <a:prstGeom prst="line">
            <a:avLst/>
          </a:prstGeom>
          <a:ln w="13970">
            <a:solidFill>
              <a:srgbClr val="CBD5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3716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latin typeface="Arial"/>
              </a:rPr>
              <a:t>Y0</a:t>
            </a:r>
          </a:p>
        </p:txBody>
      </p:sp>
      <p:cxnSp>
        <p:nvCxnSpPr>
          <p:cNvPr id="9" name="Connector 8"/>
          <p:cNvCxnSpPr/>
          <p:nvPr/>
        </p:nvCxnSpPr>
        <p:spPr>
          <a:xfrm>
            <a:off x="232029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95453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latin typeface="Arial"/>
              </a:rPr>
              <a:t>Y1</a:t>
            </a:r>
          </a:p>
        </p:txBody>
      </p:sp>
      <p:cxnSp>
        <p:nvCxnSpPr>
          <p:cNvPr id="11" name="Connector 10"/>
          <p:cNvCxnSpPr/>
          <p:nvPr/>
        </p:nvCxnSpPr>
        <p:spPr>
          <a:xfrm>
            <a:off x="413766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77190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latin typeface="Arial"/>
              </a:rPr>
              <a:t>Y2</a:t>
            </a:r>
          </a:p>
        </p:txBody>
      </p:sp>
      <p:cxnSp>
        <p:nvCxnSpPr>
          <p:cNvPr id="13" name="Connector 12"/>
          <p:cNvCxnSpPr/>
          <p:nvPr/>
        </p:nvCxnSpPr>
        <p:spPr>
          <a:xfrm>
            <a:off x="595503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58927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latin typeface="Arial"/>
              </a:rPr>
              <a:t>Y3</a:t>
            </a:r>
          </a:p>
        </p:txBody>
      </p:sp>
      <p:cxnSp>
        <p:nvCxnSpPr>
          <p:cNvPr id="15" name="Connector 14"/>
          <p:cNvCxnSpPr/>
          <p:nvPr/>
        </p:nvCxnSpPr>
        <p:spPr>
          <a:xfrm>
            <a:off x="7772400" y="2037021"/>
            <a:ext cx="0" cy="113385"/>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406640" y="1866943"/>
            <a:ext cx="731520" cy="178177"/>
          </a:xfrm>
          <a:prstGeom prst="rect">
            <a:avLst/>
          </a:prstGeom>
          <a:noFill/>
        </p:spPr>
        <p:txBody>
          <a:bodyPr wrap="none" lIns="0" rIns="0" tIns="0" bIns="0" anchor="t">
            <a:spAutoFit/>
          </a:bodyPr>
          <a:lstStyle/>
          <a:p>
            <a:pPr algn="ctr">
              <a:lnSpc>
                <a:spcPct val="114000"/>
              </a:lnSpc>
              <a:spcBef>
                <a:spcPts val="0"/>
              </a:spcBef>
              <a:spcAft>
                <a:spcPts val="0"/>
              </a:spcAft>
            </a:pPr>
            <a:r>
              <a:rPr sz="740" b="0" i="0">
                <a:solidFill>
                  <a:srgbClr val="94A3B8"/>
                </a:solidFill>
                <a:latin typeface="Arial"/>
              </a:rPr>
              <a:t>Y4</a:t>
            </a:r>
          </a:p>
        </p:txBody>
      </p:sp>
      <p:sp>
        <p:nvSpPr>
          <p:cNvPr id="17" name="Rounded Rectangle 16"/>
          <p:cNvSpPr/>
          <p:nvPr/>
        </p:nvSpPr>
        <p:spPr>
          <a:xfrm>
            <a:off x="502920" y="2271892"/>
            <a:ext cx="3489350" cy="323958"/>
          </a:xfrm>
          <a:prstGeom prst="roundRect">
            <a:avLst>
              <a:gd name="adj" fmla="val 24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57784" y="2271892"/>
            <a:ext cx="3379622" cy="323958"/>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latin typeface="Arial"/>
              </a:rPr>
              <a:t>Key A — used for new signatures</a:t>
            </a:r>
          </a:p>
        </p:txBody>
      </p:sp>
      <p:sp>
        <p:nvSpPr>
          <p:cNvPr id="19" name="TextBox 18"/>
          <p:cNvSpPr txBox="1"/>
          <p:nvPr/>
        </p:nvSpPr>
        <p:spPr>
          <a:xfrm>
            <a:off x="502920" y="2603949"/>
            <a:ext cx="3489350" cy="194375"/>
          </a:xfrm>
          <a:prstGeom prst="rect">
            <a:avLst/>
          </a:prstGeom>
          <a:noFill/>
        </p:spPr>
        <p:txBody>
          <a:bodyPr wrap="none" lIns="0" rIns="0" tIns="0" bIns="0" anchor="t">
            <a:spAutoFit/>
          </a:bodyPr>
          <a:lstStyle/>
          <a:p>
            <a:pPr algn="l">
              <a:lnSpc>
                <a:spcPct val="114000"/>
              </a:lnSpc>
              <a:spcBef>
                <a:spcPts val="0"/>
              </a:spcBef>
              <a:spcAft>
                <a:spcPts val="0"/>
              </a:spcAft>
            </a:pPr>
            <a:r>
              <a:rPr sz="760" b="1" i="0">
                <a:solidFill>
                  <a:srgbClr val="15703D"/>
                </a:solidFill>
                <a:latin typeface="Arial"/>
              </a:rPr>
              <a:t>700 days</a:t>
            </a:r>
          </a:p>
        </p:txBody>
      </p:sp>
      <p:sp>
        <p:nvSpPr>
          <p:cNvPr id="20" name="Rounded Rectangle 19"/>
          <p:cNvSpPr/>
          <p:nvPr/>
        </p:nvSpPr>
        <p:spPr>
          <a:xfrm>
            <a:off x="3992270" y="2271892"/>
            <a:ext cx="290779" cy="323958"/>
          </a:xfrm>
          <a:prstGeom prst="roundRect">
            <a:avLst>
              <a:gd name="adj" fmla="val 2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948939" y="2061318"/>
            <a:ext cx="2377440" cy="178177"/>
          </a:xfrm>
          <a:prstGeom prst="rect">
            <a:avLst/>
          </a:prstGeom>
          <a:noFill/>
        </p:spPr>
        <p:txBody>
          <a:bodyPr wrap="none" lIns="0" rIns="0" tIns="0" bIns="0" anchor="ctr">
            <a:spAutoFit/>
          </a:bodyPr>
          <a:lstStyle/>
          <a:p>
            <a:pPr algn="ctr">
              <a:lnSpc>
                <a:spcPct val="114000"/>
              </a:lnSpc>
              <a:spcBef>
                <a:spcPts val="0"/>
              </a:spcBef>
              <a:spcAft>
                <a:spcPts val="0"/>
              </a:spcAft>
            </a:pPr>
            <a:r>
              <a:rPr sz="780" b="1" i="0">
                <a:solidFill>
                  <a:srgbClr val="B45309"/>
                </a:solidFill>
                <a:latin typeface="Arial"/>
              </a:rPr>
              <a:t>overlap</a:t>
            </a:r>
          </a:p>
        </p:txBody>
      </p:sp>
      <p:sp>
        <p:nvSpPr>
          <p:cNvPr id="22" name="TextBox 21"/>
          <p:cNvSpPr txBox="1"/>
          <p:nvPr/>
        </p:nvSpPr>
        <p:spPr>
          <a:xfrm>
            <a:off x="3992270" y="2603949"/>
            <a:ext cx="2011680" cy="194375"/>
          </a:xfrm>
          <a:prstGeom prst="rect">
            <a:avLst/>
          </a:prstGeom>
          <a:noFill/>
        </p:spPr>
        <p:txBody>
          <a:bodyPr wrap="none" lIns="0" rIns="0" tIns="0" bIns="0" anchor="t">
            <a:spAutoFit/>
          </a:bodyPr>
          <a:lstStyle/>
          <a:p>
            <a:pPr algn="l">
              <a:lnSpc>
                <a:spcPct val="114000"/>
              </a:lnSpc>
              <a:spcBef>
                <a:spcPts val="0"/>
              </a:spcBef>
              <a:spcAft>
                <a:spcPts val="0"/>
              </a:spcAft>
            </a:pPr>
            <a:r>
              <a:rPr sz="760" b="1" i="0">
                <a:solidFill>
                  <a:srgbClr val="B45309"/>
                </a:solidFill>
                <a:latin typeface="Arial"/>
              </a:rPr>
              <a:t>30 days: verify only</a:t>
            </a:r>
          </a:p>
        </p:txBody>
      </p:sp>
      <p:sp>
        <p:nvSpPr>
          <p:cNvPr id="23" name="Rounded Rectangle 22"/>
          <p:cNvSpPr/>
          <p:nvPr/>
        </p:nvSpPr>
        <p:spPr>
          <a:xfrm>
            <a:off x="4283049" y="2903611"/>
            <a:ext cx="3489350" cy="323958"/>
          </a:xfrm>
          <a:prstGeom prst="roundRect">
            <a:avLst>
              <a:gd name="adj" fmla="val 24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7913" y="2903611"/>
            <a:ext cx="3379622" cy="323958"/>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latin typeface="Arial"/>
              </a:rPr>
              <a:t>Key B — used for new signatures</a:t>
            </a:r>
          </a:p>
        </p:txBody>
      </p:sp>
      <p:sp>
        <p:nvSpPr>
          <p:cNvPr id="25" name="TextBox 24"/>
          <p:cNvSpPr txBox="1"/>
          <p:nvPr/>
        </p:nvSpPr>
        <p:spPr>
          <a:xfrm>
            <a:off x="4283049" y="3235669"/>
            <a:ext cx="3489350" cy="194375"/>
          </a:xfrm>
          <a:prstGeom prst="rect">
            <a:avLst/>
          </a:prstGeom>
          <a:noFill/>
        </p:spPr>
        <p:txBody>
          <a:bodyPr wrap="none" lIns="0" rIns="0" tIns="0" bIns="0" anchor="t">
            <a:spAutoFit/>
          </a:bodyPr>
          <a:lstStyle/>
          <a:p>
            <a:pPr algn="l">
              <a:lnSpc>
                <a:spcPct val="114000"/>
              </a:lnSpc>
              <a:spcBef>
                <a:spcPts val="0"/>
              </a:spcBef>
              <a:spcAft>
                <a:spcPts val="0"/>
              </a:spcAft>
            </a:pPr>
            <a:r>
              <a:rPr sz="760" b="1" i="0">
                <a:solidFill>
                  <a:srgbClr val="1D4E89"/>
                </a:solidFill>
                <a:latin typeface="Arial"/>
              </a:rPr>
              <a:t>generated lazily at the boundary</a:t>
            </a:r>
          </a:p>
        </p:txBody>
      </p:sp>
      <p:sp>
        <p:nvSpPr>
          <p:cNvPr id="26" name="TextBox 25"/>
          <p:cNvSpPr txBox="1"/>
          <p:nvPr/>
        </p:nvSpPr>
        <p:spPr>
          <a:xfrm>
            <a:off x="8092440" y="1753557"/>
            <a:ext cx="3593592" cy="2105732"/>
          </a:xfrm>
          <a:prstGeom prst="rect">
            <a:avLst/>
          </a:prstGeom>
          <a:noFill/>
        </p:spPr>
        <p:txBody>
          <a:bodyPr wrap="square" lIns="0" rIns="0" tIns="0" bIns="0" anchor="t">
            <a:spAutoFit/>
          </a:bodyPr>
          <a:lstStyle/>
          <a:p>
            <a:pPr algn="l">
              <a:lnSpc>
                <a:spcPct val="114000"/>
              </a:lnSpc>
              <a:spcBef>
                <a:spcPts val="0"/>
              </a:spcBef>
              <a:spcAft>
                <a:spcPts val="0"/>
              </a:spcAft>
            </a:pPr>
            <a:r>
              <a:rPr sz="850" b="1" i="0">
                <a:solidFill>
                  <a:srgbClr val="0E9488"/>
                </a:solidFill>
                <a:latin typeface="Arial"/>
              </a:rPr>
              <a:t>WHAT HAPPENS AT THE BOUNDARY</a:t>
            </a:r>
          </a:p>
          <a:p>
            <a:pPr algn="l">
              <a:lnSpc>
                <a:spcPct val="124000"/>
              </a:lnSpc>
              <a:spcBef>
                <a:spcPts val="700"/>
              </a:spcBef>
              <a:spcAft>
                <a:spcPts val="0"/>
              </a:spcAft>
            </a:pPr>
            <a:r>
              <a:rPr sz="890" b="0" i="0">
                <a:solidFill>
                  <a:srgbClr val="1E293B"/>
                </a:solidFill>
                <a:latin typeface="Arial"/>
              </a:rPr>
              <a:t>Key A is filtered out of the </a:t>
            </a:r>
            <a:r>
              <a:rPr sz="890" b="0" i="0">
                <a:solidFill>
                  <a:srgbClr val="1D4E89"/>
                </a:solidFill>
                <a:latin typeface="Consolas"/>
              </a:rPr>
              <a:t>current</a:t>
            </a:r>
            <a:r>
              <a:rPr sz="890" b="0" i="0">
                <a:solidFill>
                  <a:srgbClr val="1E293B"/>
                </a:solidFill>
                <a:latin typeface="Arial"/>
              </a:rPr>
              <a:t> list.</a:t>
            </a:r>
          </a:p>
          <a:p>
            <a:pPr algn="l">
              <a:lnSpc>
                <a:spcPct val="124000"/>
              </a:lnSpc>
              <a:spcBef>
                <a:spcPts val="700"/>
              </a:spcBef>
              <a:spcAft>
                <a:spcPts val="0"/>
              </a:spcAft>
            </a:pPr>
            <a:r>
              <a:rPr sz="890" b="0" i="0">
                <a:solidFill>
                  <a:srgbClr val="1E293B"/>
                </a:solidFill>
                <a:latin typeface="Arial"/>
              </a:rPr>
              <a:t>The next signing request finds no current key and </a:t>
            </a:r>
            <a:r>
              <a:rPr sz="890" b="1" i="0">
                <a:solidFill>
                  <a:srgbClr val="0F172A"/>
                </a:solidFill>
                <a:latin typeface="Arial"/>
              </a:rPr>
              <a:t>generates Key B</a:t>
            </a:r>
            <a:r>
              <a:rPr sz="890" b="0" i="0">
                <a:solidFill>
                  <a:srgbClr val="1E293B"/>
                </a:solidFill>
                <a:latin typeface="Arial"/>
              </a:rPr>
              <a:t>.</a:t>
            </a:r>
          </a:p>
          <a:p>
            <a:pPr algn="l">
              <a:lnSpc>
                <a:spcPct val="124000"/>
              </a:lnSpc>
              <a:spcBef>
                <a:spcPts val="700"/>
              </a:spcBef>
              <a:spcAft>
                <a:spcPts val="0"/>
              </a:spcAft>
            </a:pPr>
            <a:r>
              <a:rPr sz="890" b="0" i="0">
                <a:solidFill>
                  <a:srgbClr val="1E293B"/>
                </a:solidFill>
                <a:latin typeface="Arial"/>
              </a:rPr>
              <a:t>Key A is still valid: its certificate has not reached </a:t>
            </a:r>
            <a:r>
              <a:rPr sz="890" b="0" i="0">
                <a:solidFill>
                  <a:srgbClr val="1D4E89"/>
                </a:solidFill>
                <a:latin typeface="Consolas"/>
              </a:rPr>
              <a:t>notAfter</a:t>
            </a:r>
            <a:r>
              <a:rPr sz="890" b="0" i="0">
                <a:solidFill>
                  <a:srgbClr val="1E293B"/>
                </a:solidFill>
                <a:latin typeface="Arial"/>
              </a:rPr>
              <a:t>.</a:t>
            </a:r>
          </a:p>
          <a:p>
            <a:pPr algn="l">
              <a:lnSpc>
                <a:spcPct val="124000"/>
              </a:lnSpc>
              <a:spcBef>
                <a:spcPts val="700"/>
              </a:spcBef>
              <a:spcAft>
                <a:spcPts val="0"/>
              </a:spcAft>
            </a:pPr>
            <a:r>
              <a:rPr sz="890" b="0" i="0">
                <a:solidFill>
                  <a:srgbClr val="1E293B"/>
                </a:solidFill>
                <a:latin typeface="Arial"/>
              </a:rPr>
              <a:t>Credentials signed with Key A keep verifying — for 30 more days by validity, and </a:t>
            </a:r>
            <a:r>
              <a:rPr sz="890" b="1" i="0">
                <a:solidFill>
                  <a:srgbClr val="0F172A"/>
                </a:solidFill>
                <a:latin typeface="Arial"/>
              </a:rPr>
              <a:t>indefinitely</a:t>
            </a:r>
            <a:r>
              <a:rPr sz="890" b="0" i="0">
                <a:solidFill>
                  <a:srgbClr val="1E293B"/>
                </a:solidFill>
                <a:latin typeface="Arial"/>
              </a:rPr>
              <a:t> as long as the certificate stays published.</a:t>
            </a:r>
          </a:p>
        </p:txBody>
      </p:sp>
      <p:sp>
        <p:nvSpPr>
          <p:cNvPr id="27" name="Rounded Rectangle 26"/>
          <p:cNvSpPr/>
          <p:nvPr/>
        </p:nvSpPr>
        <p:spPr>
          <a:xfrm>
            <a:off x="502920" y="3940280"/>
            <a:ext cx="5440680" cy="764452"/>
          </a:xfrm>
          <a:prstGeom prst="roundRect">
            <a:avLst>
              <a:gd name="adj" fmla="val 90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3940280"/>
            <a:ext cx="45720" cy="764452"/>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04088" y="4021269"/>
            <a:ext cx="5074920" cy="634869"/>
          </a:xfrm>
          <a:prstGeom prst="rect">
            <a:avLst/>
          </a:prstGeom>
          <a:noFill/>
        </p:spPr>
        <p:txBody>
          <a:bodyPr wrap="square" lIns="0" rIns="0" tIns="0" bIns="0" anchor="t">
            <a:spAutoFit/>
          </a:bodyPr>
          <a:lstStyle/>
          <a:p>
            <a:pPr algn="l">
              <a:lnSpc>
                <a:spcPct val="122000"/>
              </a:lnSpc>
              <a:spcBef>
                <a:spcPts val="0"/>
              </a:spcBef>
              <a:spcAft>
                <a:spcPts val="0"/>
              </a:spcAft>
            </a:pPr>
            <a:r>
              <a:rPr sz="980" b="1" i="0">
                <a:solidFill>
                  <a:srgbClr val="B31B1B"/>
                </a:solidFill>
                <a:latin typeface="Arial"/>
              </a:rPr>
              <a:t>The trap.</a:t>
            </a:r>
            <a:r>
              <a:rPr sz="980" b="0" i="0">
                <a:solidFill>
                  <a:srgbClr val="1E293B"/>
                </a:solidFill>
                <a:latin typeface="Arial"/>
              </a:rPr>
              <a:t> A credential is valid for as long as its own </a:t>
            </a:r>
            <a:r>
              <a:rPr sz="980" b="0" i="0">
                <a:solidFill>
                  <a:srgbClr val="1D4E89"/>
                </a:solidFill>
                <a:latin typeface="Consolas"/>
              </a:rPr>
              <a:t>exp</a:t>
            </a:r>
            <a:r>
              <a:rPr sz="980" b="0" i="0">
                <a:solidFill>
                  <a:srgbClr val="1E293B"/>
                </a:solidFill>
                <a:latin typeface="Arial"/>
              </a:rPr>
              <a:t> says — often years. Your signing key rotates in two. So the certificate that verifies it </a:t>
            </a:r>
            <a:r>
              <a:rPr sz="980" b="1" i="0">
                <a:solidFill>
                  <a:srgbClr val="B31B1B"/>
                </a:solidFill>
                <a:latin typeface="Arial"/>
              </a:rPr>
              <a:t>must outlive the key's signing life by the full credential lifetime.</a:t>
            </a:r>
            <a:r>
              <a:rPr sz="980" b="0" i="0">
                <a:solidFill>
                  <a:srgbClr val="1E293B"/>
                </a:solidFill>
                <a:latin typeface="Arial"/>
              </a:rPr>
              <a:t> That is why nothing is deleted.</a:t>
            </a:r>
          </a:p>
        </p:txBody>
      </p:sp>
      <p:sp>
        <p:nvSpPr>
          <p:cNvPr id="30" name="Rounded Rectangle 29"/>
          <p:cNvSpPr/>
          <p:nvPr/>
        </p:nvSpPr>
        <p:spPr>
          <a:xfrm>
            <a:off x="6245352" y="3940280"/>
            <a:ext cx="5440680" cy="764452"/>
          </a:xfrm>
          <a:prstGeom prst="roundRect">
            <a:avLst>
              <a:gd name="adj" fmla="val 9000"/>
            </a:avLst>
          </a:prstGeom>
          <a:solidFill>
            <a:srgbClr val="DFF1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45352" y="3940280"/>
            <a:ext cx="45720" cy="764452"/>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4021269"/>
            <a:ext cx="5074920" cy="634869"/>
          </a:xfrm>
          <a:prstGeom prst="rect">
            <a:avLst/>
          </a:prstGeom>
          <a:noFill/>
        </p:spPr>
        <p:txBody>
          <a:bodyPr wrap="square" lIns="0" rIns="0" tIns="0" bIns="0" anchor="t">
            <a:spAutoFit/>
          </a:bodyPr>
          <a:lstStyle/>
          <a:p>
            <a:pPr algn="l">
              <a:lnSpc>
                <a:spcPct val="122000"/>
              </a:lnSpc>
              <a:spcBef>
                <a:spcPts val="0"/>
              </a:spcBef>
              <a:spcAft>
                <a:spcPts val="0"/>
              </a:spcAft>
            </a:pPr>
            <a:r>
              <a:rPr sz="980" b="1" i="0">
                <a:solidFill>
                  <a:srgbClr val="15703D"/>
                </a:solidFill>
                <a:latin typeface="Arial"/>
              </a:rPr>
              <a:t>The lever.</a:t>
            </a:r>
            <a:r>
              <a:rPr sz="980" b="0" i="0">
                <a:solidFill>
                  <a:srgbClr val="1E293B"/>
                </a:solidFill>
                <a:latin typeface="Arial"/>
              </a:rPr>
              <a:t> Shorten </a:t>
            </a:r>
            <a:r>
              <a:rPr sz="980" b="0" i="0">
                <a:solidFill>
                  <a:srgbClr val="1D4E89"/>
                </a:solidFill>
                <a:latin typeface="Consolas"/>
              </a:rPr>
              <a:t>key_validity_duration</a:t>
            </a:r>
            <a:r>
              <a:rPr sz="980" b="0" i="0">
                <a:solidFill>
                  <a:srgbClr val="1E293B"/>
                </a:solidFill>
                <a:latin typeface="Arial"/>
              </a:rPr>
              <a:t> and you rotate more often, limiting the blast radius of a compromise. Lengthen </a:t>
            </a:r>
            <a:r>
              <a:rPr sz="980" b="0" i="0">
                <a:solidFill>
                  <a:srgbClr val="1D4E89"/>
                </a:solidFill>
                <a:latin typeface="Consolas"/>
              </a:rPr>
              <a:t>pre_expire_days</a:t>
            </a:r>
            <a:r>
              <a:rPr sz="980" b="0" i="0">
                <a:solidFill>
                  <a:srgbClr val="1E293B"/>
                </a:solidFill>
                <a:latin typeface="Arial"/>
              </a:rPr>
              <a:t> and you widen the overlap, reducing the risk of a gap during an outage.</a:t>
            </a:r>
          </a:p>
        </p:txBody>
      </p:sp>
      <p:graphicFrame>
        <p:nvGraphicFramePr>
          <p:cNvPr id="33" name="Table 32"/>
          <p:cNvGraphicFramePr>
            <a:graphicFrameLocks noGrp="1"/>
          </p:cNvGraphicFramePr>
          <p:nvPr/>
        </p:nvGraphicFramePr>
        <p:xfrm>
          <a:off x="502920" y="4993146"/>
          <a:ext cx="11185853" cy="1279635"/>
        </p:xfrm>
        <a:graphic>
          <a:graphicData uri="http://schemas.openxmlformats.org/drawingml/2006/table">
            <a:tbl>
              <a:tblPr firstRow="1">
                <a:tableStyleId>{2D5ABB26-0587-4C30-8999-92F81FD0307C}</a:tableStyleId>
              </a:tblPr>
              <a:tblGrid>
                <a:gridCol w="2567245"/>
                <a:gridCol w="2383870"/>
                <a:gridCol w="4034242"/>
                <a:gridCol w="2200496"/>
              </a:tblGrid>
              <a:tr h="259167">
                <a:tc>
                  <a:txBody>
                    <a:bodyPr wrap="square"/>
                    <a:lstStyle/>
                    <a:p>
                      <a:pPr algn="l"/>
                      <a:r>
                        <a:rPr sz="900" b="1">
                          <a:solidFill>
                            <a:srgbClr val="FFFFFF"/>
                          </a:solidFill>
                          <a:latin typeface="Arial"/>
                        </a:rPr>
                        <a:t>Policy shape</a:t>
                      </a:r>
                    </a:p>
                  </a:txBody>
                  <a:tcPr marL="64008" marR="54864" marT="27432" marB="27432" anchor="ctr">
                    <a:solidFill>
                      <a:srgbClr val="1D4E89"/>
                    </a:solidFill>
                  </a:tcPr>
                </a:tc>
                <a:tc>
                  <a:txBody>
                    <a:bodyPr wrap="square"/>
                    <a:lstStyle/>
                    <a:p>
                      <a:pPr algn="l"/>
                      <a:r>
                        <a:rPr sz="900" b="1">
                          <a:solidFill>
                            <a:srgbClr val="FFFFFF"/>
                          </a:solidFill>
                          <a:latin typeface="Arial"/>
                        </a:rPr>
                        <a:t>Gains you</a:t>
                      </a:r>
                    </a:p>
                  </a:txBody>
                  <a:tcPr marL="64008" marR="54864" marT="27432" marB="27432" anchor="ctr">
                    <a:solidFill>
                      <a:srgbClr val="1D4E89"/>
                    </a:solidFill>
                  </a:tcPr>
                </a:tc>
                <a:tc>
                  <a:txBody>
                    <a:bodyPr wrap="square"/>
                    <a:lstStyle/>
                    <a:p>
                      <a:pPr algn="l"/>
                      <a:r>
                        <a:rPr sz="900" b="1">
                          <a:solidFill>
                            <a:srgbClr val="FFFFFF"/>
                          </a:solidFill>
                          <a:latin typeface="Arial"/>
                        </a:rPr>
                        <a:t>Costs you</a:t>
                      </a:r>
                    </a:p>
                  </a:txBody>
                  <a:tcPr marL="64008" marR="54864" marT="27432" marB="27432" anchor="ctr">
                    <a:solidFill>
                      <a:srgbClr val="1D4E89"/>
                    </a:solidFill>
                  </a:tcPr>
                </a:tc>
                <a:tc>
                  <a:txBody>
                    <a:bodyPr wrap="square"/>
                    <a:lstStyle/>
                    <a:p>
                      <a:pPr algn="l"/>
                      <a:r>
                        <a:rPr sz="900" b="1">
                          <a:solidFill>
                            <a:srgbClr val="FFFFFF"/>
                          </a:solidFill>
                          <a:latin typeface="Arial"/>
                        </a:rPr>
                        <a:t>Fits</a:t>
                      </a:r>
                    </a:p>
                  </a:txBody>
                  <a:tcPr marL="64008" marR="54864" marT="27432" marB="27432" anchor="ctr">
                    <a:solidFill>
                      <a:srgbClr val="1D4E89"/>
                    </a:solidFill>
                  </a:tcPr>
                </a:tc>
              </a:tr>
              <a:tr h="340156">
                <a:tc>
                  <a:txBody>
                    <a:bodyPr wrap="square"/>
                    <a:lstStyle/>
                    <a:p>
                      <a:pPr algn="l">
                        <a:lnSpc>
                          <a:spcPct val="105000"/>
                        </a:lnSpc>
                      </a:pPr>
                      <a:r>
                        <a:rPr sz="869" b="0">
                          <a:solidFill>
                            <a:srgbClr val="1E293B"/>
                          </a:solidFill>
                          <a:latin typeface="Arial"/>
                        </a:rPr>
                        <a:t>Short validity, short overlap</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Small blast radius</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More rotations; a publication failure is felt quickly</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High-value, short-lived credentials</a:t>
                      </a:r>
                    </a:p>
                  </a:txBody>
                  <a:tcPr marL="64008" marR="54864" marT="18288" marB="18288" anchor="ctr">
                    <a:solidFill>
                      <a:srgbClr val="FFFFFF"/>
                    </a:solidFill>
                  </a:tcPr>
                </a:tc>
              </a:tr>
              <a:tr h="340156">
                <a:tc>
                  <a:txBody>
                    <a:bodyPr wrap="square"/>
                    <a:lstStyle/>
                    <a:p>
                      <a:pPr algn="l">
                        <a:lnSpc>
                          <a:spcPct val="105000"/>
                        </a:lnSpc>
                      </a:pPr>
                      <a:r>
                        <a:rPr sz="869" b="0">
                          <a:solidFill>
                            <a:srgbClr val="1E293B"/>
                          </a:solidFill>
                          <a:latin typeface="Arial"/>
                        </a:rPr>
                        <a:t>Long validity, long overlap</a:t>
                      </a:r>
                    </a:p>
                  </a:txBody>
                  <a:tcPr marL="64008" marR="54864" marT="18288" marB="18288" anchor="ctr">
                    <a:solidFill>
                      <a:srgbClr val="F3F6F9"/>
                    </a:solidFill>
                  </a:tcPr>
                </a:tc>
                <a:tc>
                  <a:txBody>
                    <a:bodyPr wrap="square"/>
                    <a:lstStyle/>
                    <a:p>
                      <a:pPr algn="l">
                        <a:lnSpc>
                          <a:spcPct val="105000"/>
                        </a:lnSpc>
                      </a:pPr>
                      <a:r>
                        <a:rPr sz="869" b="0">
                          <a:solidFill>
                            <a:srgbClr val="1E293B"/>
                          </a:solidFill>
                          <a:latin typeface="Arial"/>
                        </a:rPr>
                        <a:t>Fewer moving parts</a:t>
                      </a:r>
                    </a:p>
                  </a:txBody>
                  <a:tcPr marL="64008" marR="54864" marT="18288" marB="18288" anchor="ctr">
                    <a:solidFill>
                      <a:srgbClr val="F3F6F9"/>
                    </a:solidFill>
                  </a:tcPr>
                </a:tc>
                <a:tc>
                  <a:txBody>
                    <a:bodyPr wrap="square"/>
                    <a:lstStyle/>
                    <a:p>
                      <a:pPr algn="l">
                        <a:lnSpc>
                          <a:spcPct val="105000"/>
                        </a:lnSpc>
                      </a:pPr>
                      <a:r>
                        <a:rPr sz="869" b="0">
                          <a:solidFill>
                            <a:srgbClr val="1E293B"/>
                          </a:solidFill>
                          <a:latin typeface="Arial"/>
                        </a:rPr>
                        <a:t>A compromised key is in play for longer</a:t>
                      </a:r>
                    </a:p>
                  </a:txBody>
                  <a:tcPr marL="64008" marR="54864" marT="18288" marB="18288" anchor="ctr">
                    <a:solidFill>
                      <a:srgbClr val="F3F6F9"/>
                    </a:solidFill>
                  </a:tcPr>
                </a:tc>
                <a:tc>
                  <a:txBody>
                    <a:bodyPr wrap="square"/>
                    <a:lstStyle/>
                    <a:p>
                      <a:pPr algn="l">
                        <a:lnSpc>
                          <a:spcPct val="105000"/>
                        </a:lnSpc>
                      </a:pPr>
                      <a:r>
                        <a:rPr sz="869" b="0">
                          <a:solidFill>
                            <a:srgbClr val="1E293B"/>
                          </a:solidFill>
                          <a:latin typeface="Arial"/>
                        </a:rPr>
                        <a:t>Long-lived credentials, stable infrastructure</a:t>
                      </a:r>
                    </a:p>
                  </a:txBody>
                  <a:tcPr marL="64008" marR="54864" marT="18288" marB="18288" anchor="ctr">
                    <a:solidFill>
                      <a:srgbClr val="F3F6F9"/>
                    </a:solidFill>
                  </a:tcPr>
                </a:tc>
              </a:tr>
              <a:tr h="340156">
                <a:tc>
                  <a:txBody>
                    <a:bodyPr wrap="square"/>
                    <a:lstStyle/>
                    <a:p>
                      <a:pPr algn="l">
                        <a:lnSpc>
                          <a:spcPct val="105000"/>
                        </a:lnSpc>
                      </a:pPr>
                      <a:r>
                        <a:rPr sz="869" b="0">
                          <a:solidFill>
                            <a:srgbClr val="1E293B"/>
                          </a:solidFill>
                          <a:latin typeface="Arial"/>
                        </a:rPr>
                        <a:t>Long validity, short overlap</a:t>
                      </a:r>
                    </a:p>
                  </a:txBody>
                  <a:tcPr marL="64008" marR="54864" marT="18288" marB="18288" anchor="ctr">
                    <a:solidFill>
                      <a:srgbClr val="FFFFFF"/>
                    </a:solidFill>
                  </a:tcPr>
                </a:tc>
                <a:tc>
                  <a:txBody>
                    <a:bodyPr wrap="square"/>
                    <a:lstStyle/>
                    <a:p>
                      <a:pPr algn="l">
                        <a:lnSpc>
                          <a:spcPct val="105000"/>
                        </a:lnSpc>
                      </a:pPr>
                      <a:r>
                        <a:rPr sz="869" b="1">
                          <a:solidFill>
                            <a:srgbClr val="B31B1B"/>
                          </a:solidFill>
                          <a:latin typeface="Arial"/>
                        </a:rPr>
                        <a:t>Worst of both</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Rare rotations, and little slack when one goes wrong</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Avoid</a:t>
                      </a:r>
                    </a:p>
                  </a:txBody>
                  <a:tcPr marL="64008" marR="54864" marT="18288" marB="18288" anchor="ctr">
                    <a:solidFill>
                      <a:srgbClr val="FFFFFF"/>
                    </a:solidFill>
                  </a:tcPr>
                </a:tc>
              </a:tr>
            </a:tbl>
          </a:graphicData>
        </a:graphic>
      </p:graphicFrame>
      <p:sp>
        <p:nvSpPr>
          <p:cNvPr id="34" name="TextBox 33"/>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35" name="TextBox 34"/>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3 — THE QUESTION EVERYONE ASKS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What happens to credentials already issued?</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Four events, four different answers. Getting these confused is how programmes lose trust.</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2659303" cy="361188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2659303" cy="64008"/>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01952"/>
            <a:ext cx="2293543" cy="566928"/>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15703D"/>
                </a:solidFill>
                <a:latin typeface="Arial"/>
              </a:rPr>
              <a:t>Key rotated
(normal, scheduled)</a:t>
            </a:r>
          </a:p>
        </p:txBody>
      </p:sp>
      <p:sp>
        <p:nvSpPr>
          <p:cNvPr id="9" name="Rounded Rectangle 8"/>
          <p:cNvSpPr/>
          <p:nvPr/>
        </p:nvSpPr>
        <p:spPr>
          <a:xfrm>
            <a:off x="685800" y="2542032"/>
            <a:ext cx="973836" cy="256032"/>
          </a:xfrm>
          <a:prstGeom prst="roundRect">
            <a:avLst>
              <a:gd name="adj" fmla="val 2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FFFFFF"/>
                </a:solidFill>
                <a:latin typeface="Arial"/>
              </a:rPr>
              <a:t>NO IMPACT</a:t>
            </a:r>
          </a:p>
        </p:txBody>
      </p:sp>
      <p:sp>
        <p:nvSpPr>
          <p:cNvPr id="10" name="TextBox 9"/>
          <p:cNvSpPr txBox="1"/>
          <p:nvPr/>
        </p:nvSpPr>
        <p:spPr>
          <a:xfrm>
            <a:off x="685800" y="2907792"/>
            <a:ext cx="2293543" cy="685800"/>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F172A"/>
                </a:solidFill>
                <a:latin typeface="Arial"/>
              </a:rPr>
              <a:t>Nothing. Old credentials keep verifying.</a:t>
            </a:r>
          </a:p>
        </p:txBody>
      </p:sp>
      <p:sp>
        <p:nvSpPr>
          <p:cNvPr id="11" name="Oval 10"/>
          <p:cNvSpPr/>
          <p:nvPr/>
        </p:nvSpPr>
        <p:spPr>
          <a:xfrm>
            <a:off x="704088" y="3721608"/>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675888"/>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The old certificate stays in </a:t>
            </a:r>
            <a:r>
              <a:rPr sz="919" b="0" i="0">
                <a:solidFill>
                  <a:srgbClr val="15703D"/>
                </a:solidFill>
                <a:latin typeface="Consolas"/>
              </a:rPr>
              <a:t>key_alias</a:t>
            </a:r>
            <a:r>
              <a:rPr sz="919" b="0" i="0">
                <a:solidFill>
                  <a:srgbClr val="5B6B7F"/>
                </a:solidFill>
                <a:latin typeface="Arial"/>
              </a:rPr>
              <a:t> and stays published.</a:t>
            </a:r>
          </a:p>
        </p:txBody>
      </p:sp>
      <p:sp>
        <p:nvSpPr>
          <p:cNvPr id="13" name="Oval 12"/>
          <p:cNvSpPr/>
          <p:nvPr/>
        </p:nvSpPr>
        <p:spPr>
          <a:xfrm>
            <a:off x="704088" y="4145889"/>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100169"/>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15703D"/>
                </a:solidFill>
                <a:latin typeface="Consolas"/>
              </a:rPr>
              <a:t>kid</a:t>
            </a:r>
            <a:r>
              <a:rPr sz="919" b="0" i="0">
                <a:solidFill>
                  <a:srgbClr val="5B6B7F"/>
                </a:solidFill>
                <a:latin typeface="Arial"/>
              </a:rPr>
              <a:t> in the old credential still resolves.</a:t>
            </a:r>
          </a:p>
        </p:txBody>
      </p:sp>
      <p:sp>
        <p:nvSpPr>
          <p:cNvPr id="15" name="Oval 14"/>
          <p:cNvSpPr/>
          <p:nvPr/>
        </p:nvSpPr>
        <p:spPr>
          <a:xfrm>
            <a:off x="704088" y="4570171"/>
            <a:ext cx="64008" cy="640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4524451"/>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No re-issuance, no action for holders.</a:t>
            </a:r>
          </a:p>
        </p:txBody>
      </p:sp>
      <p:sp>
        <p:nvSpPr>
          <p:cNvPr id="17" name="Rounded Rectangle 16"/>
          <p:cNvSpPr/>
          <p:nvPr/>
        </p:nvSpPr>
        <p:spPr>
          <a:xfrm>
            <a:off x="3345103" y="1682496"/>
            <a:ext cx="2659303" cy="361188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45103" y="1682496"/>
            <a:ext cx="2659303" cy="640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27983" y="1901952"/>
            <a:ext cx="2293543" cy="566928"/>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B45309"/>
                </a:solidFill>
                <a:latin typeface="Arial"/>
              </a:rPr>
              <a:t>Key expired
(past notAfter)</a:t>
            </a:r>
          </a:p>
        </p:txBody>
      </p:sp>
      <p:sp>
        <p:nvSpPr>
          <p:cNvPr id="20" name="Rounded Rectangle 19"/>
          <p:cNvSpPr/>
          <p:nvPr/>
        </p:nvSpPr>
        <p:spPr>
          <a:xfrm>
            <a:off x="3527983" y="2542032"/>
            <a:ext cx="1129284" cy="256032"/>
          </a:xfrm>
          <a:prstGeom prst="roundRect">
            <a:avLst>
              <a:gd name="adj" fmla="val 22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FFFFFF"/>
                </a:solidFill>
                <a:latin typeface="Arial"/>
              </a:rPr>
              <a:t>PLAN FOR IT</a:t>
            </a:r>
          </a:p>
        </p:txBody>
      </p:sp>
      <p:sp>
        <p:nvSpPr>
          <p:cNvPr id="21" name="TextBox 20"/>
          <p:cNvSpPr txBox="1"/>
          <p:nvPr/>
        </p:nvSpPr>
        <p:spPr>
          <a:xfrm>
            <a:off x="3527983" y="2907792"/>
            <a:ext cx="2293543" cy="685800"/>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F172A"/>
                </a:solidFill>
                <a:latin typeface="Arial"/>
              </a:rPr>
              <a:t>Verification of anything signed by it should now fail.</a:t>
            </a:r>
          </a:p>
        </p:txBody>
      </p:sp>
      <p:sp>
        <p:nvSpPr>
          <p:cNvPr id="22" name="Oval 21"/>
          <p:cNvSpPr/>
          <p:nvPr/>
        </p:nvSpPr>
        <p:spPr>
          <a:xfrm>
            <a:off x="3546271" y="3721608"/>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10863" y="3675888"/>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A correct verifier checks the certificate's validity window.</a:t>
            </a:r>
          </a:p>
        </p:txBody>
      </p:sp>
      <p:sp>
        <p:nvSpPr>
          <p:cNvPr id="24" name="Oval 23"/>
          <p:cNvSpPr/>
          <p:nvPr/>
        </p:nvSpPr>
        <p:spPr>
          <a:xfrm>
            <a:off x="3546271" y="4145889"/>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10863" y="4100169"/>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Credentials outliving their signing certificate become unverifiable.</a:t>
            </a:r>
          </a:p>
        </p:txBody>
      </p:sp>
      <p:sp>
        <p:nvSpPr>
          <p:cNvPr id="26" name="Oval 25"/>
          <p:cNvSpPr/>
          <p:nvPr/>
        </p:nvSpPr>
        <p:spPr>
          <a:xfrm>
            <a:off x="3546271" y="4709159"/>
            <a:ext cx="64008" cy="640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710863" y="4663440"/>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1" i="0">
                <a:solidFill>
                  <a:srgbClr val="0F172A"/>
                </a:solidFill>
                <a:latin typeface="Arial"/>
              </a:rPr>
              <a:t>Plan publication lifetime around credential lifetime.</a:t>
            </a:r>
          </a:p>
        </p:txBody>
      </p:sp>
      <p:sp>
        <p:nvSpPr>
          <p:cNvPr id="28" name="Rounded Rectangle 27"/>
          <p:cNvSpPr/>
          <p:nvPr/>
        </p:nvSpPr>
        <p:spPr>
          <a:xfrm>
            <a:off x="6187287" y="1682496"/>
            <a:ext cx="2659303" cy="361188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87287" y="1682496"/>
            <a:ext cx="2659303" cy="64008"/>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70167" y="1901952"/>
            <a:ext cx="2293543" cy="566928"/>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6D28D9"/>
                </a:solidFill>
                <a:latin typeface="Arial"/>
              </a:rPr>
              <a:t>Key revoked
(</a:t>
            </a:r>
            <a:r>
              <a:rPr sz="1150" b="1" i="0">
                <a:solidFill>
                  <a:srgbClr val="6D28D9"/>
                </a:solidFill>
                <a:latin typeface="Consolas"/>
              </a:rPr>
              <a:t>PUT /revokeKey</a:t>
            </a:r>
            <a:r>
              <a:rPr sz="1150" b="1" i="0">
                <a:solidFill>
                  <a:srgbClr val="6D28D9"/>
                </a:solidFill>
                <a:latin typeface="Arial"/>
              </a:rPr>
              <a:t>)</a:t>
            </a:r>
          </a:p>
        </p:txBody>
      </p:sp>
      <p:sp>
        <p:nvSpPr>
          <p:cNvPr id="31" name="Rounded Rectangle 30"/>
          <p:cNvSpPr/>
          <p:nvPr/>
        </p:nvSpPr>
        <p:spPr>
          <a:xfrm>
            <a:off x="6370167" y="2542032"/>
            <a:ext cx="1673352" cy="256032"/>
          </a:xfrm>
          <a:prstGeom prst="roundRect">
            <a:avLst>
              <a:gd name="adj" fmla="val 22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FFFFFF"/>
                </a:solidFill>
                <a:latin typeface="Arial"/>
              </a:rPr>
              <a:t>NOT WHAT YOU THINK</a:t>
            </a:r>
          </a:p>
        </p:txBody>
      </p:sp>
      <p:sp>
        <p:nvSpPr>
          <p:cNvPr id="32" name="TextBox 31"/>
          <p:cNvSpPr txBox="1"/>
          <p:nvPr/>
        </p:nvSpPr>
        <p:spPr>
          <a:xfrm>
            <a:off x="6370167" y="2907792"/>
            <a:ext cx="2293543" cy="685800"/>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F172A"/>
                </a:solidFill>
                <a:latin typeface="Arial"/>
              </a:rPr>
              <a:t>In MOSIP this *expires* the key — it does not destroy anything.</a:t>
            </a:r>
          </a:p>
        </p:txBody>
      </p:sp>
      <p:sp>
        <p:nvSpPr>
          <p:cNvPr id="33" name="Oval 32"/>
          <p:cNvSpPr/>
          <p:nvPr/>
        </p:nvSpPr>
        <p:spPr>
          <a:xfrm>
            <a:off x="6388455" y="3721608"/>
            <a:ext cx="64008" cy="640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53047" y="3675888"/>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6D28D9"/>
                </a:solidFill>
                <a:latin typeface="Consolas"/>
              </a:rPr>
              <a:t>key_expire_dtimes</a:t>
            </a:r>
            <a:r>
              <a:rPr sz="919" b="0" i="0">
                <a:solidFill>
                  <a:srgbClr val="5B6B7F"/>
                </a:solidFill>
                <a:latin typeface="Arial"/>
              </a:rPr>
              <a:t> is set to one minute ago.</a:t>
            </a:r>
          </a:p>
        </p:txBody>
      </p:sp>
      <p:sp>
        <p:nvSpPr>
          <p:cNvPr id="35" name="Oval 34"/>
          <p:cNvSpPr/>
          <p:nvPr/>
        </p:nvSpPr>
        <p:spPr>
          <a:xfrm>
            <a:off x="6388455" y="4145889"/>
            <a:ext cx="64008" cy="640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53047" y="4100169"/>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A new key is generated on the next request.</a:t>
            </a:r>
          </a:p>
        </p:txBody>
      </p:sp>
      <p:sp>
        <p:nvSpPr>
          <p:cNvPr id="37" name="Oval 36"/>
          <p:cNvSpPr/>
          <p:nvPr/>
        </p:nvSpPr>
        <p:spPr>
          <a:xfrm>
            <a:off x="6388455" y="4570171"/>
            <a:ext cx="64008" cy="640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53047" y="4524451"/>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1" i="0">
                <a:solidFill>
                  <a:srgbClr val="0F172A"/>
                </a:solidFill>
                <a:latin typeface="Arial"/>
              </a:rPr>
              <a:t>Already-issued credentials are NOT invalidated.</a:t>
            </a:r>
          </a:p>
        </p:txBody>
      </p:sp>
      <p:sp>
        <p:nvSpPr>
          <p:cNvPr id="39" name="Rounded Rectangle 38"/>
          <p:cNvSpPr/>
          <p:nvPr/>
        </p:nvSpPr>
        <p:spPr>
          <a:xfrm>
            <a:off x="9029471" y="1682496"/>
            <a:ext cx="2659303" cy="3611880"/>
          </a:xfrm>
          <a:prstGeom prst="roundRect">
            <a:avLst>
              <a:gd name="adj" fmla="val 4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029471" y="1682496"/>
            <a:ext cx="2659303" cy="6400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212351" y="1901952"/>
            <a:ext cx="2293543" cy="566928"/>
          </a:xfrm>
          <a:prstGeom prst="rect">
            <a:avLst/>
          </a:prstGeom>
          <a:noFill/>
        </p:spPr>
        <p:txBody>
          <a:bodyPr wrap="square" lIns="0" rIns="0" tIns="0" bIns="0" anchor="t">
            <a:spAutoFit/>
          </a:bodyPr>
          <a:lstStyle/>
          <a:p>
            <a:pPr algn="l">
              <a:lnSpc>
                <a:spcPct val="112000"/>
              </a:lnSpc>
              <a:spcBef>
                <a:spcPts val="0"/>
              </a:spcBef>
              <a:spcAft>
                <a:spcPts val="0"/>
              </a:spcAft>
            </a:pPr>
            <a:r>
              <a:rPr sz="1150" b="1" i="0">
                <a:solidFill>
                  <a:srgbClr val="B31B1B"/>
                </a:solidFill>
                <a:latin typeface="Arial"/>
              </a:rPr>
              <a:t>Credential revoked
(status list)</a:t>
            </a:r>
          </a:p>
        </p:txBody>
      </p:sp>
      <p:sp>
        <p:nvSpPr>
          <p:cNvPr id="42" name="Rounded Rectangle 41"/>
          <p:cNvSpPr/>
          <p:nvPr/>
        </p:nvSpPr>
        <p:spPr>
          <a:xfrm>
            <a:off x="9212351" y="2542032"/>
            <a:ext cx="1362456" cy="256032"/>
          </a:xfrm>
          <a:prstGeom prst="roundRect">
            <a:avLst>
              <a:gd name="adj" fmla="val 2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819" b="1">
                <a:solidFill>
                  <a:srgbClr val="FFFFFF"/>
                </a:solidFill>
                <a:latin typeface="Arial"/>
              </a:rPr>
              <a:t>THE RIGHT TOOL</a:t>
            </a:r>
          </a:p>
        </p:txBody>
      </p:sp>
      <p:sp>
        <p:nvSpPr>
          <p:cNvPr id="43" name="TextBox 42"/>
          <p:cNvSpPr txBox="1"/>
          <p:nvPr/>
        </p:nvSpPr>
        <p:spPr>
          <a:xfrm>
            <a:off x="9212351" y="2907792"/>
            <a:ext cx="2293543" cy="685800"/>
          </a:xfrm>
          <a:prstGeom prst="rect">
            <a:avLst/>
          </a:prstGeom>
          <a:noFill/>
        </p:spPr>
        <p:txBody>
          <a:bodyPr wrap="square" lIns="0" rIns="0" tIns="0" bIns="0" anchor="t">
            <a:spAutoFit/>
          </a:bodyPr>
          <a:lstStyle/>
          <a:p>
            <a:pPr algn="l">
              <a:lnSpc>
                <a:spcPct val="124000"/>
              </a:lnSpc>
              <a:spcBef>
                <a:spcPts val="0"/>
              </a:spcBef>
              <a:spcAft>
                <a:spcPts val="0"/>
              </a:spcAft>
            </a:pPr>
            <a:r>
              <a:rPr sz="980" b="1" i="0">
                <a:solidFill>
                  <a:srgbClr val="0F172A"/>
                </a:solidFill>
                <a:latin typeface="Arial"/>
              </a:rPr>
              <a:t>That single credential stops being accepted.</a:t>
            </a:r>
          </a:p>
        </p:txBody>
      </p:sp>
      <p:sp>
        <p:nvSpPr>
          <p:cNvPr id="44" name="Oval 43"/>
          <p:cNvSpPr/>
          <p:nvPr/>
        </p:nvSpPr>
        <p:spPr>
          <a:xfrm>
            <a:off x="9230639" y="3721608"/>
            <a:ext cx="64008" cy="640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395231" y="3675888"/>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A bit is flipped in the status list credential.</a:t>
            </a:r>
          </a:p>
        </p:txBody>
      </p:sp>
      <p:sp>
        <p:nvSpPr>
          <p:cNvPr id="46" name="Oval 45"/>
          <p:cNvSpPr/>
          <p:nvPr/>
        </p:nvSpPr>
        <p:spPr>
          <a:xfrm>
            <a:off x="9230639" y="4145889"/>
            <a:ext cx="64008" cy="640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395231" y="4100169"/>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Verifiers that check status reject it.</a:t>
            </a:r>
          </a:p>
        </p:txBody>
      </p:sp>
      <p:sp>
        <p:nvSpPr>
          <p:cNvPr id="48" name="Oval 47"/>
          <p:cNvSpPr/>
          <p:nvPr/>
        </p:nvSpPr>
        <p:spPr>
          <a:xfrm>
            <a:off x="9230639" y="4570171"/>
            <a:ext cx="64008" cy="640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95231" y="4524451"/>
            <a:ext cx="2092375" cy="731520"/>
          </a:xfrm>
          <a:prstGeom prst="rect">
            <a:avLst/>
          </a:prstGeom>
          <a:noFill/>
        </p:spPr>
        <p:txBody>
          <a:bodyPr wrap="square" lIns="0" rIns="0" tIns="0" bIns="0" anchor="t">
            <a:spAutoFit/>
          </a:bodyPr>
          <a:lstStyle/>
          <a:p>
            <a:pPr algn="l">
              <a:lnSpc>
                <a:spcPct val="124000"/>
              </a:lnSpc>
              <a:spcBef>
                <a:spcPts val="0"/>
              </a:spcBef>
              <a:spcAft>
                <a:spcPts val="0"/>
              </a:spcAft>
            </a:pPr>
            <a:r>
              <a:rPr sz="919" b="0" i="0">
                <a:solidFill>
                  <a:srgbClr val="5B6B7F"/>
                </a:solidFill>
                <a:latin typeface="Arial"/>
              </a:rPr>
              <a:t>The signing key is untouched.</a:t>
            </a:r>
          </a:p>
        </p:txBody>
      </p:sp>
      <p:sp>
        <p:nvSpPr>
          <p:cNvPr id="50" name="Rounded Rectangle 49"/>
          <p:cNvSpPr/>
          <p:nvPr/>
        </p:nvSpPr>
        <p:spPr>
          <a:xfrm>
            <a:off x="502920" y="5522976"/>
            <a:ext cx="11185855" cy="717804"/>
          </a:xfrm>
          <a:prstGeom prst="roundRect">
            <a:avLst>
              <a:gd name="adj" fmla="val 90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2920" y="5522976"/>
            <a:ext cx="45720" cy="71780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04088" y="5614416"/>
            <a:ext cx="10820095" cy="571500"/>
          </a:xfrm>
          <a:prstGeom prst="rect">
            <a:avLst/>
          </a:prstGeom>
          <a:noFill/>
        </p:spPr>
        <p:txBody>
          <a:bodyPr wrap="square" lIns="0" rIns="0" tIns="0" bIns="0" anchor="t">
            <a:spAutoFit/>
          </a:bodyPr>
          <a:lstStyle/>
          <a:p>
            <a:pPr algn="l">
              <a:lnSpc>
                <a:spcPct val="122000"/>
              </a:lnSpc>
              <a:spcBef>
                <a:spcPts val="0"/>
              </a:spcBef>
              <a:spcAft>
                <a:spcPts val="0"/>
              </a:spcAft>
            </a:pPr>
            <a:r>
              <a:rPr sz="1080" b="0" i="0">
                <a:solidFill>
                  <a:srgbClr val="1E293B"/>
                </a:solidFill>
                <a:latin typeface="Arial"/>
              </a:rPr>
              <a:t>Say this out loud in every design review: </a:t>
            </a:r>
            <a:r>
              <a:rPr sz="1080" b="1" i="0">
                <a:solidFill>
                  <a:srgbClr val="B31B1B"/>
                </a:solidFill>
                <a:latin typeface="Arial"/>
              </a:rPr>
              <a:t>revoking a key is not revoking a credential.</a:t>
            </a:r>
            <a:r>
              <a:rPr sz="1080" b="0" i="0">
                <a:solidFill>
                  <a:srgbClr val="1E293B"/>
                </a:solidFill>
                <a:latin typeface="Arial"/>
              </a:rPr>
              <a:t> </a:t>
            </a:r>
            <a:r>
              <a:rPr sz="1080" b="0" i="0">
                <a:solidFill>
                  <a:srgbClr val="1D4E89"/>
                </a:solidFill>
                <a:latin typeface="Consolas"/>
              </a:rPr>
              <a:t>revokeKey</a:t>
            </a:r>
            <a:r>
              <a:rPr sz="1080" b="0" i="0">
                <a:solidFill>
                  <a:srgbClr val="1E293B"/>
                </a:solidFill>
                <a:latin typeface="Arial"/>
              </a:rPr>
              <a:t> rotates your signing key early. To stop a specific credential being accepted you flip its bit in the status list. Two mechanisms, two blast radii — and only one of them helps when a single citizen's credential must be withdrawn.</a:t>
            </a:r>
          </a:p>
        </p:txBody>
      </p:sp>
      <p:sp>
        <p:nvSpPr>
          <p:cNvPr id="53" name="TextBox 5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54" name="TextBox 5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4 — HSM</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HSM integration — how the keystore is actually reached</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One interface, four implementations. Changing from a file to real hardware is a configuration change, not a code change.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749039" y="1682496"/>
            <a:ext cx="4663440" cy="694944"/>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200" b="1">
                <a:solidFill>
                  <a:srgbClr val="FFFFFF"/>
                </a:solidFill>
                <a:latin typeface="Arial"/>
              </a:rPr>
              <a:t>Key Manager</a:t>
            </a:r>
          </a:p>
          <a:p>
            <a:pPr algn="ctr">
              <a:lnSpc>
                <a:spcPct val="110000"/>
              </a:lnSpc>
              <a:spcBef>
                <a:spcPts val="200"/>
              </a:spcBef>
            </a:pPr>
            <a:r>
              <a:rPr sz="840">
                <a:solidFill>
                  <a:srgbClr val="FFFFFF"/>
                </a:solidFill>
                <a:latin typeface="Arial"/>
              </a:rPr>
              <a:t>asks for a signature, never for a key</a:t>
            </a:r>
          </a:p>
        </p:txBody>
      </p:sp>
      <p:sp>
        <p:nvSpPr>
          <p:cNvPr id="7" name="Rounded Rectangle 6"/>
          <p:cNvSpPr/>
          <p:nvPr/>
        </p:nvSpPr>
        <p:spPr>
          <a:xfrm>
            <a:off x="3749039" y="2706624"/>
            <a:ext cx="4663440" cy="603504"/>
          </a:xfrm>
          <a:prstGeom prst="roundRect">
            <a:avLst>
              <a:gd name="adj" fmla="val 10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100" b="1">
                <a:solidFill>
                  <a:srgbClr val="FFFFFF"/>
                </a:solidFill>
                <a:latin typeface="Arial"/>
              </a:rPr>
              <a:t>ECKeyStore  /  KeyStoreImpl</a:t>
            </a:r>
          </a:p>
          <a:p>
            <a:pPr algn="ctr">
              <a:lnSpc>
                <a:spcPct val="110000"/>
              </a:lnSpc>
              <a:spcBef>
                <a:spcPts val="200"/>
              </a:spcBef>
            </a:pPr>
            <a:r>
              <a:rPr sz="800">
                <a:solidFill>
                  <a:srgbClr val="FFFFFF"/>
                </a:solidFill>
                <a:latin typeface="Arial"/>
              </a:rPr>
              <a:t>one interface; implementation chosen by mosip.kernel.keymanager.hsm.keystore-type</a:t>
            </a:r>
          </a:p>
        </p:txBody>
      </p:sp>
      <p:cxnSp>
        <p:nvCxnSpPr>
          <p:cNvPr id="8" name="Connector 7"/>
          <p:cNvCxnSpPr/>
          <p:nvPr/>
        </p:nvCxnSpPr>
        <p:spPr>
          <a:xfrm>
            <a:off x="6080759" y="2377440"/>
            <a:ext cx="0" cy="329184"/>
          </a:xfrm>
          <a:prstGeom prst="line">
            <a:avLst/>
          </a:prstGeom>
          <a:ln w="1778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502920" y="3639312"/>
            <a:ext cx="2645587" cy="1481328"/>
          </a:xfrm>
          <a:prstGeom prst="roundRect">
            <a:avLst>
              <a:gd name="adj" fmla="val 6000"/>
            </a:avLst>
          </a:prstGeom>
          <a:solidFill>
            <a:srgbClr val="F3F6F9"/>
          </a:solidFill>
          <a:ln w="1651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3639312"/>
            <a:ext cx="2645587" cy="59436"/>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3822192"/>
            <a:ext cx="2316403" cy="256032"/>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5703D"/>
                </a:solidFill>
                <a:latin typeface="Consolas"/>
              </a:rPr>
              <a:t>PKCS11</a:t>
            </a:r>
          </a:p>
        </p:txBody>
      </p:sp>
      <p:sp>
        <p:nvSpPr>
          <p:cNvPr id="12" name="TextBox 11"/>
          <p:cNvSpPr txBox="1"/>
          <p:nvPr/>
        </p:nvSpPr>
        <p:spPr>
          <a:xfrm>
            <a:off x="667512" y="4151376"/>
            <a:ext cx="2316403" cy="502920"/>
          </a:xfrm>
          <a:prstGeom prst="rect">
            <a:avLst/>
          </a:prstGeom>
          <a:noFill/>
        </p:spPr>
        <p:txBody>
          <a:bodyPr wrap="square" lIns="0" rIns="0" tIns="0" bIns="0" anchor="t">
            <a:spAutoFit/>
          </a:bodyPr>
          <a:lstStyle/>
          <a:p>
            <a:pPr algn="l">
              <a:lnSpc>
                <a:spcPct val="122000"/>
              </a:lnSpc>
              <a:spcBef>
                <a:spcPts val="0"/>
              </a:spcBef>
              <a:spcAft>
                <a:spcPts val="0"/>
              </a:spcAft>
            </a:pPr>
            <a:r>
              <a:rPr sz="940" b="0" i="0">
                <a:solidFill>
                  <a:srgbClr val="1E293B"/>
                </a:solidFill>
                <a:latin typeface="Arial"/>
              </a:rPr>
              <a:t>SunPKCS11 provider
+ HSM config file</a:t>
            </a:r>
          </a:p>
        </p:txBody>
      </p:sp>
      <p:sp>
        <p:nvSpPr>
          <p:cNvPr id="13" name="TextBox 12"/>
          <p:cNvSpPr txBox="1"/>
          <p:nvPr/>
        </p:nvSpPr>
        <p:spPr>
          <a:xfrm>
            <a:off x="667512" y="4700016"/>
            <a:ext cx="2316403" cy="347472"/>
          </a:xfrm>
          <a:prstGeom prst="rect">
            <a:avLst/>
          </a:prstGeom>
          <a:noFill/>
        </p:spPr>
        <p:txBody>
          <a:bodyPr wrap="square" lIns="0" rIns="0" tIns="0" bIns="0" anchor="t">
            <a:spAutoFit/>
          </a:bodyPr>
          <a:lstStyle/>
          <a:p>
            <a:pPr algn="l">
              <a:lnSpc>
                <a:spcPct val="120000"/>
              </a:lnSpc>
              <a:spcBef>
                <a:spcPts val="0"/>
              </a:spcBef>
              <a:spcAft>
                <a:spcPts val="0"/>
              </a:spcAft>
            </a:pPr>
            <a:r>
              <a:rPr sz="880" b="0" i="1">
                <a:solidFill>
                  <a:srgbClr val="5B6B7F"/>
                </a:solidFill>
                <a:latin typeface="Arial"/>
              </a:rPr>
              <a:t>Real HSM, or SoftHSM locally</a:t>
            </a:r>
          </a:p>
        </p:txBody>
      </p:sp>
      <p:cxnSp>
        <p:nvCxnSpPr>
          <p:cNvPr id="14" name="Connector 13"/>
          <p:cNvCxnSpPr/>
          <p:nvPr/>
        </p:nvCxnSpPr>
        <p:spPr>
          <a:xfrm flipH="1">
            <a:off x="1825713" y="3310128"/>
            <a:ext cx="4255046" cy="310896"/>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160955" y="3502152"/>
            <a:ext cx="914400" cy="237744"/>
          </a:xfrm>
          <a:prstGeom prst="roundRect">
            <a:avLst>
              <a:gd name="adj" fmla="val 22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60" b="1">
                <a:solidFill>
                  <a:srgbClr val="FFFFFF"/>
                </a:solidFill>
                <a:latin typeface="Arial"/>
              </a:rPr>
              <a:t>PRODUCTION</a:t>
            </a:r>
          </a:p>
        </p:txBody>
      </p:sp>
      <p:sp>
        <p:nvSpPr>
          <p:cNvPr id="16" name="Rounded Rectangle 15"/>
          <p:cNvSpPr/>
          <p:nvPr/>
        </p:nvSpPr>
        <p:spPr>
          <a:xfrm>
            <a:off x="3349675" y="3639312"/>
            <a:ext cx="2645587" cy="1481328"/>
          </a:xfrm>
          <a:prstGeom prst="roundRect">
            <a:avLst>
              <a:gd name="adj" fmla="val 6000"/>
            </a:avLst>
          </a:prstGeom>
          <a:solidFill>
            <a:srgbClr val="F3F6F9"/>
          </a:solidFill>
          <a:ln w="1270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49675" y="3639312"/>
            <a:ext cx="2645587" cy="59436"/>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4267" y="3822192"/>
            <a:ext cx="2316403" cy="256032"/>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B45309"/>
                </a:solidFill>
                <a:latin typeface="Consolas"/>
              </a:rPr>
              <a:t>PKCS12</a:t>
            </a:r>
          </a:p>
        </p:txBody>
      </p:sp>
      <p:sp>
        <p:nvSpPr>
          <p:cNvPr id="19" name="TextBox 18"/>
          <p:cNvSpPr txBox="1"/>
          <p:nvPr/>
        </p:nvSpPr>
        <p:spPr>
          <a:xfrm>
            <a:off x="3514267" y="4151376"/>
            <a:ext cx="2316403" cy="502920"/>
          </a:xfrm>
          <a:prstGeom prst="rect">
            <a:avLst/>
          </a:prstGeom>
          <a:noFill/>
        </p:spPr>
        <p:txBody>
          <a:bodyPr wrap="square" lIns="0" rIns="0" tIns="0" bIns="0" anchor="t">
            <a:spAutoFit/>
          </a:bodyPr>
          <a:lstStyle/>
          <a:p>
            <a:pPr algn="l">
              <a:lnSpc>
                <a:spcPct val="122000"/>
              </a:lnSpc>
              <a:spcBef>
                <a:spcPts val="0"/>
              </a:spcBef>
              <a:spcAft>
                <a:spcPts val="0"/>
              </a:spcAft>
            </a:pPr>
            <a:r>
              <a:rPr sz="940" b="0" i="0">
                <a:solidFill>
                  <a:srgbClr val="1E293B"/>
                </a:solidFill>
                <a:latin typeface="Arial"/>
              </a:rPr>
              <a:t>a </a:t>
            </a:r>
            <a:r>
              <a:rPr sz="940" b="0" i="0">
                <a:solidFill>
                  <a:srgbClr val="B45309"/>
                </a:solidFill>
                <a:latin typeface="Consolas"/>
              </a:rPr>
              <a:t>.p12</a:t>
            </a:r>
            <a:r>
              <a:rPr sz="940" b="0" i="0">
                <a:solidFill>
                  <a:srgbClr val="1E293B"/>
                </a:solidFill>
                <a:latin typeface="Arial"/>
              </a:rPr>
              <a:t> file on disk</a:t>
            </a:r>
          </a:p>
        </p:txBody>
      </p:sp>
      <p:sp>
        <p:nvSpPr>
          <p:cNvPr id="20" name="TextBox 19"/>
          <p:cNvSpPr txBox="1"/>
          <p:nvPr/>
        </p:nvSpPr>
        <p:spPr>
          <a:xfrm>
            <a:off x="3514267" y="4700016"/>
            <a:ext cx="2316403" cy="347472"/>
          </a:xfrm>
          <a:prstGeom prst="rect">
            <a:avLst/>
          </a:prstGeom>
          <a:noFill/>
        </p:spPr>
        <p:txBody>
          <a:bodyPr wrap="square" lIns="0" rIns="0" tIns="0" bIns="0" anchor="t">
            <a:spAutoFit/>
          </a:bodyPr>
          <a:lstStyle/>
          <a:p>
            <a:pPr algn="l">
              <a:lnSpc>
                <a:spcPct val="120000"/>
              </a:lnSpc>
              <a:spcBef>
                <a:spcPts val="0"/>
              </a:spcBef>
              <a:spcAft>
                <a:spcPts val="0"/>
              </a:spcAft>
            </a:pPr>
            <a:r>
              <a:rPr sz="880" b="0" i="1">
                <a:solidFill>
                  <a:srgbClr val="5B6B7F"/>
                </a:solidFill>
                <a:latin typeface="Arial"/>
              </a:rPr>
              <a:t>Local development only</a:t>
            </a:r>
          </a:p>
        </p:txBody>
      </p:sp>
      <p:cxnSp>
        <p:nvCxnSpPr>
          <p:cNvPr id="21" name="Connector 20"/>
          <p:cNvCxnSpPr/>
          <p:nvPr/>
        </p:nvCxnSpPr>
        <p:spPr>
          <a:xfrm flipH="1">
            <a:off x="4672469" y="3310128"/>
            <a:ext cx="1408290" cy="310896"/>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196431" y="3639312"/>
            <a:ext cx="2645587" cy="1481328"/>
          </a:xfrm>
          <a:prstGeom prst="roundRect">
            <a:avLst>
              <a:gd name="adj" fmla="val 6000"/>
            </a:avLst>
          </a:prstGeom>
          <a:solidFill>
            <a:srgbClr val="F3F6F9"/>
          </a:solidFill>
          <a:ln w="12700">
            <a:solidFill>
              <a:srgbClr val="5B6B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6431" y="3639312"/>
            <a:ext cx="2645587" cy="59436"/>
          </a:xfrm>
          <a:prstGeom prst="rect">
            <a:avLst/>
          </a:prstGeom>
          <a:solidFill>
            <a:srgbClr val="5B6B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1023" y="3822192"/>
            <a:ext cx="2316403" cy="256032"/>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5B6B7F"/>
                </a:solidFill>
                <a:latin typeface="Consolas"/>
              </a:rPr>
              <a:t>Offline</a:t>
            </a:r>
          </a:p>
        </p:txBody>
      </p:sp>
      <p:sp>
        <p:nvSpPr>
          <p:cNvPr id="25" name="TextBox 24"/>
          <p:cNvSpPr txBox="1"/>
          <p:nvPr/>
        </p:nvSpPr>
        <p:spPr>
          <a:xfrm>
            <a:off x="6361023" y="4151376"/>
            <a:ext cx="2316403" cy="502920"/>
          </a:xfrm>
          <a:prstGeom prst="rect">
            <a:avLst/>
          </a:prstGeom>
          <a:noFill/>
        </p:spPr>
        <p:txBody>
          <a:bodyPr wrap="square" lIns="0" rIns="0" tIns="0" bIns="0" anchor="t">
            <a:spAutoFit/>
          </a:bodyPr>
          <a:lstStyle/>
          <a:p>
            <a:pPr algn="l">
              <a:lnSpc>
                <a:spcPct val="122000"/>
              </a:lnSpc>
              <a:spcBef>
                <a:spcPts val="0"/>
              </a:spcBef>
              <a:spcAft>
                <a:spcPts val="0"/>
              </a:spcAft>
            </a:pPr>
            <a:r>
              <a:rPr sz="940" b="0" i="0">
                <a:solidFill>
                  <a:srgbClr val="1E293B"/>
                </a:solidFill>
                <a:latin typeface="Arial"/>
              </a:rPr>
              <a:t>no keystore access</a:t>
            </a:r>
          </a:p>
        </p:txBody>
      </p:sp>
      <p:sp>
        <p:nvSpPr>
          <p:cNvPr id="26" name="TextBox 25"/>
          <p:cNvSpPr txBox="1"/>
          <p:nvPr/>
        </p:nvSpPr>
        <p:spPr>
          <a:xfrm>
            <a:off x="6361023" y="4700016"/>
            <a:ext cx="2316403" cy="347472"/>
          </a:xfrm>
          <a:prstGeom prst="rect">
            <a:avLst/>
          </a:prstGeom>
          <a:noFill/>
        </p:spPr>
        <p:txBody>
          <a:bodyPr wrap="square" lIns="0" rIns="0" tIns="0" bIns="0" anchor="t">
            <a:spAutoFit/>
          </a:bodyPr>
          <a:lstStyle/>
          <a:p>
            <a:pPr algn="l">
              <a:lnSpc>
                <a:spcPct val="120000"/>
              </a:lnSpc>
              <a:spcBef>
                <a:spcPts val="0"/>
              </a:spcBef>
              <a:spcAft>
                <a:spcPts val="0"/>
              </a:spcAft>
            </a:pPr>
            <a:r>
              <a:rPr sz="880" b="0" i="1">
                <a:solidFill>
                  <a:srgbClr val="5B6B7F"/>
                </a:solidFill>
                <a:latin typeface="Arial"/>
              </a:rPr>
              <a:t>Verification-only deployments</a:t>
            </a:r>
          </a:p>
        </p:txBody>
      </p:sp>
      <p:cxnSp>
        <p:nvCxnSpPr>
          <p:cNvPr id="27" name="Connector 26"/>
          <p:cNvCxnSpPr/>
          <p:nvPr/>
        </p:nvCxnSpPr>
        <p:spPr>
          <a:xfrm>
            <a:off x="6080759" y="3310128"/>
            <a:ext cx="1438466" cy="310896"/>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043187" y="3639312"/>
            <a:ext cx="2645587" cy="1481328"/>
          </a:xfrm>
          <a:prstGeom prst="roundRect">
            <a:avLst>
              <a:gd name="adj" fmla="val 6000"/>
            </a:avLst>
          </a:prstGeom>
          <a:solidFill>
            <a:srgbClr val="F3F6F9"/>
          </a:solidFill>
          <a:ln w="1270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043187" y="3639312"/>
            <a:ext cx="2645587" cy="59436"/>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07779" y="3822192"/>
            <a:ext cx="2316403" cy="256032"/>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latin typeface="Consolas"/>
              </a:rPr>
              <a:t>JCE</a:t>
            </a:r>
          </a:p>
        </p:txBody>
      </p:sp>
      <p:sp>
        <p:nvSpPr>
          <p:cNvPr id="31" name="TextBox 30"/>
          <p:cNvSpPr txBox="1"/>
          <p:nvPr/>
        </p:nvSpPr>
        <p:spPr>
          <a:xfrm>
            <a:off x="9207779" y="4151376"/>
            <a:ext cx="2316403" cy="502920"/>
          </a:xfrm>
          <a:prstGeom prst="rect">
            <a:avLst/>
          </a:prstGeom>
          <a:noFill/>
        </p:spPr>
        <p:txBody>
          <a:bodyPr wrap="square" lIns="0" rIns="0" tIns="0" bIns="0" anchor="t">
            <a:spAutoFit/>
          </a:bodyPr>
          <a:lstStyle/>
          <a:p>
            <a:pPr algn="l">
              <a:lnSpc>
                <a:spcPct val="122000"/>
              </a:lnSpc>
              <a:spcBef>
                <a:spcPts val="0"/>
              </a:spcBef>
              <a:spcAft>
                <a:spcPts val="0"/>
              </a:spcAft>
            </a:pPr>
            <a:r>
              <a:rPr sz="940" b="0" i="0">
                <a:solidFill>
                  <a:srgbClr val="1E293B"/>
                </a:solidFill>
                <a:latin typeface="Arial"/>
              </a:rPr>
              <a:t>vendor JCE provider
(e.g. CloudHSM)</a:t>
            </a:r>
          </a:p>
        </p:txBody>
      </p:sp>
      <p:sp>
        <p:nvSpPr>
          <p:cNvPr id="32" name="TextBox 31"/>
          <p:cNvSpPr txBox="1"/>
          <p:nvPr/>
        </p:nvSpPr>
        <p:spPr>
          <a:xfrm>
            <a:off x="9207779" y="4700016"/>
            <a:ext cx="2316403" cy="347472"/>
          </a:xfrm>
          <a:prstGeom prst="rect">
            <a:avLst/>
          </a:prstGeom>
          <a:noFill/>
        </p:spPr>
        <p:txBody>
          <a:bodyPr wrap="square" lIns="0" rIns="0" tIns="0" bIns="0" anchor="t">
            <a:spAutoFit/>
          </a:bodyPr>
          <a:lstStyle/>
          <a:p>
            <a:pPr algn="l">
              <a:lnSpc>
                <a:spcPct val="120000"/>
              </a:lnSpc>
              <a:spcBef>
                <a:spcPts val="0"/>
              </a:spcBef>
              <a:spcAft>
                <a:spcPts val="0"/>
              </a:spcAft>
            </a:pPr>
            <a:r>
              <a:rPr sz="880" b="0" i="1">
                <a:solidFill>
                  <a:srgbClr val="5B6B7F"/>
                </a:solidFill>
                <a:latin typeface="Arial"/>
              </a:rPr>
              <a:t>Cloud HSM services</a:t>
            </a:r>
          </a:p>
        </p:txBody>
      </p:sp>
      <p:cxnSp>
        <p:nvCxnSpPr>
          <p:cNvPr id="33" name="Connector 32"/>
          <p:cNvCxnSpPr/>
          <p:nvPr/>
        </p:nvCxnSpPr>
        <p:spPr>
          <a:xfrm>
            <a:off x="6080759" y="3310128"/>
            <a:ext cx="4285222" cy="310896"/>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1600200" y="5340096"/>
            <a:ext cx="2194560" cy="566928"/>
          </a:xfrm>
          <a:prstGeom prst="roundRect">
            <a:avLst>
              <a:gd name="adj" fmla="val 10000"/>
            </a:avLst>
          </a:prstGeom>
          <a:solidFill>
            <a:srgbClr val="FDF0DC"/>
          </a:solidFill>
          <a:ln w="15240">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B45309"/>
                </a:solidFill>
                <a:latin typeface="Arial"/>
              </a:rPr>
              <a:t>SoftHSM</a:t>
            </a:r>
          </a:p>
          <a:p>
            <a:pPr algn="ctr">
              <a:lnSpc>
                <a:spcPct val="110000"/>
              </a:lnSpc>
              <a:spcBef>
                <a:spcPts val="200"/>
              </a:spcBef>
            </a:pPr>
            <a:r>
              <a:rPr sz="800">
                <a:solidFill>
                  <a:srgbClr val="B45309"/>
                </a:solidFill>
                <a:latin typeface="Arial"/>
              </a:rPr>
              <a:t>software, dev</a:t>
            </a:r>
          </a:p>
        </p:txBody>
      </p:sp>
      <p:sp>
        <p:nvSpPr>
          <p:cNvPr id="35" name="Rounded Rectangle 34"/>
          <p:cNvSpPr/>
          <p:nvPr/>
        </p:nvSpPr>
        <p:spPr>
          <a:xfrm>
            <a:off x="4343400" y="5340096"/>
            <a:ext cx="2194560" cy="566928"/>
          </a:xfrm>
          <a:prstGeom prst="roundRect">
            <a:avLst>
              <a:gd name="adj" fmla="val 10000"/>
            </a:avLst>
          </a:prstGeom>
          <a:solidFill>
            <a:srgbClr val="DFF1E5"/>
          </a:solidFill>
          <a:ln w="15240">
            <a:solidFill>
              <a:srgbClr val="15703D"/>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15703D"/>
                </a:solidFill>
                <a:latin typeface="Arial"/>
              </a:rPr>
              <a:t>Network HSM</a:t>
            </a:r>
          </a:p>
          <a:p>
            <a:pPr algn="ctr">
              <a:lnSpc>
                <a:spcPct val="110000"/>
              </a:lnSpc>
              <a:spcBef>
                <a:spcPts val="200"/>
              </a:spcBef>
            </a:pPr>
            <a:r>
              <a:rPr sz="800">
                <a:solidFill>
                  <a:srgbClr val="15703D"/>
                </a:solidFill>
                <a:latin typeface="Arial"/>
              </a:rPr>
              <a:t>e.g. Luna, nShield</a:t>
            </a:r>
          </a:p>
        </p:txBody>
      </p:sp>
      <p:sp>
        <p:nvSpPr>
          <p:cNvPr id="36" name="Rounded Rectangle 35"/>
          <p:cNvSpPr/>
          <p:nvPr/>
        </p:nvSpPr>
        <p:spPr>
          <a:xfrm>
            <a:off x="7086600" y="5340096"/>
            <a:ext cx="2194560" cy="566928"/>
          </a:xfrm>
          <a:prstGeom prst="roundRect">
            <a:avLst>
              <a:gd name="adj" fmla="val 10000"/>
            </a:avLst>
          </a:prstGeom>
          <a:solidFill>
            <a:srgbClr val="DCE7F4"/>
          </a:solidFill>
          <a:ln w="15240">
            <a:solidFill>
              <a:srgbClr val="1D4E8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50" b="1">
                <a:solidFill>
                  <a:srgbClr val="1D4E89"/>
                </a:solidFill>
                <a:latin typeface="Arial"/>
              </a:rPr>
              <a:t>Cloud HSM</a:t>
            </a:r>
          </a:p>
          <a:p>
            <a:pPr algn="ctr">
              <a:lnSpc>
                <a:spcPct val="110000"/>
              </a:lnSpc>
              <a:spcBef>
                <a:spcPts val="200"/>
              </a:spcBef>
            </a:pPr>
            <a:r>
              <a:rPr sz="800">
                <a:solidFill>
                  <a:srgbClr val="1D4E89"/>
                </a:solidFill>
                <a:latin typeface="Arial"/>
              </a:rPr>
              <a:t>AWS / Azure managed</a:t>
            </a:r>
          </a:p>
        </p:txBody>
      </p:sp>
      <p:sp>
        <p:nvSpPr>
          <p:cNvPr id="37" name="TextBox 36"/>
          <p:cNvSpPr txBox="1"/>
          <p:nvPr/>
        </p:nvSpPr>
        <p:spPr>
          <a:xfrm>
            <a:off x="502920" y="5148072"/>
            <a:ext cx="11185855"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latin typeface="Arial"/>
              </a:rPr>
              <a:t>WHAT SITS BEHIND PKCS#11 / JCE</a:t>
            </a:r>
          </a:p>
        </p:txBody>
      </p:sp>
      <p:sp>
        <p:nvSpPr>
          <p:cNvPr id="38" name="Rounded Rectangle 37"/>
          <p:cNvSpPr/>
          <p:nvPr/>
        </p:nvSpPr>
        <p:spPr>
          <a:xfrm>
            <a:off x="9811512" y="5321808"/>
            <a:ext cx="1874519" cy="84124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957816" y="5440680"/>
            <a:ext cx="1581911" cy="603504"/>
          </a:xfrm>
          <a:prstGeom prst="rect">
            <a:avLst/>
          </a:prstGeom>
          <a:noFill/>
        </p:spPr>
        <p:txBody>
          <a:bodyPr wrap="square" lIns="0" rIns="0" tIns="0" bIns="0" anchor="t">
            <a:spAutoFit/>
          </a:bodyPr>
          <a:lstStyle/>
          <a:p>
            <a:pPr>
              <a:lnSpc>
                <a:spcPct val="116000"/>
              </a:lnSpc>
              <a:spcBef>
                <a:spcPts val="0"/>
              </a:spcBef>
              <a:spcAft>
                <a:spcPts val="0"/>
              </a:spcAft>
            </a:pPr>
            <a:r>
              <a:rPr sz="760">
                <a:solidFill>
                  <a:srgbClr val="CBD9E8"/>
                </a:solidFill>
                <a:latin typeface="Consolas"/>
              </a:rPr>
              <a:t>keystore-type = PKCS11</a:t>
            </a:r>
          </a:p>
          <a:p>
            <a:pPr>
              <a:lnSpc>
                <a:spcPct val="116000"/>
              </a:lnSpc>
              <a:spcBef>
                <a:spcPts val="0"/>
              </a:spcBef>
              <a:spcAft>
                <a:spcPts val="0"/>
              </a:spcAft>
            </a:pPr>
            <a:r>
              <a:rPr sz="760">
                <a:solidFill>
                  <a:srgbClr val="CBD9E8"/>
                </a:solidFill>
                <a:latin typeface="Consolas"/>
              </a:rPr>
              <a:t>config-path   = hsm.cfg</a:t>
            </a:r>
          </a:p>
          <a:p>
            <a:pPr>
              <a:lnSpc>
                <a:spcPct val="116000"/>
              </a:lnSpc>
              <a:spcBef>
                <a:spcPts val="0"/>
              </a:spcBef>
              <a:spcAft>
                <a:spcPts val="0"/>
              </a:spcAft>
            </a:pPr>
            <a:r>
              <a:rPr sz="760">
                <a:solidFill>
                  <a:srgbClr val="CBD9E8"/>
                </a:solidFill>
                <a:latin typeface="Consolas"/>
              </a:rPr>
              <a:t>keystore-pass = ••••</a:t>
            </a:r>
          </a:p>
        </p:txBody>
      </p:sp>
      <p:sp>
        <p:nvSpPr>
          <p:cNvPr id="40" name="TextBox 3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41" name="TextBox 4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4 — PRODUCTION DECISION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Software keystore or HSM — the honest trade-off</a:t>
            </a:r>
          </a:p>
        </p:txBody>
      </p:sp>
      <p:sp>
        <p:nvSpPr>
          <p:cNvPr id="4" name="TextBox 3"/>
          <p:cNvSpPr txBox="1"/>
          <p:nvPr/>
        </p:nvSpPr>
        <p:spPr>
          <a:xfrm>
            <a:off x="502920" y="1078992"/>
            <a:ext cx="11185855" cy="287496"/>
          </a:xfrm>
          <a:prstGeom prst="rect">
            <a:avLst/>
          </a:prstGeom>
          <a:noFill/>
        </p:spPr>
        <p:txBody>
          <a:bodyPr wrap="square" lIns="0" rIns="0" tIns="0" bIns="0" anchor="t">
            <a:spAutoFit/>
          </a:bodyPr>
          <a:lstStyle/>
          <a:p>
            <a:pPr algn="l">
              <a:lnSpc>
                <a:spcPct val="114000"/>
              </a:lnSpc>
              <a:spcBef>
                <a:spcPts val="0"/>
              </a:spcBef>
              <a:spcAft>
                <a:spcPts val="0"/>
              </a:spcAft>
            </a:pPr>
            <a:r>
              <a:rPr sz="1110" b="0" i="0">
                <a:solidFill>
                  <a:srgbClr val="5B6B7F"/>
                </a:solidFill>
                <a:latin typeface="Arial"/>
              </a:rPr>
              <a:t>For an issuer whose signatures carry legal weight, this is not really a close call. But know what you are buying.</a:t>
            </a:r>
          </a:p>
        </p:txBody>
      </p:sp>
      <p:cxnSp>
        <p:nvCxnSpPr>
          <p:cNvPr id="5" name="Connector 4"/>
          <p:cNvCxnSpPr/>
          <p:nvPr/>
        </p:nvCxnSpPr>
        <p:spPr>
          <a:xfrm>
            <a:off x="502920" y="14579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graphicFrame>
        <p:nvGraphicFramePr>
          <p:cNvPr id="6" name="Table 5"/>
          <p:cNvGraphicFramePr>
            <a:graphicFrameLocks noGrp="1"/>
          </p:cNvGraphicFramePr>
          <p:nvPr/>
        </p:nvGraphicFramePr>
        <p:xfrm>
          <a:off x="502920" y="1643955"/>
          <a:ext cx="11185854" cy="3788181"/>
        </p:xfrm>
        <a:graphic>
          <a:graphicData uri="http://schemas.openxmlformats.org/drawingml/2006/table">
            <a:tbl>
              <a:tblPr firstRow="1">
                <a:tableStyleId>{2D5ABB26-0587-4C30-8999-92F81FD0307C}</a:tableStyleId>
              </a:tblPr>
              <a:tblGrid>
                <a:gridCol w="2118533"/>
                <a:gridCol w="2881205"/>
                <a:gridCol w="3304911"/>
                <a:gridCol w="2881205"/>
              </a:tblGrid>
              <a:tr h="287496">
                <a:tc>
                  <a:txBody>
                    <a:bodyPr wrap="square"/>
                    <a:lstStyle/>
                    <a:p>
                      <a:pPr algn="l"/>
                    </a:p>
                  </a:txBody>
                  <a:tcPr marL="64008" marR="54864" marT="27432" marB="27432" anchor="ctr">
                    <a:solidFill>
                      <a:srgbClr val="1D4E89"/>
                    </a:solidFill>
                  </a:tcPr>
                </a:tc>
                <a:tc>
                  <a:txBody>
                    <a:bodyPr wrap="square"/>
                    <a:lstStyle/>
                    <a:p>
                      <a:pPr algn="l"/>
                      <a:r>
                        <a:rPr sz="919" b="1">
                          <a:solidFill>
                            <a:srgbClr val="FFFFFF"/>
                          </a:solidFill>
                          <a:latin typeface="Arial"/>
                        </a:rPr>
                        <a:t>Software keystore (PKCS12)</a:t>
                      </a:r>
                    </a:p>
                  </a:txBody>
                  <a:tcPr marL="64008" marR="54864" marT="27432" marB="27432" anchor="ctr">
                    <a:solidFill>
                      <a:srgbClr val="1D4E89"/>
                    </a:solidFill>
                  </a:tcPr>
                </a:tc>
                <a:tc>
                  <a:txBody>
                    <a:bodyPr wrap="square"/>
                    <a:lstStyle/>
                    <a:p>
                      <a:pPr algn="l"/>
                      <a:r>
                        <a:rPr sz="919" b="1">
                          <a:solidFill>
                            <a:srgbClr val="FFFFFF"/>
                          </a:solidFill>
                          <a:latin typeface="Arial"/>
                        </a:rPr>
                        <a:t>HSM (PKCS11 / JCE)</a:t>
                      </a:r>
                    </a:p>
                  </a:txBody>
                  <a:tcPr marL="64008" marR="54864" marT="27432" marB="27432" anchor="ctr">
                    <a:solidFill>
                      <a:srgbClr val="1D4E89"/>
                    </a:solidFill>
                  </a:tcPr>
                </a:tc>
                <a:tc>
                  <a:txBody>
                    <a:bodyPr wrap="square"/>
                    <a:lstStyle/>
                    <a:p>
                      <a:pPr algn="l"/>
                      <a:r>
                        <a:rPr sz="919" b="1">
                          <a:solidFill>
                            <a:srgbClr val="FFFFFF"/>
                          </a:solidFill>
                          <a:latin typeface="Arial"/>
                        </a:rPr>
                        <a:t>Why it matters</a:t>
                      </a:r>
                    </a:p>
                  </a:txBody>
                  <a:tcPr marL="64008" marR="54864" marT="27432" marB="27432" anchor="ctr">
                    <a:solidFill>
                      <a:srgbClr val="1D4E89"/>
                    </a:solidFill>
                  </a:tcPr>
                </a:tc>
              </a:tr>
              <a:tr h="388965">
                <a:tc>
                  <a:txBody>
                    <a:bodyPr wrap="square"/>
                    <a:lstStyle/>
                    <a:p>
                      <a:pPr algn="l">
                        <a:lnSpc>
                          <a:spcPct val="105000"/>
                        </a:lnSpc>
                      </a:pPr>
                      <a:r>
                        <a:rPr sz="900" b="1">
                          <a:solidFill>
                            <a:srgbClr val="0F172A"/>
                          </a:solidFill>
                          <a:latin typeface="Arial"/>
                        </a:rPr>
                        <a:t>Where the private key is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 file on a disk you manage</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Inside tamper-resistant hardware</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The whole argument</a:t>
                      </a:r>
                    </a:p>
                  </a:txBody>
                  <a:tcPr marL="64008" marR="54864" marT="18288" marB="18288" anchor="ctr">
                    <a:solidFill>
                      <a:srgbClr val="FFFFFF"/>
                    </a:solidFill>
                  </a:tcPr>
                </a:tc>
              </a:tr>
              <a:tr h="388965">
                <a:tc>
                  <a:txBody>
                    <a:bodyPr wrap="square"/>
                    <a:lstStyle/>
                    <a:p>
                      <a:pPr algn="l">
                        <a:lnSpc>
                          <a:spcPct val="105000"/>
                        </a:lnSpc>
                      </a:pPr>
                      <a:r>
                        <a:rPr sz="900" b="1">
                          <a:solidFill>
                            <a:srgbClr val="0F172A"/>
                          </a:solidFill>
                          <a:latin typeface="Arial"/>
                        </a:rPr>
                        <a:t>Can an operator copy it?</a:t>
                      </a:r>
                    </a:p>
                  </a:txBody>
                  <a:tcPr marL="64008" marR="54864" marT="18288" marB="18288" anchor="ctr">
                    <a:solidFill>
                      <a:srgbClr val="F3F6F9"/>
                    </a:solidFill>
                  </a:tcPr>
                </a:tc>
                <a:tc>
                  <a:txBody>
                    <a:bodyPr wrap="square"/>
                    <a:lstStyle/>
                    <a:p>
                      <a:pPr algn="l">
                        <a:lnSpc>
                          <a:spcPct val="105000"/>
                        </a:lnSpc>
                      </a:pPr>
                      <a:r>
                        <a:rPr sz="900" b="1">
                          <a:solidFill>
                            <a:srgbClr val="B31B1B"/>
                          </a:solidFill>
                          <a:latin typeface="Arial"/>
                        </a:rPr>
                        <a:t>Yes — read the file</a:t>
                      </a:r>
                    </a:p>
                  </a:txBody>
                  <a:tcPr marL="64008" marR="54864" marT="18288" marB="18288" anchor="ctr">
                    <a:solidFill>
                      <a:srgbClr val="F3F6F9"/>
                    </a:solidFill>
                  </a:tcPr>
                </a:tc>
                <a:tc>
                  <a:txBody>
                    <a:bodyPr wrap="square"/>
                    <a:lstStyle/>
                    <a:p>
                      <a:pPr algn="l">
                        <a:lnSpc>
                          <a:spcPct val="105000"/>
                        </a:lnSpc>
                      </a:pPr>
                      <a:r>
                        <a:rPr sz="900" b="1">
                          <a:solidFill>
                            <a:srgbClr val="15703D"/>
                          </a:solidFill>
                          <a:latin typeface="Arial"/>
                        </a:rPr>
                        <a:t>No — it is non-exportable by design</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This is what an auditor asks</a:t>
                      </a:r>
                    </a:p>
                  </a:txBody>
                  <a:tcPr marL="64008" marR="54864" marT="18288" marB="18288" anchor="ctr">
                    <a:solidFill>
                      <a:srgbClr val="F3F6F9"/>
                    </a:solidFill>
                  </a:tcPr>
                </a:tc>
              </a:tr>
              <a:tr h="388965">
                <a:tc>
                  <a:txBody>
                    <a:bodyPr wrap="square"/>
                    <a:lstStyle/>
                    <a:p>
                      <a:pPr algn="l">
                        <a:lnSpc>
                          <a:spcPct val="105000"/>
                        </a:lnSpc>
                      </a:pPr>
                      <a:r>
                        <a:rPr sz="900" b="1">
                          <a:solidFill>
                            <a:srgbClr val="0F172A"/>
                          </a:solidFill>
                          <a:latin typeface="Arial"/>
                        </a:rPr>
                        <a:t>Compromise of a host</a:t>
                      </a:r>
                    </a:p>
                  </a:txBody>
                  <a:tcPr marL="64008" marR="54864" marT="18288" marB="18288" anchor="ctr">
                    <a:solidFill>
                      <a:srgbClr val="FFFFFF"/>
                    </a:solidFill>
                  </a:tcPr>
                </a:tc>
                <a:tc>
                  <a:txBody>
                    <a:bodyPr wrap="square"/>
                    <a:lstStyle/>
                    <a:p>
                      <a:pPr algn="l">
                        <a:lnSpc>
                          <a:spcPct val="105000"/>
                        </a:lnSpc>
                      </a:pPr>
                      <a:r>
                        <a:rPr sz="900" b="1">
                          <a:solidFill>
                            <a:srgbClr val="B31B1B"/>
                          </a:solidFill>
                          <a:latin typeface="Arial"/>
                        </a:rPr>
                        <a:t>Key is gone; assume total compromise</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Attacker can *use* the key while they have access, but cannot *keep* it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Changes incident response completely</a:t>
                      </a:r>
                    </a:p>
                  </a:txBody>
                  <a:tcPr marL="64008" marR="54864" marT="18288" marB="18288" anchor="ctr">
                    <a:solidFill>
                      <a:srgbClr val="FFFFFF"/>
                    </a:solidFill>
                  </a:tcPr>
                </a:tc>
              </a:tr>
              <a:tr h="388965">
                <a:tc>
                  <a:txBody>
                    <a:bodyPr wrap="square"/>
                    <a:lstStyle/>
                    <a:p>
                      <a:pPr algn="l">
                        <a:lnSpc>
                          <a:spcPct val="105000"/>
                        </a:lnSpc>
                      </a:pPr>
                      <a:r>
                        <a:rPr sz="900" b="1">
                          <a:solidFill>
                            <a:srgbClr val="0F172A"/>
                          </a:solidFill>
                          <a:latin typeface="Arial"/>
                        </a:rPr>
                        <a:t>Cost</a:t>
                      </a:r>
                    </a:p>
                  </a:txBody>
                  <a:tcPr marL="64008" marR="54864" marT="18288" marB="18288" anchor="ctr">
                    <a:solidFill>
                      <a:srgbClr val="F3F6F9"/>
                    </a:solidFill>
                  </a:tcPr>
                </a:tc>
                <a:tc>
                  <a:txBody>
                    <a:bodyPr wrap="square"/>
                    <a:lstStyle/>
                    <a:p>
                      <a:pPr algn="l">
                        <a:lnSpc>
                          <a:spcPct val="105000"/>
                        </a:lnSpc>
                      </a:pPr>
                      <a:r>
                        <a:rPr sz="900" b="1">
                          <a:solidFill>
                            <a:srgbClr val="15703D"/>
                          </a:solidFill>
                          <a:latin typeface="Arial"/>
                        </a:rPr>
                        <a:t>None</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Hardware or managed service, plus operations</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Budget and procurement lead time</a:t>
                      </a:r>
                    </a:p>
                  </a:txBody>
                  <a:tcPr marL="64008" marR="54864" marT="18288" marB="18288" anchor="ctr">
                    <a:solidFill>
                      <a:srgbClr val="F3F6F9"/>
                    </a:solidFill>
                  </a:tcPr>
                </a:tc>
              </a:tr>
              <a:tr h="388965">
                <a:tc>
                  <a:txBody>
                    <a:bodyPr wrap="square"/>
                    <a:lstStyle/>
                    <a:p>
                      <a:pPr algn="l">
                        <a:lnSpc>
                          <a:spcPct val="105000"/>
                        </a:lnSpc>
                      </a:pPr>
                      <a:r>
                        <a:rPr sz="900" b="1">
                          <a:solidFill>
                            <a:srgbClr val="0F172A"/>
                          </a:solidFill>
                          <a:latin typeface="Arial"/>
                        </a:rPr>
                        <a:t>Throughput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CPU-bound; scales with pods</a:t>
                      </a:r>
                    </a:p>
                  </a:txBody>
                  <a:tcPr marL="64008" marR="54864" marT="18288" marB="18288" anchor="ctr">
                    <a:solidFill>
                      <a:srgbClr val="FFFFFF"/>
                    </a:solidFill>
                  </a:tcPr>
                </a:tc>
                <a:tc>
                  <a:txBody>
                    <a:bodyPr wrap="square"/>
                    <a:lstStyle/>
                    <a:p>
                      <a:pPr algn="l">
                        <a:lnSpc>
                          <a:spcPct val="105000"/>
                        </a:lnSpc>
                      </a:pPr>
                      <a:r>
                        <a:rPr sz="900" b="1">
                          <a:solidFill>
                            <a:srgbClr val="B31B1B"/>
                          </a:solidFill>
                          <a:latin typeface="Arial"/>
                        </a:rPr>
                        <a:t>Bounded by the device; a hard ceiling</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Load-test before sizing</a:t>
                      </a:r>
                    </a:p>
                  </a:txBody>
                  <a:tcPr marL="64008" marR="54864" marT="18288" marB="18288" anchor="ctr">
                    <a:solidFill>
                      <a:srgbClr val="FFFFFF"/>
                    </a:solidFill>
                  </a:tcPr>
                </a:tc>
              </a:tr>
              <a:tr h="388965">
                <a:tc>
                  <a:txBody>
                    <a:bodyPr wrap="square"/>
                    <a:lstStyle/>
                    <a:p>
                      <a:pPr algn="l">
                        <a:lnSpc>
                          <a:spcPct val="105000"/>
                        </a:lnSpc>
                      </a:pPr>
                      <a:r>
                        <a:rPr sz="900" b="1">
                          <a:solidFill>
                            <a:srgbClr val="0F172A"/>
                          </a:solidFill>
                          <a:latin typeface="Arial"/>
                        </a:rPr>
                        <a:t>Availability</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Same as the pod</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Extra dependency — needs HA, and a tested failover</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New single point of failure</a:t>
                      </a:r>
                    </a:p>
                  </a:txBody>
                  <a:tcPr marL="64008" marR="54864" marT="18288" marB="18288" anchor="ctr">
                    <a:solidFill>
                      <a:srgbClr val="F3F6F9"/>
                    </a:solidFill>
                  </a:tcPr>
                </a:tc>
              </a:tr>
              <a:tr h="388965">
                <a:tc>
                  <a:txBody>
                    <a:bodyPr wrap="square"/>
                    <a:lstStyle/>
                    <a:p>
                      <a:pPr algn="l">
                        <a:lnSpc>
                          <a:spcPct val="105000"/>
                        </a:lnSpc>
                      </a:pPr>
                      <a:r>
                        <a:rPr sz="900" b="1">
                          <a:solidFill>
                            <a:srgbClr val="0F172A"/>
                          </a:solidFill>
                          <a:latin typeface="Arial"/>
                        </a:rPr>
                        <a:t>Key ceremony / audit</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Ad hoc</a:t>
                      </a:r>
                    </a:p>
                  </a:txBody>
                  <a:tcPr marL="64008" marR="54864" marT="18288" marB="18288" anchor="ctr">
                    <a:solidFill>
                      <a:srgbClr val="FFFFFF"/>
                    </a:solidFill>
                  </a:tcPr>
                </a:tc>
                <a:tc>
                  <a:txBody>
                    <a:bodyPr wrap="square"/>
                    <a:lstStyle/>
                    <a:p>
                      <a:pPr algn="l">
                        <a:lnSpc>
                          <a:spcPct val="105000"/>
                        </a:lnSpc>
                      </a:pPr>
                      <a:r>
                        <a:rPr sz="900" b="1">
                          <a:solidFill>
                            <a:srgbClr val="15703D"/>
                          </a:solidFill>
                          <a:latin typeface="Arial"/>
                        </a:rPr>
                        <a:t>Formal, witnessed, evidenced</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Often a compliance requirement</a:t>
                      </a:r>
                    </a:p>
                  </a:txBody>
                  <a:tcPr marL="64008" marR="54864" marT="18288" marB="18288" anchor="ctr">
                    <a:solidFill>
                      <a:srgbClr val="FFFFFF"/>
                    </a:solidFill>
                  </a:tcPr>
                </a:tc>
              </a:tr>
              <a:tr h="388965">
                <a:tc>
                  <a:txBody>
                    <a:bodyPr wrap="square"/>
                    <a:lstStyle/>
                    <a:p>
                      <a:pPr algn="l">
                        <a:lnSpc>
                          <a:spcPct val="105000"/>
                        </a:lnSpc>
                      </a:pPr>
                      <a:r>
                        <a:rPr sz="900" b="1">
                          <a:solidFill>
                            <a:srgbClr val="0F172A"/>
                          </a:solidFill>
                          <a:latin typeface="Arial"/>
                        </a:rPr>
                        <a:t>Backup and recovery</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Copy the file</a:t>
                      </a:r>
                    </a:p>
                  </a:txBody>
                  <a:tcPr marL="64008" marR="54864" marT="18288" marB="18288" anchor="ctr">
                    <a:solidFill>
                      <a:srgbClr val="F3F6F9"/>
                    </a:solidFill>
                  </a:tcPr>
                </a:tc>
                <a:tc>
                  <a:txBody>
                    <a:bodyPr wrap="square"/>
                    <a:lstStyle/>
                    <a:p>
                      <a:pPr algn="l">
                        <a:lnSpc>
                          <a:spcPct val="105000"/>
                        </a:lnSpc>
                      </a:pPr>
                      <a:r>
                        <a:rPr sz="900" b="1">
                          <a:solidFill>
                            <a:srgbClr val="B31B1B"/>
                          </a:solidFill>
                          <a:latin typeface="Arial"/>
                        </a:rPr>
                        <a:t>Vendor-specific; must be rehearsed</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The step teams skip and regret</a:t>
                      </a:r>
                    </a:p>
                  </a:txBody>
                  <a:tcPr marL="64008" marR="54864" marT="18288" marB="18288" anchor="ctr">
                    <a:solidFill>
                      <a:srgbClr val="F3F6F9"/>
                    </a:solidFill>
                  </a:tcPr>
                </a:tc>
              </a:tr>
              <a:tr h="388965">
                <a:tc>
                  <a:txBody>
                    <a:bodyPr wrap="square"/>
                    <a:lstStyle/>
                    <a:p>
                      <a:pPr algn="l">
                        <a:lnSpc>
                          <a:spcPct val="105000"/>
                        </a:lnSpc>
                      </a:pPr>
                      <a:r>
                        <a:rPr sz="900" b="1">
                          <a:solidFill>
                            <a:srgbClr val="0F172A"/>
                          </a:solidFill>
                          <a:latin typeface="Arial"/>
                        </a:rPr>
                        <a:t>Fits</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Local development, CI</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Production issuance for a national credential</a:t>
                      </a:r>
                    </a:p>
                  </a:txBody>
                  <a:tcPr marL="64008" marR="54864" marT="18288" marB="18288" anchor="ctr">
                    <a:solidFill>
                      <a:srgbClr val="FFFFFF"/>
                    </a:solidFill>
                  </a:tcPr>
                </a:tc>
                <a:tc>
                  <a:txBody>
                    <a:bodyPr wrap="square"/>
                    <a:lstStyle/>
                    <a:p>
                      <a:pPr algn="l">
                        <a:lnSpc>
                          <a:spcPct val="105000"/>
                        </a:lnSpc>
                      </a:pPr>
                    </a:p>
                  </a:txBody>
                  <a:tcPr marL="64008" marR="54864" marT="18288" marB="18288" anchor="ctr">
                    <a:solidFill>
                      <a:srgbClr val="FFFFFF"/>
                    </a:solidFill>
                  </a:tcPr>
                </a:tc>
              </a:tr>
            </a:tbl>
          </a:graphicData>
        </a:graphic>
      </p:graphicFrame>
      <p:sp>
        <p:nvSpPr>
          <p:cNvPr id="7" name="Rounded Rectangle 6"/>
          <p:cNvSpPr/>
          <p:nvPr/>
        </p:nvSpPr>
        <p:spPr>
          <a:xfrm>
            <a:off x="502920" y="5618166"/>
            <a:ext cx="11185855" cy="654617"/>
          </a:xfrm>
          <a:prstGeom prst="roundRect">
            <a:avLst>
              <a:gd name="adj" fmla="val 90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5618166"/>
            <a:ext cx="45720" cy="654617"/>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8" y="5702724"/>
            <a:ext cx="10820095" cy="519325"/>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E293B"/>
                </a:solidFill>
                <a:latin typeface="Arial"/>
              </a:rPr>
              <a:t>The row that decides it is the third one. With a file-based keystore, a host compromise means the key is </a:t>
            </a:r>
            <a:r>
              <a:rPr sz="1019" b="1" i="0">
                <a:solidFill>
                  <a:srgbClr val="6D28D9"/>
                </a:solidFill>
                <a:latin typeface="Arial"/>
              </a:rPr>
              <a:t>copied</a:t>
            </a:r>
            <a:r>
              <a:rPr sz="1019" b="0" i="0">
                <a:solidFill>
                  <a:srgbClr val="1E293B"/>
                </a:solidFill>
                <a:latin typeface="Arial"/>
              </a:rPr>
              <a:t> and you can never again prove that a signature came from you. With an HSM, the same compromise means the attacker could </a:t>
            </a:r>
            <a:r>
              <a:rPr sz="1019" b="1" i="0">
                <a:solidFill>
                  <a:srgbClr val="6D28D9"/>
                </a:solidFill>
                <a:latin typeface="Arial"/>
              </a:rPr>
              <a:t>use</a:t>
            </a:r>
            <a:r>
              <a:rPr sz="1019" b="0" i="0">
                <a:solidFill>
                  <a:srgbClr val="1E293B"/>
                </a:solidFill>
                <a:latin typeface="Arial"/>
              </a:rPr>
              <a:t> the key while they were inside — bad, but bounded, and revocable. That difference is the entire value proposition.</a:t>
            </a:r>
          </a:p>
        </p:txBody>
      </p:sp>
      <p:sp>
        <p:nvSpPr>
          <p:cNvPr id="10" name="TextBox 9"/>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11" name="TextBox 10"/>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5 — TRUST ANCHORS</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How a public key becomes a trust anchor</a:t>
            </a:r>
          </a:p>
        </p:txBody>
      </p:sp>
      <p:sp>
        <p:nvSpPr>
          <p:cNvPr id="4" name="TextBox 3"/>
          <p:cNvSpPr txBox="1"/>
          <p:nvPr/>
        </p:nvSpPr>
        <p:spPr>
          <a:xfrm>
            <a:off x="502920" y="1078992"/>
            <a:ext cx="11185855" cy="300138"/>
          </a:xfrm>
          <a:prstGeom prst="rect">
            <a:avLst/>
          </a:prstGeom>
          <a:noFill/>
        </p:spPr>
        <p:txBody>
          <a:bodyPr wrap="square" lIns="0" rIns="0" tIns="0" bIns="0" anchor="t">
            <a:spAutoFit/>
          </a:bodyPr>
          <a:lstStyle/>
          <a:p>
            <a:pPr algn="l">
              <a:lnSpc>
                <a:spcPct val="114000"/>
              </a:lnSpc>
              <a:spcBef>
                <a:spcPts val="0"/>
              </a:spcBef>
              <a:spcAft>
                <a:spcPts val="0"/>
              </a:spcAft>
            </a:pPr>
            <a:r>
              <a:rPr sz="1130" b="0" i="0">
                <a:solidFill>
                  <a:srgbClr val="5B6B7F"/>
                </a:solidFill>
                <a:latin typeface="Arial"/>
              </a:rPr>
              <a:t>A key is only useful to a verifier if the verifier can find it and has a reason to believe it.</a:t>
            </a:r>
          </a:p>
        </p:txBody>
      </p:sp>
      <p:cxnSp>
        <p:nvCxnSpPr>
          <p:cNvPr id="5" name="Connector 4"/>
          <p:cNvCxnSpPr/>
          <p:nvPr/>
        </p:nvCxnSpPr>
        <p:spPr>
          <a:xfrm>
            <a:off x="502920" y="1470570"/>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64777"/>
            <a:ext cx="2076236" cy="172138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64777"/>
            <a:ext cx="2076236" cy="61793"/>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0F172A"/>
                </a:solidFill>
                <a:latin typeface="Arial"/>
              </a:rPr>
              <a:t>1  Key exists</a:t>
            </a:r>
          </a:p>
        </p:txBody>
      </p:sp>
      <p:sp>
        <p:nvSpPr>
          <p:cNvPr id="9" name="TextBox 8"/>
          <p:cNvSpPr txBox="1"/>
          <p:nvPr/>
        </p:nvSpPr>
        <p:spPr>
          <a:xfrm>
            <a:off x="667512"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0F172A"/>
                </a:solidFill>
                <a:latin typeface="Consolas"/>
              </a:rPr>
              <a:t>key_alias</a:t>
            </a:r>
            <a:r>
              <a:rPr sz="869" b="0" i="0">
                <a:solidFill>
                  <a:srgbClr val="5B6B7F"/>
                </a:solidFill>
                <a:latin typeface="Arial"/>
              </a:rPr>
              <a:t> + </a:t>
            </a:r>
            <a:r>
              <a:rPr sz="869" b="0" i="0">
                <a:solidFill>
                  <a:srgbClr val="0F172A"/>
                </a:solidFill>
                <a:latin typeface="Consolas"/>
              </a:rPr>
              <a:t>key_store</a:t>
            </a:r>
            <a:r>
              <a:rPr sz="869" b="0" i="0">
                <a:solidFill>
                  <a:srgbClr val="5B6B7F"/>
                </a:solidFill>
                <a:latin typeface="Arial"/>
              </a:rPr>
              <a:t>,
certificate signed by
the module key</a:t>
            </a:r>
          </a:p>
        </p:txBody>
      </p:sp>
      <p:cxnSp>
        <p:nvCxnSpPr>
          <p:cNvPr id="10" name="Connector 9"/>
          <p:cNvCxnSpPr/>
          <p:nvPr/>
        </p:nvCxnSpPr>
        <p:spPr>
          <a:xfrm>
            <a:off x="2597444" y="2547537"/>
            <a:ext cx="164592" cy="0"/>
          </a:xfrm>
          <a:prstGeom prst="line">
            <a:avLst/>
          </a:prstGeom>
          <a:ln w="1651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780324" y="1664777"/>
            <a:ext cx="2076236" cy="172138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80324" y="1664777"/>
            <a:ext cx="2076236" cy="61793"/>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44916"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1D4E89"/>
                </a:solidFill>
                <a:latin typeface="Arial"/>
              </a:rPr>
              <a:t>2  Certificate exported</a:t>
            </a:r>
          </a:p>
        </p:txBody>
      </p:sp>
      <p:sp>
        <p:nvSpPr>
          <p:cNvPr id="14" name="TextBox 13"/>
          <p:cNvSpPr txBox="1"/>
          <p:nvPr/>
        </p:nvSpPr>
        <p:spPr>
          <a:xfrm>
            <a:off x="2944916"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1D4E89"/>
                </a:solidFill>
                <a:latin typeface="Consolas"/>
              </a:rPr>
              <a:t>getAllCertificates(appId, refId)</a:t>
            </a:r>
            <a:r>
              <a:rPr sz="869" b="0" i="0">
                <a:solidFill>
                  <a:srgbClr val="5B6B7F"/>
                </a:solidFill>
                <a:latin typeface="Arial"/>
              </a:rPr>
              <a:t>
returns every certificate
this alias has ever had</a:t>
            </a:r>
          </a:p>
        </p:txBody>
      </p:sp>
      <p:cxnSp>
        <p:nvCxnSpPr>
          <p:cNvPr id="15" name="Connector 14"/>
          <p:cNvCxnSpPr/>
          <p:nvPr/>
        </p:nvCxnSpPr>
        <p:spPr>
          <a:xfrm>
            <a:off x="4874849" y="2547537"/>
            <a:ext cx="164592" cy="0"/>
          </a:xfrm>
          <a:prstGeom prst="line">
            <a:avLst/>
          </a:prstGeom>
          <a:ln w="1651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57729" y="1664777"/>
            <a:ext cx="2076236" cy="172138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57729" y="1664777"/>
            <a:ext cx="2076236" cy="61793"/>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22321"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0E9488"/>
                </a:solidFill>
                <a:latin typeface="Arial"/>
              </a:rPr>
              <a:t>3  Published</a:t>
            </a:r>
          </a:p>
        </p:txBody>
      </p:sp>
      <p:sp>
        <p:nvSpPr>
          <p:cNvPr id="19" name="TextBox 18"/>
          <p:cNvSpPr txBox="1"/>
          <p:nvPr/>
        </p:nvSpPr>
        <p:spPr>
          <a:xfrm>
            <a:off x="5222321"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5B6B7F"/>
                </a:solidFill>
                <a:latin typeface="Arial"/>
              </a:rPr>
              <a:t>Certify serves
</a:t>
            </a:r>
            <a:r>
              <a:rPr sz="869" b="0" i="0">
                <a:solidFill>
                  <a:srgbClr val="0E9488"/>
                </a:solidFill>
                <a:latin typeface="Consolas"/>
              </a:rPr>
              <a:t>/.well-known/jwks.json</a:t>
            </a:r>
            <a:r>
              <a:rPr sz="869" b="0" i="0">
                <a:solidFill>
                  <a:srgbClr val="5B6B7F"/>
                </a:solidFill>
                <a:latin typeface="Arial"/>
              </a:rPr>
              <a:t>
and </a:t>
            </a:r>
            <a:r>
              <a:rPr sz="869" b="0" i="0">
                <a:solidFill>
                  <a:srgbClr val="0E9488"/>
                </a:solidFill>
                <a:latin typeface="Consolas"/>
              </a:rPr>
              <a:t>/.well-known/did.json</a:t>
            </a:r>
          </a:p>
        </p:txBody>
      </p:sp>
      <p:cxnSp>
        <p:nvCxnSpPr>
          <p:cNvPr id="20" name="Connector 19"/>
          <p:cNvCxnSpPr/>
          <p:nvPr/>
        </p:nvCxnSpPr>
        <p:spPr>
          <a:xfrm>
            <a:off x="7152253" y="2547537"/>
            <a:ext cx="164592" cy="0"/>
          </a:xfrm>
          <a:prstGeom prst="line">
            <a:avLst/>
          </a:prstGeom>
          <a:ln w="1651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335133" y="1664777"/>
            <a:ext cx="2076236" cy="172138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35133" y="1664777"/>
            <a:ext cx="2076236" cy="61793"/>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99725"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6D28D9"/>
                </a:solidFill>
                <a:latin typeface="Arial"/>
              </a:rPr>
              <a:t>4  Discovered</a:t>
            </a:r>
          </a:p>
        </p:txBody>
      </p:sp>
      <p:sp>
        <p:nvSpPr>
          <p:cNvPr id="24" name="TextBox 23"/>
          <p:cNvSpPr txBox="1"/>
          <p:nvPr/>
        </p:nvSpPr>
        <p:spPr>
          <a:xfrm>
            <a:off x="7499725"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5B6B7F"/>
                </a:solidFill>
                <a:latin typeface="Arial"/>
              </a:rPr>
              <a:t>Verifier resolves the </a:t>
            </a:r>
            <a:r>
              <a:rPr sz="869" b="0" i="0">
                <a:solidFill>
                  <a:srgbClr val="6D28D9"/>
                </a:solidFill>
                <a:latin typeface="Consolas"/>
              </a:rPr>
              <a:t>kid</a:t>
            </a:r>
            <a:r>
              <a:rPr sz="869" b="0" i="0">
                <a:solidFill>
                  <a:srgbClr val="5B6B7F"/>
                </a:solidFill>
                <a:latin typeface="Arial"/>
              </a:rPr>
              <a:t>
or the DID, and fetches
the public key</a:t>
            </a:r>
          </a:p>
        </p:txBody>
      </p:sp>
      <p:cxnSp>
        <p:nvCxnSpPr>
          <p:cNvPr id="25" name="Connector 24"/>
          <p:cNvCxnSpPr/>
          <p:nvPr/>
        </p:nvCxnSpPr>
        <p:spPr>
          <a:xfrm>
            <a:off x="9429658" y="2547537"/>
            <a:ext cx="164592" cy="0"/>
          </a:xfrm>
          <a:prstGeom prst="line">
            <a:avLst/>
          </a:prstGeom>
          <a:ln w="16510">
            <a:solidFill>
              <a:srgbClr val="1E293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612538" y="1664777"/>
            <a:ext cx="2076236" cy="1721382"/>
          </a:xfrm>
          <a:prstGeom prst="roundRect">
            <a:avLst>
              <a:gd name="adj" fmla="val 5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612538" y="1664777"/>
            <a:ext cx="2076236" cy="61793"/>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77130" y="1876640"/>
            <a:ext cx="1747052" cy="264828"/>
          </a:xfrm>
          <a:prstGeom prst="rect">
            <a:avLst/>
          </a:prstGeom>
          <a:noFill/>
        </p:spPr>
        <p:txBody>
          <a:bodyPr wrap="square" lIns="0" rIns="0" tIns="0" bIns="0" anchor="t">
            <a:spAutoFit/>
          </a:bodyPr>
          <a:lstStyle/>
          <a:p>
            <a:pPr algn="l">
              <a:lnSpc>
                <a:spcPct val="114000"/>
              </a:lnSpc>
              <a:spcBef>
                <a:spcPts val="0"/>
              </a:spcBef>
              <a:spcAft>
                <a:spcPts val="0"/>
              </a:spcAft>
            </a:pPr>
            <a:r>
              <a:rPr sz="1130" b="1" i="0">
                <a:solidFill>
                  <a:srgbClr val="15703D"/>
                </a:solidFill>
                <a:latin typeface="Arial"/>
              </a:rPr>
              <a:t>5  Trusted</a:t>
            </a:r>
          </a:p>
        </p:txBody>
      </p:sp>
      <p:sp>
        <p:nvSpPr>
          <p:cNvPr id="29" name="TextBox 28"/>
          <p:cNvSpPr txBox="1"/>
          <p:nvPr/>
        </p:nvSpPr>
        <p:spPr>
          <a:xfrm>
            <a:off x="9777130" y="2212088"/>
            <a:ext cx="1747052" cy="1059312"/>
          </a:xfrm>
          <a:prstGeom prst="rect">
            <a:avLst/>
          </a:prstGeom>
          <a:noFill/>
        </p:spPr>
        <p:txBody>
          <a:bodyPr wrap="square" lIns="0" rIns="0" tIns="0" bIns="0" anchor="t">
            <a:spAutoFit/>
          </a:bodyPr>
          <a:lstStyle/>
          <a:p>
            <a:pPr algn="l">
              <a:lnSpc>
                <a:spcPct val="128000"/>
              </a:lnSpc>
              <a:spcBef>
                <a:spcPts val="0"/>
              </a:spcBef>
              <a:spcAft>
                <a:spcPts val="0"/>
              </a:spcAft>
            </a:pPr>
            <a:r>
              <a:rPr sz="869" b="0" i="0">
                <a:solidFill>
                  <a:srgbClr val="5B6B7F"/>
                </a:solidFill>
                <a:latin typeface="Arial"/>
              </a:rPr>
              <a:t>Verifier's </a:t>
            </a:r>
            <a:r>
              <a:rPr sz="869" b="1" i="0">
                <a:solidFill>
                  <a:srgbClr val="0F172A"/>
                </a:solidFill>
                <a:latin typeface="Arial"/>
              </a:rPr>
              <a:t>policy</a:t>
            </a:r>
            <a:r>
              <a:rPr sz="869" b="0" i="0">
                <a:solidFill>
                  <a:srgbClr val="5B6B7F"/>
                </a:solidFill>
                <a:latin typeface="Arial"/>
              </a:rPr>
              <a:t> says
this issuer is acceptable
for this claim</a:t>
            </a:r>
          </a:p>
        </p:txBody>
      </p:sp>
      <p:sp>
        <p:nvSpPr>
          <p:cNvPr id="30" name="Rounded Rectangle 29"/>
          <p:cNvSpPr/>
          <p:nvPr/>
        </p:nvSpPr>
        <p:spPr>
          <a:xfrm>
            <a:off x="502920" y="3650987"/>
            <a:ext cx="11185855" cy="514452"/>
          </a:xfrm>
          <a:prstGeom prst="roundRect">
            <a:avLst>
              <a:gd name="adj" fmla="val 9000"/>
            </a:avLst>
          </a:prstGeom>
          <a:solidFill>
            <a:srgbClr val="FDF0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3650987"/>
            <a:ext cx="45720" cy="514452"/>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 y="3739262"/>
            <a:ext cx="10820095" cy="373211"/>
          </a:xfrm>
          <a:prstGeom prst="rect">
            <a:avLst/>
          </a:prstGeom>
          <a:noFill/>
        </p:spPr>
        <p:txBody>
          <a:bodyPr wrap="square" lIns="0" rIns="0" tIns="0" bIns="0" anchor="t">
            <a:spAutoFit/>
          </a:bodyPr>
          <a:lstStyle/>
          <a:p>
            <a:pPr algn="l">
              <a:lnSpc>
                <a:spcPct val="122000"/>
              </a:lnSpc>
              <a:spcBef>
                <a:spcPts val="0"/>
              </a:spcBef>
              <a:spcAft>
                <a:spcPts val="0"/>
              </a:spcAft>
            </a:pPr>
            <a:r>
              <a:rPr sz="1040" b="0" i="0">
                <a:solidFill>
                  <a:srgbClr val="1E293B"/>
                </a:solidFill>
                <a:latin typeface="Arial"/>
              </a:rPr>
              <a:t>Steps 1 to 4 are engineering. </a:t>
            </a:r>
            <a:r>
              <a:rPr sz="1040" b="1" i="0">
                <a:solidFill>
                  <a:srgbClr val="B45309"/>
                </a:solidFill>
                <a:latin typeface="Arial"/>
              </a:rPr>
              <a:t>Step 5 is governance</a:t>
            </a:r>
            <a:r>
              <a:rPr sz="1040" b="0" i="0">
                <a:solidFill>
                  <a:srgbClr val="1E293B"/>
                </a:solidFill>
                <a:latin typeface="Arial"/>
              </a:rPr>
              <a:t> — and nothing in the Key Manager can produce it. A perfectly resolvable key from an issuer nobody has agreed to trust is still worthless. Decide who maintains Dataprev's trust list, and how a verifier outside Dataprev learns about it.</a:t>
            </a:r>
          </a:p>
        </p:txBody>
      </p:sp>
      <p:sp>
        <p:nvSpPr>
          <p:cNvPr id="33" name="TextBox 32"/>
          <p:cNvSpPr txBox="1"/>
          <p:nvPr/>
        </p:nvSpPr>
        <p:spPr>
          <a:xfrm>
            <a:off x="502920" y="4251264"/>
            <a:ext cx="5623560" cy="194207"/>
          </a:xfrm>
          <a:prstGeom prst="rect">
            <a:avLst/>
          </a:prstGeom>
          <a:noFill/>
        </p:spPr>
        <p:txBody>
          <a:bodyPr wrap="square" lIns="0" rIns="0" tIns="0" bIns="0" anchor="t">
            <a:spAutoFit/>
          </a:bodyPr>
          <a:lstStyle/>
          <a:p>
            <a:pPr algn="l">
              <a:lnSpc>
                <a:spcPct val="114000"/>
              </a:lnSpc>
              <a:spcBef>
                <a:spcPts val="0"/>
              </a:spcBef>
              <a:spcAft>
                <a:spcPts val="0"/>
              </a:spcAft>
            </a:pPr>
            <a:r>
              <a:rPr sz="890" b="1" i="0">
                <a:solidFill>
                  <a:srgbClr val="5B6B7F"/>
                </a:solidFill>
                <a:latin typeface="Arial"/>
              </a:rPr>
              <a:t>DID DOCUMENT — SERVED BY CERTIFY</a:t>
            </a:r>
          </a:p>
        </p:txBody>
      </p:sp>
      <p:sp>
        <p:nvSpPr>
          <p:cNvPr id="34" name="Rounded Rectangle 33"/>
          <p:cNvSpPr/>
          <p:nvPr/>
        </p:nvSpPr>
        <p:spPr>
          <a:xfrm>
            <a:off x="502920" y="4463126"/>
            <a:ext cx="5623560" cy="1809657"/>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 y="4577885"/>
            <a:ext cx="5330952" cy="1580139"/>
          </a:xfrm>
          <a:prstGeom prst="rect">
            <a:avLst/>
          </a:prstGeom>
          <a:noFill/>
        </p:spPr>
        <p:txBody>
          <a:bodyPr wrap="square" lIns="0" rIns="0" tIns="0" bIns="0" anchor="t">
            <a:spAutoFit/>
          </a:bodyPr>
          <a:lstStyle/>
          <a:p>
            <a:pPr>
              <a:lnSpc>
                <a:spcPct val="116000"/>
              </a:lnSpc>
              <a:spcBef>
                <a:spcPts val="0"/>
              </a:spcBef>
              <a:spcAft>
                <a:spcPts val="0"/>
              </a:spcAft>
            </a:pPr>
            <a:r>
              <a:rPr sz="830">
                <a:solidFill>
                  <a:srgbClr val="CBD9E8"/>
                </a:solidFill>
                <a:latin typeface="Consolas"/>
              </a:rPr>
              <a:t>GET /.well-known/did.json</a:t>
            </a:r>
          </a:p>
          <a:p>
            <a:pPr>
              <a:lnSpc>
                <a:spcPct val="116000"/>
              </a:lnSpc>
              <a:spcBef>
                <a:spcPts val="0"/>
              </a:spcBef>
              <a:spcAft>
                <a:spcPts val="0"/>
              </a:spcAft>
            </a:pP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"@context"</a:t>
            </a:r>
            <a:r>
              <a:rPr sz="830">
                <a:solidFill>
                  <a:srgbClr val="CBD9E8"/>
                </a:solidFill>
                <a:latin typeface="Consolas"/>
              </a:rPr>
              <a:t>: [</a:t>
            </a:r>
            <a:r>
              <a:rPr sz="830">
                <a:solidFill>
                  <a:srgbClr val="F6C67A"/>
                </a:solidFill>
                <a:latin typeface="Consolas"/>
              </a:rPr>
              <a:t>"https://www.w3.org/ns/did/v1"</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"id"</a:t>
            </a:r>
            <a:r>
              <a:rPr sz="830">
                <a:solidFill>
                  <a:srgbClr val="CBD9E8"/>
                </a:solidFill>
                <a:latin typeface="Consolas"/>
              </a:rPr>
              <a:t>: </a:t>
            </a:r>
            <a:r>
              <a:rPr sz="830">
                <a:solidFill>
                  <a:srgbClr val="F6C67A"/>
                </a:solidFill>
                <a:latin typeface="Consolas"/>
              </a:rPr>
              <a:t>"did:web:certify.example.gov.br"</a:t>
            </a:r>
            <a:r>
              <a:rPr sz="830">
                <a:solidFill>
                  <a:srgbClr val="CBD9E8"/>
                </a:solidFill>
                <a:latin typeface="Consolas"/>
              </a:rPr>
              <a:t>,</a:t>
            </a:r>
          </a:p>
          <a:p>
            <a:pPr>
              <a:lnSpc>
                <a:spcPct val="116000"/>
              </a:lnSpc>
              <a:spcBef>
                <a:spcPts val="0"/>
              </a:spcBef>
              <a:spcAft>
                <a:spcPts val="0"/>
              </a:spcAft>
            </a:pPr>
            <a:r>
              <a:rPr sz="830" b="1">
                <a:solidFill>
                  <a:srgbClr val="FFD56B"/>
                </a:solidFill>
                <a:latin typeface="Consolas"/>
              </a:rPr>
              <a:t>  </a:t>
            </a:r>
            <a:r>
              <a:rPr sz="830" b="1">
                <a:solidFill>
                  <a:srgbClr val="FFD56B"/>
                </a:solidFill>
                <a:latin typeface="Consolas"/>
              </a:rPr>
              <a:t>"assertionMethod"</a:t>
            </a:r>
            <a:r>
              <a:rPr sz="830" b="1">
                <a:solidFill>
                  <a:srgbClr val="FFD56B"/>
                </a:solidFill>
                <a:latin typeface="Consolas"/>
              </a:rPr>
              <a:t>: [</a:t>
            </a:r>
            <a:r>
              <a:rPr sz="830" b="1">
                <a:solidFill>
                  <a:srgbClr val="FFD56B"/>
                </a:solidFill>
                <a:latin typeface="Consolas"/>
              </a:rPr>
              <a:t>"did:web:certify.example.gov.br"</a:t>
            </a:r>
            <a:r>
              <a:rPr sz="830" b="1">
                <a:solidFill>
                  <a:srgbClr val="FFD56B"/>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"verificationMethod"</a:t>
            </a: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"id"</a:t>
            </a:r>
            <a:r>
              <a:rPr sz="830">
                <a:solidFill>
                  <a:srgbClr val="CBD9E8"/>
                </a:solidFill>
                <a:latin typeface="Consolas"/>
              </a:rPr>
              <a:t>: </a:t>
            </a:r>
            <a:r>
              <a:rPr sz="830">
                <a:solidFill>
                  <a:srgbClr val="F6C67A"/>
                </a:solidFill>
                <a:latin typeface="Consolas"/>
              </a:rPr>
              <a:t>"did:web:certify.example.gov.br#key-0"</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"type"</a:t>
            </a:r>
            <a:r>
              <a:rPr sz="830">
                <a:solidFill>
                  <a:srgbClr val="CBD9E8"/>
                </a:solidFill>
                <a:latin typeface="Consolas"/>
              </a:rPr>
              <a:t>: </a:t>
            </a:r>
            <a:r>
              <a:rPr sz="830">
                <a:solidFill>
                  <a:srgbClr val="F6C67A"/>
                </a:solidFill>
                <a:latin typeface="Consolas"/>
              </a:rPr>
              <a:t>"Ed25519VerificationKey2020"</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"controller"</a:t>
            </a:r>
            <a:r>
              <a:rPr sz="830">
                <a:solidFill>
                  <a:srgbClr val="CBD9E8"/>
                </a:solidFill>
                <a:latin typeface="Consolas"/>
              </a:rPr>
              <a:t>: </a:t>
            </a:r>
            <a:r>
              <a:rPr sz="830">
                <a:solidFill>
                  <a:srgbClr val="F6C67A"/>
                </a:solidFill>
                <a:latin typeface="Consolas"/>
              </a:rPr>
              <a:t>"did:web:certify.example.gov.br"</a:t>
            </a:r>
            <a:r>
              <a:rPr sz="830">
                <a:solidFill>
                  <a:srgbClr val="CBD9E8"/>
                </a:solidFill>
                <a:latin typeface="Consolas"/>
              </a:rPr>
              <a:t>,</a:t>
            </a:r>
          </a:p>
          <a:p>
            <a:pPr>
              <a:lnSpc>
                <a:spcPct val="116000"/>
              </a:lnSpc>
              <a:spcBef>
                <a:spcPts val="0"/>
              </a:spcBef>
              <a:spcAft>
                <a:spcPts val="0"/>
              </a:spcAft>
            </a:pPr>
            <a:r>
              <a:rPr sz="830" b="1">
                <a:solidFill>
                  <a:srgbClr val="FFD56B"/>
                </a:solidFill>
                <a:latin typeface="Consolas"/>
              </a:rPr>
              <a:t>    </a:t>
            </a:r>
            <a:r>
              <a:rPr sz="830" b="1">
                <a:solidFill>
                  <a:srgbClr val="FFD56B"/>
                </a:solidFill>
                <a:latin typeface="Consolas"/>
              </a:rPr>
              <a:t>"publicKeyMultibase"</a:t>
            </a:r>
            <a:r>
              <a:rPr sz="830" b="1">
                <a:solidFill>
                  <a:srgbClr val="FFD56B"/>
                </a:solidFill>
                <a:latin typeface="Consolas"/>
              </a:rPr>
              <a:t>: </a:t>
            </a:r>
            <a:r>
              <a:rPr sz="830" b="1">
                <a:solidFill>
                  <a:srgbClr val="FFD56B"/>
                </a:solidFill>
                <a:latin typeface="Consolas"/>
              </a:rPr>
              <a:t>"z6Mk…"</a:t>
            </a:r>
            <a:r>
              <a:rPr sz="830" b="1">
                <a:solidFill>
                  <a:srgbClr val="FFD56B"/>
                </a:solidFill>
                <a:latin typeface="Consolas"/>
              </a:rPr>
              <a:t>   // base58btc</a:t>
            </a:r>
          </a:p>
          <a:p>
            <a:pPr>
              <a:lnSpc>
                <a:spcPct val="116000"/>
              </a:lnSpc>
              <a:spcBef>
                <a:spcPts val="0"/>
              </a:spcBef>
              <a:spcAft>
                <a:spcPts val="0"/>
              </a:spcAft>
            </a:pP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a:t>
            </a:r>
          </a:p>
        </p:txBody>
      </p:sp>
      <p:sp>
        <p:nvSpPr>
          <p:cNvPr id="36" name="TextBox 35"/>
          <p:cNvSpPr txBox="1"/>
          <p:nvPr/>
        </p:nvSpPr>
        <p:spPr>
          <a:xfrm>
            <a:off x="6409944" y="4251264"/>
            <a:ext cx="5276088" cy="194207"/>
          </a:xfrm>
          <a:prstGeom prst="rect">
            <a:avLst/>
          </a:prstGeom>
          <a:noFill/>
        </p:spPr>
        <p:txBody>
          <a:bodyPr wrap="square" lIns="0" rIns="0" tIns="0" bIns="0" anchor="t">
            <a:spAutoFit/>
          </a:bodyPr>
          <a:lstStyle/>
          <a:p>
            <a:pPr algn="l">
              <a:lnSpc>
                <a:spcPct val="114000"/>
              </a:lnSpc>
              <a:spcBef>
                <a:spcPts val="0"/>
              </a:spcBef>
              <a:spcAft>
                <a:spcPts val="0"/>
              </a:spcAft>
            </a:pPr>
            <a:r>
              <a:rPr sz="890" b="1" i="0">
                <a:solidFill>
                  <a:srgbClr val="5B6B7F"/>
                </a:solidFill>
                <a:latin typeface="Arial"/>
              </a:rPr>
              <a:t>JWKS — BUILT FROM getAllCertificates</a:t>
            </a:r>
          </a:p>
        </p:txBody>
      </p:sp>
      <p:sp>
        <p:nvSpPr>
          <p:cNvPr id="37" name="Rounded Rectangle 36"/>
          <p:cNvSpPr/>
          <p:nvPr/>
        </p:nvSpPr>
        <p:spPr>
          <a:xfrm>
            <a:off x="6409944" y="4463126"/>
            <a:ext cx="5276088" cy="1809657"/>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56248" y="4577885"/>
            <a:ext cx="4983479" cy="1580139"/>
          </a:xfrm>
          <a:prstGeom prst="rect">
            <a:avLst/>
          </a:prstGeom>
          <a:noFill/>
        </p:spPr>
        <p:txBody>
          <a:bodyPr wrap="square" lIns="0" rIns="0" tIns="0" bIns="0" anchor="t">
            <a:spAutoFit/>
          </a:bodyPr>
          <a:lstStyle/>
          <a:p>
            <a:pPr>
              <a:lnSpc>
                <a:spcPct val="116000"/>
              </a:lnSpc>
              <a:spcBef>
                <a:spcPts val="0"/>
              </a:spcBef>
              <a:spcAft>
                <a:spcPts val="0"/>
              </a:spcAft>
            </a:pPr>
            <a:r>
              <a:rPr sz="830">
                <a:solidFill>
                  <a:srgbClr val="CBD9E8"/>
                </a:solidFill>
                <a:latin typeface="Consolas"/>
              </a:rPr>
              <a:t>GET /.well-known/jwks.json</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"keys"</a:t>
            </a:r>
            <a:r>
              <a:rPr sz="830">
                <a:solidFill>
                  <a:srgbClr val="CBD9E8"/>
                </a:solidFill>
                <a:latin typeface="Consolas"/>
              </a:rPr>
              <a:t>: [</a:t>
            </a:r>
          </a:p>
          <a:p>
            <a:pPr>
              <a:lnSpc>
                <a:spcPct val="116000"/>
              </a:lnSpc>
              <a:spcBef>
                <a:spcPts val="0"/>
              </a:spcBef>
              <a:spcAft>
                <a:spcPts val="0"/>
              </a:spcAft>
            </a:pPr>
            <a:r>
              <a:rPr sz="830">
                <a:solidFill>
                  <a:srgbClr val="CBD9E8"/>
                </a:solidFill>
                <a:latin typeface="Consolas"/>
              </a:rPr>
              <a:t>  { </a:t>
            </a:r>
            <a:r>
              <a:rPr sz="830">
                <a:solidFill>
                  <a:srgbClr val="7DD3C8"/>
                </a:solidFill>
                <a:latin typeface="Consolas"/>
              </a:rPr>
              <a:t>"kid"</a:t>
            </a:r>
            <a:r>
              <a:rPr sz="830">
                <a:solidFill>
                  <a:srgbClr val="CBD9E8"/>
                </a:solidFill>
                <a:latin typeface="Consolas"/>
              </a:rPr>
              <a:t>: </a:t>
            </a:r>
            <a:r>
              <a:rPr sz="830">
                <a:solidFill>
                  <a:srgbClr val="F6C67A"/>
                </a:solidFill>
                <a:latin typeface="Consolas"/>
              </a:rPr>
              <a:t>"…"</a:t>
            </a:r>
            <a:r>
              <a:rPr sz="830">
                <a:solidFill>
                  <a:srgbClr val="CBD9E8"/>
                </a:solidFill>
                <a:latin typeface="Consolas"/>
              </a:rPr>
              <a:t>, </a:t>
            </a:r>
            <a:r>
              <a:rPr sz="830">
                <a:solidFill>
                  <a:srgbClr val="7DD3C8"/>
                </a:solidFill>
                <a:latin typeface="Consolas"/>
              </a:rPr>
              <a:t>"kty"</a:t>
            </a:r>
            <a:r>
              <a:rPr sz="830">
                <a:solidFill>
                  <a:srgbClr val="CBD9E8"/>
                </a:solidFill>
                <a:latin typeface="Consolas"/>
              </a:rPr>
              <a:t>: </a:t>
            </a:r>
            <a:r>
              <a:rPr sz="830">
                <a:solidFill>
                  <a:srgbClr val="F6C67A"/>
                </a:solidFill>
                <a:latin typeface="Consolas"/>
              </a:rPr>
              <a:t>"RSA"</a:t>
            </a:r>
            <a:r>
              <a:rPr sz="830">
                <a:solidFill>
                  <a:srgbClr val="CBD9E8"/>
                </a:solidFill>
                <a:latin typeface="Consolas"/>
              </a:rPr>
              <a:t>, </a:t>
            </a:r>
            <a:r>
              <a:rPr sz="830">
                <a:solidFill>
                  <a:srgbClr val="7DD3C8"/>
                </a:solidFill>
                <a:latin typeface="Consolas"/>
              </a:rPr>
              <a:t>"alg"</a:t>
            </a:r>
            <a:r>
              <a:rPr sz="830">
                <a:solidFill>
                  <a:srgbClr val="CBD9E8"/>
                </a:solidFill>
                <a:latin typeface="Consolas"/>
              </a:rPr>
              <a:t>: </a:t>
            </a:r>
            <a:r>
              <a:rPr sz="830">
                <a:solidFill>
                  <a:srgbClr val="F6C67A"/>
                </a:solidFill>
                <a:latin typeface="Consolas"/>
              </a:rPr>
              <a:t>"RS256"</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"use"</a:t>
            </a:r>
            <a:r>
              <a:rPr sz="830">
                <a:solidFill>
                  <a:srgbClr val="CBD9E8"/>
                </a:solidFill>
                <a:latin typeface="Consolas"/>
              </a:rPr>
              <a:t>: </a:t>
            </a:r>
            <a:r>
              <a:rPr sz="830">
                <a:solidFill>
                  <a:srgbClr val="F6C67A"/>
                </a:solidFill>
                <a:latin typeface="Consolas"/>
              </a:rPr>
              <a:t>"sig"</a:t>
            </a:r>
            <a:r>
              <a:rPr sz="830">
                <a:solidFill>
                  <a:srgbClr val="CBD9E8"/>
                </a:solidFill>
                <a:latin typeface="Consolas"/>
              </a:rPr>
              <a:t>, </a:t>
            </a:r>
            <a:r>
              <a:rPr sz="830">
                <a:solidFill>
                  <a:srgbClr val="7DD3C8"/>
                </a:solidFill>
                <a:latin typeface="Consolas"/>
              </a:rPr>
              <a:t>"x5c"</a:t>
            </a:r>
            <a:r>
              <a:rPr sz="830">
                <a:solidFill>
                  <a:srgbClr val="CBD9E8"/>
                </a:solidFill>
                <a:latin typeface="Consolas"/>
              </a:rPr>
              <a:t>: [</a:t>
            </a:r>
            <a:r>
              <a:rPr sz="830">
                <a:solidFill>
                  <a:srgbClr val="F6C67A"/>
                </a:solidFill>
                <a:latin typeface="Consolas"/>
              </a:rPr>
              <a:t>"MIIC…"</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"exp"</a:t>
            </a:r>
            <a:r>
              <a:rPr sz="830">
                <a:solidFill>
                  <a:srgbClr val="CBD9E8"/>
                </a:solidFill>
                <a:latin typeface="Consolas"/>
              </a:rPr>
              <a:t>: 1861920000 },</a:t>
            </a:r>
            <a:r>
              <a:rPr sz="830">
                <a:solidFill>
                  <a:srgbClr val="7E93A8"/>
                </a:solidFill>
                <a:latin typeface="Consolas"/>
              </a:rPr>
              <a:t>   // current key</a:t>
            </a:r>
          </a:p>
          <a:p>
            <a:pPr>
              <a:lnSpc>
                <a:spcPct val="116000"/>
              </a:lnSpc>
              <a:spcBef>
                <a:spcPts val="0"/>
              </a:spcBef>
              <a:spcAft>
                <a:spcPts val="0"/>
              </a:spcAft>
            </a:pPr>
            <a:r>
              <a:rPr sz="830">
                <a:solidFill>
                  <a:srgbClr val="CBD9E8"/>
                </a:solidFill>
                <a:latin typeface="Consolas"/>
              </a:rPr>
              <a:t>  { </a:t>
            </a:r>
            <a:r>
              <a:rPr sz="830">
                <a:solidFill>
                  <a:srgbClr val="7DD3C8"/>
                </a:solidFill>
                <a:latin typeface="Consolas"/>
              </a:rPr>
              <a:t>"kid"</a:t>
            </a:r>
            <a:r>
              <a:rPr sz="830">
                <a:solidFill>
                  <a:srgbClr val="CBD9E8"/>
                </a:solidFill>
                <a:latin typeface="Consolas"/>
              </a:rPr>
              <a:t>: </a:t>
            </a:r>
            <a:r>
              <a:rPr sz="830">
                <a:solidFill>
                  <a:srgbClr val="F6C67A"/>
                </a:solidFill>
                <a:latin typeface="Consolas"/>
              </a:rPr>
              <a:t>"…"</a:t>
            </a:r>
            <a:r>
              <a:rPr sz="830">
                <a:solidFill>
                  <a:srgbClr val="CBD9E8"/>
                </a:solidFill>
                <a:latin typeface="Consolas"/>
              </a:rPr>
              <a:t>, </a:t>
            </a:r>
            <a:r>
              <a:rPr sz="830">
                <a:solidFill>
                  <a:srgbClr val="7DD3C8"/>
                </a:solidFill>
                <a:latin typeface="Consolas"/>
              </a:rPr>
              <a:t>"kty"</a:t>
            </a:r>
            <a:r>
              <a:rPr sz="830">
                <a:solidFill>
                  <a:srgbClr val="CBD9E8"/>
                </a:solidFill>
                <a:latin typeface="Consolas"/>
              </a:rPr>
              <a:t>: </a:t>
            </a:r>
            <a:r>
              <a:rPr sz="830">
                <a:solidFill>
                  <a:srgbClr val="F6C67A"/>
                </a:solidFill>
                <a:latin typeface="Consolas"/>
              </a:rPr>
              <a:t>"RSA"</a:t>
            </a:r>
            <a:r>
              <a:rPr sz="830">
                <a:solidFill>
                  <a:srgbClr val="CBD9E8"/>
                </a:solidFill>
                <a:latin typeface="Consolas"/>
              </a:rPr>
              <a:t>, </a:t>
            </a:r>
            <a:r>
              <a:rPr sz="830">
                <a:solidFill>
                  <a:srgbClr val="7DD3C8"/>
                </a:solidFill>
                <a:latin typeface="Consolas"/>
              </a:rPr>
              <a:t>"alg"</a:t>
            </a:r>
            <a:r>
              <a:rPr sz="830">
                <a:solidFill>
                  <a:srgbClr val="CBD9E8"/>
                </a:solidFill>
                <a:latin typeface="Consolas"/>
              </a:rPr>
              <a:t>: </a:t>
            </a:r>
            <a:r>
              <a:rPr sz="830">
                <a:solidFill>
                  <a:srgbClr val="F6C67A"/>
                </a:solidFill>
                <a:latin typeface="Consolas"/>
              </a:rPr>
              <a:t>"RS256"</a:t>
            </a:r>
            <a:r>
              <a:rPr sz="830">
                <a:solidFill>
                  <a:srgbClr val="CBD9E8"/>
                </a:solidFill>
                <a:latin typeface="Consolas"/>
              </a:rPr>
              <a:t>,</a:t>
            </a:r>
          </a:p>
          <a:p>
            <a:pPr>
              <a:lnSpc>
                <a:spcPct val="116000"/>
              </a:lnSpc>
              <a:spcBef>
                <a:spcPts val="0"/>
              </a:spcBef>
              <a:spcAft>
                <a:spcPts val="0"/>
              </a:spcAft>
            </a:pPr>
            <a:r>
              <a:rPr sz="830">
                <a:solidFill>
                  <a:srgbClr val="CBD9E8"/>
                </a:solidFill>
                <a:latin typeface="Consolas"/>
              </a:rPr>
              <a:t>    </a:t>
            </a:r>
            <a:r>
              <a:rPr sz="830">
                <a:solidFill>
                  <a:srgbClr val="7DD3C8"/>
                </a:solidFill>
                <a:latin typeface="Consolas"/>
              </a:rPr>
              <a:t>"use"</a:t>
            </a:r>
            <a:r>
              <a:rPr sz="830">
                <a:solidFill>
                  <a:srgbClr val="CBD9E8"/>
                </a:solidFill>
                <a:latin typeface="Consolas"/>
              </a:rPr>
              <a:t>: </a:t>
            </a:r>
            <a:r>
              <a:rPr sz="830">
                <a:solidFill>
                  <a:srgbClr val="F6C67A"/>
                </a:solidFill>
                <a:latin typeface="Consolas"/>
              </a:rPr>
              <a:t>"sig"</a:t>
            </a:r>
            <a:r>
              <a:rPr sz="830">
                <a:solidFill>
                  <a:srgbClr val="CBD9E8"/>
                </a:solidFill>
                <a:latin typeface="Consolas"/>
              </a:rPr>
              <a:t>, </a:t>
            </a:r>
            <a:r>
              <a:rPr sz="830">
                <a:solidFill>
                  <a:srgbClr val="7DD3C8"/>
                </a:solidFill>
                <a:latin typeface="Consolas"/>
              </a:rPr>
              <a:t>"x5c"</a:t>
            </a:r>
            <a:r>
              <a:rPr sz="830">
                <a:solidFill>
                  <a:srgbClr val="CBD9E8"/>
                </a:solidFill>
                <a:latin typeface="Consolas"/>
              </a:rPr>
              <a:t>: [</a:t>
            </a:r>
            <a:r>
              <a:rPr sz="830">
                <a:solidFill>
                  <a:srgbClr val="F6C67A"/>
                </a:solidFill>
                <a:latin typeface="Consolas"/>
              </a:rPr>
              <a:t>"MIIB…"</a:t>
            </a:r>
            <a:r>
              <a:rPr sz="830">
                <a:solidFill>
                  <a:srgbClr val="CBD9E8"/>
                </a:solidFill>
                <a:latin typeface="Consolas"/>
              </a:rPr>
              <a:t>],</a:t>
            </a:r>
          </a:p>
          <a:p>
            <a:pPr>
              <a:lnSpc>
                <a:spcPct val="116000"/>
              </a:lnSpc>
              <a:spcBef>
                <a:spcPts val="0"/>
              </a:spcBef>
              <a:spcAft>
                <a:spcPts val="0"/>
              </a:spcAft>
            </a:pPr>
            <a:r>
              <a:rPr sz="830" b="1">
                <a:solidFill>
                  <a:srgbClr val="FFD56B"/>
                </a:solidFill>
                <a:latin typeface="Consolas"/>
              </a:rPr>
              <a:t>    </a:t>
            </a:r>
            <a:r>
              <a:rPr sz="830" b="1">
                <a:solidFill>
                  <a:srgbClr val="FFD56B"/>
                </a:solidFill>
                <a:latin typeface="Consolas"/>
              </a:rPr>
              <a:t>"exp"</a:t>
            </a:r>
            <a:r>
              <a:rPr sz="830" b="1">
                <a:solidFill>
                  <a:srgbClr val="FFD56B"/>
                </a:solidFill>
                <a:latin typeface="Consolas"/>
              </a:rPr>
              <a:t>: 1798848000 }</a:t>
            </a:r>
            <a:r>
              <a:rPr sz="830" b="1">
                <a:solidFill>
                  <a:srgbClr val="FFD56B"/>
                </a:solidFill>
                <a:latin typeface="Consolas"/>
              </a:rPr>
              <a:t>   // LAST YEAR'S key</a:t>
            </a:r>
          </a:p>
          <a:p>
            <a:pPr>
              <a:lnSpc>
                <a:spcPct val="116000"/>
              </a:lnSpc>
              <a:spcBef>
                <a:spcPts val="0"/>
              </a:spcBef>
              <a:spcAft>
                <a:spcPts val="0"/>
              </a:spcAft>
            </a:pPr>
            <a:r>
              <a:rPr sz="830">
                <a:solidFill>
                  <a:srgbClr val="CBD9E8"/>
                </a:solidFill>
                <a:latin typeface="Consolas"/>
              </a:rPr>
              <a:t>] }</a:t>
            </a:r>
          </a:p>
        </p:txBody>
      </p:sp>
      <p:sp>
        <p:nvSpPr>
          <p:cNvPr id="39" name="TextBox 3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40" name="TextBox 3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5 — SAFE ROTATION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Rotating a trust anchor without breaking anyone</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The order of operations matters. Do it in the wrong order and every verifier fails at once.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11185855" cy="731520"/>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0292" cy="731520"/>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1883664"/>
            <a:ext cx="329184" cy="329184"/>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1</a:t>
            </a:r>
          </a:p>
        </p:txBody>
      </p:sp>
      <p:sp>
        <p:nvSpPr>
          <p:cNvPr id="9" name="TextBox 8"/>
          <p:cNvSpPr txBox="1"/>
          <p:nvPr/>
        </p:nvSpPr>
        <p:spPr>
          <a:xfrm>
            <a:off x="1161288" y="1773936"/>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5703D"/>
                </a:solidFill>
                <a:latin typeface="Arial"/>
              </a:rPr>
              <a:t>Publish first, sign later</a:t>
            </a:r>
          </a:p>
        </p:txBody>
      </p:sp>
      <p:sp>
        <p:nvSpPr>
          <p:cNvPr id="10" name="TextBox 9"/>
          <p:cNvSpPr txBox="1"/>
          <p:nvPr/>
        </p:nvSpPr>
        <p:spPr>
          <a:xfrm>
            <a:off x="3611880" y="1755648"/>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E293B"/>
                </a:solidFill>
                <a:latin typeface="Arial"/>
              </a:rPr>
              <a:t>New key is generated and its certificate appears in </a:t>
            </a:r>
            <a:r>
              <a:rPr sz="940" b="0" i="0">
                <a:solidFill>
                  <a:srgbClr val="1D4E89"/>
                </a:solidFill>
                <a:latin typeface="Consolas"/>
              </a:rPr>
              <a:t>jwks.json</a:t>
            </a:r>
            <a:r>
              <a:rPr sz="940" b="0" i="0">
                <a:solidFill>
                  <a:srgbClr val="1E293B"/>
                </a:solidFill>
                <a:latin typeface="Arial"/>
              </a:rPr>
              <a:t> / </a:t>
            </a:r>
            <a:r>
              <a:rPr sz="940" b="0" i="0">
                <a:solidFill>
                  <a:srgbClr val="1D4E89"/>
                </a:solidFill>
                <a:latin typeface="Consolas"/>
              </a:rPr>
              <a:t>did.json</a:t>
            </a:r>
            <a:r>
              <a:rPr sz="940" b="0" i="0">
                <a:solidFill>
                  <a:srgbClr val="1E293B"/>
                </a:solidFill>
                <a:latin typeface="Arial"/>
              </a:rPr>
              <a:t> </a:t>
            </a:r>
            <a:r>
              <a:rPr sz="940" b="1" i="0">
                <a:solidFill>
                  <a:srgbClr val="0F172A"/>
                </a:solidFill>
                <a:latin typeface="Arial"/>
              </a:rPr>
              <a:t>before</a:t>
            </a:r>
            <a:r>
              <a:rPr sz="940" b="0" i="0">
                <a:solidFill>
                  <a:srgbClr val="1E293B"/>
                </a:solidFill>
                <a:latin typeface="Arial"/>
              </a:rPr>
              <a:t> anything is signed with it.</a:t>
            </a:r>
          </a:p>
        </p:txBody>
      </p:sp>
      <p:sp>
        <p:nvSpPr>
          <p:cNvPr id="11" name="TextBox 10"/>
          <p:cNvSpPr txBox="1"/>
          <p:nvPr/>
        </p:nvSpPr>
        <p:spPr>
          <a:xfrm>
            <a:off x="8503920" y="1755648"/>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latin typeface="Arial"/>
              </a:rPr>
              <a:t>Verifiers that cache the document have time to pick it up.</a:t>
            </a:r>
          </a:p>
        </p:txBody>
      </p:sp>
      <p:sp>
        <p:nvSpPr>
          <p:cNvPr id="12" name="Rounded Rectangle 11"/>
          <p:cNvSpPr/>
          <p:nvPr/>
        </p:nvSpPr>
        <p:spPr>
          <a:xfrm>
            <a:off x="502920" y="2523744"/>
            <a:ext cx="11185855"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523744"/>
            <a:ext cx="50292" cy="7315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04088" y="2724912"/>
            <a:ext cx="329184" cy="32918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2</a:t>
            </a:r>
          </a:p>
        </p:txBody>
      </p:sp>
      <p:sp>
        <p:nvSpPr>
          <p:cNvPr id="15" name="TextBox 14"/>
          <p:cNvSpPr txBox="1"/>
          <p:nvPr/>
        </p:nvSpPr>
        <p:spPr>
          <a:xfrm>
            <a:off x="1161288" y="2615184"/>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1D4E89"/>
                </a:solidFill>
                <a:latin typeface="Arial"/>
              </a:rPr>
              <a:t>Keep the old one published</a:t>
            </a:r>
          </a:p>
        </p:txBody>
      </p:sp>
      <p:sp>
        <p:nvSpPr>
          <p:cNvPr id="16" name="TextBox 15"/>
          <p:cNvSpPr txBox="1"/>
          <p:nvPr/>
        </p:nvSpPr>
        <p:spPr>
          <a:xfrm>
            <a:off x="3611880" y="2596896"/>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E293B"/>
                </a:solidFill>
                <a:latin typeface="Arial"/>
              </a:rPr>
              <a:t>The previous certificate stays in the document. </a:t>
            </a:r>
            <a:r>
              <a:rPr sz="940" b="0" i="0">
                <a:solidFill>
                  <a:srgbClr val="1D4E89"/>
                </a:solidFill>
                <a:latin typeface="Consolas"/>
              </a:rPr>
              <a:t>getAllCertificates</a:t>
            </a:r>
            <a:r>
              <a:rPr sz="940" b="0" i="0">
                <a:solidFill>
                  <a:srgbClr val="1E293B"/>
                </a:solidFill>
                <a:latin typeface="Arial"/>
              </a:rPr>
              <a:t> does this for you — do not filter it out.</a:t>
            </a:r>
          </a:p>
        </p:txBody>
      </p:sp>
      <p:sp>
        <p:nvSpPr>
          <p:cNvPr id="17" name="TextBox 16"/>
          <p:cNvSpPr txBox="1"/>
          <p:nvPr/>
        </p:nvSpPr>
        <p:spPr>
          <a:xfrm>
            <a:off x="8503920" y="2596896"/>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latin typeface="Arial"/>
              </a:rPr>
              <a:t>Everything signed last year keeps verifying.</a:t>
            </a:r>
          </a:p>
        </p:txBody>
      </p:sp>
      <p:sp>
        <p:nvSpPr>
          <p:cNvPr id="18" name="Rounded Rectangle 17"/>
          <p:cNvSpPr/>
          <p:nvPr/>
        </p:nvSpPr>
        <p:spPr>
          <a:xfrm>
            <a:off x="502920" y="3364992"/>
            <a:ext cx="11185855" cy="731520"/>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364992"/>
            <a:ext cx="50292" cy="7315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04088" y="3566160"/>
            <a:ext cx="329184" cy="329184"/>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3</a:t>
            </a:r>
          </a:p>
        </p:txBody>
      </p:sp>
      <p:sp>
        <p:nvSpPr>
          <p:cNvPr id="21" name="TextBox 20"/>
          <p:cNvSpPr txBox="1"/>
          <p:nvPr/>
        </p:nvSpPr>
        <p:spPr>
          <a:xfrm>
            <a:off x="1161288" y="3456432"/>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B45309"/>
                </a:solidFill>
                <a:latin typeface="Arial"/>
              </a:rPr>
              <a:t>Respect cache TTLs</a:t>
            </a:r>
          </a:p>
        </p:txBody>
      </p:sp>
      <p:sp>
        <p:nvSpPr>
          <p:cNvPr id="22" name="TextBox 21"/>
          <p:cNvSpPr txBox="1"/>
          <p:nvPr/>
        </p:nvSpPr>
        <p:spPr>
          <a:xfrm>
            <a:off x="3611880" y="3438144"/>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E293B"/>
                </a:solidFill>
                <a:latin typeface="Arial"/>
              </a:rPr>
              <a:t>Verifiers and CDNs cache these documents. The overlap window must be longer than the longest cache TTL in the chain.</a:t>
            </a:r>
          </a:p>
        </p:txBody>
      </p:sp>
      <p:sp>
        <p:nvSpPr>
          <p:cNvPr id="23" name="TextBox 22"/>
          <p:cNvSpPr txBox="1"/>
          <p:nvPr/>
        </p:nvSpPr>
        <p:spPr>
          <a:xfrm>
            <a:off x="8503920" y="3438144"/>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latin typeface="Arial"/>
              </a:rPr>
              <a:t>A 30-day overlap and a 24-hour cache is comfortable. A 1-hour overlap is not.</a:t>
            </a:r>
          </a:p>
        </p:txBody>
      </p:sp>
      <p:sp>
        <p:nvSpPr>
          <p:cNvPr id="24" name="Rounded Rectangle 23"/>
          <p:cNvSpPr/>
          <p:nvPr/>
        </p:nvSpPr>
        <p:spPr>
          <a:xfrm>
            <a:off x="502920" y="4206240"/>
            <a:ext cx="11185855" cy="73152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4206240"/>
            <a:ext cx="50292" cy="731520"/>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04088" y="4407408"/>
            <a:ext cx="329184" cy="329184"/>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4</a:t>
            </a:r>
          </a:p>
        </p:txBody>
      </p:sp>
      <p:sp>
        <p:nvSpPr>
          <p:cNvPr id="27" name="TextBox 26"/>
          <p:cNvSpPr txBox="1"/>
          <p:nvPr/>
        </p:nvSpPr>
        <p:spPr>
          <a:xfrm>
            <a:off x="1161288" y="4297680"/>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B31B1B"/>
                </a:solidFill>
                <a:latin typeface="Arial"/>
              </a:rPr>
              <a:t>Never reuse a </a:t>
            </a:r>
            <a:r>
              <a:rPr sz="1100" b="1" i="0">
                <a:solidFill>
                  <a:srgbClr val="B31B1B"/>
                </a:solidFill>
                <a:latin typeface="Consolas"/>
              </a:rPr>
              <a:t>kid</a:t>
            </a:r>
          </a:p>
        </p:txBody>
      </p:sp>
      <p:sp>
        <p:nvSpPr>
          <p:cNvPr id="28" name="TextBox 27"/>
          <p:cNvSpPr txBox="1"/>
          <p:nvPr/>
        </p:nvSpPr>
        <p:spPr>
          <a:xfrm>
            <a:off x="3611880" y="4279392"/>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E293B"/>
                </a:solidFill>
                <a:latin typeface="Arial"/>
              </a:rPr>
              <a:t>A new key gets a new key id. Reusing one makes old credentials resolve to the wrong public key.</a:t>
            </a:r>
          </a:p>
        </p:txBody>
      </p:sp>
      <p:sp>
        <p:nvSpPr>
          <p:cNvPr id="29" name="TextBox 28"/>
          <p:cNvSpPr txBox="1"/>
          <p:nvPr/>
        </p:nvSpPr>
        <p:spPr>
          <a:xfrm>
            <a:off x="8503920" y="4279392"/>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latin typeface="Arial"/>
              </a:rPr>
              <a:t>Silent, confusing verification failures.</a:t>
            </a:r>
          </a:p>
        </p:txBody>
      </p:sp>
      <p:sp>
        <p:nvSpPr>
          <p:cNvPr id="30" name="Rounded Rectangle 29"/>
          <p:cNvSpPr/>
          <p:nvPr/>
        </p:nvSpPr>
        <p:spPr>
          <a:xfrm>
            <a:off x="502920" y="5047488"/>
            <a:ext cx="11185855" cy="731520"/>
          </a:xfrm>
          <a:prstGeom prst="roundRect">
            <a:avLst>
              <a:gd name="adj" fmla="val 10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 y="5047488"/>
            <a:ext cx="50292" cy="7315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04088" y="5248656"/>
            <a:ext cx="329184" cy="32918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rial"/>
              </a:rPr>
              <a:t>5</a:t>
            </a:r>
          </a:p>
        </p:txBody>
      </p:sp>
      <p:sp>
        <p:nvSpPr>
          <p:cNvPr id="33" name="TextBox 32"/>
          <p:cNvSpPr txBox="1"/>
          <p:nvPr/>
        </p:nvSpPr>
        <p:spPr>
          <a:xfrm>
            <a:off x="1161288" y="5138928"/>
            <a:ext cx="2331720" cy="566928"/>
          </a:xfrm>
          <a:prstGeom prst="rect">
            <a:avLst/>
          </a:prstGeom>
          <a:noFill/>
        </p:spPr>
        <p:txBody>
          <a:bodyPr wrap="square" lIns="0" rIns="0" tIns="0" bIns="0" anchor="ctr">
            <a:spAutoFit/>
          </a:bodyPr>
          <a:lstStyle/>
          <a:p>
            <a:pPr algn="l">
              <a:lnSpc>
                <a:spcPct val="114000"/>
              </a:lnSpc>
              <a:spcBef>
                <a:spcPts val="0"/>
              </a:spcBef>
              <a:spcAft>
                <a:spcPts val="0"/>
              </a:spcAft>
            </a:pPr>
            <a:r>
              <a:rPr sz="1100" b="1" i="0">
                <a:solidFill>
                  <a:srgbClr val="6D28D9"/>
                </a:solidFill>
                <a:latin typeface="Arial"/>
              </a:rPr>
              <a:t>Monitor the endpoints</a:t>
            </a:r>
          </a:p>
        </p:txBody>
      </p:sp>
      <p:sp>
        <p:nvSpPr>
          <p:cNvPr id="34" name="TextBox 33"/>
          <p:cNvSpPr txBox="1"/>
          <p:nvPr/>
        </p:nvSpPr>
        <p:spPr>
          <a:xfrm>
            <a:off x="3611880" y="5120640"/>
            <a:ext cx="4709160" cy="603504"/>
          </a:xfrm>
          <a:prstGeom prst="rect">
            <a:avLst/>
          </a:prstGeom>
          <a:noFill/>
        </p:spPr>
        <p:txBody>
          <a:bodyPr wrap="square" lIns="0" rIns="0" tIns="0" bIns="0" anchor="ctr">
            <a:spAutoFit/>
          </a:bodyPr>
          <a:lstStyle/>
          <a:p>
            <a:pPr algn="l">
              <a:lnSpc>
                <a:spcPct val="124000"/>
              </a:lnSpc>
              <a:spcBef>
                <a:spcPts val="0"/>
              </a:spcBef>
              <a:spcAft>
                <a:spcPts val="0"/>
              </a:spcAft>
            </a:pPr>
            <a:r>
              <a:rPr sz="940" b="0" i="0">
                <a:solidFill>
                  <a:srgbClr val="1D4E89"/>
                </a:solidFill>
                <a:latin typeface="Consolas"/>
              </a:rPr>
              <a:t>/.well-known/jwks.json</a:t>
            </a:r>
            <a:r>
              <a:rPr sz="940" b="0" i="0">
                <a:solidFill>
                  <a:srgbClr val="1E293B"/>
                </a:solidFill>
                <a:latin typeface="Arial"/>
              </a:rPr>
              <a:t> and </a:t>
            </a:r>
            <a:r>
              <a:rPr sz="940" b="0" i="0">
                <a:solidFill>
                  <a:srgbClr val="1D4E89"/>
                </a:solidFill>
                <a:latin typeface="Consolas"/>
              </a:rPr>
              <a:t>did.json</a:t>
            </a:r>
            <a:r>
              <a:rPr sz="940" b="0" i="0">
                <a:solidFill>
                  <a:srgbClr val="1E293B"/>
                </a:solidFill>
                <a:latin typeface="Arial"/>
              </a:rPr>
              <a:t> are production dependencies with an availability target.</a:t>
            </a:r>
          </a:p>
        </p:txBody>
      </p:sp>
      <p:sp>
        <p:nvSpPr>
          <p:cNvPr id="35" name="TextBox 34"/>
          <p:cNvSpPr txBox="1"/>
          <p:nvPr/>
        </p:nvSpPr>
        <p:spPr>
          <a:xfrm>
            <a:off x="8503920" y="5120640"/>
            <a:ext cx="3108960" cy="603504"/>
          </a:xfrm>
          <a:prstGeom prst="rect">
            <a:avLst/>
          </a:prstGeom>
          <a:noFill/>
        </p:spPr>
        <p:txBody>
          <a:bodyPr wrap="square" lIns="0" rIns="0" tIns="0" bIns="0" anchor="ctr">
            <a:spAutoFit/>
          </a:bodyPr>
          <a:lstStyle/>
          <a:p>
            <a:pPr algn="l">
              <a:lnSpc>
                <a:spcPct val="124000"/>
              </a:lnSpc>
              <a:spcBef>
                <a:spcPts val="0"/>
              </a:spcBef>
              <a:spcAft>
                <a:spcPts val="0"/>
              </a:spcAft>
            </a:pPr>
            <a:r>
              <a:rPr sz="900" b="0" i="1">
                <a:solidFill>
                  <a:srgbClr val="5B6B7F"/>
                </a:solidFill>
                <a:latin typeface="Arial"/>
              </a:rPr>
              <a:t>If they are down, verification is down — everywhere, for everyone.</a:t>
            </a:r>
          </a:p>
        </p:txBody>
      </p:sp>
      <p:sp>
        <p:nvSpPr>
          <p:cNvPr id="36" name="TextBox 35"/>
          <p:cNvSpPr txBox="1"/>
          <p:nvPr/>
        </p:nvSpPr>
        <p:spPr>
          <a:xfrm>
            <a:off x="3611880" y="1444752"/>
            <a:ext cx="4709160" cy="219456"/>
          </a:xfrm>
          <a:prstGeom prst="rect">
            <a:avLst/>
          </a:prstGeom>
          <a:noFill/>
        </p:spPr>
        <p:txBody>
          <a:bodyPr wrap="square" lIns="0" rIns="0" tIns="0" bIns="0" anchor="t">
            <a:spAutoFit/>
          </a:bodyPr>
          <a:lstStyle/>
          <a:p>
            <a:pPr algn="l">
              <a:lnSpc>
                <a:spcPct val="114000"/>
              </a:lnSpc>
              <a:spcBef>
                <a:spcPts val="0"/>
              </a:spcBef>
              <a:spcAft>
                <a:spcPts val="0"/>
              </a:spcAft>
            </a:pPr>
            <a:r>
              <a:rPr sz="860" b="1" i="0">
                <a:solidFill>
                  <a:srgbClr val="5B6B7F"/>
                </a:solidFill>
                <a:latin typeface="Arial"/>
              </a:rPr>
              <a:t>THE RULE</a:t>
            </a:r>
          </a:p>
        </p:txBody>
      </p:sp>
      <p:sp>
        <p:nvSpPr>
          <p:cNvPr id="37" name="TextBox 36"/>
          <p:cNvSpPr txBox="1"/>
          <p:nvPr/>
        </p:nvSpPr>
        <p:spPr>
          <a:xfrm>
            <a:off x="8503920" y="1444752"/>
            <a:ext cx="3108960" cy="219456"/>
          </a:xfrm>
          <a:prstGeom prst="rect">
            <a:avLst/>
          </a:prstGeom>
          <a:noFill/>
        </p:spPr>
        <p:txBody>
          <a:bodyPr wrap="square" lIns="0" rIns="0" tIns="0" bIns="0" anchor="t">
            <a:spAutoFit/>
          </a:bodyPr>
          <a:lstStyle/>
          <a:p>
            <a:pPr algn="l">
              <a:lnSpc>
                <a:spcPct val="114000"/>
              </a:lnSpc>
              <a:spcBef>
                <a:spcPts val="0"/>
              </a:spcBef>
              <a:spcAft>
                <a:spcPts val="0"/>
              </a:spcAft>
            </a:pPr>
            <a:r>
              <a:rPr sz="860" b="1" i="0">
                <a:solidFill>
                  <a:srgbClr val="5B6B7F"/>
                </a:solidFill>
                <a:latin typeface="Arial"/>
              </a:rPr>
              <a:t>IF YOU GET IT WRONG</a:t>
            </a:r>
          </a:p>
        </p:txBody>
      </p:sp>
      <p:sp>
        <p:nvSpPr>
          <p:cNvPr id="38" name="TextBox 37"/>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39" name="TextBox 38"/>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6 — REVOCATION AND SUSPENSION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Status list mechanics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How one credential out of a million is withdrawn, without telling the verifier who asked.</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02920" y="1682496"/>
            <a:ext cx="5623560"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latin typeface="Arial"/>
              </a:rPr>
              <a:t>A STATUS LIST CREDENTIAL IS A BITSTRING, COMPRESSED AND SIGNED</a:t>
            </a:r>
          </a:p>
        </p:txBody>
      </p:sp>
      <p:sp>
        <p:nvSpPr>
          <p:cNvPr id="7" name="Rectangle 6"/>
          <p:cNvSpPr/>
          <p:nvPr/>
        </p:nvSpPr>
        <p:spPr>
          <a:xfrm>
            <a:off x="502920"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9" name="Rectangle 8"/>
          <p:cNvSpPr/>
          <p:nvPr/>
        </p:nvSpPr>
        <p:spPr>
          <a:xfrm>
            <a:off x="818388"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11" name="Rectangle 10"/>
          <p:cNvSpPr/>
          <p:nvPr/>
        </p:nvSpPr>
        <p:spPr>
          <a:xfrm>
            <a:off x="1133856"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33856"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13" name="Rectangle 12"/>
          <p:cNvSpPr/>
          <p:nvPr/>
        </p:nvSpPr>
        <p:spPr>
          <a:xfrm>
            <a:off x="1449324"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49324"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15" name="Rectangle 14"/>
          <p:cNvSpPr/>
          <p:nvPr/>
        </p:nvSpPr>
        <p:spPr>
          <a:xfrm>
            <a:off x="1764792" y="2011680"/>
            <a:ext cx="283464" cy="384048"/>
          </a:xfrm>
          <a:prstGeom prst="rect">
            <a:avLst/>
          </a:prstGeom>
          <a:solidFill>
            <a:srgbClr val="B31B1B"/>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764792"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FFFFFF"/>
                </a:solidFill>
                <a:latin typeface="Consolas"/>
              </a:rPr>
              <a:t>1</a:t>
            </a:r>
          </a:p>
        </p:txBody>
      </p:sp>
      <p:sp>
        <p:nvSpPr>
          <p:cNvPr id="17" name="TextBox 16"/>
          <p:cNvSpPr txBox="1"/>
          <p:nvPr/>
        </p:nvSpPr>
        <p:spPr>
          <a:xfrm>
            <a:off x="1444752" y="2432304"/>
            <a:ext cx="914400" cy="219456"/>
          </a:xfrm>
          <a:prstGeom prst="rect">
            <a:avLst/>
          </a:prstGeom>
          <a:noFill/>
        </p:spPr>
        <p:txBody>
          <a:bodyPr wrap="none" lIns="0" rIns="0" tIns="0" bIns="0" anchor="t">
            <a:spAutoFit/>
          </a:bodyPr>
          <a:lstStyle/>
          <a:p>
            <a:pPr algn="ctr">
              <a:lnSpc>
                <a:spcPct val="114000"/>
              </a:lnSpc>
              <a:spcBef>
                <a:spcPts val="0"/>
              </a:spcBef>
              <a:spcAft>
                <a:spcPts val="0"/>
              </a:spcAft>
            </a:pPr>
            <a:r>
              <a:rPr sz="760" b="1" i="0">
                <a:solidFill>
                  <a:srgbClr val="B31B1B"/>
                </a:solidFill>
                <a:latin typeface="Arial"/>
              </a:rPr>
              <a:t>idx 4</a:t>
            </a:r>
          </a:p>
        </p:txBody>
      </p:sp>
      <p:sp>
        <p:nvSpPr>
          <p:cNvPr id="18" name="Rectangle 17"/>
          <p:cNvSpPr/>
          <p:nvPr/>
        </p:nvSpPr>
        <p:spPr>
          <a:xfrm>
            <a:off x="2080260"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080260"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0" name="Rectangle 19"/>
          <p:cNvSpPr/>
          <p:nvPr/>
        </p:nvSpPr>
        <p:spPr>
          <a:xfrm>
            <a:off x="2395728"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395728"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2" name="Rectangle 21"/>
          <p:cNvSpPr/>
          <p:nvPr/>
        </p:nvSpPr>
        <p:spPr>
          <a:xfrm>
            <a:off x="2711196"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11196"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4" name="Rectangle 23"/>
          <p:cNvSpPr/>
          <p:nvPr/>
        </p:nvSpPr>
        <p:spPr>
          <a:xfrm>
            <a:off x="3026663"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026663"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6" name="Rectangle 25"/>
          <p:cNvSpPr/>
          <p:nvPr/>
        </p:nvSpPr>
        <p:spPr>
          <a:xfrm>
            <a:off x="3342131"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342131"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28" name="Rectangle 27"/>
          <p:cNvSpPr/>
          <p:nvPr/>
        </p:nvSpPr>
        <p:spPr>
          <a:xfrm>
            <a:off x="3657600"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0"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30" name="Rectangle 29"/>
          <p:cNvSpPr/>
          <p:nvPr/>
        </p:nvSpPr>
        <p:spPr>
          <a:xfrm>
            <a:off x="3973068" y="2011680"/>
            <a:ext cx="283464" cy="384048"/>
          </a:xfrm>
          <a:prstGeom prst="rect">
            <a:avLst/>
          </a:prstGeom>
          <a:solidFill>
            <a:srgbClr val="B31B1B"/>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973068"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FFFFFF"/>
                </a:solidFill>
                <a:latin typeface="Consolas"/>
              </a:rPr>
              <a:t>1</a:t>
            </a:r>
          </a:p>
        </p:txBody>
      </p:sp>
      <p:sp>
        <p:nvSpPr>
          <p:cNvPr id="32" name="TextBox 31"/>
          <p:cNvSpPr txBox="1"/>
          <p:nvPr/>
        </p:nvSpPr>
        <p:spPr>
          <a:xfrm>
            <a:off x="3653027" y="2432304"/>
            <a:ext cx="914400" cy="219456"/>
          </a:xfrm>
          <a:prstGeom prst="rect">
            <a:avLst/>
          </a:prstGeom>
          <a:noFill/>
        </p:spPr>
        <p:txBody>
          <a:bodyPr wrap="none" lIns="0" rIns="0" tIns="0" bIns="0" anchor="t">
            <a:spAutoFit/>
          </a:bodyPr>
          <a:lstStyle/>
          <a:p>
            <a:pPr algn="ctr">
              <a:lnSpc>
                <a:spcPct val="114000"/>
              </a:lnSpc>
              <a:spcBef>
                <a:spcPts val="0"/>
              </a:spcBef>
              <a:spcAft>
                <a:spcPts val="0"/>
              </a:spcAft>
            </a:pPr>
            <a:r>
              <a:rPr sz="760" b="1" i="0">
                <a:solidFill>
                  <a:srgbClr val="B31B1B"/>
                </a:solidFill>
                <a:latin typeface="Arial"/>
              </a:rPr>
              <a:t>idx 11</a:t>
            </a:r>
          </a:p>
        </p:txBody>
      </p:sp>
      <p:sp>
        <p:nvSpPr>
          <p:cNvPr id="33" name="Rectangle 32"/>
          <p:cNvSpPr/>
          <p:nvPr/>
        </p:nvSpPr>
        <p:spPr>
          <a:xfrm>
            <a:off x="4288536"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88536"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35" name="Rectangle 34"/>
          <p:cNvSpPr/>
          <p:nvPr/>
        </p:nvSpPr>
        <p:spPr>
          <a:xfrm>
            <a:off x="4604003"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04003"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37" name="Rectangle 36"/>
          <p:cNvSpPr/>
          <p:nvPr/>
        </p:nvSpPr>
        <p:spPr>
          <a:xfrm>
            <a:off x="4919472"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919472"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39" name="Rectangle 38"/>
          <p:cNvSpPr/>
          <p:nvPr/>
        </p:nvSpPr>
        <p:spPr>
          <a:xfrm>
            <a:off x="5234940"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234940"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41" name="Rectangle 40"/>
          <p:cNvSpPr/>
          <p:nvPr/>
        </p:nvSpPr>
        <p:spPr>
          <a:xfrm>
            <a:off x="5550407"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550407"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43" name="Rectangle 42"/>
          <p:cNvSpPr/>
          <p:nvPr/>
        </p:nvSpPr>
        <p:spPr>
          <a:xfrm>
            <a:off x="5865875" y="2011680"/>
            <a:ext cx="283464" cy="384048"/>
          </a:xfrm>
          <a:prstGeom prst="rect">
            <a:avLst/>
          </a:prstGeom>
          <a:solidFill>
            <a:srgbClr val="E4EAF1"/>
          </a:solidFill>
          <a:ln w="10160">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865875" y="2011680"/>
            <a:ext cx="283464" cy="384048"/>
          </a:xfrm>
          <a:prstGeom prst="rect">
            <a:avLst/>
          </a:prstGeom>
          <a:noFill/>
        </p:spPr>
        <p:txBody>
          <a:bodyPr wrap="none" lIns="0" rIns="0" tIns="0" bIns="0" anchor="ctr">
            <a:spAutoFit/>
          </a:bodyPr>
          <a:lstStyle/>
          <a:p>
            <a:pPr algn="ctr">
              <a:lnSpc>
                <a:spcPct val="114000"/>
              </a:lnSpc>
              <a:spcBef>
                <a:spcPts val="0"/>
              </a:spcBef>
              <a:spcAft>
                <a:spcPts val="0"/>
              </a:spcAft>
            </a:pPr>
            <a:r>
              <a:rPr sz="950" b="1" i="0">
                <a:solidFill>
                  <a:srgbClr val="94A3B8"/>
                </a:solidFill>
                <a:latin typeface="Consolas"/>
              </a:rPr>
              <a:t>0</a:t>
            </a:r>
          </a:p>
        </p:txBody>
      </p:sp>
      <p:sp>
        <p:nvSpPr>
          <p:cNvPr id="45" name="TextBox 44"/>
          <p:cNvSpPr txBox="1"/>
          <p:nvPr/>
        </p:nvSpPr>
        <p:spPr>
          <a:xfrm>
            <a:off x="502920" y="2670048"/>
            <a:ext cx="5623560"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1E293B"/>
                </a:solidFill>
                <a:latin typeface="Arial"/>
              </a:rPr>
              <a:t>Every credential of a type gets an index at issuance. Bit 0 = valid, bit 1 = revoked. The verifier downloads the whole list, so the issuer never learns which credential was checked.</a:t>
            </a:r>
          </a:p>
        </p:txBody>
      </p:sp>
      <p:sp>
        <p:nvSpPr>
          <p:cNvPr id="46" name="TextBox 45"/>
          <p:cNvSpPr txBox="1"/>
          <p:nvPr/>
        </p:nvSpPr>
        <p:spPr>
          <a:xfrm>
            <a:off x="6409944" y="1463040"/>
            <a:ext cx="5276088" cy="201168"/>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5B6B7F"/>
                </a:solidFill>
                <a:latin typeface="Arial"/>
              </a:rPr>
              <a:t>THE POINTER THE VERIFIER FOLLOWS</a:t>
            </a:r>
          </a:p>
        </p:txBody>
      </p:sp>
      <p:sp>
        <p:nvSpPr>
          <p:cNvPr id="47" name="Rounded Rectangle 46"/>
          <p:cNvSpPr/>
          <p:nvPr/>
        </p:nvSpPr>
        <p:spPr>
          <a:xfrm>
            <a:off x="6409944" y="1682496"/>
            <a:ext cx="5276088" cy="1755648"/>
          </a:xfrm>
          <a:prstGeom prst="roundRect">
            <a:avLst>
              <a:gd name="adj" fmla="val 4000"/>
            </a:avLst>
          </a:prstGeom>
          <a:solidFill>
            <a:srgbClr val="0E1C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56248" y="1801368"/>
            <a:ext cx="4983479" cy="1517904"/>
          </a:xfrm>
          <a:prstGeom prst="rect">
            <a:avLst/>
          </a:prstGeom>
          <a:noFill/>
        </p:spPr>
        <p:txBody>
          <a:bodyPr wrap="square" lIns="0" rIns="0" tIns="0" bIns="0" anchor="t">
            <a:spAutoFit/>
          </a:bodyPr>
          <a:lstStyle/>
          <a:p>
            <a:pPr>
              <a:lnSpc>
                <a:spcPct val="116000"/>
              </a:lnSpc>
              <a:spcBef>
                <a:spcPts val="0"/>
              </a:spcBef>
              <a:spcAft>
                <a:spcPts val="0"/>
              </a:spcAft>
            </a:pPr>
            <a:r>
              <a:rPr sz="840">
                <a:solidFill>
                  <a:srgbClr val="7E93A8"/>
                </a:solidFill>
                <a:latin typeface="Consolas"/>
              </a:rPr>
              <a:t>// inside the issued credential</a:t>
            </a:r>
          </a:p>
          <a:p>
            <a:pPr>
              <a:lnSpc>
                <a:spcPct val="116000"/>
              </a:lnSpc>
              <a:spcBef>
                <a:spcPts val="0"/>
              </a:spcBef>
              <a:spcAft>
                <a:spcPts val="0"/>
              </a:spcAft>
            </a:pPr>
            <a:r>
              <a:rPr sz="840">
                <a:solidFill>
                  <a:srgbClr val="7DD3C8"/>
                </a:solidFill>
                <a:latin typeface="Consolas"/>
              </a:rPr>
              <a:t>"credentialStatus"</a:t>
            </a:r>
            <a:r>
              <a:rPr sz="840">
                <a:solidFill>
                  <a:srgbClr val="CBD9E8"/>
                </a:solidFill>
                <a:latin typeface="Consolas"/>
              </a:rPr>
              <a:t>: {</a:t>
            </a:r>
          </a:p>
          <a:p>
            <a:pPr>
              <a:lnSpc>
                <a:spcPct val="116000"/>
              </a:lnSpc>
              <a:spcBef>
                <a:spcPts val="0"/>
              </a:spcBef>
              <a:spcAft>
                <a:spcPts val="0"/>
              </a:spcAft>
            </a:pPr>
            <a:r>
              <a:rPr sz="840">
                <a:solidFill>
                  <a:srgbClr val="CBD9E8"/>
                </a:solidFill>
                <a:latin typeface="Consolas"/>
              </a:rPr>
              <a:t>  </a:t>
            </a:r>
            <a:r>
              <a:rPr sz="840">
                <a:solidFill>
                  <a:srgbClr val="7DD3C8"/>
                </a:solidFill>
                <a:latin typeface="Consolas"/>
              </a:rPr>
              <a:t>"type"</a:t>
            </a:r>
            <a:r>
              <a:rPr sz="840">
                <a:solidFill>
                  <a:srgbClr val="CBD9E8"/>
                </a:solidFill>
                <a:latin typeface="Consolas"/>
              </a:rPr>
              <a:t>: </a:t>
            </a:r>
            <a:r>
              <a:rPr sz="840">
                <a:solidFill>
                  <a:srgbClr val="F6C67A"/>
                </a:solidFill>
                <a:latin typeface="Consolas"/>
              </a:rPr>
              <a:t>"BitstringStatusListEntry"</a:t>
            </a:r>
            <a:r>
              <a:rPr sz="840">
                <a:solidFill>
                  <a:srgbClr val="CBD9E8"/>
                </a:solidFill>
                <a:latin typeface="Consolas"/>
              </a:rPr>
              <a:t>,</a:t>
            </a:r>
          </a:p>
          <a:p>
            <a:pPr>
              <a:lnSpc>
                <a:spcPct val="116000"/>
              </a:lnSpc>
              <a:spcBef>
                <a:spcPts val="0"/>
              </a:spcBef>
              <a:spcAft>
                <a:spcPts val="0"/>
              </a:spcAft>
            </a:pPr>
            <a:r>
              <a:rPr sz="840">
                <a:solidFill>
                  <a:srgbClr val="CBD9E8"/>
                </a:solidFill>
                <a:latin typeface="Consolas"/>
              </a:rPr>
              <a:t>  </a:t>
            </a:r>
            <a:r>
              <a:rPr sz="840">
                <a:solidFill>
                  <a:srgbClr val="7DD3C8"/>
                </a:solidFill>
                <a:latin typeface="Consolas"/>
              </a:rPr>
              <a:t>"statusPurpose"</a:t>
            </a:r>
            <a:r>
              <a:rPr sz="840">
                <a:solidFill>
                  <a:srgbClr val="CBD9E8"/>
                </a:solidFill>
                <a:latin typeface="Consolas"/>
              </a:rPr>
              <a:t>: </a:t>
            </a:r>
            <a:r>
              <a:rPr sz="840">
                <a:solidFill>
                  <a:srgbClr val="F6C67A"/>
                </a:solidFill>
                <a:latin typeface="Consolas"/>
              </a:rPr>
              <a:t>"revocation"</a:t>
            </a:r>
            <a:r>
              <a:rPr sz="840">
                <a:solidFill>
                  <a:srgbClr val="CBD9E8"/>
                </a:solidFill>
                <a:latin typeface="Consolas"/>
              </a:rPr>
              <a:t>,</a:t>
            </a:r>
          </a:p>
          <a:p>
            <a:pPr>
              <a:lnSpc>
                <a:spcPct val="116000"/>
              </a:lnSpc>
              <a:spcBef>
                <a:spcPts val="0"/>
              </a:spcBef>
              <a:spcAft>
                <a:spcPts val="0"/>
              </a:spcAft>
            </a:pPr>
            <a:r>
              <a:rPr sz="840" b="1">
                <a:solidFill>
                  <a:srgbClr val="FFD56B"/>
                </a:solidFill>
                <a:latin typeface="Consolas"/>
              </a:rPr>
              <a:t>  </a:t>
            </a:r>
            <a:r>
              <a:rPr sz="840" b="1">
                <a:solidFill>
                  <a:srgbClr val="FFD56B"/>
                </a:solidFill>
                <a:latin typeface="Consolas"/>
              </a:rPr>
              <a:t>"statusListIndex"</a:t>
            </a:r>
            <a:r>
              <a:rPr sz="840" b="1">
                <a:solidFill>
                  <a:srgbClr val="FFD56B"/>
                </a:solidFill>
                <a:latin typeface="Consolas"/>
              </a:rPr>
              <a:t>: </a:t>
            </a:r>
            <a:r>
              <a:rPr sz="840" b="1">
                <a:solidFill>
                  <a:srgbClr val="FFD56B"/>
                </a:solidFill>
                <a:latin typeface="Consolas"/>
              </a:rPr>
              <a:t>"11"</a:t>
            </a:r>
            <a:r>
              <a:rPr sz="840" b="1">
                <a:solidFill>
                  <a:srgbClr val="FFD56B"/>
                </a:solidFill>
                <a:latin typeface="Consolas"/>
              </a:rPr>
              <a:t>,</a:t>
            </a:r>
          </a:p>
          <a:p>
            <a:pPr>
              <a:lnSpc>
                <a:spcPct val="116000"/>
              </a:lnSpc>
              <a:spcBef>
                <a:spcPts val="0"/>
              </a:spcBef>
              <a:spcAft>
                <a:spcPts val="0"/>
              </a:spcAft>
            </a:pPr>
            <a:r>
              <a:rPr sz="840">
                <a:solidFill>
                  <a:srgbClr val="CBD9E8"/>
                </a:solidFill>
                <a:latin typeface="Consolas"/>
              </a:rPr>
              <a:t>  </a:t>
            </a:r>
            <a:r>
              <a:rPr sz="840">
                <a:solidFill>
                  <a:srgbClr val="7DD3C8"/>
                </a:solidFill>
                <a:latin typeface="Consolas"/>
              </a:rPr>
              <a:t>"statusListCredential"</a:t>
            </a:r>
            <a:r>
              <a:rPr sz="840">
                <a:solidFill>
                  <a:srgbClr val="CBD9E8"/>
                </a:solidFill>
                <a:latin typeface="Consolas"/>
              </a:rPr>
              <a:t>:</a:t>
            </a:r>
          </a:p>
          <a:p>
            <a:pPr>
              <a:lnSpc>
                <a:spcPct val="116000"/>
              </a:lnSpc>
              <a:spcBef>
                <a:spcPts val="0"/>
              </a:spcBef>
              <a:spcAft>
                <a:spcPts val="0"/>
              </a:spcAft>
            </a:pPr>
            <a:r>
              <a:rPr sz="840" b="1">
                <a:solidFill>
                  <a:srgbClr val="FFD56B"/>
                </a:solidFill>
                <a:latin typeface="Consolas"/>
              </a:rPr>
              <a:t>     </a:t>
            </a:r>
            <a:r>
              <a:rPr sz="840" b="1">
                <a:solidFill>
                  <a:srgbClr val="FFD56B"/>
                </a:solidFill>
                <a:latin typeface="Consolas"/>
              </a:rPr>
              <a:t>"https://certify.example.gov.br/status/ab12"</a:t>
            </a:r>
          </a:p>
          <a:p>
            <a:pPr>
              <a:lnSpc>
                <a:spcPct val="116000"/>
              </a:lnSpc>
              <a:spcBef>
                <a:spcPts val="0"/>
              </a:spcBef>
              <a:spcAft>
                <a:spcPts val="0"/>
              </a:spcAft>
            </a:pPr>
            <a:r>
              <a:rPr sz="840">
                <a:solidFill>
                  <a:srgbClr val="CBD9E8"/>
                </a:solidFill>
                <a:latin typeface="Consolas"/>
              </a:rPr>
              <a:t>}</a:t>
            </a:r>
          </a:p>
        </p:txBody>
      </p:sp>
      <p:sp>
        <p:nvSpPr>
          <p:cNvPr id="49" name="Rounded Rectangle 48"/>
          <p:cNvSpPr/>
          <p:nvPr/>
        </p:nvSpPr>
        <p:spPr>
          <a:xfrm>
            <a:off x="931887" y="3529584"/>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Holder</a:t>
            </a:r>
          </a:p>
        </p:txBody>
      </p:sp>
      <p:cxnSp>
        <p:nvCxnSpPr>
          <p:cNvPr id="50" name="Connector 49"/>
          <p:cNvCxnSpPr/>
          <p:nvPr/>
        </p:nvCxnSpPr>
        <p:spPr>
          <a:xfrm>
            <a:off x="1901151" y="3913632"/>
            <a:ext cx="0" cy="2231136"/>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51" name="Rectangle 50"/>
          <p:cNvSpPr/>
          <p:nvPr/>
        </p:nvSpPr>
        <p:spPr>
          <a:xfrm>
            <a:off x="1855431" y="3913632"/>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1855431" y="60944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3728351" y="3529584"/>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Certify</a:t>
            </a:r>
          </a:p>
        </p:txBody>
      </p:sp>
      <p:cxnSp>
        <p:nvCxnSpPr>
          <p:cNvPr id="54" name="Connector 53"/>
          <p:cNvCxnSpPr/>
          <p:nvPr/>
        </p:nvCxnSpPr>
        <p:spPr>
          <a:xfrm>
            <a:off x="4697615" y="3913632"/>
            <a:ext cx="0" cy="2231136"/>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55" name="Rectangle 54"/>
          <p:cNvSpPr/>
          <p:nvPr/>
        </p:nvSpPr>
        <p:spPr>
          <a:xfrm>
            <a:off x="4651895" y="3913632"/>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651895" y="60944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6524815" y="3529584"/>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Status list store</a:t>
            </a:r>
          </a:p>
        </p:txBody>
      </p:sp>
      <p:cxnSp>
        <p:nvCxnSpPr>
          <p:cNvPr id="58" name="Connector 57"/>
          <p:cNvCxnSpPr/>
          <p:nvPr/>
        </p:nvCxnSpPr>
        <p:spPr>
          <a:xfrm>
            <a:off x="7494079" y="3913632"/>
            <a:ext cx="0" cy="2231136"/>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7448359" y="3913632"/>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7448359" y="60944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9321279" y="3529584"/>
            <a:ext cx="1938528" cy="384048"/>
          </a:xfrm>
          <a:prstGeom prst="roundRect">
            <a:avLst>
              <a:gd name="adj" fmla="val 2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0" bIns="0"/>
          <a:lstStyle/>
          <a:p>
            <a:pPr algn="ctr"/>
            <a:r>
              <a:rPr sz="930" b="1">
                <a:solidFill>
                  <a:srgbClr val="FFFFFF"/>
                </a:solidFill>
                <a:latin typeface="Arial"/>
              </a:rPr>
              <a:t>Verifier</a:t>
            </a:r>
          </a:p>
        </p:txBody>
      </p:sp>
      <p:cxnSp>
        <p:nvCxnSpPr>
          <p:cNvPr id="62" name="Connector 61"/>
          <p:cNvCxnSpPr/>
          <p:nvPr/>
        </p:nvCxnSpPr>
        <p:spPr>
          <a:xfrm>
            <a:off x="10290543" y="3913632"/>
            <a:ext cx="0" cy="2231136"/>
          </a:xfrm>
          <a:prstGeom prst="line">
            <a:avLst/>
          </a:prstGeom>
          <a:ln w="20320">
            <a:solidFill>
              <a:srgbClr val="7C90A6"/>
            </a:solidFill>
            <a:prstDash val="sysDash"/>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10244823" y="3913632"/>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0244823" y="6094476"/>
            <a:ext cx="91440" cy="50292"/>
          </a:xfrm>
          <a:prstGeom prst="rect">
            <a:avLst/>
          </a:prstGeom>
          <a:solidFill>
            <a:srgbClr val="7C90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5" name="Connector 64"/>
          <p:cNvCxnSpPr/>
          <p:nvPr/>
        </p:nvCxnSpPr>
        <p:spPr>
          <a:xfrm>
            <a:off x="4725047" y="4277563"/>
            <a:ext cx="2741600"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4796504" y="4082796"/>
            <a:ext cx="2598686" cy="1544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842224" y="4096511"/>
            <a:ext cx="2507246"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1  </a:t>
            </a:r>
            <a:r>
              <a:rPr sz="869" b="0" i="0">
                <a:solidFill>
                  <a:srgbClr val="1E293B"/>
                </a:solidFill>
                <a:latin typeface="Arial"/>
              </a:rPr>
              <a:t>At issuance: claim the next free index</a:t>
            </a:r>
          </a:p>
        </p:txBody>
      </p:sp>
      <p:cxnSp>
        <p:nvCxnSpPr>
          <p:cNvPr id="68" name="Connector 67"/>
          <p:cNvCxnSpPr/>
          <p:nvPr/>
        </p:nvCxnSpPr>
        <p:spPr>
          <a:xfrm flipH="1">
            <a:off x="4725047" y="4526737"/>
            <a:ext cx="2741600"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69" name="Rectangle 68"/>
          <p:cNvSpPr/>
          <p:nvPr/>
        </p:nvSpPr>
        <p:spPr>
          <a:xfrm>
            <a:off x="4554531" y="4331970"/>
            <a:ext cx="3082632" cy="1544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4600251" y="4345686"/>
            <a:ext cx="2991192"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2  </a:t>
            </a:r>
            <a:r>
              <a:rPr sz="869" b="0" i="0">
                <a:solidFill>
                  <a:srgbClr val="5B6B7F"/>
                </a:solidFill>
                <a:latin typeface="Consolas"/>
              </a:rPr>
              <a:t>statusListCredentialId</a:t>
            </a:r>
            <a:r>
              <a:rPr sz="869" b="0" i="0">
                <a:solidFill>
                  <a:srgbClr val="5B6B7F"/>
                </a:solidFill>
                <a:latin typeface="Arial"/>
              </a:rPr>
              <a:t> + </a:t>
            </a:r>
            <a:r>
              <a:rPr sz="869" b="0" i="0">
                <a:solidFill>
                  <a:srgbClr val="5B6B7F"/>
                </a:solidFill>
                <a:latin typeface="Consolas"/>
              </a:rPr>
              <a:t>statusListIndex</a:t>
            </a:r>
          </a:p>
        </p:txBody>
      </p:sp>
      <p:cxnSp>
        <p:nvCxnSpPr>
          <p:cNvPr id="71" name="Connector 70"/>
          <p:cNvCxnSpPr/>
          <p:nvPr/>
        </p:nvCxnSpPr>
        <p:spPr>
          <a:xfrm flipH="1">
            <a:off x="1928583" y="4775911"/>
            <a:ext cx="2741600"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72" name="Rectangle 71"/>
          <p:cNvSpPr/>
          <p:nvPr/>
        </p:nvSpPr>
        <p:spPr>
          <a:xfrm>
            <a:off x="1949491" y="4581144"/>
            <a:ext cx="2699785" cy="1544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995211" y="4594859"/>
            <a:ext cx="2608345"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3  </a:t>
            </a:r>
            <a:r>
              <a:rPr sz="869" b="0" i="0">
                <a:solidFill>
                  <a:srgbClr val="5B6B7F"/>
                </a:solidFill>
                <a:latin typeface="Arial"/>
              </a:rPr>
              <a:t>Credential, carrying </a:t>
            </a:r>
            <a:r>
              <a:rPr sz="869" b="0" i="0">
                <a:solidFill>
                  <a:srgbClr val="5B6B7F"/>
                </a:solidFill>
                <a:latin typeface="Consolas"/>
              </a:rPr>
              <a:t>credentialStatus</a:t>
            </a:r>
          </a:p>
        </p:txBody>
      </p:sp>
      <p:cxnSp>
        <p:nvCxnSpPr>
          <p:cNvPr id="74" name="Connector 73"/>
          <p:cNvCxnSpPr/>
          <p:nvPr/>
        </p:nvCxnSpPr>
        <p:spPr>
          <a:xfrm>
            <a:off x="4725047" y="5025085"/>
            <a:ext cx="2741600"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5" name="Rectangle 74"/>
          <p:cNvSpPr/>
          <p:nvPr/>
        </p:nvSpPr>
        <p:spPr>
          <a:xfrm>
            <a:off x="4477464" y="4830318"/>
            <a:ext cx="3236766" cy="1544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523184" y="4844033"/>
            <a:ext cx="3145326"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4  </a:t>
            </a:r>
            <a:r>
              <a:rPr sz="869" b="0" i="0">
                <a:solidFill>
                  <a:srgbClr val="1E293B"/>
                </a:solidFill>
                <a:latin typeface="Arial"/>
              </a:rPr>
              <a:t>Administrator revokes — set the bit at that index</a:t>
            </a:r>
          </a:p>
        </p:txBody>
      </p:sp>
      <p:sp>
        <p:nvSpPr>
          <p:cNvPr id="77" name="Rectangle 76"/>
          <p:cNvSpPr/>
          <p:nvPr/>
        </p:nvSpPr>
        <p:spPr>
          <a:xfrm>
            <a:off x="7494079" y="5182819"/>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8" name="Connector 77"/>
          <p:cNvCxnSpPr/>
          <p:nvPr/>
        </p:nvCxnSpPr>
        <p:spPr>
          <a:xfrm flipH="1">
            <a:off x="7512367" y="5329123"/>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79" name="Rectangle 78"/>
          <p:cNvSpPr/>
          <p:nvPr/>
        </p:nvSpPr>
        <p:spPr>
          <a:xfrm>
            <a:off x="7804975" y="5079492"/>
            <a:ext cx="3352780" cy="1544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850695" y="5093207"/>
            <a:ext cx="3261340" cy="154487"/>
          </a:xfrm>
          <a:prstGeom prst="rect">
            <a:avLst/>
          </a:prstGeom>
          <a:noFill/>
        </p:spPr>
        <p:txBody>
          <a:bodyPr wrap="none" lIns="0" rIns="0" tIns="0" bIns="0" anchor="ctr">
            <a:spAutoFit/>
          </a:bodyPr>
          <a:lstStyle/>
          <a:p>
            <a:pPr algn="l">
              <a:lnSpc>
                <a:spcPct val="100000"/>
              </a:lnSpc>
              <a:spcBef>
                <a:spcPts val="0"/>
              </a:spcBef>
              <a:spcAft>
                <a:spcPts val="0"/>
              </a:spcAft>
            </a:pPr>
            <a:r>
              <a:rPr sz="869" b="1" i="0">
                <a:solidFill>
                  <a:srgbClr val="0E9488"/>
                </a:solidFill>
                <a:latin typeface="Arial"/>
              </a:rPr>
              <a:t>5  </a:t>
            </a:r>
            <a:r>
              <a:rPr sz="869" b="0" i="0">
                <a:solidFill>
                  <a:srgbClr val="1E293B"/>
                </a:solidFill>
                <a:latin typeface="Arial"/>
              </a:rPr>
              <a:t>Re-encode the bitstring, re-sign the status list VC</a:t>
            </a:r>
          </a:p>
        </p:txBody>
      </p:sp>
      <p:cxnSp>
        <p:nvCxnSpPr>
          <p:cNvPr id="81" name="Connector 80"/>
          <p:cNvCxnSpPr/>
          <p:nvPr/>
        </p:nvCxnSpPr>
        <p:spPr>
          <a:xfrm flipH="1">
            <a:off x="7521511" y="5523433"/>
            <a:ext cx="2741600" cy="0"/>
          </a:xfrm>
          <a:prstGeom prst="line">
            <a:avLst/>
          </a:prstGeom>
          <a:ln w="17780">
            <a:solidFill>
              <a:srgbClr val="1D4E89"/>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82" name="Rectangle 81"/>
          <p:cNvSpPr/>
          <p:nvPr/>
        </p:nvSpPr>
        <p:spPr>
          <a:xfrm>
            <a:off x="7694066" y="5328666"/>
            <a:ext cx="2396490" cy="1544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739786" y="5342381"/>
            <a:ext cx="2305050"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6  </a:t>
            </a:r>
            <a:r>
              <a:rPr sz="869" b="0" i="0">
                <a:solidFill>
                  <a:srgbClr val="1D4E89"/>
                </a:solidFill>
                <a:latin typeface="Consolas"/>
              </a:rPr>
              <a:t>GET</a:t>
            </a:r>
            <a:r>
              <a:rPr sz="869" b="0" i="0">
                <a:solidFill>
                  <a:srgbClr val="1E293B"/>
                </a:solidFill>
                <a:latin typeface="Arial"/>
              </a:rPr>
              <a:t> the status list credential URL</a:t>
            </a:r>
          </a:p>
        </p:txBody>
      </p:sp>
      <p:cxnSp>
        <p:nvCxnSpPr>
          <p:cNvPr id="84" name="Connector 83"/>
          <p:cNvCxnSpPr/>
          <p:nvPr/>
        </p:nvCxnSpPr>
        <p:spPr>
          <a:xfrm>
            <a:off x="7521511" y="5772607"/>
            <a:ext cx="2741600" cy="0"/>
          </a:xfrm>
          <a:prstGeom prst="line">
            <a:avLst/>
          </a:prstGeom>
          <a:ln w="17780">
            <a:solidFill>
              <a:srgbClr val="5B6B7F"/>
            </a:solidFill>
            <a:prstDash val="sysDash"/>
            <a:tailEnd type="triangle" w="sm" len="sm"/>
          </a:ln>
          <a:effectLst/>
        </p:spPr>
        <p:style>
          <a:lnRef idx="2">
            <a:schemeClr val="accent1"/>
          </a:lnRef>
          <a:fillRef idx="0">
            <a:schemeClr val="accent1"/>
          </a:fillRef>
          <a:effectRef idx="1">
            <a:schemeClr val="accent1"/>
          </a:effectRef>
          <a:fontRef idx="minor">
            <a:schemeClr val="tx1"/>
          </a:fontRef>
        </p:style>
      </p:cxnSp>
      <p:sp>
        <p:nvSpPr>
          <p:cNvPr id="85" name="Rectangle 84"/>
          <p:cNvSpPr/>
          <p:nvPr/>
        </p:nvSpPr>
        <p:spPr>
          <a:xfrm>
            <a:off x="8086029" y="5577840"/>
            <a:ext cx="1612563" cy="1544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8131749" y="5591555"/>
            <a:ext cx="1521123" cy="154487"/>
          </a:xfrm>
          <a:prstGeom prst="rect">
            <a:avLst/>
          </a:prstGeom>
          <a:noFill/>
        </p:spPr>
        <p:txBody>
          <a:bodyPr wrap="none" lIns="0" rIns="0" tIns="0" bIns="0" anchor="ctr">
            <a:spAutoFit/>
          </a:bodyPr>
          <a:lstStyle/>
          <a:p>
            <a:pPr algn="ctr">
              <a:lnSpc>
                <a:spcPct val="100000"/>
              </a:lnSpc>
              <a:spcBef>
                <a:spcPts val="0"/>
              </a:spcBef>
              <a:spcAft>
                <a:spcPts val="0"/>
              </a:spcAft>
            </a:pPr>
            <a:r>
              <a:rPr sz="869" b="1" i="0">
                <a:solidFill>
                  <a:srgbClr val="0E9488"/>
                </a:solidFill>
                <a:latin typeface="Arial"/>
              </a:rPr>
              <a:t>7  </a:t>
            </a:r>
            <a:r>
              <a:rPr sz="869" b="0" i="0">
                <a:solidFill>
                  <a:srgbClr val="5B6B7F"/>
                </a:solidFill>
                <a:latin typeface="Arial"/>
              </a:rPr>
              <a:t>signed status list VC</a:t>
            </a:r>
          </a:p>
        </p:txBody>
      </p:sp>
      <p:sp>
        <p:nvSpPr>
          <p:cNvPr id="87" name="Rectangle 86"/>
          <p:cNvSpPr/>
          <p:nvPr/>
        </p:nvSpPr>
        <p:spPr>
          <a:xfrm>
            <a:off x="10290543" y="5930341"/>
            <a:ext cx="237744" cy="146304"/>
          </a:xfrm>
          <a:prstGeom prst="rect">
            <a:avLst/>
          </a:prstGeom>
          <a:noFill/>
          <a:ln w="12700">
            <a:solidFill>
              <a:srgbClr val="1E293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Connector 87"/>
          <p:cNvCxnSpPr/>
          <p:nvPr/>
        </p:nvCxnSpPr>
        <p:spPr>
          <a:xfrm flipH="1">
            <a:off x="10308831" y="6076645"/>
            <a:ext cx="219456" cy="0"/>
          </a:xfrm>
          <a:prstGeom prst="line">
            <a:avLst/>
          </a:prstGeom>
          <a:ln w="12700">
            <a:solidFill>
              <a:srgbClr val="1E293B"/>
            </a:solidFill>
            <a:tailEnd type="triangle" w="sm" len="sm"/>
          </a:ln>
          <a:effectLst/>
        </p:spPr>
        <p:style>
          <a:lnRef idx="2">
            <a:schemeClr val="accent1"/>
          </a:lnRef>
          <a:fillRef idx="0">
            <a:schemeClr val="accent1"/>
          </a:fillRef>
          <a:effectRef idx="1">
            <a:schemeClr val="accent1"/>
          </a:effectRef>
          <a:fontRef idx="minor">
            <a:schemeClr val="tx1"/>
          </a:fontRef>
        </p:style>
      </p:cxnSp>
      <p:sp>
        <p:nvSpPr>
          <p:cNvPr id="89" name="Rectangle 88"/>
          <p:cNvSpPr/>
          <p:nvPr/>
        </p:nvSpPr>
        <p:spPr>
          <a:xfrm>
            <a:off x="7404963" y="5827014"/>
            <a:ext cx="2830715" cy="1544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7450683" y="5840729"/>
            <a:ext cx="2739275" cy="154487"/>
          </a:xfrm>
          <a:prstGeom prst="rect">
            <a:avLst/>
          </a:prstGeom>
          <a:noFill/>
        </p:spPr>
        <p:txBody>
          <a:bodyPr wrap="none" lIns="0" rIns="0" tIns="0" bIns="0" anchor="ctr">
            <a:spAutoFit/>
          </a:bodyPr>
          <a:lstStyle/>
          <a:p>
            <a:pPr algn="r">
              <a:lnSpc>
                <a:spcPct val="100000"/>
              </a:lnSpc>
              <a:spcBef>
                <a:spcPts val="0"/>
              </a:spcBef>
              <a:spcAft>
                <a:spcPts val="0"/>
              </a:spcAft>
            </a:pPr>
            <a:r>
              <a:rPr sz="869" b="1" i="0">
                <a:solidFill>
                  <a:srgbClr val="0E9488"/>
                </a:solidFill>
                <a:latin typeface="Arial"/>
              </a:rPr>
              <a:t>8  </a:t>
            </a:r>
            <a:r>
              <a:rPr sz="869" b="0" i="0">
                <a:solidFill>
                  <a:srgbClr val="1E293B"/>
                </a:solidFill>
                <a:latin typeface="Arial"/>
              </a:rPr>
              <a:t>Verify signature, decompress, read the bit</a:t>
            </a:r>
          </a:p>
        </p:txBody>
      </p:sp>
      <p:sp>
        <p:nvSpPr>
          <p:cNvPr id="91" name="TextBox 90"/>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92" name="TextBox 91"/>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6 — THE INTERACTION</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Status lists and key rotation — where they touch</a:t>
            </a:r>
          </a:p>
        </p:txBody>
      </p:sp>
      <p:sp>
        <p:nvSpPr>
          <p:cNvPr id="4" name="TextBox 3"/>
          <p:cNvSpPr txBox="1"/>
          <p:nvPr/>
        </p:nvSpPr>
        <p:spPr>
          <a:xfrm>
            <a:off x="502920" y="1078992"/>
            <a:ext cx="11185855" cy="262054"/>
          </a:xfrm>
          <a:prstGeom prst="rect">
            <a:avLst/>
          </a:prstGeom>
          <a:noFill/>
        </p:spPr>
        <p:txBody>
          <a:bodyPr wrap="square" lIns="0" rIns="0" tIns="0" bIns="0" anchor="t">
            <a:spAutoFit/>
          </a:bodyPr>
          <a:lstStyle/>
          <a:p>
            <a:pPr algn="l">
              <a:lnSpc>
                <a:spcPct val="114000"/>
              </a:lnSpc>
              <a:spcBef>
                <a:spcPts val="0"/>
              </a:spcBef>
              <a:spcAft>
                <a:spcPts val="0"/>
              </a:spcAft>
            </a:pPr>
            <a:r>
              <a:rPr sz="1070" b="0" i="0">
                <a:solidFill>
                  <a:srgbClr val="5B6B7F"/>
                </a:solidFill>
                <a:latin typeface="Arial"/>
              </a:rPr>
              <a:t>Two independent mechanisms, with exactly one dependency between them. Miss it and revocation silently stops working.</a:t>
            </a:r>
          </a:p>
        </p:txBody>
      </p:sp>
      <p:cxnSp>
        <p:nvCxnSpPr>
          <p:cNvPr id="5" name="Connector 4"/>
          <p:cNvCxnSpPr/>
          <p:nvPr/>
        </p:nvCxnSpPr>
        <p:spPr>
          <a:xfrm>
            <a:off x="502920" y="1432486"/>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02050"/>
            <a:ext cx="5440680" cy="1734183"/>
          </a:xfrm>
          <a:prstGeom prst="roundRect">
            <a:avLst>
              <a:gd name="adj" fmla="val 45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02050"/>
            <a:ext cx="50292" cy="1734183"/>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725370"/>
            <a:ext cx="5056632" cy="231224"/>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B31B1B"/>
                </a:solidFill>
                <a:latin typeface="Arial"/>
              </a:rPr>
              <a:t>The dependency</a:t>
            </a:r>
          </a:p>
        </p:txBody>
      </p:sp>
      <p:sp>
        <p:nvSpPr>
          <p:cNvPr id="9" name="Oval 8"/>
          <p:cNvSpPr/>
          <p:nvPr/>
        </p:nvSpPr>
        <p:spPr>
          <a:xfrm>
            <a:off x="745236" y="1973722"/>
            <a:ext cx="77724" cy="65513"/>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1918057"/>
            <a:ext cx="4828031" cy="227370"/>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Arial"/>
              </a:rPr>
              <a:t>The status list credential is </a:t>
            </a:r>
            <a:r>
              <a:rPr sz="930" b="1" i="0">
                <a:solidFill>
                  <a:srgbClr val="0F172A"/>
                </a:solidFill>
                <a:latin typeface="Arial"/>
              </a:rPr>
              <a:t>itself a signed VC</a:t>
            </a:r>
            <a:r>
              <a:rPr sz="930" b="0" i="0">
                <a:solidFill>
                  <a:srgbClr val="0F172A"/>
                </a:solidFill>
                <a:latin typeface="Arial"/>
              </a:rPr>
              <a:t>.</a:t>
            </a:r>
          </a:p>
        </p:txBody>
      </p:sp>
      <p:sp>
        <p:nvSpPr>
          <p:cNvPr id="11" name="Oval 10"/>
          <p:cNvSpPr/>
          <p:nvPr/>
        </p:nvSpPr>
        <p:spPr>
          <a:xfrm>
            <a:off x="745236" y="2174117"/>
            <a:ext cx="77724" cy="65513"/>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118452"/>
            <a:ext cx="4828031" cy="497132"/>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Arial"/>
              </a:rPr>
              <a:t>Certify signs it with its own configured key: </a:t>
            </a:r>
            <a:r>
              <a:rPr sz="930" b="0" i="0">
                <a:solidFill>
                  <a:srgbClr val="1D4E89"/>
                </a:solidFill>
                <a:latin typeface="Consolas"/>
              </a:rPr>
              <a:t>mosip.certify.status-list.signature-crypto-suite</a:t>
            </a:r>
            <a:r>
              <a:rPr sz="930" b="0" i="0">
                <a:solidFill>
                  <a:srgbClr val="0F172A"/>
                </a:solidFill>
                <a:latin typeface="Arial"/>
              </a:rPr>
              <a:t> (default </a:t>
            </a:r>
            <a:r>
              <a:rPr sz="930" b="0" i="0">
                <a:solidFill>
                  <a:srgbClr val="1D4E89"/>
                </a:solidFill>
                <a:latin typeface="Consolas"/>
              </a:rPr>
              <a:t>Ed25519Signature2020</a:t>
            </a:r>
            <a:r>
              <a:rPr sz="930" b="0" i="0">
                <a:solidFill>
                  <a:srgbClr val="0F172A"/>
                </a:solidFill>
                <a:latin typeface="Arial"/>
              </a:rPr>
              <a:t>), key reference </a:t>
            </a:r>
            <a:r>
              <a:rPr sz="930" b="0" i="0">
                <a:solidFill>
                  <a:srgbClr val="1D4E89"/>
                </a:solidFill>
                <a:latin typeface="Consolas"/>
              </a:rPr>
              <a:t>ED25519_SIGN</a:t>
            </a:r>
            <a:r>
              <a:rPr sz="930" b="0" i="0">
                <a:solidFill>
                  <a:srgbClr val="0F172A"/>
                </a:solidFill>
                <a:latin typeface="Arial"/>
              </a:rPr>
              <a:t>.</a:t>
            </a:r>
          </a:p>
        </p:txBody>
      </p:sp>
      <p:sp>
        <p:nvSpPr>
          <p:cNvPr id="13" name="Oval 12"/>
          <p:cNvSpPr/>
          <p:nvPr/>
        </p:nvSpPr>
        <p:spPr>
          <a:xfrm>
            <a:off x="745236" y="2644273"/>
            <a:ext cx="77724" cy="65513"/>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2588608"/>
            <a:ext cx="4828031" cy="362251"/>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Arial"/>
              </a:rPr>
              <a:t>So when that key rotates, </a:t>
            </a:r>
            <a:r>
              <a:rPr sz="930" b="1" i="0">
                <a:solidFill>
                  <a:srgbClr val="0F172A"/>
                </a:solidFill>
                <a:latin typeface="Arial"/>
              </a:rPr>
              <a:t>newly published status lists are signed by the new key</a:t>
            </a:r>
            <a:r>
              <a:rPr sz="930" b="0" i="0">
                <a:solidFill>
                  <a:srgbClr val="0F172A"/>
                </a:solidFill>
                <a:latin typeface="Arial"/>
              </a:rPr>
              <a:t> — and verifiers must be able to resolve it.</a:t>
            </a:r>
          </a:p>
        </p:txBody>
      </p:sp>
      <p:sp>
        <p:nvSpPr>
          <p:cNvPr id="15" name="Oval 14"/>
          <p:cNvSpPr/>
          <p:nvPr/>
        </p:nvSpPr>
        <p:spPr>
          <a:xfrm>
            <a:off x="745236" y="2979548"/>
            <a:ext cx="77724" cy="65513"/>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32688" y="2923883"/>
            <a:ext cx="4828031" cy="362251"/>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Arial"/>
              </a:rPr>
              <a:t>If the new key is not yet published, status checks fail even though the credentials themselves are fine.</a:t>
            </a:r>
          </a:p>
        </p:txBody>
      </p:sp>
      <p:sp>
        <p:nvSpPr>
          <p:cNvPr id="17" name="Rounded Rectangle 16"/>
          <p:cNvSpPr/>
          <p:nvPr/>
        </p:nvSpPr>
        <p:spPr>
          <a:xfrm>
            <a:off x="6245352" y="1602050"/>
            <a:ext cx="5440680" cy="1734183"/>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45352" y="1602050"/>
            <a:ext cx="50292" cy="1734183"/>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83096" y="1725370"/>
            <a:ext cx="5056632" cy="231224"/>
          </a:xfrm>
          <a:prstGeom prst="rect">
            <a:avLst/>
          </a:prstGeom>
          <a:noFill/>
        </p:spPr>
        <p:txBody>
          <a:bodyPr wrap="square" lIns="0" rIns="0" tIns="0" bIns="0" anchor="t">
            <a:spAutoFit/>
          </a:bodyPr>
          <a:lstStyle/>
          <a:p>
            <a:pPr algn="l">
              <a:lnSpc>
                <a:spcPct val="114000"/>
              </a:lnSpc>
              <a:spcBef>
                <a:spcPts val="0"/>
              </a:spcBef>
              <a:spcAft>
                <a:spcPts val="0"/>
              </a:spcAft>
            </a:pPr>
            <a:r>
              <a:rPr sz="1120" b="1" i="0">
                <a:solidFill>
                  <a:srgbClr val="0E9488"/>
                </a:solidFill>
                <a:latin typeface="Arial"/>
              </a:rPr>
              <a:t>What that means in practice</a:t>
            </a:r>
          </a:p>
        </p:txBody>
      </p:sp>
      <p:sp>
        <p:nvSpPr>
          <p:cNvPr id="20" name="Oval 19"/>
          <p:cNvSpPr/>
          <p:nvPr/>
        </p:nvSpPr>
        <p:spPr>
          <a:xfrm>
            <a:off x="6487668" y="1973722"/>
            <a:ext cx="77724" cy="65513"/>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0" y="1918057"/>
            <a:ext cx="4828031" cy="497132"/>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Arial"/>
              </a:rPr>
              <a:t>The status list signing key is on the </a:t>
            </a:r>
            <a:r>
              <a:rPr sz="930" b="1" i="0">
                <a:solidFill>
                  <a:srgbClr val="0F172A"/>
                </a:solidFill>
                <a:latin typeface="Arial"/>
              </a:rPr>
              <a:t>same publication path</a:t>
            </a:r>
            <a:r>
              <a:rPr sz="930" b="0" i="0">
                <a:solidFill>
                  <a:srgbClr val="0F172A"/>
                </a:solidFill>
                <a:latin typeface="Arial"/>
              </a:rPr>
              <a:t> as the credential signing key — </a:t>
            </a:r>
            <a:r>
              <a:rPr sz="930" b="0" i="0">
                <a:solidFill>
                  <a:srgbClr val="1D4E89"/>
                </a:solidFill>
                <a:latin typeface="Consolas"/>
              </a:rPr>
              <a:t>jwks.json</a:t>
            </a:r>
            <a:r>
              <a:rPr sz="930" b="0" i="0">
                <a:solidFill>
                  <a:srgbClr val="0F172A"/>
                </a:solidFill>
                <a:latin typeface="Arial"/>
              </a:rPr>
              <a:t> and the DID document.</a:t>
            </a:r>
          </a:p>
        </p:txBody>
      </p:sp>
      <p:sp>
        <p:nvSpPr>
          <p:cNvPr id="22" name="Oval 21"/>
          <p:cNvSpPr/>
          <p:nvPr/>
        </p:nvSpPr>
        <p:spPr>
          <a:xfrm>
            <a:off x="6487668" y="2443879"/>
            <a:ext cx="77724" cy="65513"/>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0" y="2388213"/>
            <a:ext cx="4828031" cy="227370"/>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Arial"/>
              </a:rPr>
              <a:t>Rotating it is subject to the same order of operations from topic 5.</a:t>
            </a:r>
          </a:p>
        </p:txBody>
      </p:sp>
      <p:sp>
        <p:nvSpPr>
          <p:cNvPr id="24" name="Oval 23"/>
          <p:cNvSpPr/>
          <p:nvPr/>
        </p:nvSpPr>
        <p:spPr>
          <a:xfrm>
            <a:off x="6487668" y="2644273"/>
            <a:ext cx="77724" cy="65513"/>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0" y="2588608"/>
            <a:ext cx="4828031" cy="362251"/>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Arial"/>
              </a:rPr>
              <a:t>A failure here looks like 'the credential is revoked' or 'status unavailable' to the verifier, not like a key problem.</a:t>
            </a:r>
          </a:p>
        </p:txBody>
      </p:sp>
      <p:sp>
        <p:nvSpPr>
          <p:cNvPr id="26" name="Oval 25"/>
          <p:cNvSpPr/>
          <p:nvPr/>
        </p:nvSpPr>
        <p:spPr>
          <a:xfrm>
            <a:off x="6487668" y="2979548"/>
            <a:ext cx="77724" cy="65513"/>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0" y="2923883"/>
            <a:ext cx="4828031" cy="227370"/>
          </a:xfrm>
          <a:prstGeom prst="rect">
            <a:avLst/>
          </a:prstGeom>
          <a:noFill/>
        </p:spPr>
        <p:txBody>
          <a:bodyPr wrap="square" lIns="0" rIns="0" tIns="0" bIns="0" anchor="t">
            <a:spAutoFit/>
          </a:bodyPr>
          <a:lstStyle/>
          <a:p>
            <a:pPr algn="l">
              <a:lnSpc>
                <a:spcPct val="124000"/>
              </a:lnSpc>
              <a:spcBef>
                <a:spcPts val="0"/>
              </a:spcBef>
              <a:spcAft>
                <a:spcPts val="0"/>
              </a:spcAft>
            </a:pPr>
            <a:r>
              <a:rPr sz="930" b="0" i="0">
                <a:solidFill>
                  <a:srgbClr val="0F172A"/>
                </a:solidFill>
                <a:latin typeface="Arial"/>
              </a:rPr>
              <a:t>Monitor status list URLs alongside the well-known endpoints.</a:t>
            </a:r>
          </a:p>
        </p:txBody>
      </p:sp>
      <p:graphicFrame>
        <p:nvGraphicFramePr>
          <p:cNvPr id="28" name="Table 27"/>
          <p:cNvGraphicFramePr>
            <a:graphicFrameLocks noGrp="1"/>
          </p:cNvGraphicFramePr>
          <p:nvPr/>
        </p:nvGraphicFramePr>
        <p:xfrm>
          <a:off x="502920" y="3528920"/>
          <a:ext cx="11185854" cy="2743862"/>
        </p:xfrm>
        <a:graphic>
          <a:graphicData uri="http://schemas.openxmlformats.org/drawingml/2006/table">
            <a:tbl>
              <a:tblPr firstRow="1">
                <a:tableStyleId>{2D5ABB26-0587-4C30-8999-92F81FD0307C}</a:tableStyleId>
              </a:tblPr>
              <a:tblGrid>
                <a:gridCol w="2383870"/>
                <a:gridCol w="4400992"/>
                <a:gridCol w="4400992"/>
              </a:tblGrid>
              <a:tr h="262054">
                <a:tc>
                  <a:txBody>
                    <a:bodyPr wrap="square"/>
                    <a:lstStyle/>
                    <a:p>
                      <a:pPr algn="l"/>
                    </a:p>
                  </a:txBody>
                  <a:tcPr marL="64008" marR="54864" marT="27432" marB="27432" anchor="ctr">
                    <a:solidFill>
                      <a:srgbClr val="1D4E89"/>
                    </a:solidFill>
                  </a:tcPr>
                </a:tc>
                <a:tc>
                  <a:txBody>
                    <a:bodyPr wrap="square"/>
                    <a:lstStyle/>
                    <a:p>
                      <a:pPr algn="l"/>
                      <a:r>
                        <a:rPr sz="880" b="1">
                          <a:solidFill>
                            <a:srgbClr val="FFFFFF"/>
                          </a:solidFill>
                          <a:latin typeface="Arial"/>
                        </a:rPr>
                        <a:t>Status list revocation</a:t>
                      </a:r>
                    </a:p>
                  </a:txBody>
                  <a:tcPr marL="64008" marR="54864" marT="27432" marB="27432" anchor="ctr">
                    <a:solidFill>
                      <a:srgbClr val="1D4E89"/>
                    </a:solidFill>
                  </a:tcPr>
                </a:tc>
                <a:tc>
                  <a:txBody>
                    <a:bodyPr wrap="square"/>
                    <a:lstStyle/>
                    <a:p>
                      <a:pPr algn="l"/>
                      <a:r>
                        <a:rPr sz="880" b="1">
                          <a:solidFill>
                            <a:srgbClr val="FFFFFF"/>
                          </a:solidFill>
                          <a:latin typeface="Arial"/>
                        </a:rPr>
                        <a:t>Key revocation (</a:t>
                      </a:r>
                      <a:r>
                        <a:rPr sz="880" b="1">
                          <a:solidFill>
                            <a:srgbClr val="FFFFFF"/>
                          </a:solidFill>
                          <a:latin typeface="Consolas"/>
                        </a:rPr>
                        <a:t>PUT /revokeKey</a:t>
                      </a:r>
                      <a:r>
                        <a:rPr sz="880" b="1">
                          <a:solidFill>
                            <a:srgbClr val="FFFFFF"/>
                          </a:solidFill>
                          <a:latin typeface="Arial"/>
                        </a:rPr>
                        <a:t>)</a:t>
                      </a:r>
                    </a:p>
                  </a:txBody>
                  <a:tcPr marL="64008" marR="54864" marT="27432" marB="27432" anchor="ctr">
                    <a:solidFill>
                      <a:srgbClr val="1D4E89"/>
                    </a:solidFill>
                  </a:tcPr>
                </a:tc>
              </a:tr>
              <a:tr h="354544">
                <a:tc>
                  <a:txBody>
                    <a:bodyPr wrap="square"/>
                    <a:lstStyle/>
                    <a:p>
                      <a:pPr algn="l">
                        <a:lnSpc>
                          <a:spcPct val="105000"/>
                        </a:lnSpc>
                      </a:pPr>
                      <a:r>
                        <a:rPr sz="869" b="1">
                          <a:solidFill>
                            <a:srgbClr val="0F172A"/>
                          </a:solidFill>
                          <a:latin typeface="Arial"/>
                        </a:rPr>
                        <a:t>What it withdraws</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One credential</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Nothing already issued — only future signatures</a:t>
                      </a:r>
                    </a:p>
                  </a:txBody>
                  <a:tcPr marL="64008" marR="54864" marT="18288" marB="18288" anchor="ctr">
                    <a:solidFill>
                      <a:srgbClr val="FFFFFF"/>
                    </a:solidFill>
                  </a:tcPr>
                </a:tc>
              </a:tr>
              <a:tr h="354544">
                <a:tc>
                  <a:txBody>
                    <a:bodyPr wrap="square"/>
                    <a:lstStyle/>
                    <a:p>
                      <a:pPr algn="l">
                        <a:lnSpc>
                          <a:spcPct val="105000"/>
                        </a:lnSpc>
                      </a:pPr>
                      <a:r>
                        <a:rPr sz="869" b="1">
                          <a:solidFill>
                            <a:srgbClr val="0F172A"/>
                          </a:solidFill>
                          <a:latin typeface="Arial"/>
                        </a:rPr>
                        <a:t>Blast radius</a:t>
                      </a:r>
                    </a:p>
                  </a:txBody>
                  <a:tcPr marL="64008" marR="54864" marT="18288" marB="18288" anchor="ctr">
                    <a:solidFill>
                      <a:srgbClr val="F3F6F9"/>
                    </a:solidFill>
                  </a:tcPr>
                </a:tc>
                <a:tc>
                  <a:txBody>
                    <a:bodyPr wrap="square"/>
                    <a:lstStyle/>
                    <a:p>
                      <a:pPr algn="l">
                        <a:lnSpc>
                          <a:spcPct val="105000"/>
                        </a:lnSpc>
                      </a:pPr>
                      <a:r>
                        <a:rPr sz="869" b="0">
                          <a:solidFill>
                            <a:srgbClr val="1E293B"/>
                          </a:solidFill>
                          <a:latin typeface="Arial"/>
                        </a:rPr>
                        <a:t>A single holder</a:t>
                      </a:r>
                    </a:p>
                  </a:txBody>
                  <a:tcPr marL="64008" marR="54864" marT="18288" marB="18288" anchor="ctr">
                    <a:solidFill>
                      <a:srgbClr val="F3F6F9"/>
                    </a:solidFill>
                  </a:tcPr>
                </a:tc>
                <a:tc>
                  <a:txBody>
                    <a:bodyPr wrap="square"/>
                    <a:lstStyle/>
                    <a:p>
                      <a:pPr algn="l">
                        <a:lnSpc>
                          <a:spcPct val="105000"/>
                        </a:lnSpc>
                      </a:pPr>
                      <a:r>
                        <a:rPr sz="869" b="0">
                          <a:solidFill>
                            <a:srgbClr val="1E293B"/>
                          </a:solidFill>
                          <a:latin typeface="Arial"/>
                        </a:rPr>
                        <a:t>Every future credential from that alias</a:t>
                      </a:r>
                    </a:p>
                  </a:txBody>
                  <a:tcPr marL="64008" marR="54864" marT="18288" marB="18288" anchor="ctr">
                    <a:solidFill>
                      <a:srgbClr val="F3F6F9"/>
                    </a:solidFill>
                  </a:tcPr>
                </a:tc>
              </a:tr>
              <a:tr h="354544">
                <a:tc>
                  <a:txBody>
                    <a:bodyPr wrap="square"/>
                    <a:lstStyle/>
                    <a:p>
                      <a:pPr algn="l">
                        <a:lnSpc>
                          <a:spcPct val="105000"/>
                        </a:lnSpc>
                      </a:pPr>
                      <a:r>
                        <a:rPr sz="869" b="1">
                          <a:solidFill>
                            <a:srgbClr val="0F172A"/>
                          </a:solidFill>
                          <a:latin typeface="Arial"/>
                        </a:rPr>
                        <a:t>Who acts</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An administrator with revocation authority</a:t>
                      </a:r>
                    </a:p>
                  </a:txBody>
                  <a:tcPr marL="64008" marR="54864" marT="18288" marB="18288" anchor="ctr">
                    <a:solidFill>
                      <a:srgbClr val="FFFFFF"/>
                    </a:solidFill>
                  </a:tcPr>
                </a:tc>
                <a:tc>
                  <a:txBody>
                    <a:bodyPr wrap="square"/>
                    <a:lstStyle/>
                    <a:p>
                      <a:pPr algn="l">
                        <a:lnSpc>
                          <a:spcPct val="105000"/>
                        </a:lnSpc>
                      </a:pPr>
                      <a:r>
                        <a:rPr sz="869" b="0">
                          <a:solidFill>
                            <a:srgbClr val="1E293B"/>
                          </a:solidFill>
                          <a:latin typeface="Arial"/>
                        </a:rPr>
                        <a:t>An operator with Key Manager access</a:t>
                      </a:r>
                    </a:p>
                  </a:txBody>
                  <a:tcPr marL="64008" marR="54864" marT="18288" marB="18288" anchor="ctr">
                    <a:solidFill>
                      <a:srgbClr val="FFFFFF"/>
                    </a:solidFill>
                  </a:tcPr>
                </a:tc>
              </a:tr>
              <a:tr h="354544">
                <a:tc>
                  <a:txBody>
                    <a:bodyPr wrap="square"/>
                    <a:lstStyle/>
                    <a:p>
                      <a:pPr algn="l">
                        <a:lnSpc>
                          <a:spcPct val="105000"/>
                        </a:lnSpc>
                      </a:pPr>
                      <a:r>
                        <a:rPr sz="869" b="1">
                          <a:solidFill>
                            <a:srgbClr val="0F172A"/>
                          </a:solidFill>
                          <a:latin typeface="Arial"/>
                        </a:rPr>
                        <a:t>Verifier sees</a:t>
                      </a:r>
                    </a:p>
                  </a:txBody>
                  <a:tcPr marL="64008" marR="54864" marT="18288" marB="18288" anchor="ctr">
                    <a:solidFill>
                      <a:srgbClr val="F3F6F9"/>
                    </a:solidFill>
                  </a:tcPr>
                </a:tc>
                <a:tc>
                  <a:txBody>
                    <a:bodyPr wrap="square"/>
                    <a:lstStyle/>
                    <a:p>
                      <a:pPr algn="l">
                        <a:lnSpc>
                          <a:spcPct val="105000"/>
                        </a:lnSpc>
                      </a:pPr>
                      <a:r>
                        <a:rPr sz="869" b="0">
                          <a:solidFill>
                            <a:srgbClr val="1D4E89"/>
                          </a:solidFill>
                          <a:latin typeface="Consolas"/>
                        </a:rPr>
                        <a:t>statusListIndex</a:t>
                      </a:r>
                      <a:r>
                        <a:rPr sz="869" b="0">
                          <a:solidFill>
                            <a:srgbClr val="1E293B"/>
                          </a:solidFill>
                          <a:latin typeface="Arial"/>
                        </a:rPr>
                        <a:t> bit set to 1</a:t>
                      </a:r>
                    </a:p>
                  </a:txBody>
                  <a:tcPr marL="64008" marR="54864" marT="18288" marB="18288" anchor="ctr">
                    <a:solidFill>
                      <a:srgbClr val="F3F6F9"/>
                    </a:solidFill>
                  </a:tcPr>
                </a:tc>
                <a:tc>
                  <a:txBody>
                    <a:bodyPr wrap="square"/>
                    <a:lstStyle/>
                    <a:p>
                      <a:pPr algn="l">
                        <a:lnSpc>
                          <a:spcPct val="105000"/>
                        </a:lnSpc>
                      </a:pPr>
                      <a:r>
                        <a:rPr sz="869" b="0">
                          <a:solidFill>
                            <a:srgbClr val="1E293B"/>
                          </a:solidFill>
                          <a:latin typeface="Arial"/>
                        </a:rPr>
                        <a:t>A new </a:t>
                      </a:r>
                      <a:r>
                        <a:rPr sz="869" b="0">
                          <a:solidFill>
                            <a:srgbClr val="1D4E89"/>
                          </a:solidFill>
                          <a:latin typeface="Consolas"/>
                        </a:rPr>
                        <a:t>kid</a:t>
                      </a:r>
                      <a:r>
                        <a:rPr sz="869" b="0">
                          <a:solidFill>
                            <a:srgbClr val="1E293B"/>
                          </a:solidFill>
                          <a:latin typeface="Arial"/>
                        </a:rPr>
                        <a:t> on newly issued credentials</a:t>
                      </a:r>
                    </a:p>
                  </a:txBody>
                  <a:tcPr marL="64008" marR="54864" marT="18288" marB="18288" anchor="ctr">
                    <a:solidFill>
                      <a:srgbClr val="F3F6F9"/>
                    </a:solidFill>
                  </a:tcPr>
                </a:tc>
              </a:tr>
              <a:tr h="354544">
                <a:tc>
                  <a:txBody>
                    <a:bodyPr wrap="square"/>
                    <a:lstStyle/>
                    <a:p>
                      <a:pPr algn="l">
                        <a:lnSpc>
                          <a:spcPct val="105000"/>
                        </a:lnSpc>
                      </a:pPr>
                      <a:r>
                        <a:rPr sz="869" b="1">
                          <a:solidFill>
                            <a:srgbClr val="0F172A"/>
                          </a:solidFill>
                          <a:latin typeface="Arial"/>
                        </a:rPr>
                        <a:t>Reversible?</a:t>
                      </a:r>
                    </a:p>
                  </a:txBody>
                  <a:tcPr marL="64008" marR="54864" marT="18288" marB="18288" anchor="ctr">
                    <a:solidFill>
                      <a:srgbClr val="FFFFFF"/>
                    </a:solidFill>
                  </a:tcPr>
                </a:tc>
                <a:tc>
                  <a:txBody>
                    <a:bodyPr wrap="square"/>
                    <a:lstStyle/>
                    <a:p>
                      <a:pPr algn="l">
                        <a:lnSpc>
                          <a:spcPct val="105000"/>
                        </a:lnSpc>
                      </a:pPr>
                      <a:r>
                        <a:rPr sz="869" b="1">
                          <a:solidFill>
                            <a:srgbClr val="15703D"/>
                          </a:solidFill>
                          <a:latin typeface="Arial"/>
                        </a:rPr>
                        <a:t>Yes — clear the bit</a:t>
                      </a:r>
                    </a:p>
                  </a:txBody>
                  <a:tcPr marL="64008" marR="54864" marT="18288" marB="18288" anchor="ctr">
                    <a:solidFill>
                      <a:srgbClr val="FFFFFF"/>
                    </a:solidFill>
                  </a:tcPr>
                </a:tc>
                <a:tc>
                  <a:txBody>
                    <a:bodyPr wrap="square"/>
                    <a:lstStyle/>
                    <a:p>
                      <a:pPr algn="l">
                        <a:lnSpc>
                          <a:spcPct val="105000"/>
                        </a:lnSpc>
                      </a:pPr>
                      <a:r>
                        <a:rPr sz="869" b="1">
                          <a:solidFill>
                            <a:srgbClr val="B31B1B"/>
                          </a:solidFill>
                          <a:latin typeface="Arial"/>
                        </a:rPr>
                        <a:t>No — the old key is not reinstated as current</a:t>
                      </a:r>
                    </a:p>
                  </a:txBody>
                  <a:tcPr marL="64008" marR="54864" marT="18288" marB="18288" anchor="ctr">
                    <a:solidFill>
                      <a:srgbClr val="FFFFFF"/>
                    </a:solidFill>
                  </a:tcPr>
                </a:tc>
              </a:tr>
              <a:tr h="354544">
                <a:tc>
                  <a:txBody>
                    <a:bodyPr wrap="square"/>
                    <a:lstStyle/>
                    <a:p>
                      <a:pPr algn="l">
                        <a:lnSpc>
                          <a:spcPct val="105000"/>
                        </a:lnSpc>
                      </a:pPr>
                      <a:r>
                        <a:rPr sz="869" b="1">
                          <a:solidFill>
                            <a:srgbClr val="0F172A"/>
                          </a:solidFill>
                          <a:latin typeface="Arial"/>
                        </a:rPr>
                        <a:t>Use it when</a:t>
                      </a:r>
                    </a:p>
                  </a:txBody>
                  <a:tcPr marL="64008" marR="54864" marT="18288" marB="18288" anchor="ctr">
                    <a:solidFill>
                      <a:srgbClr val="F3F6F9"/>
                    </a:solidFill>
                  </a:tcPr>
                </a:tc>
                <a:tc>
                  <a:txBody>
                    <a:bodyPr wrap="square"/>
                    <a:lstStyle/>
                    <a:p>
                      <a:pPr algn="l">
                        <a:lnSpc>
                          <a:spcPct val="105000"/>
                        </a:lnSpc>
                      </a:pPr>
                      <a:r>
                        <a:rPr sz="869" b="0">
                          <a:solidFill>
                            <a:srgbClr val="1E293B"/>
                          </a:solidFill>
                          <a:latin typeface="Arial"/>
                        </a:rPr>
                        <a:t>A credential was issued in error, or the holder's entitlement ended</a:t>
                      </a:r>
                    </a:p>
                  </a:txBody>
                  <a:tcPr marL="64008" marR="54864" marT="18288" marB="18288" anchor="ctr">
                    <a:solidFill>
                      <a:srgbClr val="F3F6F9"/>
                    </a:solidFill>
                  </a:tcPr>
                </a:tc>
                <a:tc>
                  <a:txBody>
                    <a:bodyPr wrap="square"/>
                    <a:lstStyle/>
                    <a:p>
                      <a:pPr algn="l">
                        <a:lnSpc>
                          <a:spcPct val="105000"/>
                        </a:lnSpc>
                      </a:pPr>
                      <a:r>
                        <a:rPr sz="869" b="0">
                          <a:solidFill>
                            <a:srgbClr val="1E293B"/>
                          </a:solidFill>
                          <a:latin typeface="Arial"/>
                        </a:rPr>
                        <a:t>A key is suspected compromised, or a scheduled rotation is due</a:t>
                      </a:r>
                    </a:p>
                  </a:txBody>
                  <a:tcPr marL="64008" marR="54864" marT="18288" marB="18288" anchor="ctr">
                    <a:solidFill>
                      <a:srgbClr val="F3F6F9"/>
                    </a:solidFill>
                  </a:tcPr>
                </a:tc>
              </a:tr>
              <a:tr h="354544">
                <a:tc>
                  <a:txBody>
                    <a:bodyPr wrap="square"/>
                    <a:lstStyle/>
                    <a:p>
                      <a:pPr algn="l">
                        <a:lnSpc>
                          <a:spcPct val="105000"/>
                        </a:lnSpc>
                      </a:pPr>
                      <a:r>
                        <a:rPr sz="869" b="1">
                          <a:solidFill>
                            <a:srgbClr val="0F172A"/>
                          </a:solidFill>
                          <a:latin typeface="Arial"/>
                        </a:rPr>
                        <a:t>Does NOT do</a:t>
                      </a:r>
                    </a:p>
                  </a:txBody>
                  <a:tcPr marL="64008" marR="54864" marT="18288" marB="18288" anchor="ctr">
                    <a:solidFill>
                      <a:srgbClr val="FFFFFF"/>
                    </a:solidFill>
                  </a:tcPr>
                </a:tc>
                <a:tc>
                  <a:txBody>
                    <a:bodyPr wrap="square"/>
                    <a:lstStyle/>
                    <a:p>
                      <a:pPr algn="l">
                        <a:lnSpc>
                          <a:spcPct val="105000"/>
                        </a:lnSpc>
                      </a:pPr>
                      <a:r>
                        <a:rPr sz="869" b="1">
                          <a:solidFill>
                            <a:srgbClr val="B31B1B"/>
                          </a:solidFill>
                          <a:latin typeface="Arial"/>
                        </a:rPr>
                        <a:t>Stop a verifier that never checks status</a:t>
                      </a:r>
                    </a:p>
                  </a:txBody>
                  <a:tcPr marL="64008" marR="54864" marT="18288" marB="18288" anchor="ctr">
                    <a:solidFill>
                      <a:srgbClr val="FFFFFF"/>
                    </a:solidFill>
                  </a:tcPr>
                </a:tc>
                <a:tc>
                  <a:txBody>
                    <a:bodyPr wrap="square"/>
                    <a:lstStyle/>
                    <a:p>
                      <a:pPr algn="l">
                        <a:lnSpc>
                          <a:spcPct val="105000"/>
                        </a:lnSpc>
                      </a:pPr>
                      <a:r>
                        <a:rPr sz="869" b="1">
                          <a:solidFill>
                            <a:srgbClr val="B31B1B"/>
                          </a:solidFill>
                          <a:latin typeface="Arial"/>
                        </a:rPr>
                        <a:t>Invalidate anything already signed</a:t>
                      </a:r>
                    </a:p>
                  </a:txBody>
                  <a:tcPr marL="64008" marR="54864" marT="18288" marB="18288" anchor="ctr">
                    <a:solidFill>
                      <a:srgbClr val="FFFFFF"/>
                    </a:solidFill>
                  </a:tcPr>
                </a:tc>
              </a:tr>
            </a:tbl>
          </a:graphicData>
        </a:graphic>
      </p:graphicFrame>
      <p:sp>
        <p:nvSpPr>
          <p:cNvPr id="29" name="TextBox 2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30" name="TextBox 2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7 — SHARING ONE KEY MANAGER</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Multi-issuer and multi-tenant key isolation</a:t>
            </a:r>
          </a:p>
        </p:txBody>
      </p:sp>
      <p:sp>
        <p:nvSpPr>
          <p:cNvPr id="4" name="TextBox 3"/>
          <p:cNvSpPr txBox="1"/>
          <p:nvPr/>
        </p:nvSpPr>
        <p:spPr>
          <a:xfrm>
            <a:off x="502920" y="1078992"/>
            <a:ext cx="11185855" cy="241952"/>
          </a:xfrm>
          <a:prstGeom prst="rect">
            <a:avLst/>
          </a:prstGeom>
          <a:noFill/>
        </p:spPr>
        <p:txBody>
          <a:bodyPr wrap="square" lIns="0" rIns="0" tIns="0" bIns="0" anchor="t">
            <a:spAutoFit/>
          </a:bodyPr>
          <a:lstStyle/>
          <a:p>
            <a:pPr algn="l">
              <a:lnSpc>
                <a:spcPct val="114000"/>
              </a:lnSpc>
              <a:spcBef>
                <a:spcPts val="0"/>
              </a:spcBef>
              <a:spcAft>
                <a:spcPts val="0"/>
              </a:spcAft>
            </a:pPr>
            <a:r>
              <a:rPr sz="1040" b="0" i="0">
                <a:solidFill>
                  <a:srgbClr val="5B6B7F"/>
                </a:solidFill>
                <a:latin typeface="Arial"/>
              </a:rPr>
              <a:t>Isolation is by </a:t>
            </a:r>
            <a:r>
              <a:rPr sz="1040" b="0" i="0">
                <a:solidFill>
                  <a:srgbClr val="1D4E89"/>
                </a:solidFill>
                <a:latin typeface="Consolas"/>
              </a:rPr>
              <a:t>app_id</a:t>
            </a:r>
            <a:r>
              <a:rPr sz="1040" b="0" i="0">
                <a:solidFill>
                  <a:srgbClr val="5B6B7F"/>
                </a:solidFill>
                <a:latin typeface="Arial"/>
              </a:rPr>
              <a:t> and </a:t>
            </a:r>
            <a:r>
              <a:rPr sz="1040" b="0" i="0">
                <a:solidFill>
                  <a:srgbClr val="1D4E89"/>
                </a:solidFill>
                <a:latin typeface="Consolas"/>
              </a:rPr>
              <a:t>ref_id</a:t>
            </a:r>
            <a:r>
              <a:rPr sz="1040" b="0" i="0">
                <a:solidFill>
                  <a:srgbClr val="5B6B7F"/>
                </a:solidFill>
                <a:latin typeface="Arial"/>
              </a:rPr>
              <a:t>. Understand exactly how strong that is before you rely on it.</a:t>
            </a:r>
          </a:p>
        </p:txBody>
      </p:sp>
      <p:cxnSp>
        <p:nvCxnSpPr>
          <p:cNvPr id="5" name="Connector 4"/>
          <p:cNvCxnSpPr/>
          <p:nvPr/>
        </p:nvCxnSpPr>
        <p:spPr>
          <a:xfrm>
            <a:off x="502920" y="1412384"/>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611880" y="1568942"/>
            <a:ext cx="4983480" cy="498137"/>
          </a:xfrm>
          <a:prstGeom prst="roundRect">
            <a:avLst>
              <a:gd name="adj" fmla="val 10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1080" b="1">
                <a:solidFill>
                  <a:srgbClr val="FFFFFF"/>
                </a:solidFill>
                <a:latin typeface="Arial"/>
              </a:rPr>
              <a:t>One Key Manager instance</a:t>
            </a:r>
          </a:p>
        </p:txBody>
      </p:sp>
      <p:sp>
        <p:nvSpPr>
          <p:cNvPr id="7" name="Rounded Rectangle 6"/>
          <p:cNvSpPr/>
          <p:nvPr/>
        </p:nvSpPr>
        <p:spPr>
          <a:xfrm>
            <a:off x="502920" y="2458473"/>
            <a:ext cx="3246120" cy="1316506"/>
          </a:xfrm>
          <a:prstGeom prst="roundRect">
            <a:avLst>
              <a:gd name="adj" fmla="val 3000"/>
            </a:avLst>
          </a:prstGeom>
          <a:noFill/>
          <a:ln w="17780">
            <a:solidFill>
              <a:srgbClr val="0E9488"/>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30936" y="2358845"/>
            <a:ext cx="881481" cy="199255"/>
          </a:xfrm>
          <a:prstGeom prst="roundRect">
            <a:avLst>
              <a:gd name="adj" fmla="val 22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70" b="1">
                <a:solidFill>
                  <a:srgbClr val="FFFFFF"/>
                </a:solidFill>
                <a:latin typeface="Arial"/>
              </a:rPr>
              <a:t>Tenant A</a:t>
            </a:r>
          </a:p>
        </p:txBody>
      </p:sp>
      <p:sp>
        <p:nvSpPr>
          <p:cNvPr id="9" name="Rounded Rectangle 8"/>
          <p:cNvSpPr/>
          <p:nvPr/>
        </p:nvSpPr>
        <p:spPr>
          <a:xfrm>
            <a:off x="704088" y="2757355"/>
            <a:ext cx="2843784" cy="370045"/>
          </a:xfrm>
          <a:prstGeom prst="roundRect">
            <a:avLst>
              <a:gd name="adj" fmla="val 10000"/>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790" b="1">
                <a:solidFill>
                  <a:srgbClr val="FFFFFF"/>
                </a:solidFill>
                <a:latin typeface="Consolas"/>
              </a:rPr>
              <a:t>CERTIFY_A_VC_SIGN_RSA</a:t>
            </a:r>
          </a:p>
        </p:txBody>
      </p:sp>
      <p:sp>
        <p:nvSpPr>
          <p:cNvPr id="10" name="TextBox 9"/>
          <p:cNvSpPr txBox="1"/>
          <p:nvPr/>
        </p:nvSpPr>
        <p:spPr>
          <a:xfrm>
            <a:off x="704088" y="3212796"/>
            <a:ext cx="2843784" cy="462556"/>
          </a:xfrm>
          <a:prstGeom prst="rect">
            <a:avLst/>
          </a:prstGeom>
          <a:noFill/>
        </p:spPr>
        <p:txBody>
          <a:bodyPr wrap="square" lIns="0" rIns="0" tIns="0" bIns="0" anchor="t">
            <a:spAutoFit/>
          </a:bodyPr>
          <a:lstStyle/>
          <a:p>
            <a:pPr algn="ctr">
              <a:lnSpc>
                <a:spcPct val="124000"/>
              </a:lnSpc>
              <a:spcBef>
                <a:spcPts val="0"/>
              </a:spcBef>
              <a:spcAft>
                <a:spcPts val="0"/>
              </a:spcAft>
            </a:pPr>
            <a:r>
              <a:rPr sz="790" b="0" i="0">
                <a:solidFill>
                  <a:srgbClr val="5B6B7F"/>
                </a:solidFill>
                <a:latin typeface="Arial"/>
              </a:rPr>
              <a:t>own app_id → own module key,
own policy row, own certificates</a:t>
            </a:r>
          </a:p>
        </p:txBody>
      </p:sp>
      <p:cxnSp>
        <p:nvCxnSpPr>
          <p:cNvPr id="11" name="Connector 10"/>
          <p:cNvCxnSpPr/>
          <p:nvPr/>
        </p:nvCxnSpPr>
        <p:spPr>
          <a:xfrm flipH="1">
            <a:off x="2125980" y="2067079"/>
            <a:ext cx="3973068" cy="377161"/>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89120" y="2458473"/>
            <a:ext cx="3246120" cy="1316506"/>
          </a:xfrm>
          <a:prstGeom prst="roundRect">
            <a:avLst>
              <a:gd name="adj" fmla="val 3000"/>
            </a:avLst>
          </a:prstGeom>
          <a:noFill/>
          <a:ln w="17780">
            <a:solidFill>
              <a:srgbClr val="6D28D9"/>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517136" y="2358845"/>
            <a:ext cx="881481" cy="199255"/>
          </a:xfrm>
          <a:prstGeom prst="roundRect">
            <a:avLst>
              <a:gd name="adj" fmla="val 22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70" b="1">
                <a:solidFill>
                  <a:srgbClr val="FFFFFF"/>
                </a:solidFill>
                <a:latin typeface="Arial"/>
              </a:rPr>
              <a:t>Tenant B</a:t>
            </a:r>
          </a:p>
        </p:txBody>
      </p:sp>
      <p:sp>
        <p:nvSpPr>
          <p:cNvPr id="14" name="Rounded Rectangle 13"/>
          <p:cNvSpPr/>
          <p:nvPr/>
        </p:nvSpPr>
        <p:spPr>
          <a:xfrm>
            <a:off x="4590288" y="2757355"/>
            <a:ext cx="2843784" cy="370045"/>
          </a:xfrm>
          <a:prstGeom prst="roundRect">
            <a:avLst>
              <a:gd name="adj" fmla="val 10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790" b="1">
                <a:solidFill>
                  <a:srgbClr val="FFFFFF"/>
                </a:solidFill>
                <a:latin typeface="Consolas"/>
              </a:rPr>
              <a:t>CERTIFY_B_VC_SIGN_RSA</a:t>
            </a:r>
          </a:p>
        </p:txBody>
      </p:sp>
      <p:sp>
        <p:nvSpPr>
          <p:cNvPr id="15" name="TextBox 14"/>
          <p:cNvSpPr txBox="1"/>
          <p:nvPr/>
        </p:nvSpPr>
        <p:spPr>
          <a:xfrm>
            <a:off x="4590288" y="3212796"/>
            <a:ext cx="2843784" cy="462556"/>
          </a:xfrm>
          <a:prstGeom prst="rect">
            <a:avLst/>
          </a:prstGeom>
          <a:noFill/>
        </p:spPr>
        <p:txBody>
          <a:bodyPr wrap="square" lIns="0" rIns="0" tIns="0" bIns="0" anchor="t">
            <a:spAutoFit/>
          </a:bodyPr>
          <a:lstStyle/>
          <a:p>
            <a:pPr algn="ctr">
              <a:lnSpc>
                <a:spcPct val="124000"/>
              </a:lnSpc>
              <a:spcBef>
                <a:spcPts val="0"/>
              </a:spcBef>
              <a:spcAft>
                <a:spcPts val="0"/>
              </a:spcAft>
            </a:pPr>
            <a:r>
              <a:rPr sz="790" b="0" i="0">
                <a:solidFill>
                  <a:srgbClr val="5B6B7F"/>
                </a:solidFill>
                <a:latin typeface="Arial"/>
              </a:rPr>
              <a:t>own app_id → own module key,
own policy row, own certificates</a:t>
            </a:r>
          </a:p>
        </p:txBody>
      </p:sp>
      <p:cxnSp>
        <p:nvCxnSpPr>
          <p:cNvPr id="16" name="Connector 15"/>
          <p:cNvCxnSpPr/>
          <p:nvPr/>
        </p:nvCxnSpPr>
        <p:spPr>
          <a:xfrm flipH="1">
            <a:off x="6012179" y="2067079"/>
            <a:ext cx="86869" cy="377161"/>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275320" y="2458473"/>
            <a:ext cx="3246120" cy="1316506"/>
          </a:xfrm>
          <a:prstGeom prst="roundRect">
            <a:avLst>
              <a:gd name="adj" fmla="val 3000"/>
            </a:avLst>
          </a:prstGeom>
          <a:noFill/>
          <a:ln w="17780">
            <a:solidFill>
              <a:srgbClr val="B45309"/>
            </a:solidFill>
            <a:prstDash val="sys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403336" y="2358845"/>
            <a:ext cx="881481" cy="199255"/>
          </a:xfrm>
          <a:prstGeom prst="roundRect">
            <a:avLst>
              <a:gd name="adj" fmla="val 22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r>
              <a:rPr sz="770" b="1">
                <a:solidFill>
                  <a:srgbClr val="FFFFFF"/>
                </a:solidFill>
                <a:latin typeface="Arial"/>
              </a:rPr>
              <a:t>Tenant C</a:t>
            </a:r>
          </a:p>
        </p:txBody>
      </p:sp>
      <p:sp>
        <p:nvSpPr>
          <p:cNvPr id="19" name="Rounded Rectangle 18"/>
          <p:cNvSpPr/>
          <p:nvPr/>
        </p:nvSpPr>
        <p:spPr>
          <a:xfrm>
            <a:off x="8476488" y="2757355"/>
            <a:ext cx="2843784" cy="370045"/>
          </a:xfrm>
          <a:prstGeom prst="roundRect">
            <a:avLst>
              <a:gd name="adj" fmla="val 10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0" bIns="0"/>
          <a:lstStyle/>
          <a:p>
            <a:pPr algn="ctr">
              <a:lnSpc>
                <a:spcPct val="108000"/>
              </a:lnSpc>
            </a:pPr>
            <a:r>
              <a:rPr sz="790" b="1">
                <a:solidFill>
                  <a:srgbClr val="FFFFFF"/>
                </a:solidFill>
                <a:latin typeface="Consolas"/>
              </a:rPr>
              <a:t>CERTIFY_C_VC_SIGN_ED25519</a:t>
            </a:r>
          </a:p>
        </p:txBody>
      </p:sp>
      <p:sp>
        <p:nvSpPr>
          <p:cNvPr id="20" name="TextBox 19"/>
          <p:cNvSpPr txBox="1"/>
          <p:nvPr/>
        </p:nvSpPr>
        <p:spPr>
          <a:xfrm>
            <a:off x="8476488" y="3212796"/>
            <a:ext cx="2843784" cy="462556"/>
          </a:xfrm>
          <a:prstGeom prst="rect">
            <a:avLst/>
          </a:prstGeom>
          <a:noFill/>
        </p:spPr>
        <p:txBody>
          <a:bodyPr wrap="square" lIns="0" rIns="0" tIns="0" bIns="0" anchor="t">
            <a:spAutoFit/>
          </a:bodyPr>
          <a:lstStyle/>
          <a:p>
            <a:pPr algn="ctr">
              <a:lnSpc>
                <a:spcPct val="124000"/>
              </a:lnSpc>
              <a:spcBef>
                <a:spcPts val="0"/>
              </a:spcBef>
              <a:spcAft>
                <a:spcPts val="0"/>
              </a:spcAft>
            </a:pPr>
            <a:r>
              <a:rPr sz="790" b="0" i="0">
                <a:solidFill>
                  <a:srgbClr val="5B6B7F"/>
                </a:solidFill>
                <a:latin typeface="Arial"/>
              </a:rPr>
              <a:t>own app_id → own module key,
own policy row, own certificates</a:t>
            </a:r>
          </a:p>
        </p:txBody>
      </p:sp>
      <p:cxnSp>
        <p:nvCxnSpPr>
          <p:cNvPr id="21" name="Connector 20"/>
          <p:cNvCxnSpPr/>
          <p:nvPr/>
        </p:nvCxnSpPr>
        <p:spPr>
          <a:xfrm>
            <a:off x="6099048" y="2067079"/>
            <a:ext cx="3799332" cy="377161"/>
          </a:xfrm>
          <a:prstGeom prst="line">
            <a:avLst/>
          </a:prstGeom>
          <a:ln w="12700">
            <a:solidFill>
              <a:srgbClr val="94A3B8"/>
            </a:solidFill>
            <a:tailEnd type="triangle" w="med" len="med"/>
          </a:ln>
          <a:effectLst/>
        </p:spPr>
        <p:style>
          <a:lnRef idx="2">
            <a:schemeClr val="accent1"/>
          </a:lnRef>
          <a:fillRef idx="0">
            <a:schemeClr val="accent1"/>
          </a:fillRef>
          <a:effectRef idx="1">
            <a:schemeClr val="accent1"/>
          </a:effectRef>
          <a:fontRef idx="minor">
            <a:schemeClr val="tx1"/>
          </a:fontRef>
        </p:style>
      </p:cxnSp>
      <p:graphicFrame>
        <p:nvGraphicFramePr>
          <p:cNvPr id="22" name="Table 21"/>
          <p:cNvGraphicFramePr>
            <a:graphicFrameLocks noGrp="1"/>
          </p:cNvGraphicFramePr>
          <p:nvPr/>
        </p:nvGraphicFramePr>
        <p:xfrm>
          <a:off x="502920" y="3952886"/>
          <a:ext cx="11185853" cy="2319894"/>
        </p:xfrm>
        <a:graphic>
          <a:graphicData uri="http://schemas.openxmlformats.org/drawingml/2006/table">
            <a:tbl>
              <a:tblPr firstRow="1">
                <a:tableStyleId>{2D5ABB26-0587-4C30-8999-92F81FD0307C}</a:tableStyleId>
              </a:tblPr>
              <a:tblGrid>
                <a:gridCol w="3117369"/>
                <a:gridCol w="1833746"/>
                <a:gridCol w="6234738"/>
              </a:tblGrid>
              <a:tr h="227720">
                <a:tc>
                  <a:txBody>
                    <a:bodyPr wrap="square"/>
                    <a:lstStyle/>
                    <a:p>
                      <a:pPr algn="l"/>
                      <a:r>
                        <a:rPr sz="860" b="1">
                          <a:solidFill>
                            <a:srgbClr val="FFFFFF"/>
                          </a:solidFill>
                          <a:latin typeface="Arial"/>
                        </a:rPr>
                        <a:t>Isolation dimension</a:t>
                      </a:r>
                    </a:p>
                  </a:txBody>
                  <a:tcPr marL="64008" marR="54864" marT="27432" marB="27432" anchor="ctr">
                    <a:solidFill>
                      <a:srgbClr val="1D4E89"/>
                    </a:solidFill>
                  </a:tcPr>
                </a:tc>
                <a:tc>
                  <a:txBody>
                    <a:bodyPr wrap="square"/>
                    <a:lstStyle/>
                    <a:p>
                      <a:pPr algn="l"/>
                      <a:r>
                        <a:rPr sz="860" b="1">
                          <a:solidFill>
                            <a:srgbClr val="FFFFFF"/>
                          </a:solidFill>
                          <a:latin typeface="Arial"/>
                        </a:rPr>
                        <a:t>How strong</a:t>
                      </a:r>
                    </a:p>
                  </a:txBody>
                  <a:tcPr marL="64008" marR="54864" marT="27432" marB="27432" anchor="ctr">
                    <a:solidFill>
                      <a:srgbClr val="1D4E89"/>
                    </a:solidFill>
                  </a:tcPr>
                </a:tc>
                <a:tc>
                  <a:txBody>
                    <a:bodyPr wrap="square"/>
                    <a:lstStyle/>
                    <a:p>
                      <a:pPr algn="l"/>
                      <a:r>
                        <a:rPr sz="860" b="1">
                          <a:solidFill>
                            <a:srgbClr val="FFFFFF"/>
                          </a:solidFill>
                          <a:latin typeface="Arial"/>
                        </a:rPr>
                        <a:t>Why</a:t>
                      </a:r>
                    </a:p>
                  </a:txBody>
                  <a:tcPr marL="64008" marR="54864" marT="27432" marB="27432" anchor="ctr">
                    <a:solidFill>
                      <a:srgbClr val="1D4E89"/>
                    </a:solidFill>
                  </a:tcPr>
                </a:tc>
              </a:tr>
              <a:tr h="298882">
                <a:tc>
                  <a:txBody>
                    <a:bodyPr wrap="square"/>
                    <a:lstStyle/>
                    <a:p>
                      <a:pPr algn="l">
                        <a:lnSpc>
                          <a:spcPct val="105000"/>
                        </a:lnSpc>
                      </a:pPr>
                      <a:r>
                        <a:rPr sz="830" b="0">
                          <a:solidFill>
                            <a:srgbClr val="1E293B"/>
                          </a:solidFill>
                          <a:latin typeface="Arial"/>
                        </a:rPr>
                        <a:t>Separate key material</a:t>
                      </a:r>
                    </a:p>
                  </a:txBody>
                  <a:tcPr marL="64008" marR="54864" marT="18288" marB="18288" anchor="ctr">
                    <a:solidFill>
                      <a:srgbClr val="FFFFFF"/>
                    </a:solidFill>
                  </a:tcPr>
                </a:tc>
                <a:tc>
                  <a:txBody>
                    <a:bodyPr wrap="square"/>
                    <a:lstStyle/>
                    <a:p>
                      <a:pPr algn="l">
                        <a:lnSpc>
                          <a:spcPct val="105000"/>
                        </a:lnSpc>
                      </a:pPr>
                      <a:r>
                        <a:rPr sz="830" b="1">
                          <a:solidFill>
                            <a:srgbClr val="15703D"/>
                          </a:solidFill>
                          <a:latin typeface="Arial"/>
                        </a:rPr>
                        <a:t>Strong</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Different </a:t>
                      </a:r>
                      <a:r>
                        <a:rPr sz="830" b="0">
                          <a:solidFill>
                            <a:srgbClr val="1D4E89"/>
                          </a:solidFill>
                          <a:latin typeface="Consolas"/>
                        </a:rPr>
                        <a:t>app_id</a:t>
                      </a:r>
                      <a:r>
                        <a:rPr sz="830" b="0">
                          <a:solidFill>
                            <a:srgbClr val="1E293B"/>
                          </a:solidFill>
                          <a:latin typeface="Arial"/>
                        </a:rPr>
                        <a:t> means a different module key in the keystore, and different rows in </a:t>
                      </a:r>
                      <a:r>
                        <a:rPr sz="830" b="0">
                          <a:solidFill>
                            <a:srgbClr val="1D4E89"/>
                          </a:solidFill>
                          <a:latin typeface="Consolas"/>
                        </a:rPr>
                        <a:t>key_store</a:t>
                      </a:r>
                    </a:p>
                  </a:txBody>
                  <a:tcPr marL="64008" marR="54864" marT="18288" marB="18288" anchor="ctr">
                    <a:solidFill>
                      <a:srgbClr val="FFFFFF"/>
                    </a:solidFill>
                  </a:tcPr>
                </a:tc>
              </a:tr>
              <a:tr h="298882">
                <a:tc>
                  <a:txBody>
                    <a:bodyPr wrap="square"/>
                    <a:lstStyle/>
                    <a:p>
                      <a:pPr algn="l">
                        <a:lnSpc>
                          <a:spcPct val="105000"/>
                        </a:lnSpc>
                      </a:pPr>
                      <a:r>
                        <a:rPr sz="830" b="0">
                          <a:solidFill>
                            <a:srgbClr val="1E293B"/>
                          </a:solidFill>
                          <a:latin typeface="Arial"/>
                        </a:rPr>
                        <a:t>Separate policy</a:t>
                      </a:r>
                    </a:p>
                  </a:txBody>
                  <a:tcPr marL="64008" marR="54864" marT="18288" marB="18288" anchor="ctr">
                    <a:solidFill>
                      <a:srgbClr val="F3F6F9"/>
                    </a:solidFill>
                  </a:tcPr>
                </a:tc>
                <a:tc>
                  <a:txBody>
                    <a:bodyPr wrap="square"/>
                    <a:lstStyle/>
                    <a:p>
                      <a:pPr algn="l">
                        <a:lnSpc>
                          <a:spcPct val="105000"/>
                        </a:lnSpc>
                      </a:pPr>
                      <a:r>
                        <a:rPr sz="830" b="1">
                          <a:solidFill>
                            <a:srgbClr val="15703D"/>
                          </a:solidFill>
                          <a:latin typeface="Arial"/>
                        </a:rPr>
                        <a:t>Strong</a:t>
                      </a:r>
                    </a:p>
                  </a:txBody>
                  <a:tcPr marL="64008" marR="54864" marT="18288" marB="18288" anchor="ctr">
                    <a:solidFill>
                      <a:srgbClr val="F3F6F9"/>
                    </a:solidFill>
                  </a:tcPr>
                </a:tc>
                <a:tc>
                  <a:txBody>
                    <a:bodyPr wrap="square"/>
                    <a:lstStyle/>
                    <a:p>
                      <a:pPr algn="l">
                        <a:lnSpc>
                          <a:spcPct val="105000"/>
                        </a:lnSpc>
                      </a:pPr>
                      <a:r>
                        <a:rPr sz="830" b="0">
                          <a:solidFill>
                            <a:srgbClr val="1D4E89"/>
                          </a:solidFill>
                          <a:latin typeface="Consolas"/>
                        </a:rPr>
                        <a:t>key_policy_def</a:t>
                      </a:r>
                      <a:r>
                        <a:rPr sz="830" b="0">
                          <a:solidFill>
                            <a:srgbClr val="1E293B"/>
                          </a:solidFill>
                          <a:latin typeface="Arial"/>
                        </a:rPr>
                        <a:t> is keyed on </a:t>
                      </a:r>
                      <a:r>
                        <a:rPr sz="830" b="0">
                          <a:solidFill>
                            <a:srgbClr val="1D4E89"/>
                          </a:solidFill>
                          <a:latin typeface="Consolas"/>
                        </a:rPr>
                        <a:t>app_id</a:t>
                      </a:r>
                      <a:r>
                        <a:rPr sz="830" b="0">
                          <a:solidFill>
                            <a:srgbClr val="1E293B"/>
                          </a:solidFill>
                          <a:latin typeface="Arial"/>
                        </a:rPr>
                        <a:t> — different validity and rotation per tenant</a:t>
                      </a:r>
                    </a:p>
                  </a:txBody>
                  <a:tcPr marL="64008" marR="54864" marT="18288" marB="18288" anchor="ctr">
                    <a:solidFill>
                      <a:srgbClr val="F3F6F9"/>
                    </a:solidFill>
                  </a:tcPr>
                </a:tc>
              </a:tr>
              <a:tr h="298882">
                <a:tc>
                  <a:txBody>
                    <a:bodyPr wrap="square"/>
                    <a:lstStyle/>
                    <a:p>
                      <a:pPr algn="l">
                        <a:lnSpc>
                          <a:spcPct val="105000"/>
                        </a:lnSpc>
                      </a:pPr>
                      <a:r>
                        <a:rPr sz="830" b="0">
                          <a:solidFill>
                            <a:srgbClr val="1E293B"/>
                          </a:solidFill>
                          <a:latin typeface="Arial"/>
                        </a:rPr>
                        <a:t>Separate certificates and </a:t>
                      </a:r>
                      <a:r>
                        <a:rPr sz="830" b="0">
                          <a:solidFill>
                            <a:srgbClr val="1D4E89"/>
                          </a:solidFill>
                          <a:latin typeface="Consolas"/>
                        </a:rPr>
                        <a:t>kid</a:t>
                      </a:r>
                      <a:r>
                        <a:rPr sz="830" b="0">
                          <a:solidFill>
                            <a:srgbClr val="1E293B"/>
                          </a:solidFill>
                          <a:latin typeface="Arial"/>
                        </a:rPr>
                        <a:t>s</a:t>
                      </a:r>
                    </a:p>
                  </a:txBody>
                  <a:tcPr marL="64008" marR="54864" marT="18288" marB="18288" anchor="ctr">
                    <a:solidFill>
                      <a:srgbClr val="FFFFFF"/>
                    </a:solidFill>
                  </a:tcPr>
                </a:tc>
                <a:tc>
                  <a:txBody>
                    <a:bodyPr wrap="square"/>
                    <a:lstStyle/>
                    <a:p>
                      <a:pPr algn="l">
                        <a:lnSpc>
                          <a:spcPct val="105000"/>
                        </a:lnSpc>
                      </a:pPr>
                      <a:r>
                        <a:rPr sz="830" b="1">
                          <a:solidFill>
                            <a:srgbClr val="15703D"/>
                          </a:solidFill>
                          <a:latin typeface="Arial"/>
                        </a:rPr>
                        <a:t>Strong</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Each tenant publishes its own certificates; a verifier can pin one tenant</a:t>
                      </a:r>
                    </a:p>
                  </a:txBody>
                  <a:tcPr marL="64008" marR="54864" marT="18288" marB="18288" anchor="ctr">
                    <a:solidFill>
                      <a:srgbClr val="FFFFFF"/>
                    </a:solidFill>
                  </a:tcPr>
                </a:tc>
              </a:tr>
              <a:tr h="298882">
                <a:tc>
                  <a:txBody>
                    <a:bodyPr wrap="square"/>
                    <a:lstStyle/>
                    <a:p>
                      <a:pPr algn="l">
                        <a:lnSpc>
                          <a:spcPct val="105000"/>
                        </a:lnSpc>
                      </a:pPr>
                      <a:r>
                        <a:rPr sz="830" b="0">
                          <a:solidFill>
                            <a:srgbClr val="1E293B"/>
                          </a:solidFill>
                          <a:latin typeface="Arial"/>
                        </a:rPr>
                        <a:t>Separate API authorisation</a:t>
                      </a:r>
                    </a:p>
                  </a:txBody>
                  <a:tcPr marL="64008" marR="54864" marT="18288" marB="18288" anchor="ctr">
                    <a:solidFill>
                      <a:srgbClr val="F3F6F9"/>
                    </a:solidFill>
                  </a:tcPr>
                </a:tc>
                <a:tc>
                  <a:txBody>
                    <a:bodyPr wrap="square"/>
                    <a:lstStyle/>
                    <a:p>
                      <a:pPr algn="l">
                        <a:lnSpc>
                          <a:spcPct val="105000"/>
                        </a:lnSpc>
                      </a:pPr>
                      <a:r>
                        <a:rPr sz="830" b="1">
                          <a:solidFill>
                            <a:srgbClr val="B45309"/>
                          </a:solidFill>
                          <a:latin typeface="Arial"/>
                        </a:rPr>
                        <a:t>Depends on you</a:t>
                      </a:r>
                    </a:p>
                  </a:txBody>
                  <a:tcPr marL="64008" marR="54864" marT="18288" marB="18288" anchor="ctr">
                    <a:solidFill>
                      <a:srgbClr val="F3F6F9"/>
                    </a:solidFill>
                  </a:tcPr>
                </a:tc>
                <a:tc>
                  <a:txBody>
                    <a:bodyPr wrap="square"/>
                    <a:lstStyle/>
                    <a:p>
                      <a:pPr algn="l">
                        <a:lnSpc>
                          <a:spcPct val="105000"/>
                        </a:lnSpc>
                      </a:pPr>
                      <a:r>
                        <a:rPr sz="830" b="0">
                          <a:solidFill>
                            <a:srgbClr val="1E293B"/>
                          </a:solidFill>
                          <a:latin typeface="Arial"/>
                        </a:rPr>
                        <a:t>Role-based access is configured, not automatic. A caller with the signing role can ask for another tenant's alias unless you restrict it</a:t>
                      </a:r>
                    </a:p>
                  </a:txBody>
                  <a:tcPr marL="64008" marR="54864" marT="18288" marB="18288" anchor="ctr">
                    <a:solidFill>
                      <a:srgbClr val="F3F6F9"/>
                    </a:solidFill>
                  </a:tcPr>
                </a:tc>
              </a:tr>
              <a:tr h="298882">
                <a:tc>
                  <a:txBody>
                    <a:bodyPr wrap="square"/>
                    <a:lstStyle/>
                    <a:p>
                      <a:pPr algn="l">
                        <a:lnSpc>
                          <a:spcPct val="105000"/>
                        </a:lnSpc>
                      </a:pPr>
                      <a:r>
                        <a:rPr sz="830" b="0">
                          <a:solidFill>
                            <a:srgbClr val="1E293B"/>
                          </a:solidFill>
                          <a:latin typeface="Arial"/>
                        </a:rPr>
                        <a:t>Separate HSM partition</a:t>
                      </a:r>
                    </a:p>
                  </a:txBody>
                  <a:tcPr marL="64008" marR="54864" marT="18288" marB="18288" anchor="ctr">
                    <a:solidFill>
                      <a:srgbClr val="FFFFFF"/>
                    </a:solidFill>
                  </a:tcPr>
                </a:tc>
                <a:tc>
                  <a:txBody>
                    <a:bodyPr wrap="square"/>
                    <a:lstStyle/>
                    <a:p>
                      <a:pPr algn="l">
                        <a:lnSpc>
                          <a:spcPct val="105000"/>
                        </a:lnSpc>
                      </a:pPr>
                      <a:r>
                        <a:rPr sz="830" b="1">
                          <a:solidFill>
                            <a:srgbClr val="B45309"/>
                          </a:solidFill>
                          <a:latin typeface="Arial"/>
                        </a:rPr>
                        <a:t>Depends on the HSM</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One keystore configuration per Key Manager instance. True partition isolation usually means a separate instance</a:t>
                      </a:r>
                    </a:p>
                  </a:txBody>
                  <a:tcPr marL="64008" marR="54864" marT="18288" marB="18288" anchor="ctr">
                    <a:solidFill>
                      <a:srgbClr val="FFFFFF"/>
                    </a:solidFill>
                  </a:tcPr>
                </a:tc>
              </a:tr>
              <a:tr h="298882">
                <a:tc>
                  <a:txBody>
                    <a:bodyPr wrap="square"/>
                    <a:lstStyle/>
                    <a:p>
                      <a:pPr algn="l">
                        <a:lnSpc>
                          <a:spcPct val="105000"/>
                        </a:lnSpc>
                      </a:pPr>
                      <a:r>
                        <a:rPr sz="830" b="0">
                          <a:solidFill>
                            <a:srgbClr val="1E293B"/>
                          </a:solidFill>
                          <a:latin typeface="Arial"/>
                        </a:rPr>
                        <a:t>Separate database</a:t>
                      </a:r>
                    </a:p>
                  </a:txBody>
                  <a:tcPr marL="64008" marR="54864" marT="18288" marB="18288" anchor="ctr">
                    <a:solidFill>
                      <a:srgbClr val="F3F6F9"/>
                    </a:solidFill>
                  </a:tcPr>
                </a:tc>
                <a:tc>
                  <a:txBody>
                    <a:bodyPr wrap="square"/>
                    <a:lstStyle/>
                    <a:p>
                      <a:pPr algn="l">
                        <a:lnSpc>
                          <a:spcPct val="105000"/>
                        </a:lnSpc>
                      </a:pPr>
                      <a:r>
                        <a:rPr sz="830" b="1">
                          <a:solidFill>
                            <a:srgbClr val="B31B1B"/>
                          </a:solidFill>
                          <a:latin typeface="Arial"/>
                        </a:rPr>
                        <a:t>No</a:t>
                      </a:r>
                    </a:p>
                  </a:txBody>
                  <a:tcPr marL="64008" marR="54864" marT="18288" marB="18288" anchor="ctr">
                    <a:solidFill>
                      <a:srgbClr val="F3F6F9"/>
                    </a:solidFill>
                  </a:tcPr>
                </a:tc>
                <a:tc>
                  <a:txBody>
                    <a:bodyPr wrap="square"/>
                    <a:lstStyle/>
                    <a:p>
                      <a:pPr algn="l">
                        <a:lnSpc>
                          <a:spcPct val="105000"/>
                        </a:lnSpc>
                      </a:pPr>
                      <a:r>
                        <a:rPr sz="830" b="0">
                          <a:solidFill>
                            <a:srgbClr val="1E293B"/>
                          </a:solidFill>
                          <a:latin typeface="Arial"/>
                        </a:rPr>
                        <a:t>One </a:t>
                      </a:r>
                      <a:r>
                        <a:rPr sz="830" b="0">
                          <a:solidFill>
                            <a:srgbClr val="1D4E89"/>
                          </a:solidFill>
                          <a:latin typeface="Consolas"/>
                        </a:rPr>
                        <a:t>keymgr</a:t>
                      </a:r>
                      <a:r>
                        <a:rPr sz="830" b="0">
                          <a:solidFill>
                            <a:srgbClr val="1E293B"/>
                          </a:solidFill>
                          <a:latin typeface="Arial"/>
                        </a:rPr>
                        <a:t> schema holds all tenants' aliases and wrapped keys</a:t>
                      </a:r>
                    </a:p>
                  </a:txBody>
                  <a:tcPr marL="64008" marR="54864" marT="18288" marB="18288" anchor="ctr">
                    <a:solidFill>
                      <a:srgbClr val="F3F6F9"/>
                    </a:solidFill>
                  </a:tcPr>
                </a:tc>
              </a:tr>
              <a:tr h="298882">
                <a:tc>
                  <a:txBody>
                    <a:bodyPr wrap="square"/>
                    <a:lstStyle/>
                    <a:p>
                      <a:pPr algn="l">
                        <a:lnSpc>
                          <a:spcPct val="105000"/>
                        </a:lnSpc>
                      </a:pPr>
                      <a:r>
                        <a:rPr sz="830" b="0">
                          <a:solidFill>
                            <a:srgbClr val="1E293B"/>
                          </a:solidFill>
                          <a:latin typeface="Arial"/>
                        </a:rPr>
                        <a:t>Separate blast radius on compromise</a:t>
                      </a:r>
                    </a:p>
                  </a:txBody>
                  <a:tcPr marL="64008" marR="54864" marT="18288" marB="18288" anchor="ctr">
                    <a:solidFill>
                      <a:srgbClr val="FFFFFF"/>
                    </a:solidFill>
                  </a:tcPr>
                </a:tc>
                <a:tc>
                  <a:txBody>
                    <a:bodyPr wrap="square"/>
                    <a:lstStyle/>
                    <a:p>
                      <a:pPr algn="l">
                        <a:lnSpc>
                          <a:spcPct val="105000"/>
                        </a:lnSpc>
                      </a:pPr>
                      <a:r>
                        <a:rPr sz="830" b="1">
                          <a:solidFill>
                            <a:srgbClr val="B31B1B"/>
                          </a:solidFill>
                          <a:latin typeface="Arial"/>
                        </a:rPr>
                        <a:t>No</a:t>
                      </a:r>
                    </a:p>
                  </a:txBody>
                  <a:tcPr marL="64008" marR="54864" marT="18288" marB="18288" anchor="ctr">
                    <a:solidFill>
                      <a:srgbClr val="FFFFFF"/>
                    </a:solidFill>
                  </a:tcPr>
                </a:tc>
                <a:tc>
                  <a:txBody>
                    <a:bodyPr wrap="square"/>
                    <a:lstStyle/>
                    <a:p>
                      <a:pPr algn="l">
                        <a:lnSpc>
                          <a:spcPct val="105000"/>
                        </a:lnSpc>
                      </a:pPr>
                      <a:r>
                        <a:rPr sz="830" b="0">
                          <a:solidFill>
                            <a:srgbClr val="1E293B"/>
                          </a:solidFill>
                          <a:latin typeface="Arial"/>
                        </a:rPr>
                        <a:t>Compromise of the HSM credentials or the host reaches every tenant on that instance</a:t>
                      </a:r>
                    </a:p>
                  </a:txBody>
                  <a:tcPr marL="64008" marR="54864" marT="18288" marB="18288" anchor="ctr">
                    <a:solidFill>
                      <a:srgbClr val="FFFFFF"/>
                    </a:solidFill>
                  </a:tcPr>
                </a:tc>
              </a:tr>
            </a:tbl>
          </a:graphicData>
        </a:graphic>
      </p:graphicFrame>
      <p:sp>
        <p:nvSpPr>
          <p:cNvPr id="23" name="TextBox 22"/>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24" name="TextBox 23"/>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7 — EXTERNAL TRUST</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Being trusted outside your own deployment</a:t>
            </a:r>
          </a:p>
        </p:txBody>
      </p:sp>
      <p:sp>
        <p:nvSpPr>
          <p:cNvPr id="4" name="TextBox 3"/>
          <p:cNvSpPr txBox="1"/>
          <p:nvPr/>
        </p:nvSpPr>
        <p:spPr>
          <a:xfrm>
            <a:off x="502920" y="1078992"/>
            <a:ext cx="11185855" cy="309233"/>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Everything so far makes a credential verifiable. This is what makes it *accepted*.</a:t>
            </a:r>
          </a:p>
        </p:txBody>
      </p:sp>
      <p:cxnSp>
        <p:nvCxnSpPr>
          <p:cNvPr id="5" name="Connector 4"/>
          <p:cNvCxnSpPr/>
          <p:nvPr/>
        </p:nvCxnSpPr>
        <p:spPr>
          <a:xfrm>
            <a:off x="502920" y="1479665"/>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79757"/>
            <a:ext cx="2659303" cy="2592103"/>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79757"/>
            <a:ext cx="2659303" cy="63665"/>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98040"/>
            <a:ext cx="2293543" cy="29104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latin typeface="Arial"/>
              </a:rPr>
              <a:t>Resolvable keys</a:t>
            </a:r>
          </a:p>
        </p:txBody>
      </p:sp>
      <p:sp>
        <p:nvSpPr>
          <p:cNvPr id="9" name="Oval 8"/>
          <p:cNvSpPr/>
          <p:nvPr/>
        </p:nvSpPr>
        <p:spPr>
          <a:xfrm>
            <a:off x="704088" y="2361890"/>
            <a:ext cx="64008" cy="63665"/>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1641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A stable, monitored </a:t>
            </a:r>
            <a:r>
              <a:rPr sz="930" b="0" i="0">
                <a:solidFill>
                  <a:srgbClr val="1D4E89"/>
                </a:solidFill>
                <a:latin typeface="Consolas"/>
              </a:rPr>
              <a:t>did:web</a:t>
            </a:r>
            <a:r>
              <a:rPr sz="930" b="0" i="0">
                <a:solidFill>
                  <a:srgbClr val="1E293B"/>
                </a:solidFill>
                <a:latin typeface="Arial"/>
              </a:rPr>
              <a:t> domain or JWKS URL.</a:t>
            </a:r>
          </a:p>
        </p:txBody>
      </p:sp>
      <p:sp>
        <p:nvSpPr>
          <p:cNvPr id="11" name="Oval 10"/>
          <p:cNvSpPr/>
          <p:nvPr/>
        </p:nvSpPr>
        <p:spPr>
          <a:xfrm>
            <a:off x="704088" y="2789359"/>
            <a:ext cx="64008" cy="63665"/>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74388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Every historical certificate still published.</a:t>
            </a:r>
          </a:p>
        </p:txBody>
      </p:sp>
      <p:sp>
        <p:nvSpPr>
          <p:cNvPr id="13" name="Oval 12"/>
          <p:cNvSpPr/>
          <p:nvPr/>
        </p:nvSpPr>
        <p:spPr>
          <a:xfrm>
            <a:off x="704088" y="3216828"/>
            <a:ext cx="64008" cy="63665"/>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71353"/>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No redirects, no WAF challenge, no bot protection on those paths.</a:t>
            </a:r>
          </a:p>
        </p:txBody>
      </p:sp>
      <p:sp>
        <p:nvSpPr>
          <p:cNvPr id="15" name="Rounded Rectangle 14"/>
          <p:cNvSpPr/>
          <p:nvPr/>
        </p:nvSpPr>
        <p:spPr>
          <a:xfrm>
            <a:off x="3345103" y="1679757"/>
            <a:ext cx="2659303" cy="2592103"/>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45103" y="1679757"/>
            <a:ext cx="2659303" cy="63665"/>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27983" y="1898040"/>
            <a:ext cx="2293543" cy="29104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latin typeface="Arial"/>
              </a:rPr>
              <a:t>A recognised chain</a:t>
            </a:r>
          </a:p>
        </p:txBody>
      </p:sp>
      <p:sp>
        <p:nvSpPr>
          <p:cNvPr id="18" name="Oval 17"/>
          <p:cNvSpPr/>
          <p:nvPr/>
        </p:nvSpPr>
        <p:spPr>
          <a:xfrm>
            <a:off x="3546271" y="2361890"/>
            <a:ext cx="64008" cy="6366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10863" y="231641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Self-signed ROOT is fine inside your own trust boundary.</a:t>
            </a:r>
          </a:p>
        </p:txBody>
      </p:sp>
      <p:sp>
        <p:nvSpPr>
          <p:cNvPr id="20" name="Oval 19"/>
          <p:cNvSpPr/>
          <p:nvPr/>
        </p:nvSpPr>
        <p:spPr>
          <a:xfrm>
            <a:off x="3546271" y="2789359"/>
            <a:ext cx="64008" cy="6366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10863" y="274388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Outside it, verifiers usually need a chain to a CA they already trust.</a:t>
            </a:r>
          </a:p>
        </p:txBody>
      </p:sp>
      <p:sp>
        <p:nvSpPr>
          <p:cNvPr id="22" name="Oval 21"/>
          <p:cNvSpPr/>
          <p:nvPr/>
        </p:nvSpPr>
        <p:spPr>
          <a:xfrm>
            <a:off x="3546271" y="3357802"/>
            <a:ext cx="64008" cy="63665"/>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710863" y="3312328"/>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0E9488"/>
                </a:solidFill>
                <a:latin typeface="Consolas"/>
              </a:rPr>
              <a:t>POST /generateCSR</a:t>
            </a:r>
            <a:r>
              <a:rPr sz="930" b="0" i="0">
                <a:solidFill>
                  <a:srgbClr val="1E293B"/>
                </a:solidFill>
                <a:latin typeface="Arial"/>
              </a:rPr>
              <a:t> → external CA signs → </a:t>
            </a:r>
            <a:r>
              <a:rPr sz="930" b="0" i="0">
                <a:solidFill>
                  <a:srgbClr val="0E9488"/>
                </a:solidFill>
                <a:latin typeface="Consolas"/>
              </a:rPr>
              <a:t>POST /uploadCertificate</a:t>
            </a:r>
            <a:r>
              <a:rPr sz="930" b="0" i="0">
                <a:solidFill>
                  <a:srgbClr val="1E293B"/>
                </a:solidFill>
                <a:latin typeface="Arial"/>
              </a:rPr>
              <a:t>.</a:t>
            </a:r>
          </a:p>
        </p:txBody>
      </p:sp>
      <p:sp>
        <p:nvSpPr>
          <p:cNvPr id="24" name="Rounded Rectangle 23"/>
          <p:cNvSpPr/>
          <p:nvPr/>
        </p:nvSpPr>
        <p:spPr>
          <a:xfrm>
            <a:off x="6187287" y="1679757"/>
            <a:ext cx="2659303" cy="2592103"/>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187287" y="1679757"/>
            <a:ext cx="2659303" cy="63665"/>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70167" y="1898040"/>
            <a:ext cx="2293543" cy="29104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latin typeface="Arial"/>
              </a:rPr>
              <a:t>A published profile</a:t>
            </a:r>
          </a:p>
        </p:txBody>
      </p:sp>
      <p:sp>
        <p:nvSpPr>
          <p:cNvPr id="27" name="Oval 26"/>
          <p:cNvSpPr/>
          <p:nvPr/>
        </p:nvSpPr>
        <p:spPr>
          <a:xfrm>
            <a:off x="6388455" y="2361890"/>
            <a:ext cx="64008" cy="63665"/>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53047" y="231641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Which formats, which algorithms, which </a:t>
            </a:r>
            <a:r>
              <a:rPr sz="930" b="0" i="0">
                <a:solidFill>
                  <a:srgbClr val="6D28D9"/>
                </a:solidFill>
                <a:latin typeface="Consolas"/>
              </a:rPr>
              <a:t>kid</a:t>
            </a:r>
            <a:r>
              <a:rPr sz="930" b="0" i="0">
                <a:solidFill>
                  <a:srgbClr val="1E293B"/>
                </a:solidFill>
                <a:latin typeface="Arial"/>
              </a:rPr>
              <a:t> resolution path.</a:t>
            </a:r>
          </a:p>
        </p:txBody>
      </p:sp>
      <p:sp>
        <p:nvSpPr>
          <p:cNvPr id="29" name="Oval 28"/>
          <p:cNvSpPr/>
          <p:nvPr/>
        </p:nvSpPr>
        <p:spPr>
          <a:xfrm>
            <a:off x="6388455" y="2789359"/>
            <a:ext cx="64008" cy="63665"/>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53047" y="274388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Credential types and their claim definitions.</a:t>
            </a:r>
          </a:p>
        </p:txBody>
      </p:sp>
      <p:sp>
        <p:nvSpPr>
          <p:cNvPr id="31" name="Oval 30"/>
          <p:cNvSpPr/>
          <p:nvPr/>
        </p:nvSpPr>
        <p:spPr>
          <a:xfrm>
            <a:off x="6388455" y="3216828"/>
            <a:ext cx="64008" cy="63665"/>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53047" y="3171353"/>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Rotation cadence and overlap, so verifiers can size their caches.</a:t>
            </a:r>
          </a:p>
        </p:txBody>
      </p:sp>
      <p:sp>
        <p:nvSpPr>
          <p:cNvPr id="33" name="Rounded Rectangle 32"/>
          <p:cNvSpPr/>
          <p:nvPr/>
        </p:nvSpPr>
        <p:spPr>
          <a:xfrm>
            <a:off x="9029471" y="1679757"/>
            <a:ext cx="2659303" cy="2592103"/>
          </a:xfrm>
          <a:prstGeom prst="roundRect">
            <a:avLst>
              <a:gd name="adj" fmla="val 50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29471" y="1679757"/>
            <a:ext cx="2659303" cy="63665"/>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12351" y="1898040"/>
            <a:ext cx="2293543" cy="291043"/>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5703D"/>
                </a:solidFill>
                <a:latin typeface="Arial"/>
              </a:rPr>
              <a:t>A governance answer</a:t>
            </a:r>
          </a:p>
        </p:txBody>
      </p:sp>
      <p:sp>
        <p:nvSpPr>
          <p:cNvPr id="36" name="Oval 35"/>
          <p:cNvSpPr/>
          <p:nvPr/>
        </p:nvSpPr>
        <p:spPr>
          <a:xfrm>
            <a:off x="9230639" y="2361890"/>
            <a:ext cx="64008" cy="6366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95231" y="231641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Who may issue on behalf of Brazil, and who says so.</a:t>
            </a:r>
          </a:p>
        </p:txBody>
      </p:sp>
      <p:sp>
        <p:nvSpPr>
          <p:cNvPr id="38" name="Oval 37"/>
          <p:cNvSpPr/>
          <p:nvPr/>
        </p:nvSpPr>
        <p:spPr>
          <a:xfrm>
            <a:off x="9230639" y="2789359"/>
            <a:ext cx="64008" cy="6366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95231" y="2743884"/>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How a verifier learns the list and how it is updated.</a:t>
            </a:r>
          </a:p>
        </p:txBody>
      </p:sp>
      <p:sp>
        <p:nvSpPr>
          <p:cNvPr id="40" name="Oval 39"/>
          <p:cNvSpPr/>
          <p:nvPr/>
        </p:nvSpPr>
        <p:spPr>
          <a:xfrm>
            <a:off x="9230639" y="3216828"/>
            <a:ext cx="64008" cy="63665"/>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95231" y="3171353"/>
            <a:ext cx="2092375" cy="818559"/>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E293B"/>
                </a:solidFill>
                <a:latin typeface="Arial"/>
              </a:rPr>
              <a:t>What happens, contractually, when a key is compromised.</a:t>
            </a:r>
          </a:p>
        </p:txBody>
      </p:sp>
      <p:sp>
        <p:nvSpPr>
          <p:cNvPr id="42" name="Rounded Rectangle 41"/>
          <p:cNvSpPr/>
          <p:nvPr/>
        </p:nvSpPr>
        <p:spPr>
          <a:xfrm>
            <a:off x="502920" y="4499239"/>
            <a:ext cx="11185855" cy="536610"/>
          </a:xfrm>
          <a:prstGeom prst="roundRect">
            <a:avLst>
              <a:gd name="adj" fmla="val 90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4499239"/>
            <a:ext cx="45720" cy="53661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4590190"/>
            <a:ext cx="10820095" cy="391089"/>
          </a:xfrm>
          <a:prstGeom prst="rect">
            <a:avLst/>
          </a:prstGeom>
          <a:noFill/>
        </p:spPr>
        <p:txBody>
          <a:bodyPr wrap="square" lIns="0" rIns="0" tIns="0" bIns="0" anchor="t">
            <a:spAutoFit/>
          </a:bodyPr>
          <a:lstStyle/>
          <a:p>
            <a:pPr algn="l">
              <a:lnSpc>
                <a:spcPct val="122000"/>
              </a:lnSpc>
              <a:spcBef>
                <a:spcPts val="0"/>
              </a:spcBef>
              <a:spcAft>
                <a:spcPts val="0"/>
              </a:spcAft>
            </a:pPr>
            <a:r>
              <a:rPr sz="1080" b="0" i="0">
                <a:solidFill>
                  <a:srgbClr val="1E293B"/>
                </a:solidFill>
                <a:latin typeface="Arial"/>
              </a:rPr>
              <a:t>Three of these four are engineering work you can start this month. The fourth — governance — is the one that takes a year and blocks the others from mattering. </a:t>
            </a:r>
            <a:r>
              <a:rPr sz="1080" b="1" i="0">
                <a:solidFill>
                  <a:srgbClr val="6D28D9"/>
                </a:solidFill>
                <a:latin typeface="Arial"/>
              </a:rPr>
              <a:t>Name its owner before this session ends.</a:t>
            </a:r>
          </a:p>
        </p:txBody>
      </p:sp>
      <p:sp>
        <p:nvSpPr>
          <p:cNvPr id="45" name="TextBox 44"/>
          <p:cNvSpPr txBox="1"/>
          <p:nvPr/>
        </p:nvSpPr>
        <p:spPr>
          <a:xfrm>
            <a:off x="502920" y="5272322"/>
            <a:ext cx="11185855" cy="254662"/>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DISCUSSION — FOR DATAPREV, RIGHT NOW</a:t>
            </a:r>
          </a:p>
        </p:txBody>
      </p:sp>
      <p:sp>
        <p:nvSpPr>
          <p:cNvPr id="46" name="Rectangle 45"/>
          <p:cNvSpPr/>
          <p:nvPr/>
        </p:nvSpPr>
        <p:spPr>
          <a:xfrm>
            <a:off x="502920" y="5617936"/>
            <a:ext cx="146304" cy="145521"/>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3816" y="5563366"/>
            <a:ext cx="5135727" cy="327423"/>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1E293B"/>
                </a:solidFill>
                <a:latin typeface="Arial"/>
              </a:rPr>
              <a:t>Self-signed ROOT, or a chain to ICP-Brasil / another recognised CA?</a:t>
            </a:r>
          </a:p>
        </p:txBody>
      </p:sp>
      <p:sp>
        <p:nvSpPr>
          <p:cNvPr id="48" name="Rectangle 47"/>
          <p:cNvSpPr/>
          <p:nvPr/>
        </p:nvSpPr>
        <p:spPr>
          <a:xfrm>
            <a:off x="6187287" y="5617936"/>
            <a:ext cx="146304" cy="145521"/>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498183" y="5563366"/>
            <a:ext cx="5135727" cy="327423"/>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1E293B"/>
                </a:solidFill>
                <a:latin typeface="Arial"/>
              </a:rPr>
              <a:t>Which domain hosts the DID document, and who controls its DNS?</a:t>
            </a:r>
          </a:p>
        </p:txBody>
      </p:sp>
      <p:sp>
        <p:nvSpPr>
          <p:cNvPr id="50" name="Rectangle 49"/>
          <p:cNvSpPr/>
          <p:nvPr/>
        </p:nvSpPr>
        <p:spPr>
          <a:xfrm>
            <a:off x="502920" y="5999930"/>
            <a:ext cx="146304" cy="145521"/>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13816" y="5945360"/>
            <a:ext cx="5135727" cy="327423"/>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1E293B"/>
                </a:solidFill>
                <a:latin typeface="Arial"/>
              </a:rPr>
              <a:t>One Key Manager for all Brazilian issuers, or one per agency?</a:t>
            </a:r>
          </a:p>
        </p:txBody>
      </p:sp>
      <p:sp>
        <p:nvSpPr>
          <p:cNvPr id="52" name="Rectangle 51"/>
          <p:cNvSpPr/>
          <p:nvPr/>
        </p:nvSpPr>
        <p:spPr>
          <a:xfrm>
            <a:off x="6187287" y="5999930"/>
            <a:ext cx="146304" cy="145521"/>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98183" y="5945360"/>
            <a:ext cx="5135727" cy="327423"/>
          </a:xfrm>
          <a:prstGeom prst="rect">
            <a:avLst/>
          </a:prstGeom>
          <a:noFill/>
        </p:spPr>
        <p:txBody>
          <a:bodyPr wrap="square" lIns="0" rIns="0" tIns="0" bIns="0" anchor="t">
            <a:spAutoFit/>
          </a:bodyPr>
          <a:lstStyle/>
          <a:p>
            <a:pPr algn="l">
              <a:lnSpc>
                <a:spcPct val="114000"/>
              </a:lnSpc>
              <a:spcBef>
                <a:spcPts val="0"/>
              </a:spcBef>
              <a:spcAft>
                <a:spcPts val="0"/>
              </a:spcAft>
            </a:pPr>
            <a:r>
              <a:rPr sz="1000" b="0" i="0">
                <a:solidFill>
                  <a:srgbClr val="1E293B"/>
                </a:solidFill>
                <a:latin typeface="Arial"/>
              </a:rPr>
              <a:t>Who is authorised to revoke, and through which interface?</a:t>
            </a:r>
          </a:p>
        </p:txBody>
      </p:sp>
      <p:sp>
        <p:nvSpPr>
          <p:cNvPr id="54" name="TextBox 53"/>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55" name="TextBox 54"/>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8 — INCIDENT RESPONSE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A signing key is suspected compromised</a:t>
            </a:r>
          </a:p>
        </p:txBody>
      </p:sp>
      <p:sp>
        <p:nvSpPr>
          <p:cNvPr id="4" name="TextBox 3"/>
          <p:cNvSpPr txBox="1"/>
          <p:nvPr/>
        </p:nvSpPr>
        <p:spPr>
          <a:xfrm>
            <a:off x="502920" y="1078992"/>
            <a:ext cx="11185855" cy="281623"/>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B6B7F"/>
                </a:solidFill>
                <a:latin typeface="Arial"/>
              </a:rPr>
              <a:t>What you do, in what order, and what each step actually achieves.</a:t>
            </a:r>
          </a:p>
        </p:txBody>
      </p:sp>
      <p:cxnSp>
        <p:nvCxnSpPr>
          <p:cNvPr id="5" name="Connector 4"/>
          <p:cNvCxnSpPr/>
          <p:nvPr/>
        </p:nvCxnSpPr>
        <p:spPr>
          <a:xfrm>
            <a:off x="502920" y="1452055"/>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02920" y="2081566"/>
            <a:ext cx="6949440" cy="0"/>
          </a:xfrm>
          <a:prstGeom prst="line">
            <a:avLst/>
          </a:prstGeom>
          <a:ln w="13970">
            <a:solidFill>
              <a:srgbClr val="CBD5E1"/>
            </a:solidFill>
          </a:ln>
          <a:effectLst/>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502920"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37160"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latin typeface="Arial"/>
              </a:rPr>
              <a:t>T+0</a:t>
            </a:r>
          </a:p>
        </p:txBody>
      </p:sp>
      <p:cxnSp>
        <p:nvCxnSpPr>
          <p:cNvPr id="9" name="Connector 8"/>
          <p:cNvCxnSpPr/>
          <p:nvPr/>
        </p:nvCxnSpPr>
        <p:spPr>
          <a:xfrm>
            <a:off x="1892808"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527048"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latin typeface="Arial"/>
              </a:rPr>
              <a:t>T+1</a:t>
            </a:r>
          </a:p>
        </p:txBody>
      </p:sp>
      <p:cxnSp>
        <p:nvCxnSpPr>
          <p:cNvPr id="11" name="Connector 10"/>
          <p:cNvCxnSpPr/>
          <p:nvPr/>
        </p:nvCxnSpPr>
        <p:spPr>
          <a:xfrm>
            <a:off x="3282696"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2916936"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latin typeface="Arial"/>
              </a:rPr>
              <a:t>T+2</a:t>
            </a:r>
          </a:p>
        </p:txBody>
      </p:sp>
      <p:cxnSp>
        <p:nvCxnSpPr>
          <p:cNvPr id="13" name="Connector 12"/>
          <p:cNvCxnSpPr/>
          <p:nvPr/>
        </p:nvCxnSpPr>
        <p:spPr>
          <a:xfrm>
            <a:off x="4672583"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06823"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latin typeface="Arial"/>
              </a:rPr>
              <a:t>T+3</a:t>
            </a:r>
          </a:p>
        </p:txBody>
      </p:sp>
      <p:cxnSp>
        <p:nvCxnSpPr>
          <p:cNvPr id="15" name="Connector 14"/>
          <p:cNvCxnSpPr/>
          <p:nvPr/>
        </p:nvCxnSpPr>
        <p:spPr>
          <a:xfrm>
            <a:off x="6062472"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696712"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latin typeface="Arial"/>
              </a:rPr>
              <a:t>T+4</a:t>
            </a:r>
          </a:p>
        </p:txBody>
      </p:sp>
      <p:cxnSp>
        <p:nvCxnSpPr>
          <p:cNvPr id="17" name="Connector 16"/>
          <p:cNvCxnSpPr/>
          <p:nvPr/>
        </p:nvCxnSpPr>
        <p:spPr>
          <a:xfrm>
            <a:off x="7452360" y="2023585"/>
            <a:ext cx="0" cy="115961"/>
          </a:xfrm>
          <a:prstGeom prst="line">
            <a:avLst/>
          </a:prstGeom>
          <a:ln w="12700">
            <a:solidFill>
              <a:srgbClr val="94A3B8"/>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86600" y="1849641"/>
            <a:ext cx="731520" cy="182226"/>
          </a:xfrm>
          <a:prstGeom prst="rect">
            <a:avLst/>
          </a:prstGeom>
          <a:noFill/>
        </p:spPr>
        <p:txBody>
          <a:bodyPr wrap="none" lIns="0" rIns="0" tIns="0" bIns="0" anchor="t">
            <a:spAutoFit/>
          </a:bodyPr>
          <a:lstStyle/>
          <a:p>
            <a:pPr algn="ctr">
              <a:lnSpc>
                <a:spcPct val="114000"/>
              </a:lnSpc>
              <a:spcBef>
                <a:spcPts val="0"/>
              </a:spcBef>
              <a:spcAft>
                <a:spcPts val="0"/>
              </a:spcAft>
            </a:pPr>
            <a:r>
              <a:rPr sz="750" b="0" i="0">
                <a:solidFill>
                  <a:srgbClr val="94A3B8"/>
                </a:solidFill>
                <a:latin typeface="Arial"/>
              </a:rPr>
              <a:t>T+5</a:t>
            </a:r>
          </a:p>
        </p:txBody>
      </p:sp>
      <p:sp>
        <p:nvSpPr>
          <p:cNvPr id="19" name="Rounded Rectangle 18"/>
          <p:cNvSpPr/>
          <p:nvPr/>
        </p:nvSpPr>
        <p:spPr>
          <a:xfrm>
            <a:off x="502920" y="2263793"/>
            <a:ext cx="1389888" cy="314755"/>
          </a:xfrm>
          <a:prstGeom prst="roundRect">
            <a:avLst>
              <a:gd name="adj" fmla="val 24000"/>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7784" y="2263793"/>
            <a:ext cx="1280160"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latin typeface="Arial"/>
              </a:rPr>
              <a:t>Contain</a:t>
            </a:r>
          </a:p>
        </p:txBody>
      </p:sp>
      <p:sp>
        <p:nvSpPr>
          <p:cNvPr id="21" name="TextBox 20"/>
          <p:cNvSpPr txBox="1"/>
          <p:nvPr/>
        </p:nvSpPr>
        <p:spPr>
          <a:xfrm>
            <a:off x="502920" y="2586831"/>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B31B1B"/>
                </a:solidFill>
                <a:latin typeface="Arial"/>
              </a:rPr>
              <a:t>minutes</a:t>
            </a:r>
          </a:p>
        </p:txBody>
      </p:sp>
      <p:sp>
        <p:nvSpPr>
          <p:cNvPr id="22" name="Rounded Rectangle 21"/>
          <p:cNvSpPr/>
          <p:nvPr/>
        </p:nvSpPr>
        <p:spPr>
          <a:xfrm>
            <a:off x="1892808" y="2263793"/>
            <a:ext cx="1389888" cy="314755"/>
          </a:xfrm>
          <a:prstGeom prst="roundRect">
            <a:avLst>
              <a:gd name="adj" fmla="val 24000"/>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47672" y="2263793"/>
            <a:ext cx="1280160"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latin typeface="Arial"/>
              </a:rPr>
              <a:t>Stop signing with it</a:t>
            </a:r>
          </a:p>
        </p:txBody>
      </p:sp>
      <p:sp>
        <p:nvSpPr>
          <p:cNvPr id="24" name="TextBox 23"/>
          <p:cNvSpPr txBox="1"/>
          <p:nvPr/>
        </p:nvSpPr>
        <p:spPr>
          <a:xfrm>
            <a:off x="1892808" y="2586831"/>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B45309"/>
                </a:solidFill>
                <a:latin typeface="Arial"/>
              </a:rPr>
              <a:t>PUT /revokeKey</a:t>
            </a:r>
          </a:p>
        </p:txBody>
      </p:sp>
      <p:sp>
        <p:nvSpPr>
          <p:cNvPr id="25" name="Rounded Rectangle 24"/>
          <p:cNvSpPr/>
          <p:nvPr/>
        </p:nvSpPr>
        <p:spPr>
          <a:xfrm>
            <a:off x="3282696" y="2876738"/>
            <a:ext cx="1806854" cy="314755"/>
          </a:xfrm>
          <a:prstGeom prst="roundRect">
            <a:avLst>
              <a:gd name="adj" fmla="val 24000"/>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337560" y="2876738"/>
            <a:ext cx="1697126"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latin typeface="Arial"/>
              </a:rPr>
              <a:t>Assess</a:t>
            </a:r>
          </a:p>
        </p:txBody>
      </p:sp>
      <p:sp>
        <p:nvSpPr>
          <p:cNvPr id="27" name="TextBox 26"/>
          <p:cNvSpPr txBox="1"/>
          <p:nvPr/>
        </p:nvSpPr>
        <p:spPr>
          <a:xfrm>
            <a:off x="3282696" y="3199776"/>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6D28D9"/>
                </a:solidFill>
                <a:latin typeface="Arial"/>
              </a:rPr>
              <a:t>what did it sign?</a:t>
            </a:r>
          </a:p>
        </p:txBody>
      </p:sp>
      <p:sp>
        <p:nvSpPr>
          <p:cNvPr id="28" name="Rounded Rectangle 27"/>
          <p:cNvSpPr/>
          <p:nvPr/>
        </p:nvSpPr>
        <p:spPr>
          <a:xfrm>
            <a:off x="5089550" y="2876738"/>
            <a:ext cx="1250899" cy="314755"/>
          </a:xfrm>
          <a:prstGeom prst="roundRect">
            <a:avLst>
              <a:gd name="adj" fmla="val 24000"/>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44414" y="2876738"/>
            <a:ext cx="1141171"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latin typeface="Arial"/>
              </a:rPr>
              <a:t>Decide</a:t>
            </a:r>
          </a:p>
        </p:txBody>
      </p:sp>
      <p:sp>
        <p:nvSpPr>
          <p:cNvPr id="30" name="TextBox 29"/>
          <p:cNvSpPr txBox="1"/>
          <p:nvPr/>
        </p:nvSpPr>
        <p:spPr>
          <a:xfrm>
            <a:off x="5089550" y="3199776"/>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1D4E89"/>
                </a:solidFill>
                <a:latin typeface="Arial"/>
              </a:rPr>
              <a:t>rotate, or repudiate?</a:t>
            </a:r>
          </a:p>
        </p:txBody>
      </p:sp>
      <p:sp>
        <p:nvSpPr>
          <p:cNvPr id="31" name="Rounded Rectangle 30"/>
          <p:cNvSpPr/>
          <p:nvPr/>
        </p:nvSpPr>
        <p:spPr>
          <a:xfrm>
            <a:off x="6340449" y="3489682"/>
            <a:ext cx="1111910" cy="314755"/>
          </a:xfrm>
          <a:prstGeom prst="roundRect">
            <a:avLst>
              <a:gd name="adj" fmla="val 24000"/>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95313" y="3489682"/>
            <a:ext cx="1002182" cy="314755"/>
          </a:xfrm>
          <a:prstGeom prst="rect">
            <a:avLst/>
          </a:prstGeom>
          <a:noFill/>
        </p:spPr>
        <p:txBody>
          <a:bodyPr wrap="none" lIns="0" rIns="0" tIns="0" bIns="0" anchor="ctr">
            <a:spAutoFit/>
          </a:bodyPr>
          <a:lstStyle/>
          <a:p>
            <a:pPr algn="ctr">
              <a:lnSpc>
                <a:spcPct val="114000"/>
              </a:lnSpc>
              <a:spcBef>
                <a:spcPts val="0"/>
              </a:spcBef>
              <a:spcAft>
                <a:spcPts val="0"/>
              </a:spcAft>
            </a:pPr>
            <a:r>
              <a:rPr sz="800" b="1" i="0">
                <a:solidFill>
                  <a:srgbClr val="FFFFFF"/>
                </a:solidFill>
                <a:latin typeface="Arial"/>
              </a:rPr>
              <a:t>Publish</a:t>
            </a:r>
          </a:p>
        </p:txBody>
      </p:sp>
      <p:sp>
        <p:nvSpPr>
          <p:cNvPr id="33" name="TextBox 32"/>
          <p:cNvSpPr txBox="1"/>
          <p:nvPr/>
        </p:nvSpPr>
        <p:spPr>
          <a:xfrm>
            <a:off x="6340449" y="3812721"/>
            <a:ext cx="2011680" cy="198792"/>
          </a:xfrm>
          <a:prstGeom prst="rect">
            <a:avLst/>
          </a:prstGeom>
          <a:noFill/>
        </p:spPr>
        <p:txBody>
          <a:bodyPr wrap="none" lIns="0" rIns="0" tIns="0" bIns="0" anchor="t">
            <a:spAutoFit/>
          </a:bodyPr>
          <a:lstStyle/>
          <a:p>
            <a:pPr algn="l">
              <a:lnSpc>
                <a:spcPct val="114000"/>
              </a:lnSpc>
              <a:spcBef>
                <a:spcPts val="0"/>
              </a:spcBef>
              <a:spcAft>
                <a:spcPts val="0"/>
              </a:spcAft>
            </a:pPr>
            <a:r>
              <a:rPr sz="770" b="1" i="0">
                <a:solidFill>
                  <a:srgbClr val="15703D"/>
                </a:solidFill>
                <a:latin typeface="Arial"/>
              </a:rPr>
              <a:t>verifiers, holders</a:t>
            </a:r>
          </a:p>
        </p:txBody>
      </p:sp>
      <p:sp>
        <p:nvSpPr>
          <p:cNvPr id="34" name="TextBox 33"/>
          <p:cNvSpPr txBox="1"/>
          <p:nvPr/>
        </p:nvSpPr>
        <p:spPr>
          <a:xfrm>
            <a:off x="7772400" y="1849641"/>
            <a:ext cx="3913632" cy="2319250"/>
          </a:xfrm>
          <a:prstGeom prst="rect">
            <a:avLst/>
          </a:prstGeom>
          <a:noFill/>
        </p:spPr>
        <p:txBody>
          <a:bodyPr wrap="square" lIns="0" rIns="0" tIns="0" bIns="0" anchor="t">
            <a:spAutoFit/>
          </a:bodyPr>
          <a:lstStyle/>
          <a:p>
            <a:pPr algn="l">
              <a:lnSpc>
                <a:spcPct val="114000"/>
              </a:lnSpc>
              <a:spcBef>
                <a:spcPts val="0"/>
              </a:spcBef>
              <a:spcAft>
                <a:spcPts val="0"/>
              </a:spcAft>
            </a:pPr>
            <a:r>
              <a:rPr sz="860" b="1" i="0">
                <a:solidFill>
                  <a:srgbClr val="0E9488"/>
                </a:solidFill>
                <a:latin typeface="Arial"/>
              </a:rPr>
              <a:t>WHAT EACH STEP BUYS YOU</a:t>
            </a:r>
          </a:p>
          <a:p>
            <a:pPr algn="l">
              <a:lnSpc>
                <a:spcPct val="124000"/>
              </a:lnSpc>
              <a:spcBef>
                <a:spcPts val="600"/>
              </a:spcBef>
              <a:spcAft>
                <a:spcPts val="0"/>
              </a:spcAft>
            </a:pPr>
            <a:r>
              <a:rPr sz="860" b="1" i="0">
                <a:solidFill>
                  <a:srgbClr val="0F172A"/>
                </a:solidFill>
                <a:latin typeface="Arial"/>
              </a:rPr>
              <a:t>Contain — </a:t>
            </a:r>
            <a:r>
              <a:rPr sz="860" b="0" i="0">
                <a:solidFill>
                  <a:srgbClr val="5B6B7F"/>
                </a:solidFill>
                <a:latin typeface="Arial"/>
              </a:rPr>
              <a:t>Cut HSM access, rotate the HSM PIN, revoke the service credentials that could call the signing API.</a:t>
            </a:r>
          </a:p>
          <a:p>
            <a:pPr algn="l">
              <a:lnSpc>
                <a:spcPct val="124000"/>
              </a:lnSpc>
              <a:spcBef>
                <a:spcPts val="600"/>
              </a:spcBef>
              <a:spcAft>
                <a:spcPts val="0"/>
              </a:spcAft>
            </a:pPr>
            <a:r>
              <a:rPr sz="860" b="1" i="0">
                <a:solidFill>
                  <a:srgbClr val="0F172A"/>
                </a:solidFill>
                <a:latin typeface="Arial"/>
              </a:rPr>
              <a:t>Stop signing — </a:t>
            </a:r>
            <a:r>
              <a:rPr sz="860" b="0" i="0">
                <a:solidFill>
                  <a:srgbClr val="1D4E89"/>
                </a:solidFill>
                <a:latin typeface="Consolas"/>
              </a:rPr>
              <a:t>revokeKey</a:t>
            </a:r>
            <a:r>
              <a:rPr sz="860" b="0" i="0">
                <a:solidFill>
                  <a:srgbClr val="5B6B7F"/>
                </a:solidFill>
                <a:latin typeface="Arial"/>
              </a:rPr>
              <a:t> expires the key now. The next request generates a new one. </a:t>
            </a:r>
            <a:r>
              <a:rPr sz="860" b="1" i="0">
                <a:solidFill>
                  <a:srgbClr val="B31B1B"/>
                </a:solidFill>
                <a:latin typeface="Arial"/>
              </a:rPr>
              <a:t>Already-issued credentials are untouched.</a:t>
            </a:r>
          </a:p>
          <a:p>
            <a:pPr algn="l">
              <a:lnSpc>
                <a:spcPct val="124000"/>
              </a:lnSpc>
              <a:spcBef>
                <a:spcPts val="600"/>
              </a:spcBef>
              <a:spcAft>
                <a:spcPts val="0"/>
              </a:spcAft>
            </a:pPr>
            <a:r>
              <a:rPr sz="860" b="1" i="0">
                <a:solidFill>
                  <a:srgbClr val="0F172A"/>
                </a:solidFill>
                <a:latin typeface="Arial"/>
              </a:rPr>
              <a:t>Assess — </a:t>
            </a:r>
            <a:r>
              <a:rPr sz="860" b="0" i="0">
                <a:solidFill>
                  <a:srgbClr val="5B6B7F"/>
                </a:solidFill>
                <a:latin typeface="Arial"/>
              </a:rPr>
              <a:t>Use </a:t>
            </a:r>
            <a:r>
              <a:rPr sz="860" b="0" i="0">
                <a:solidFill>
                  <a:srgbClr val="1D4E89"/>
                </a:solidFill>
                <a:latin typeface="Consolas"/>
              </a:rPr>
              <a:t>cert_thumbprint</a:t>
            </a:r>
            <a:r>
              <a:rPr sz="860" b="0" i="0">
                <a:solidFill>
                  <a:srgbClr val="5B6B7F"/>
                </a:solidFill>
                <a:latin typeface="Arial"/>
              </a:rPr>
              <a:t> and your issuance logs to list every credential signed by that key.</a:t>
            </a:r>
          </a:p>
          <a:p>
            <a:pPr algn="l">
              <a:lnSpc>
                <a:spcPct val="124000"/>
              </a:lnSpc>
              <a:spcBef>
                <a:spcPts val="600"/>
              </a:spcBef>
              <a:spcAft>
                <a:spcPts val="0"/>
              </a:spcAft>
            </a:pPr>
            <a:r>
              <a:rPr sz="860" b="1" i="0">
                <a:solidFill>
                  <a:srgbClr val="0F172A"/>
                </a:solidFill>
                <a:latin typeface="Arial"/>
              </a:rPr>
              <a:t>Decide — </a:t>
            </a:r>
            <a:r>
              <a:rPr sz="860" b="0" i="0">
                <a:solidFill>
                  <a:srgbClr val="5B6B7F"/>
                </a:solidFill>
                <a:latin typeface="Arial"/>
              </a:rPr>
              <a:t>Rotate only, or withdraw what the key signed. See the next slide.</a:t>
            </a:r>
          </a:p>
          <a:p>
            <a:pPr algn="l">
              <a:lnSpc>
                <a:spcPct val="124000"/>
              </a:lnSpc>
              <a:spcBef>
                <a:spcPts val="600"/>
              </a:spcBef>
              <a:spcAft>
                <a:spcPts val="0"/>
              </a:spcAft>
            </a:pPr>
            <a:r>
              <a:rPr sz="860" b="1" i="0">
                <a:solidFill>
                  <a:srgbClr val="0F172A"/>
                </a:solidFill>
                <a:latin typeface="Arial"/>
              </a:rPr>
              <a:t>Publish — </a:t>
            </a:r>
            <a:r>
              <a:rPr sz="860" b="0" i="0">
                <a:solidFill>
                  <a:srgbClr val="5B6B7F"/>
                </a:solidFill>
                <a:latin typeface="Arial"/>
              </a:rPr>
              <a:t>New certificate into </a:t>
            </a:r>
            <a:r>
              <a:rPr sz="860" b="0" i="0">
                <a:solidFill>
                  <a:srgbClr val="1D4E89"/>
                </a:solidFill>
                <a:latin typeface="Consolas"/>
              </a:rPr>
              <a:t>jwks.json</a:t>
            </a:r>
            <a:r>
              <a:rPr sz="860" b="0" i="0">
                <a:solidFill>
                  <a:srgbClr val="5B6B7F"/>
                </a:solidFill>
                <a:latin typeface="Arial"/>
              </a:rPr>
              <a:t> / </a:t>
            </a:r>
            <a:r>
              <a:rPr sz="860" b="0" i="0">
                <a:solidFill>
                  <a:srgbClr val="1D4E89"/>
                </a:solidFill>
                <a:latin typeface="Consolas"/>
              </a:rPr>
              <a:t>did.json</a:t>
            </a:r>
            <a:r>
              <a:rPr sz="860" b="0" i="0">
                <a:solidFill>
                  <a:srgbClr val="5B6B7F"/>
                </a:solidFill>
                <a:latin typeface="Arial"/>
              </a:rPr>
              <a:t>; tell verifiers what changed and when.</a:t>
            </a:r>
          </a:p>
        </p:txBody>
      </p:sp>
      <p:sp>
        <p:nvSpPr>
          <p:cNvPr id="35" name="Rounded Rectangle 34"/>
          <p:cNvSpPr/>
          <p:nvPr/>
        </p:nvSpPr>
        <p:spPr>
          <a:xfrm>
            <a:off x="502920" y="4202024"/>
            <a:ext cx="11185855" cy="482717"/>
          </a:xfrm>
          <a:prstGeom prst="roundRect">
            <a:avLst>
              <a:gd name="adj" fmla="val 9000"/>
            </a:avLst>
          </a:prstGeom>
          <a:solidFill>
            <a:srgbClr val="FCE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2920" y="4202024"/>
            <a:ext cx="45720" cy="482717"/>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4088" y="4284854"/>
            <a:ext cx="10820095" cy="350188"/>
          </a:xfrm>
          <a:prstGeom prst="rect">
            <a:avLst/>
          </a:prstGeom>
          <a:noFill/>
        </p:spPr>
        <p:txBody>
          <a:bodyPr wrap="square" lIns="0" rIns="0" tIns="0" bIns="0" anchor="t">
            <a:spAutoFit/>
          </a:bodyPr>
          <a:lstStyle/>
          <a:p>
            <a:pPr algn="l">
              <a:lnSpc>
                <a:spcPct val="122000"/>
              </a:lnSpc>
              <a:spcBef>
                <a:spcPts val="0"/>
              </a:spcBef>
              <a:spcAft>
                <a:spcPts val="0"/>
              </a:spcAft>
            </a:pPr>
            <a:r>
              <a:rPr sz="1019" b="0" i="0">
                <a:solidFill>
                  <a:srgbClr val="1E293B"/>
                </a:solidFill>
                <a:latin typeface="Arial"/>
              </a:rPr>
              <a:t>The uncomfortable truth to say out loud in the drill: </a:t>
            </a:r>
            <a:r>
              <a:rPr sz="1019" b="1" i="0">
                <a:solidFill>
                  <a:srgbClr val="B31B1B"/>
                </a:solidFill>
                <a:latin typeface="Arial"/>
              </a:rPr>
              <a:t>revokeKey stops the bleeding, it does not heal the wound.</a:t>
            </a:r>
            <a:r>
              <a:rPr sz="1019" b="0" i="0">
                <a:solidFill>
                  <a:srgbClr val="1E293B"/>
                </a:solidFill>
                <a:latin typeface="Arial"/>
              </a:rPr>
              <a:t> It prevents further signatures with the compromised key. Everything that key already signed is still cryptographically valid, and will stay valid as long as its certificate is published.</a:t>
            </a:r>
          </a:p>
        </p:txBody>
      </p:sp>
      <p:graphicFrame>
        <p:nvGraphicFramePr>
          <p:cNvPr id="38" name="Table 37"/>
          <p:cNvGraphicFramePr>
            <a:graphicFrameLocks noGrp="1"/>
          </p:cNvGraphicFramePr>
          <p:nvPr/>
        </p:nvGraphicFramePr>
        <p:xfrm>
          <a:off x="502920" y="4964063"/>
          <a:ext cx="11185854" cy="1308719"/>
        </p:xfrm>
        <a:graphic>
          <a:graphicData uri="http://schemas.openxmlformats.org/drawingml/2006/table">
            <a:tbl>
              <a:tblPr firstRow="1">
                <a:tableStyleId>{2D5ABB26-0587-4C30-8999-92F81FD0307C}</a:tableStyleId>
              </a:tblPr>
              <a:tblGrid>
                <a:gridCol w="2750620"/>
                <a:gridCol w="4767741"/>
                <a:gridCol w="3667493"/>
              </a:tblGrid>
              <a:tr h="281623">
                <a:tc>
                  <a:txBody>
                    <a:bodyPr wrap="square"/>
                    <a:lstStyle/>
                    <a:p>
                      <a:pPr algn="l"/>
                      <a:r>
                        <a:rPr sz="910" b="1">
                          <a:solidFill>
                            <a:srgbClr val="FFFFFF"/>
                          </a:solidFill>
                          <a:latin typeface="Arial"/>
                        </a:rPr>
                        <a:t>First question to answer</a:t>
                      </a:r>
                    </a:p>
                  </a:txBody>
                  <a:tcPr marL="64008" marR="54864" marT="27432" marB="27432" anchor="ctr">
                    <a:solidFill>
                      <a:srgbClr val="1D4E89"/>
                    </a:solidFill>
                  </a:tcPr>
                </a:tc>
                <a:tc>
                  <a:txBody>
                    <a:bodyPr wrap="square"/>
                    <a:lstStyle/>
                    <a:p>
                      <a:pPr algn="l"/>
                      <a:r>
                        <a:rPr sz="910" b="1">
                          <a:solidFill>
                            <a:srgbClr val="FFFFFF"/>
                          </a:solidFill>
                          <a:latin typeface="Arial"/>
                        </a:rPr>
                        <a:t>What it means</a:t>
                      </a:r>
                    </a:p>
                  </a:txBody>
                  <a:tcPr marL="64008" marR="54864" marT="27432" marB="27432" anchor="ctr">
                    <a:solidFill>
                      <a:srgbClr val="1D4E89"/>
                    </a:solidFill>
                  </a:tcPr>
                </a:tc>
                <a:tc>
                  <a:txBody>
                    <a:bodyPr wrap="square"/>
                    <a:lstStyle/>
                    <a:p>
                      <a:pPr algn="l"/>
                      <a:r>
                        <a:rPr sz="910" b="1">
                          <a:solidFill>
                            <a:srgbClr val="FFFFFF"/>
                          </a:solidFill>
                          <a:latin typeface="Arial"/>
                        </a:rPr>
                        <a:t>What it usually leads to</a:t>
                      </a:r>
                    </a:p>
                  </a:txBody>
                  <a:tcPr marL="64008" marR="54864" marT="27432" marB="27432" anchor="ctr">
                    <a:solidFill>
                      <a:srgbClr val="1D4E89"/>
                    </a:solidFill>
                  </a:tcPr>
                </a:tc>
              </a:tr>
              <a:tr h="513548">
                <a:tc>
                  <a:txBody>
                    <a:bodyPr wrap="square"/>
                    <a:lstStyle/>
                    <a:p>
                      <a:pPr algn="l">
                        <a:lnSpc>
                          <a:spcPct val="105000"/>
                        </a:lnSpc>
                      </a:pPr>
                      <a:r>
                        <a:rPr sz="900" b="0">
                          <a:solidFill>
                            <a:srgbClr val="1E293B"/>
                          </a:solidFill>
                          <a:latin typeface="Arial"/>
                        </a:rPr>
                        <a:t>Was the key in an HSM?</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The attacker could </a:t>
                      </a:r>
                      <a:r>
                        <a:rPr sz="900" b="1">
                          <a:solidFill>
                            <a:srgbClr val="0F172A"/>
                          </a:solidFill>
                          <a:latin typeface="Arial"/>
                        </a:rPr>
                        <a:t>use</a:t>
                      </a:r>
                      <a:r>
                        <a:rPr sz="900" b="0">
                          <a:solidFill>
                            <a:srgbClr val="1E293B"/>
                          </a:solidFill>
                          <a:latin typeface="Arial"/>
                        </a:rPr>
                        <a:t> it while they had access, but not take a copy. Scope is the access window.</a:t>
                      </a:r>
                    </a:p>
                  </a:txBody>
                  <a:tcPr marL="64008" marR="54864" marT="18288" marB="18288" anchor="ctr">
                    <a:solidFill>
                      <a:srgbClr val="FFFFFF"/>
                    </a:solidFill>
                  </a:tcPr>
                </a:tc>
                <a:tc>
                  <a:txBody>
                    <a:bodyPr wrap="square"/>
                    <a:lstStyle/>
                    <a:p>
                      <a:pPr algn="l">
                        <a:lnSpc>
                          <a:spcPct val="105000"/>
                        </a:lnSpc>
                      </a:pPr>
                      <a:r>
                        <a:rPr sz="900" b="0">
                          <a:solidFill>
                            <a:srgbClr val="1E293B"/>
                          </a:solidFill>
                          <a:latin typeface="Arial"/>
                        </a:rPr>
                        <a:t>Rotate, audit signatures inside the window, keep publishing the old certificate</a:t>
                      </a:r>
                    </a:p>
                  </a:txBody>
                  <a:tcPr marL="64008" marR="54864" marT="18288" marB="18288" anchor="ctr">
                    <a:solidFill>
                      <a:srgbClr val="FFFFFF"/>
                    </a:solidFill>
                  </a:tcPr>
                </a:tc>
              </a:tr>
              <a:tr h="513548">
                <a:tc>
                  <a:txBody>
                    <a:bodyPr wrap="square"/>
                    <a:lstStyle/>
                    <a:p>
                      <a:pPr algn="l">
                        <a:lnSpc>
                          <a:spcPct val="105000"/>
                        </a:lnSpc>
                      </a:pPr>
                      <a:r>
                        <a:rPr sz="900" b="0">
                          <a:solidFill>
                            <a:srgbClr val="1E293B"/>
                          </a:solidFill>
                          <a:latin typeface="Arial"/>
                        </a:rPr>
                        <a:t>Was it a file-based keystore?</a:t>
                      </a:r>
                    </a:p>
                  </a:txBody>
                  <a:tcPr marL="64008" marR="54864" marT="18288" marB="18288" anchor="ctr">
                    <a:solidFill>
                      <a:srgbClr val="F3F6F9"/>
                    </a:solidFill>
                  </a:tcPr>
                </a:tc>
                <a:tc>
                  <a:txBody>
                    <a:bodyPr wrap="square"/>
                    <a:lstStyle/>
                    <a:p>
                      <a:pPr algn="l">
                        <a:lnSpc>
                          <a:spcPct val="105000"/>
                        </a:lnSpc>
                      </a:pPr>
                      <a:r>
                        <a:rPr sz="900" b="1">
                          <a:solidFill>
                            <a:srgbClr val="B31B1B"/>
                          </a:solidFill>
                          <a:latin typeface="Arial"/>
                        </a:rPr>
                        <a:t>Assume the private key was </a:t>
                      </a:r>
                      <a:r>
                        <a:rPr sz="900" b="1">
                          <a:solidFill>
                            <a:srgbClr val="B31B1B"/>
                          </a:solidFill>
                          <a:latin typeface="Arial"/>
                        </a:rPr>
                        <a:t>copied</a:t>
                      </a:r>
                      <a:r>
                        <a:rPr sz="900" b="1">
                          <a:solidFill>
                            <a:srgbClr val="B31B1B"/>
                          </a:solidFill>
                          <a:latin typeface="Arial"/>
                        </a:rPr>
                        <a:t>. The attacker can sign forever, anywhere.</a:t>
                      </a:r>
                    </a:p>
                  </a:txBody>
                  <a:tcPr marL="64008" marR="54864" marT="18288" marB="18288" anchor="ctr">
                    <a:solidFill>
                      <a:srgbClr val="F3F6F9"/>
                    </a:solidFill>
                  </a:tcPr>
                </a:tc>
                <a:tc>
                  <a:txBody>
                    <a:bodyPr wrap="square"/>
                    <a:lstStyle/>
                    <a:p>
                      <a:pPr algn="l">
                        <a:lnSpc>
                          <a:spcPct val="105000"/>
                        </a:lnSpc>
                      </a:pPr>
                      <a:r>
                        <a:rPr sz="900" b="0">
                          <a:solidFill>
                            <a:srgbClr val="1E293B"/>
                          </a:solidFill>
                          <a:latin typeface="Arial"/>
                        </a:rPr>
                        <a:t>Repudiate: stop publishing that certificate and re-issue affected credentials</a:t>
                      </a:r>
                    </a:p>
                  </a:txBody>
                  <a:tcPr marL="64008" marR="54864" marT="18288" marB="18288" anchor="ctr">
                    <a:solidFill>
                      <a:srgbClr val="F3F6F9"/>
                    </a:solidFill>
                  </a:tcPr>
                </a:tc>
              </a:tr>
            </a:tbl>
          </a:graphicData>
        </a:graphic>
      </p:graphicFrame>
      <p:sp>
        <p:nvSpPr>
          <p:cNvPr id="39" name="TextBox 38"/>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40" name="TextBox 39"/>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TOPIC 8 — THE HARD CALL</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Rotate or repudiate — and what it costs holders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Three responses, three very different impacts on citizens who did nothing wrong.</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582314" cy="3246120"/>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3582314" cy="64008"/>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920240"/>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15703D"/>
                </a:solidFill>
                <a:latin typeface="Arial"/>
              </a:rPr>
              <a:t>Rotate only</a:t>
            </a:r>
          </a:p>
        </p:txBody>
      </p:sp>
      <p:sp>
        <p:nvSpPr>
          <p:cNvPr id="9" name="TextBox 8"/>
          <p:cNvSpPr txBox="1"/>
          <p:nvPr/>
        </p:nvSpPr>
        <p:spPr>
          <a:xfrm>
            <a:off x="704088" y="2304288"/>
            <a:ext cx="3179978" cy="640080"/>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latin typeface="Arial"/>
              </a:rPr>
              <a:t>Stop using the key. Keep publishing its certificate.</a:t>
            </a:r>
          </a:p>
        </p:txBody>
      </p:sp>
      <p:sp>
        <p:nvSpPr>
          <p:cNvPr id="10" name="Oval 9"/>
          <p:cNvSpPr/>
          <p:nvPr/>
        </p:nvSpPr>
        <p:spPr>
          <a:xfrm>
            <a:off x="704088" y="3118104"/>
            <a:ext cx="73152" cy="73152"/>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3072384"/>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5703D"/>
                </a:solidFill>
                <a:latin typeface="Arial"/>
              </a:rPr>
              <a:t>No holder is affected</a:t>
            </a:r>
          </a:p>
        </p:txBody>
      </p:sp>
      <p:sp>
        <p:nvSpPr>
          <p:cNvPr id="12" name="Oval 11"/>
          <p:cNvSpPr/>
          <p:nvPr/>
        </p:nvSpPr>
        <p:spPr>
          <a:xfrm>
            <a:off x="704088" y="3406140"/>
            <a:ext cx="73152" cy="73152"/>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3360420"/>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5703D"/>
                </a:solidFill>
                <a:latin typeface="Arial"/>
              </a:rPr>
              <a:t>No re-issuance</a:t>
            </a:r>
          </a:p>
        </p:txBody>
      </p:sp>
      <p:sp>
        <p:nvSpPr>
          <p:cNvPr id="14" name="Oval 13"/>
          <p:cNvSpPr/>
          <p:nvPr/>
        </p:nvSpPr>
        <p:spPr>
          <a:xfrm>
            <a:off x="704088" y="3694176"/>
            <a:ext cx="73152" cy="73152"/>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3648456"/>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B31B1B"/>
                </a:solidFill>
                <a:latin typeface="Arial"/>
              </a:rPr>
              <a:t>Anything the attacker signed stays valid</a:t>
            </a:r>
          </a:p>
        </p:txBody>
      </p:sp>
      <p:sp>
        <p:nvSpPr>
          <p:cNvPr id="16" name="Oval 15"/>
          <p:cNvSpPr/>
          <p:nvPr/>
        </p:nvSpPr>
        <p:spPr>
          <a:xfrm>
            <a:off x="704088" y="4123944"/>
            <a:ext cx="73152" cy="73152"/>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4078224"/>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5B6B7F"/>
                </a:solidFill>
                <a:latin typeface="Arial"/>
              </a:rPr>
              <a:t>Use when: the key was HSM-held and the access window is known and empty</a:t>
            </a:r>
          </a:p>
        </p:txBody>
      </p:sp>
      <p:sp>
        <p:nvSpPr>
          <p:cNvPr id="18" name="Rounded Rectangle 17"/>
          <p:cNvSpPr/>
          <p:nvPr/>
        </p:nvSpPr>
        <p:spPr>
          <a:xfrm>
            <a:off x="4304690" y="1682496"/>
            <a:ext cx="3582314" cy="3246120"/>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304690" y="1682496"/>
            <a:ext cx="3582314" cy="640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05858" y="1920240"/>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B45309"/>
                </a:solidFill>
                <a:latin typeface="Arial"/>
              </a:rPr>
              <a:t>Rotate + status-list the suspects</a:t>
            </a:r>
          </a:p>
        </p:txBody>
      </p:sp>
      <p:sp>
        <p:nvSpPr>
          <p:cNvPr id="21" name="TextBox 20"/>
          <p:cNvSpPr txBox="1"/>
          <p:nvPr/>
        </p:nvSpPr>
        <p:spPr>
          <a:xfrm>
            <a:off x="4505858" y="2304288"/>
            <a:ext cx="3179978" cy="640080"/>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latin typeface="Arial"/>
              </a:rPr>
              <a:t>Stop using the key, and revoke the specific credentials you believe are fraudulent.</a:t>
            </a:r>
          </a:p>
        </p:txBody>
      </p:sp>
      <p:sp>
        <p:nvSpPr>
          <p:cNvPr id="22" name="Oval 21"/>
          <p:cNvSpPr/>
          <p:nvPr/>
        </p:nvSpPr>
        <p:spPr>
          <a:xfrm>
            <a:off x="4505858" y="3118104"/>
            <a:ext cx="73152" cy="73152"/>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88738" y="3072384"/>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5703D"/>
                </a:solidFill>
                <a:latin typeface="Arial"/>
              </a:rPr>
              <a:t>Only affected holders are impacted</a:t>
            </a:r>
          </a:p>
        </p:txBody>
      </p:sp>
      <p:sp>
        <p:nvSpPr>
          <p:cNvPr id="24" name="Oval 23"/>
          <p:cNvSpPr/>
          <p:nvPr/>
        </p:nvSpPr>
        <p:spPr>
          <a:xfrm>
            <a:off x="4505858" y="3547872"/>
            <a:ext cx="73152" cy="7315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88738" y="3502152"/>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B45309"/>
                </a:solidFill>
                <a:latin typeface="Arial"/>
              </a:rPr>
              <a:t>Needs a reliable list of what to revoke</a:t>
            </a:r>
          </a:p>
        </p:txBody>
      </p:sp>
      <p:sp>
        <p:nvSpPr>
          <p:cNvPr id="26" name="Oval 25"/>
          <p:cNvSpPr/>
          <p:nvPr/>
        </p:nvSpPr>
        <p:spPr>
          <a:xfrm>
            <a:off x="4505858" y="3977639"/>
            <a:ext cx="73152" cy="7315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88738" y="3931920"/>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B45309"/>
                </a:solidFill>
                <a:latin typeface="Arial"/>
              </a:rPr>
              <a:t>Only works if verifiers check status</a:t>
            </a:r>
          </a:p>
        </p:txBody>
      </p:sp>
      <p:sp>
        <p:nvSpPr>
          <p:cNvPr id="28" name="Oval 27"/>
          <p:cNvSpPr/>
          <p:nvPr/>
        </p:nvSpPr>
        <p:spPr>
          <a:xfrm>
            <a:off x="4505858" y="4407407"/>
            <a:ext cx="73152" cy="73152"/>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88738" y="4361688"/>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5B6B7F"/>
                </a:solidFill>
                <a:latin typeface="Arial"/>
              </a:rPr>
              <a:t>Use when: you can identify the fraudulent credentials</a:t>
            </a:r>
          </a:p>
        </p:txBody>
      </p:sp>
      <p:sp>
        <p:nvSpPr>
          <p:cNvPr id="30" name="Rounded Rectangle 29"/>
          <p:cNvSpPr/>
          <p:nvPr/>
        </p:nvSpPr>
        <p:spPr>
          <a:xfrm>
            <a:off x="8106460" y="1682496"/>
            <a:ext cx="3582314" cy="3246120"/>
          </a:xfrm>
          <a:prstGeom prst="roundRect">
            <a:avLst>
              <a:gd name="adj" fmla="val 4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06460" y="1682496"/>
            <a:ext cx="3582314" cy="64008"/>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07628" y="1920240"/>
            <a:ext cx="3179978" cy="310896"/>
          </a:xfrm>
          <a:prstGeom prst="rect">
            <a:avLst/>
          </a:prstGeom>
          <a:noFill/>
        </p:spPr>
        <p:txBody>
          <a:bodyPr wrap="square" lIns="0" rIns="0" tIns="0" bIns="0" anchor="t">
            <a:spAutoFit/>
          </a:bodyPr>
          <a:lstStyle/>
          <a:p>
            <a:pPr algn="l">
              <a:lnSpc>
                <a:spcPct val="114000"/>
              </a:lnSpc>
              <a:spcBef>
                <a:spcPts val="0"/>
              </a:spcBef>
              <a:spcAft>
                <a:spcPts val="0"/>
              </a:spcAft>
            </a:pPr>
            <a:r>
              <a:rPr sz="1350" b="1" i="0">
                <a:solidFill>
                  <a:srgbClr val="B31B1B"/>
                </a:solidFill>
                <a:latin typeface="Arial"/>
              </a:rPr>
              <a:t>Repudiate the key</a:t>
            </a:r>
          </a:p>
        </p:txBody>
      </p:sp>
      <p:sp>
        <p:nvSpPr>
          <p:cNvPr id="33" name="TextBox 32"/>
          <p:cNvSpPr txBox="1"/>
          <p:nvPr/>
        </p:nvSpPr>
        <p:spPr>
          <a:xfrm>
            <a:off x="8307628" y="2304288"/>
            <a:ext cx="3179978" cy="640080"/>
          </a:xfrm>
          <a:prstGeom prst="rect">
            <a:avLst/>
          </a:prstGeom>
          <a:noFill/>
        </p:spPr>
        <p:txBody>
          <a:bodyPr wrap="square" lIns="0" rIns="0" tIns="0" bIns="0" anchor="t">
            <a:spAutoFit/>
          </a:bodyPr>
          <a:lstStyle/>
          <a:p>
            <a:pPr algn="l">
              <a:lnSpc>
                <a:spcPct val="126000"/>
              </a:lnSpc>
              <a:spcBef>
                <a:spcPts val="0"/>
              </a:spcBef>
              <a:spcAft>
                <a:spcPts val="0"/>
              </a:spcAft>
            </a:pPr>
            <a:r>
              <a:rPr sz="980" b="0" i="0">
                <a:solidFill>
                  <a:srgbClr val="1E293B"/>
                </a:solidFill>
                <a:latin typeface="Arial"/>
              </a:rPr>
              <a:t>Stop publishing its certificate entirely.</a:t>
            </a:r>
          </a:p>
        </p:txBody>
      </p:sp>
      <p:sp>
        <p:nvSpPr>
          <p:cNvPr id="34" name="Oval 33"/>
          <p:cNvSpPr/>
          <p:nvPr/>
        </p:nvSpPr>
        <p:spPr>
          <a:xfrm>
            <a:off x="8307628" y="3118104"/>
            <a:ext cx="73152" cy="73152"/>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90508" y="3072384"/>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1" i="0">
                <a:solidFill>
                  <a:srgbClr val="B31B1B"/>
                </a:solidFill>
                <a:latin typeface="Arial"/>
              </a:rPr>
              <a:t>Every</a:t>
            </a:r>
            <a:r>
              <a:rPr sz="930" b="0" i="0">
                <a:solidFill>
                  <a:srgbClr val="B31B1B"/>
                </a:solidFill>
                <a:latin typeface="Arial"/>
              </a:rPr>
              <a:t> credential it ever signed stops verifying</a:t>
            </a:r>
          </a:p>
        </p:txBody>
      </p:sp>
      <p:sp>
        <p:nvSpPr>
          <p:cNvPr id="36" name="Oval 35"/>
          <p:cNvSpPr/>
          <p:nvPr/>
        </p:nvSpPr>
        <p:spPr>
          <a:xfrm>
            <a:off x="8307628" y="3547872"/>
            <a:ext cx="73152" cy="73152"/>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90508" y="3502152"/>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B31B1B"/>
                </a:solidFill>
                <a:latin typeface="Arial"/>
              </a:rPr>
              <a:t>Mass re-issuance; citizens are locked out meanwhile</a:t>
            </a:r>
          </a:p>
        </p:txBody>
      </p:sp>
      <p:sp>
        <p:nvSpPr>
          <p:cNvPr id="38" name="Oval 37"/>
          <p:cNvSpPr/>
          <p:nvPr/>
        </p:nvSpPr>
        <p:spPr>
          <a:xfrm>
            <a:off x="8307628" y="3977639"/>
            <a:ext cx="73152" cy="73152"/>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490508" y="3931920"/>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15703D"/>
                </a:solidFill>
                <a:latin typeface="Arial"/>
              </a:rPr>
              <a:t>The only option that truly withdraws the attacker's signatures</a:t>
            </a:r>
          </a:p>
        </p:txBody>
      </p:sp>
      <p:sp>
        <p:nvSpPr>
          <p:cNvPr id="40" name="Oval 39"/>
          <p:cNvSpPr/>
          <p:nvPr/>
        </p:nvSpPr>
        <p:spPr>
          <a:xfrm>
            <a:off x="8307628" y="4549140"/>
            <a:ext cx="73152" cy="73152"/>
          </a:xfrm>
          <a:prstGeom prst="ellipse">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490508" y="4503420"/>
            <a:ext cx="2997098" cy="822960"/>
          </a:xfrm>
          <a:prstGeom prst="rect">
            <a:avLst/>
          </a:prstGeom>
          <a:noFill/>
        </p:spPr>
        <p:txBody>
          <a:bodyPr wrap="square" lIns="0" rIns="0" tIns="0" bIns="0" anchor="t">
            <a:spAutoFit/>
          </a:bodyPr>
          <a:lstStyle/>
          <a:p>
            <a:pPr algn="l">
              <a:lnSpc>
                <a:spcPct val="126000"/>
              </a:lnSpc>
              <a:spcBef>
                <a:spcPts val="0"/>
              </a:spcBef>
              <a:spcAft>
                <a:spcPts val="0"/>
              </a:spcAft>
            </a:pPr>
            <a:r>
              <a:rPr sz="930" b="0" i="0">
                <a:solidFill>
                  <a:srgbClr val="5B6B7F"/>
                </a:solidFill>
                <a:latin typeface="Arial"/>
              </a:rPr>
              <a:t>Use when: the private key was copied</a:t>
            </a:r>
          </a:p>
        </p:txBody>
      </p:sp>
      <p:sp>
        <p:nvSpPr>
          <p:cNvPr id="42" name="Rounded Rectangle 41"/>
          <p:cNvSpPr/>
          <p:nvPr/>
        </p:nvSpPr>
        <p:spPr>
          <a:xfrm>
            <a:off x="502920" y="5157216"/>
            <a:ext cx="11185855" cy="539496"/>
          </a:xfrm>
          <a:prstGeom prst="roundRect">
            <a:avLst>
              <a:gd name="adj" fmla="val 90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5157216"/>
            <a:ext cx="45720" cy="539496"/>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 y="5248655"/>
            <a:ext cx="10820095" cy="393192"/>
          </a:xfrm>
          <a:prstGeom prst="rect">
            <a:avLst/>
          </a:prstGeom>
          <a:noFill/>
        </p:spPr>
        <p:txBody>
          <a:bodyPr wrap="square" lIns="0" rIns="0" tIns="0" bIns="0" anchor="t">
            <a:spAutoFit/>
          </a:bodyPr>
          <a:lstStyle/>
          <a:p>
            <a:pPr algn="l">
              <a:lnSpc>
                <a:spcPct val="122000"/>
              </a:lnSpc>
              <a:spcBef>
                <a:spcPts val="0"/>
              </a:spcBef>
              <a:spcAft>
                <a:spcPts val="0"/>
              </a:spcAft>
            </a:pPr>
            <a:r>
              <a:rPr sz="1080" b="0" i="0">
                <a:solidFill>
                  <a:srgbClr val="1E293B"/>
                </a:solidFill>
                <a:latin typeface="Arial"/>
              </a:rPr>
              <a:t>Notice who pays. Rotating costs you an afternoon. Repudiating costs </a:t>
            </a:r>
            <a:r>
              <a:rPr sz="1080" b="1" i="0">
                <a:solidFill>
                  <a:srgbClr val="6D28D9"/>
                </a:solidFill>
                <a:latin typeface="Arial"/>
              </a:rPr>
              <a:t>every citizen holding a credential signed by that key</a:t>
            </a:r>
            <a:r>
              <a:rPr sz="1080" b="0" i="0">
                <a:solidFill>
                  <a:srgbClr val="1E293B"/>
                </a:solidFill>
                <a:latin typeface="Arial"/>
              </a:rPr>
              <a:t> their access, until re-issuance completes. That asymmetry is why the HSM decision in topic 4 is a citizen-impact decision, not an infrastructure one.</a:t>
            </a:r>
          </a:p>
        </p:txBody>
      </p:sp>
      <p:sp>
        <p:nvSpPr>
          <p:cNvPr id="45" name="TextBox 44"/>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46" name="TextBox 45"/>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RECAP</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The model in one slide</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If the room remembers six things from these 90 minutes, make it these.</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5483199" cy="1152144"/>
          </a:xfrm>
          <a:prstGeom prst="roundRect">
            <a:avLst>
              <a:gd name="adj" fmla="val 6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0292" cy="1152144"/>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04088" y="1847088"/>
            <a:ext cx="292608" cy="292608"/>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a:rPr>
              <a:t>1</a:t>
            </a:r>
          </a:p>
        </p:txBody>
      </p:sp>
      <p:sp>
        <p:nvSpPr>
          <p:cNvPr id="9" name="TextBox 8"/>
          <p:cNvSpPr txBox="1"/>
          <p:nvPr/>
        </p:nvSpPr>
        <p:spPr>
          <a:xfrm>
            <a:off x="1088136" y="1828800"/>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latin typeface="Arial"/>
              </a:rPr>
              <a:t>Three tiers, one direction</a:t>
            </a:r>
          </a:p>
        </p:txBody>
      </p:sp>
      <p:sp>
        <p:nvSpPr>
          <p:cNvPr id="10" name="TextBox 9"/>
          <p:cNvSpPr txBox="1"/>
          <p:nvPr/>
        </p:nvSpPr>
        <p:spPr>
          <a:xfrm>
            <a:off x="1088136" y="2194560"/>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5B6B7F"/>
                </a:solidFill>
                <a:latin typeface="Arial"/>
              </a:rPr>
              <a:t>ROOT signs module keys; module keys sign base keys and wrap their private keys; base keys sign credentials.</a:t>
            </a:r>
          </a:p>
        </p:txBody>
      </p:sp>
      <p:sp>
        <p:nvSpPr>
          <p:cNvPr id="11" name="Rounded Rectangle 10"/>
          <p:cNvSpPr/>
          <p:nvPr/>
        </p:nvSpPr>
        <p:spPr>
          <a:xfrm>
            <a:off x="6205575" y="1682496"/>
            <a:ext cx="5483199" cy="1152144"/>
          </a:xfrm>
          <a:prstGeom prst="roundRect">
            <a:avLst>
              <a:gd name="adj" fmla="val 6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05575" y="1682496"/>
            <a:ext cx="50292" cy="1152144"/>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406743" y="1847088"/>
            <a:ext cx="292608" cy="292608"/>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a:rPr>
              <a:t>2</a:t>
            </a:r>
          </a:p>
        </p:txBody>
      </p:sp>
      <p:sp>
        <p:nvSpPr>
          <p:cNvPr id="14" name="TextBox 13"/>
          <p:cNvSpPr txBox="1"/>
          <p:nvPr/>
        </p:nvSpPr>
        <p:spPr>
          <a:xfrm>
            <a:off x="6790791" y="1828800"/>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latin typeface="Arial"/>
              </a:rPr>
              <a:t>The application asks for a signature, never for a key</a:t>
            </a:r>
          </a:p>
        </p:txBody>
      </p:sp>
      <p:sp>
        <p:nvSpPr>
          <p:cNvPr id="15" name="TextBox 14"/>
          <p:cNvSpPr txBox="1"/>
          <p:nvPr/>
        </p:nvSpPr>
        <p:spPr>
          <a:xfrm>
            <a:off x="6790791" y="2194560"/>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5B6B7F"/>
                </a:solidFill>
                <a:latin typeface="Arial"/>
              </a:rPr>
              <a:t>Certify maps an algorithm to an </a:t>
            </a:r>
            <a:r>
              <a:rPr sz="940" b="0" i="0">
                <a:solidFill>
                  <a:srgbClr val="0E9488"/>
                </a:solidFill>
                <a:latin typeface="Consolas"/>
              </a:rPr>
              <a:t>app_id</a:t>
            </a:r>
            <a:r>
              <a:rPr sz="940" b="0" i="0">
                <a:solidFill>
                  <a:srgbClr val="5B6B7F"/>
                </a:solidFill>
                <a:latin typeface="Arial"/>
              </a:rPr>
              <a:t> + </a:t>
            </a:r>
            <a:r>
              <a:rPr sz="940" b="0" i="0">
                <a:solidFill>
                  <a:srgbClr val="0E9488"/>
                </a:solidFill>
                <a:latin typeface="Consolas"/>
              </a:rPr>
              <a:t>ref_id</a:t>
            </a:r>
            <a:r>
              <a:rPr sz="940" b="0" i="0">
                <a:solidFill>
                  <a:srgbClr val="5B6B7F"/>
                </a:solidFill>
                <a:latin typeface="Arial"/>
              </a:rPr>
              <a:t> and calls the Key Manager. Key material never crosses that boundary.</a:t>
            </a:r>
          </a:p>
        </p:txBody>
      </p:sp>
      <p:sp>
        <p:nvSpPr>
          <p:cNvPr id="16" name="Rounded Rectangle 15"/>
          <p:cNvSpPr/>
          <p:nvPr/>
        </p:nvSpPr>
        <p:spPr>
          <a:xfrm>
            <a:off x="502920" y="2980944"/>
            <a:ext cx="5483199" cy="1152144"/>
          </a:xfrm>
          <a:prstGeom prst="roundRect">
            <a:avLst>
              <a:gd name="adj" fmla="val 6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980944"/>
            <a:ext cx="50292" cy="1152144"/>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04088" y="3145536"/>
            <a:ext cx="292608" cy="292608"/>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a:rPr>
              <a:t>3</a:t>
            </a:r>
          </a:p>
        </p:txBody>
      </p:sp>
      <p:sp>
        <p:nvSpPr>
          <p:cNvPr id="19" name="TextBox 18"/>
          <p:cNvSpPr txBox="1"/>
          <p:nvPr/>
        </p:nvSpPr>
        <p:spPr>
          <a:xfrm>
            <a:off x="1088136" y="3127248"/>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latin typeface="Arial"/>
              </a:rPr>
              <a:t>Nothing is ever deleted</a:t>
            </a:r>
          </a:p>
        </p:txBody>
      </p:sp>
      <p:sp>
        <p:nvSpPr>
          <p:cNvPr id="20" name="TextBox 19"/>
          <p:cNvSpPr txBox="1"/>
          <p:nvPr/>
        </p:nvSpPr>
        <p:spPr>
          <a:xfrm>
            <a:off x="1088136" y="3493008"/>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6D28D9"/>
                </a:solidFill>
                <a:latin typeface="Consolas"/>
              </a:rPr>
              <a:t>key_alias</a:t>
            </a:r>
            <a:r>
              <a:rPr sz="940" b="0" i="0">
                <a:solidFill>
                  <a:srgbClr val="5B6B7F"/>
                </a:solidFill>
                <a:latin typeface="Arial"/>
              </a:rPr>
              <a:t> and </a:t>
            </a:r>
            <a:r>
              <a:rPr sz="940" b="0" i="0">
                <a:solidFill>
                  <a:srgbClr val="6D28D9"/>
                </a:solidFill>
                <a:latin typeface="Consolas"/>
              </a:rPr>
              <a:t>key_store</a:t>
            </a:r>
            <a:r>
              <a:rPr sz="940" b="0" i="0">
                <a:solidFill>
                  <a:srgbClr val="5B6B7F"/>
                </a:solidFill>
                <a:latin typeface="Arial"/>
              </a:rPr>
              <a:t> are append-only, and </a:t>
            </a:r>
            <a:r>
              <a:rPr sz="940" b="0" i="0">
                <a:solidFill>
                  <a:srgbClr val="6D28D9"/>
                </a:solidFill>
                <a:latin typeface="Consolas"/>
              </a:rPr>
              <a:t>getAllCertificates</a:t>
            </a:r>
            <a:r>
              <a:rPr sz="940" b="0" i="0">
                <a:solidFill>
                  <a:srgbClr val="5B6B7F"/>
                </a:solidFill>
                <a:latin typeface="Arial"/>
              </a:rPr>
              <a:t> publishes the history. That is what lets a three-year-old credential still verify.</a:t>
            </a:r>
          </a:p>
        </p:txBody>
      </p:sp>
      <p:sp>
        <p:nvSpPr>
          <p:cNvPr id="21" name="Rounded Rectangle 20"/>
          <p:cNvSpPr/>
          <p:nvPr/>
        </p:nvSpPr>
        <p:spPr>
          <a:xfrm>
            <a:off x="6205575" y="2980944"/>
            <a:ext cx="5483199" cy="1152144"/>
          </a:xfrm>
          <a:prstGeom prst="roundRect">
            <a:avLst>
              <a:gd name="adj" fmla="val 6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05575" y="2980944"/>
            <a:ext cx="50292" cy="11521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406743" y="3145536"/>
            <a:ext cx="292608" cy="292608"/>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a:rPr>
              <a:t>4</a:t>
            </a:r>
          </a:p>
        </p:txBody>
      </p:sp>
      <p:sp>
        <p:nvSpPr>
          <p:cNvPr id="24" name="TextBox 23"/>
          <p:cNvSpPr txBox="1"/>
          <p:nvPr/>
        </p:nvSpPr>
        <p:spPr>
          <a:xfrm>
            <a:off x="6790791" y="3127248"/>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latin typeface="Arial"/>
              </a:rPr>
              <a:t>Rotation is lazy and overlapping</a:t>
            </a:r>
          </a:p>
        </p:txBody>
      </p:sp>
      <p:sp>
        <p:nvSpPr>
          <p:cNvPr id="25" name="TextBox 24"/>
          <p:cNvSpPr txBox="1"/>
          <p:nvPr/>
        </p:nvSpPr>
        <p:spPr>
          <a:xfrm>
            <a:off x="6790791" y="3493008"/>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B45309"/>
                </a:solidFill>
                <a:latin typeface="Consolas"/>
              </a:rPr>
              <a:t>pre_expire_days</a:t>
            </a:r>
            <a:r>
              <a:rPr sz="940" b="0" i="0">
                <a:solidFill>
                  <a:srgbClr val="5B6B7F"/>
                </a:solidFill>
                <a:latin typeface="Arial"/>
              </a:rPr>
              <a:t> takes a key out of service before it expires. The next signing request creates its successor. Publication lifetime must exceed credential lifetime.</a:t>
            </a:r>
          </a:p>
        </p:txBody>
      </p:sp>
      <p:sp>
        <p:nvSpPr>
          <p:cNvPr id="26" name="Rounded Rectangle 25"/>
          <p:cNvSpPr/>
          <p:nvPr/>
        </p:nvSpPr>
        <p:spPr>
          <a:xfrm>
            <a:off x="502920" y="4279392"/>
            <a:ext cx="5483199" cy="1152144"/>
          </a:xfrm>
          <a:prstGeom prst="roundRect">
            <a:avLst>
              <a:gd name="adj" fmla="val 6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2920" y="4279392"/>
            <a:ext cx="50292" cy="115214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04088" y="4443983"/>
            <a:ext cx="292608" cy="292608"/>
          </a:xfrm>
          <a:prstGeom prst="ellipse">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a:rPr>
              <a:t>5</a:t>
            </a:r>
          </a:p>
        </p:txBody>
      </p:sp>
      <p:sp>
        <p:nvSpPr>
          <p:cNvPr id="29" name="TextBox 28"/>
          <p:cNvSpPr txBox="1"/>
          <p:nvPr/>
        </p:nvSpPr>
        <p:spPr>
          <a:xfrm>
            <a:off x="1088136" y="4425696"/>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latin typeface="Arial"/>
              </a:rPr>
              <a:t>Revoking a key is not revoking a credential</a:t>
            </a:r>
          </a:p>
        </p:txBody>
      </p:sp>
      <p:sp>
        <p:nvSpPr>
          <p:cNvPr id="30" name="TextBox 29"/>
          <p:cNvSpPr txBox="1"/>
          <p:nvPr/>
        </p:nvSpPr>
        <p:spPr>
          <a:xfrm>
            <a:off x="1088136" y="4791456"/>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B31B1B"/>
                </a:solidFill>
                <a:latin typeface="Consolas"/>
              </a:rPr>
              <a:t>revokeKey</a:t>
            </a:r>
            <a:r>
              <a:rPr sz="940" b="0" i="0">
                <a:solidFill>
                  <a:srgbClr val="5B6B7F"/>
                </a:solidFill>
                <a:latin typeface="Arial"/>
              </a:rPr>
              <a:t> is an emergency rotation. Withdrawing one credential is a status-list bit — and the status list is itself a signed VC with its own key.</a:t>
            </a:r>
          </a:p>
        </p:txBody>
      </p:sp>
      <p:sp>
        <p:nvSpPr>
          <p:cNvPr id="31" name="Rounded Rectangle 30"/>
          <p:cNvSpPr/>
          <p:nvPr/>
        </p:nvSpPr>
        <p:spPr>
          <a:xfrm>
            <a:off x="6205575" y="4279392"/>
            <a:ext cx="5483199" cy="1152144"/>
          </a:xfrm>
          <a:prstGeom prst="roundRect">
            <a:avLst>
              <a:gd name="adj" fmla="val 6500"/>
            </a:avLst>
          </a:prstGeom>
          <a:solidFill>
            <a:srgbClr val="F3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205575" y="4279392"/>
            <a:ext cx="50292" cy="1152144"/>
          </a:xfrm>
          <a:prstGeom prst="rect">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406743" y="4443983"/>
            <a:ext cx="292608" cy="292608"/>
          </a:xfrm>
          <a:prstGeom prst="ellipse">
            <a:avLst/>
          </a:prstGeom>
          <a:solidFill>
            <a:srgbClr val="1570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050" b="1">
                <a:solidFill>
                  <a:srgbClr val="FFFFFF"/>
                </a:solidFill>
                <a:latin typeface="Arial"/>
              </a:rPr>
              <a:t>6</a:t>
            </a:r>
          </a:p>
        </p:txBody>
      </p:sp>
      <p:sp>
        <p:nvSpPr>
          <p:cNvPr id="34" name="TextBox 33"/>
          <p:cNvSpPr txBox="1"/>
          <p:nvPr/>
        </p:nvSpPr>
        <p:spPr>
          <a:xfrm>
            <a:off x="6790791" y="4425696"/>
            <a:ext cx="4696815" cy="329184"/>
          </a:xfrm>
          <a:prstGeom prst="rect">
            <a:avLst/>
          </a:prstGeom>
          <a:noFill/>
        </p:spPr>
        <p:txBody>
          <a:bodyPr wrap="square" lIns="0" rIns="0" tIns="0" bIns="0" anchor="t">
            <a:spAutoFit/>
          </a:bodyPr>
          <a:lstStyle/>
          <a:p>
            <a:pPr algn="l">
              <a:lnSpc>
                <a:spcPct val="114000"/>
              </a:lnSpc>
              <a:spcBef>
                <a:spcPts val="0"/>
              </a:spcBef>
              <a:spcAft>
                <a:spcPts val="0"/>
              </a:spcAft>
            </a:pPr>
            <a:r>
              <a:rPr sz="1150" b="1" i="0">
                <a:solidFill>
                  <a:srgbClr val="0F172A"/>
                </a:solidFill>
                <a:latin typeface="Arial"/>
              </a:rPr>
              <a:t>HSM or file decides your worst day</a:t>
            </a:r>
          </a:p>
        </p:txBody>
      </p:sp>
      <p:sp>
        <p:nvSpPr>
          <p:cNvPr id="35" name="TextBox 34"/>
          <p:cNvSpPr txBox="1"/>
          <p:nvPr/>
        </p:nvSpPr>
        <p:spPr>
          <a:xfrm>
            <a:off x="6790791" y="4791456"/>
            <a:ext cx="4696815" cy="566928"/>
          </a:xfrm>
          <a:prstGeom prst="rect">
            <a:avLst/>
          </a:prstGeom>
          <a:noFill/>
        </p:spPr>
        <p:txBody>
          <a:bodyPr wrap="square" lIns="0" rIns="0" tIns="0" bIns="0" anchor="t">
            <a:spAutoFit/>
          </a:bodyPr>
          <a:lstStyle/>
          <a:p>
            <a:pPr algn="l">
              <a:lnSpc>
                <a:spcPct val="124000"/>
              </a:lnSpc>
              <a:spcBef>
                <a:spcPts val="0"/>
              </a:spcBef>
              <a:spcAft>
                <a:spcPts val="0"/>
              </a:spcAft>
            </a:pPr>
            <a:r>
              <a:rPr sz="940" b="0" i="0">
                <a:solidFill>
                  <a:srgbClr val="5B6B7F"/>
                </a:solidFill>
                <a:latin typeface="Arial"/>
              </a:rPr>
              <a:t>HSM-held keys can be misused but not copied. File-based keys can be copied, and that is the difference between rotating and repudiating.</a:t>
            </a:r>
          </a:p>
        </p:txBody>
      </p:sp>
      <p:sp>
        <p:nvSpPr>
          <p:cNvPr id="36" name="TextBox 3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37" name="TextBox 3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20040"/>
            <a:ext cx="11185855" cy="237744"/>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CLOSE</a:t>
            </a:r>
          </a:p>
        </p:txBody>
      </p:sp>
      <p:sp>
        <p:nvSpPr>
          <p:cNvPr id="3" name="TextBox 2"/>
          <p:cNvSpPr txBox="1"/>
          <p:nvPr/>
        </p:nvSpPr>
        <p:spPr>
          <a:xfrm>
            <a:off x="502920" y="640080"/>
            <a:ext cx="11185855" cy="475488"/>
          </a:xfrm>
          <a:prstGeom prst="rect">
            <a:avLst/>
          </a:prstGeom>
          <a:noFill/>
        </p:spPr>
        <p:txBody>
          <a:bodyPr wrap="square" lIns="0" rIns="0" tIns="0" bIns="0" anchor="t">
            <a:spAutoFit/>
          </a:bodyPr>
          <a:lstStyle/>
          <a:p>
            <a:pPr algn="l">
              <a:lnSpc>
                <a:spcPct val="100000"/>
              </a:lnSpc>
              <a:spcBef>
                <a:spcPts val="0"/>
              </a:spcBef>
              <a:spcAft>
                <a:spcPts val="0"/>
              </a:spcAft>
            </a:pPr>
            <a:r>
              <a:rPr sz="2500" b="1" i="0">
                <a:solidFill>
                  <a:srgbClr val="0F172A"/>
                </a:solidFill>
                <a:latin typeface="Arial"/>
              </a:rPr>
              <a:t>What to do with this — lab, decisions, references</a:t>
            </a:r>
          </a:p>
        </p:txBody>
      </p:sp>
      <p:sp>
        <p:nvSpPr>
          <p:cNvPr id="4" name="TextBox 3"/>
          <p:cNvSpPr txBox="1"/>
          <p:nvPr/>
        </p:nvSpPr>
        <p:spPr>
          <a:xfrm>
            <a:off x="502920" y="1078992"/>
            <a:ext cx="11185855" cy="310896"/>
          </a:xfrm>
          <a:prstGeom prst="rect">
            <a:avLst/>
          </a:prstGeom>
          <a:noFill/>
        </p:spPr>
        <p:txBody>
          <a:bodyPr wrap="square" lIns="0" rIns="0" tIns="0" bIns="0" anchor="t">
            <a:spAutoFit/>
          </a:bodyPr>
          <a:lstStyle/>
          <a:p>
            <a:pPr algn="l">
              <a:lnSpc>
                <a:spcPct val="114000"/>
              </a:lnSpc>
              <a:spcBef>
                <a:spcPts val="0"/>
              </a:spcBef>
              <a:spcAft>
                <a:spcPts val="0"/>
              </a:spcAft>
            </a:pPr>
            <a:r>
              <a:rPr sz="1150" b="0" i="0">
                <a:solidFill>
                  <a:srgbClr val="5B6B7F"/>
                </a:solidFill>
                <a:latin typeface="Arial"/>
              </a:rPr>
              <a:t>Three things to try in the afternoon lab, four decisions to start, and where to read further.</a:t>
            </a:r>
          </a:p>
        </p:txBody>
      </p:sp>
      <p:cxnSp>
        <p:nvCxnSpPr>
          <p:cNvPr id="5" name="Connector 4"/>
          <p:cNvCxnSpPr/>
          <p:nvPr/>
        </p:nvCxnSpPr>
        <p:spPr>
          <a:xfrm>
            <a:off x="502920" y="1481328"/>
            <a:ext cx="11185855" cy="0"/>
          </a:xfrm>
          <a:prstGeom prst="line">
            <a:avLst/>
          </a:prstGeom>
          <a:ln w="12700">
            <a:solidFill>
              <a:srgbClr val="CBD5E1"/>
            </a:solidFill>
          </a:ln>
          <a:effectLst/>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2920" y="1682496"/>
            <a:ext cx="3566160" cy="3017520"/>
          </a:xfrm>
          <a:prstGeom prst="roundRect">
            <a:avLst>
              <a:gd name="adj" fmla="val 4500"/>
            </a:avLst>
          </a:prstGeom>
          <a:solidFill>
            <a:srgbClr val="D6F0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682496"/>
            <a:ext cx="50292" cy="3017520"/>
          </a:xfrm>
          <a:prstGeom prst="rect">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828800"/>
            <a:ext cx="318211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0E9488"/>
                </a:solidFill>
                <a:latin typeface="Arial"/>
              </a:rPr>
              <a:t>In this afternoon's lab</a:t>
            </a:r>
          </a:p>
        </p:txBody>
      </p:sp>
      <p:sp>
        <p:nvSpPr>
          <p:cNvPr id="9" name="Oval 8"/>
          <p:cNvSpPr/>
          <p:nvPr/>
        </p:nvSpPr>
        <p:spPr>
          <a:xfrm>
            <a:off x="745236" y="2122119"/>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057400"/>
            <a:ext cx="2953512" cy="737006"/>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Find the </a:t>
            </a:r>
            <a:r>
              <a:rPr sz="980" b="0" i="0">
                <a:solidFill>
                  <a:srgbClr val="1D4E89"/>
                </a:solidFill>
                <a:latin typeface="Consolas"/>
              </a:rPr>
              <a:t>key_alias</a:t>
            </a:r>
            <a:r>
              <a:rPr sz="980" b="0" i="0">
                <a:solidFill>
                  <a:srgbClr val="0F172A"/>
                </a:solidFill>
                <a:latin typeface="Arial"/>
              </a:rPr>
              <a:t> and </a:t>
            </a:r>
            <a:r>
              <a:rPr sz="980" b="0" i="0">
                <a:solidFill>
                  <a:srgbClr val="1D4E89"/>
                </a:solidFill>
                <a:latin typeface="Consolas"/>
              </a:rPr>
              <a:t>key_store</a:t>
            </a:r>
            <a:r>
              <a:rPr sz="980" b="0" i="0">
                <a:solidFill>
                  <a:srgbClr val="0F172A"/>
                </a:solidFill>
                <a:latin typeface="Arial"/>
              </a:rPr>
              <a:t> rows behind the credential you issue, and match </a:t>
            </a:r>
            <a:r>
              <a:rPr sz="980" b="0" i="0">
                <a:solidFill>
                  <a:srgbClr val="1D4E89"/>
                </a:solidFill>
                <a:latin typeface="Consolas"/>
              </a:rPr>
              <a:t>cert_thumbprint</a:t>
            </a:r>
            <a:r>
              <a:rPr sz="980" b="0" i="0">
                <a:solidFill>
                  <a:srgbClr val="0F172A"/>
                </a:solidFill>
                <a:latin typeface="Arial"/>
              </a:rPr>
              <a:t> to the </a:t>
            </a:r>
            <a:r>
              <a:rPr sz="980" b="0" i="0">
                <a:solidFill>
                  <a:srgbClr val="1D4E89"/>
                </a:solidFill>
                <a:latin typeface="Consolas"/>
              </a:rPr>
              <a:t>kid</a:t>
            </a:r>
            <a:r>
              <a:rPr sz="980" b="0" i="0">
                <a:solidFill>
                  <a:srgbClr val="0F172A"/>
                </a:solidFill>
                <a:latin typeface="Arial"/>
              </a:rPr>
              <a:t> in the credential.</a:t>
            </a:r>
          </a:p>
        </p:txBody>
      </p:sp>
      <p:sp>
        <p:nvSpPr>
          <p:cNvPr id="11" name="Oval 10"/>
          <p:cNvSpPr/>
          <p:nvPr/>
        </p:nvSpPr>
        <p:spPr>
          <a:xfrm>
            <a:off x="745236" y="2827121"/>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2762402"/>
            <a:ext cx="2953512" cy="737006"/>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Fetch </a:t>
            </a:r>
            <a:r>
              <a:rPr sz="980" b="0" i="0">
                <a:solidFill>
                  <a:srgbClr val="1D4E89"/>
                </a:solidFill>
                <a:latin typeface="Consolas"/>
              </a:rPr>
              <a:t>/.well-known/jwks.json</a:t>
            </a:r>
            <a:r>
              <a:rPr sz="980" b="0" i="0">
                <a:solidFill>
                  <a:srgbClr val="0F172A"/>
                </a:solidFill>
                <a:latin typeface="Arial"/>
              </a:rPr>
              <a:t> and </a:t>
            </a:r>
            <a:r>
              <a:rPr sz="980" b="0" i="0">
                <a:solidFill>
                  <a:srgbClr val="1D4E89"/>
                </a:solidFill>
                <a:latin typeface="Consolas"/>
              </a:rPr>
              <a:t>/.well-known/did.json</a:t>
            </a:r>
            <a:r>
              <a:rPr sz="980" b="0" i="0">
                <a:solidFill>
                  <a:srgbClr val="0F172A"/>
                </a:solidFill>
                <a:latin typeface="Arial"/>
              </a:rPr>
              <a:t> from your Certify instance and identify which key signed what.</a:t>
            </a:r>
          </a:p>
        </p:txBody>
      </p:sp>
      <p:sp>
        <p:nvSpPr>
          <p:cNvPr id="13" name="Oval 12"/>
          <p:cNvSpPr/>
          <p:nvPr/>
        </p:nvSpPr>
        <p:spPr>
          <a:xfrm>
            <a:off x="745236" y="3532124"/>
            <a:ext cx="77724" cy="77724"/>
          </a:xfrm>
          <a:prstGeom prst="ellipse">
            <a:avLst/>
          </a:prstGeom>
          <a:solidFill>
            <a:srgbClr val="0E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467404"/>
            <a:ext cx="2953512" cy="737006"/>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Call </a:t>
            </a:r>
            <a:r>
              <a:rPr sz="980" b="0" i="0">
                <a:solidFill>
                  <a:srgbClr val="1D4E89"/>
                </a:solidFill>
                <a:latin typeface="Consolas"/>
              </a:rPr>
              <a:t>PUT /revokeKey</a:t>
            </a:r>
            <a:r>
              <a:rPr sz="980" b="0" i="0">
                <a:solidFill>
                  <a:srgbClr val="0F172A"/>
                </a:solidFill>
                <a:latin typeface="Arial"/>
              </a:rPr>
              <a:t> on a throwaway alias, then issue again — watch a new key appear and confirm </a:t>
            </a:r>
            <a:r>
              <a:rPr sz="980" b="1" i="0">
                <a:solidFill>
                  <a:srgbClr val="0F172A"/>
                </a:solidFill>
                <a:latin typeface="Arial"/>
              </a:rPr>
              <a:t>the old credential still verifies</a:t>
            </a:r>
            <a:r>
              <a:rPr sz="980" b="0" i="0">
                <a:solidFill>
                  <a:srgbClr val="0F172A"/>
                </a:solidFill>
                <a:latin typeface="Arial"/>
              </a:rPr>
              <a:t>.</a:t>
            </a:r>
          </a:p>
        </p:txBody>
      </p:sp>
      <p:sp>
        <p:nvSpPr>
          <p:cNvPr id="15" name="Rounded Rectangle 14"/>
          <p:cNvSpPr/>
          <p:nvPr/>
        </p:nvSpPr>
        <p:spPr>
          <a:xfrm>
            <a:off x="4297680" y="1682496"/>
            <a:ext cx="3566160" cy="3017520"/>
          </a:xfrm>
          <a:prstGeom prst="roundRect">
            <a:avLst>
              <a:gd name="adj" fmla="val 4500"/>
            </a:avLst>
          </a:prstGeom>
          <a:solidFill>
            <a:srgbClr val="DCE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297680" y="1682496"/>
            <a:ext cx="50292" cy="3017520"/>
          </a:xfrm>
          <a:prstGeom prst="rect">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828800"/>
            <a:ext cx="3182112"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1D4E89"/>
                </a:solidFill>
                <a:latin typeface="Arial"/>
              </a:rPr>
              <a:t>Decisions to start now</a:t>
            </a:r>
          </a:p>
        </p:txBody>
      </p:sp>
      <p:sp>
        <p:nvSpPr>
          <p:cNvPr id="18" name="Oval 17"/>
          <p:cNvSpPr/>
          <p:nvPr/>
        </p:nvSpPr>
        <p:spPr>
          <a:xfrm>
            <a:off x="4539996" y="2122119"/>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27448" y="2057400"/>
            <a:ext cx="2953512" cy="423367"/>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HSM or software keystore for production — and who procures and operates it.</a:t>
            </a:r>
          </a:p>
        </p:txBody>
      </p:sp>
      <p:sp>
        <p:nvSpPr>
          <p:cNvPr id="20" name="Oval 19"/>
          <p:cNvSpPr/>
          <p:nvPr/>
        </p:nvSpPr>
        <p:spPr>
          <a:xfrm>
            <a:off x="4539996" y="2513482"/>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27448" y="2448763"/>
            <a:ext cx="2953512" cy="580186"/>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Key validity and </a:t>
            </a:r>
            <a:r>
              <a:rPr sz="980" b="0" i="0">
                <a:solidFill>
                  <a:srgbClr val="1D4E89"/>
                </a:solidFill>
                <a:latin typeface="Consolas"/>
              </a:rPr>
              <a:t>pre_expire_days</a:t>
            </a:r>
            <a:r>
              <a:rPr sz="980" b="0" i="0">
                <a:solidFill>
                  <a:srgbClr val="0F172A"/>
                </a:solidFill>
                <a:latin typeface="Arial"/>
              </a:rPr>
              <a:t> per credential type, driven by how long credentials live.</a:t>
            </a:r>
          </a:p>
        </p:txBody>
      </p:sp>
      <p:sp>
        <p:nvSpPr>
          <p:cNvPr id="22" name="Oval 21"/>
          <p:cNvSpPr/>
          <p:nvPr/>
        </p:nvSpPr>
        <p:spPr>
          <a:xfrm>
            <a:off x="4539996" y="3061665"/>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27448" y="2996946"/>
            <a:ext cx="2953512" cy="423367"/>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Self-signed ROOT or a chain to a recognised CA; which domain hosts the DID document.</a:t>
            </a:r>
          </a:p>
        </p:txBody>
      </p:sp>
      <p:sp>
        <p:nvSpPr>
          <p:cNvPr id="24" name="Oval 23"/>
          <p:cNvSpPr/>
          <p:nvPr/>
        </p:nvSpPr>
        <p:spPr>
          <a:xfrm>
            <a:off x="4539996" y="3453028"/>
            <a:ext cx="77724" cy="77724"/>
          </a:xfrm>
          <a:prstGeom prst="ellipse">
            <a:avLst/>
          </a:prstGeom>
          <a:solidFill>
            <a:srgbClr val="1D4E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27448" y="3388309"/>
            <a:ext cx="2953512" cy="423367"/>
          </a:xfrm>
          <a:prstGeom prst="rect">
            <a:avLst/>
          </a:prstGeom>
          <a:noFill/>
        </p:spPr>
        <p:txBody>
          <a:bodyPr wrap="square" lIns="0" rIns="0" tIns="0" bIns="0" anchor="t">
            <a:spAutoFit/>
          </a:bodyPr>
          <a:lstStyle/>
          <a:p>
            <a:pPr algn="l">
              <a:lnSpc>
                <a:spcPct val="124000"/>
              </a:lnSpc>
              <a:spcBef>
                <a:spcPts val="0"/>
              </a:spcBef>
              <a:spcAft>
                <a:spcPts val="0"/>
              </a:spcAft>
            </a:pPr>
            <a:r>
              <a:rPr sz="980" b="0" i="0">
                <a:solidFill>
                  <a:srgbClr val="0F172A"/>
                </a:solidFill>
                <a:latin typeface="Arial"/>
              </a:rPr>
              <a:t>Who holds revocation authority, and through which interface.</a:t>
            </a:r>
          </a:p>
        </p:txBody>
      </p:sp>
      <p:sp>
        <p:nvSpPr>
          <p:cNvPr id="26" name="Rounded Rectangle 25"/>
          <p:cNvSpPr/>
          <p:nvPr/>
        </p:nvSpPr>
        <p:spPr>
          <a:xfrm>
            <a:off x="8110728" y="1682496"/>
            <a:ext cx="3575304" cy="3017520"/>
          </a:xfrm>
          <a:prstGeom prst="roundRect">
            <a:avLst>
              <a:gd name="adj" fmla="val 4500"/>
            </a:avLst>
          </a:prstGeom>
          <a:solidFill>
            <a:srgbClr val="EE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10728" y="1682496"/>
            <a:ext cx="50292" cy="3017520"/>
          </a:xfrm>
          <a:prstGeom prst="rect">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48472" y="1828800"/>
            <a:ext cx="3191256" cy="274320"/>
          </a:xfrm>
          <a:prstGeom prst="rect">
            <a:avLst/>
          </a:prstGeom>
          <a:noFill/>
        </p:spPr>
        <p:txBody>
          <a:bodyPr wrap="square" lIns="0" rIns="0" tIns="0" bIns="0" anchor="t">
            <a:spAutoFit/>
          </a:bodyPr>
          <a:lstStyle/>
          <a:p>
            <a:pPr algn="l">
              <a:lnSpc>
                <a:spcPct val="114000"/>
              </a:lnSpc>
              <a:spcBef>
                <a:spcPts val="0"/>
              </a:spcBef>
              <a:spcAft>
                <a:spcPts val="0"/>
              </a:spcAft>
            </a:pPr>
            <a:r>
              <a:rPr sz="1200" b="1" i="0">
                <a:solidFill>
                  <a:srgbClr val="6D28D9"/>
                </a:solidFill>
                <a:latin typeface="Arial"/>
              </a:rPr>
              <a:t>Read the source, not the wiki</a:t>
            </a:r>
          </a:p>
        </p:txBody>
      </p:sp>
      <p:sp>
        <p:nvSpPr>
          <p:cNvPr id="29" name="Oval 28"/>
          <p:cNvSpPr/>
          <p:nvPr/>
        </p:nvSpPr>
        <p:spPr>
          <a:xfrm>
            <a:off x="8353044" y="2120798"/>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40496" y="2057400"/>
            <a:ext cx="2962656" cy="570585"/>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1D4E89"/>
                </a:solidFill>
                <a:latin typeface="Consolas"/>
              </a:rPr>
              <a:t>mosip/keymanager</a:t>
            </a:r>
            <a:r>
              <a:rPr sz="960" b="0" i="0">
                <a:solidFill>
                  <a:srgbClr val="0F172A"/>
                </a:solidFill>
                <a:latin typeface="Arial"/>
              </a:rPr>
              <a:t> — the service impl, the DB helper and the private-key decryptor.</a:t>
            </a:r>
          </a:p>
        </p:txBody>
      </p:sp>
      <p:sp>
        <p:nvSpPr>
          <p:cNvPr id="31" name="Oval 30"/>
          <p:cNvSpPr/>
          <p:nvPr/>
        </p:nvSpPr>
        <p:spPr>
          <a:xfrm>
            <a:off x="8353044" y="2659380"/>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40496" y="2595981"/>
            <a:ext cx="2962656" cy="416966"/>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Its </a:t>
            </a:r>
            <a:r>
              <a:rPr sz="960" b="0" i="0">
                <a:solidFill>
                  <a:srgbClr val="1D4E89"/>
                </a:solidFill>
                <a:latin typeface="Consolas"/>
              </a:rPr>
              <a:t>db_scripts</a:t>
            </a:r>
            <a:r>
              <a:rPr sz="960" b="0" i="0">
                <a:solidFill>
                  <a:srgbClr val="0F172A"/>
                </a:solidFill>
                <a:latin typeface="Arial"/>
              </a:rPr>
              <a:t> DDL — three tables, each column commented.</a:t>
            </a:r>
          </a:p>
        </p:txBody>
      </p:sp>
      <p:sp>
        <p:nvSpPr>
          <p:cNvPr id="33" name="Oval 32"/>
          <p:cNvSpPr/>
          <p:nvPr/>
        </p:nvSpPr>
        <p:spPr>
          <a:xfrm>
            <a:off x="8353044" y="3044342"/>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40496" y="2980944"/>
            <a:ext cx="2962656" cy="570585"/>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1D4E89"/>
                </a:solidFill>
                <a:latin typeface="Consolas"/>
              </a:rPr>
              <a:t>mosip/inji-certify</a:t>
            </a:r>
            <a:r>
              <a:rPr sz="960" b="0" i="0">
                <a:solidFill>
                  <a:srgbClr val="0F172A"/>
                </a:solidFill>
                <a:latin typeface="Arial"/>
              </a:rPr>
              <a:t> — the DID document util, the JWKS service, the status list service.</a:t>
            </a:r>
          </a:p>
        </p:txBody>
      </p:sp>
      <p:sp>
        <p:nvSpPr>
          <p:cNvPr id="35" name="Oval 34"/>
          <p:cNvSpPr/>
          <p:nvPr/>
        </p:nvSpPr>
        <p:spPr>
          <a:xfrm>
            <a:off x="8353044" y="3582923"/>
            <a:ext cx="77724" cy="77724"/>
          </a:xfrm>
          <a:prstGeom prst="ellipse">
            <a:avLst/>
          </a:prstGeom>
          <a:solidFill>
            <a:srgbClr val="6D28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40496" y="3519525"/>
            <a:ext cx="2962656" cy="416966"/>
          </a:xfrm>
          <a:prstGeom prst="rect">
            <a:avLst/>
          </a:prstGeom>
          <a:noFill/>
        </p:spPr>
        <p:txBody>
          <a:bodyPr wrap="square" lIns="0" rIns="0" tIns="0" bIns="0" anchor="t">
            <a:spAutoFit/>
          </a:bodyPr>
          <a:lstStyle/>
          <a:p>
            <a:pPr algn="l">
              <a:lnSpc>
                <a:spcPct val="124000"/>
              </a:lnSpc>
              <a:spcBef>
                <a:spcPts val="0"/>
              </a:spcBef>
              <a:spcAft>
                <a:spcPts val="0"/>
              </a:spcAft>
            </a:pPr>
            <a:r>
              <a:rPr sz="960" b="0" i="0">
                <a:solidFill>
                  <a:srgbClr val="0F172A"/>
                </a:solidFill>
                <a:latin typeface="Arial"/>
              </a:rPr>
              <a:t>docs.mosip.io — Key Manager module documentation.</a:t>
            </a:r>
          </a:p>
        </p:txBody>
      </p:sp>
      <p:sp>
        <p:nvSpPr>
          <p:cNvPr id="37" name="TextBox 36"/>
          <p:cNvSpPr txBox="1"/>
          <p:nvPr/>
        </p:nvSpPr>
        <p:spPr>
          <a:xfrm>
            <a:off x="502920" y="4928616"/>
            <a:ext cx="11185855" cy="256032"/>
          </a:xfrm>
          <a:prstGeom prst="rect">
            <a:avLst/>
          </a:prstGeom>
          <a:noFill/>
        </p:spPr>
        <p:txBody>
          <a:bodyPr wrap="square" lIns="0" rIns="0" tIns="0" bIns="0" anchor="t">
            <a:spAutoFit/>
          </a:bodyPr>
          <a:lstStyle/>
          <a:p>
            <a:pPr algn="l">
              <a:lnSpc>
                <a:spcPct val="114000"/>
              </a:lnSpc>
              <a:spcBef>
                <a:spcPts val="0"/>
              </a:spcBef>
              <a:spcAft>
                <a:spcPts val="0"/>
              </a:spcAft>
            </a:pPr>
            <a:r>
              <a:rPr sz="900" b="1" i="0">
                <a:solidFill>
                  <a:srgbClr val="0E9488"/>
                </a:solidFill>
                <a:latin typeface="Arial"/>
              </a:rPr>
              <a:t>PARKED QUESTIONS — TO PICK UP ON DAY 3, SECURITY HARDENING</a:t>
            </a:r>
          </a:p>
        </p:txBody>
      </p:sp>
      <p:sp>
        <p:nvSpPr>
          <p:cNvPr id="38" name="Rectangle 37"/>
          <p:cNvSpPr/>
          <p:nvPr/>
        </p:nvSpPr>
        <p:spPr>
          <a:xfrm>
            <a:off x="502920" y="5276088"/>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3816" y="5221224"/>
            <a:ext cx="2339263" cy="365760"/>
          </a:xfrm>
          <a:prstGeom prst="rect">
            <a:avLst/>
          </a:prstGeom>
          <a:noFill/>
        </p:spPr>
        <p:txBody>
          <a:bodyPr wrap="square" lIns="0" rIns="0" tIns="0" bIns="0" anchor="t">
            <a:spAutoFit/>
          </a:bodyPr>
          <a:lstStyle/>
          <a:p>
            <a:pPr algn="l">
              <a:lnSpc>
                <a:spcPct val="120000"/>
              </a:lnSpc>
              <a:spcBef>
                <a:spcPts val="0"/>
              </a:spcBef>
              <a:spcAft>
                <a:spcPts val="0"/>
              </a:spcAft>
            </a:pPr>
            <a:r>
              <a:rPr sz="980" b="0" i="0">
                <a:solidFill>
                  <a:srgbClr val="1E293B"/>
                </a:solidFill>
                <a:latin typeface="Arial"/>
              </a:rPr>
              <a:t>Rotation cadence per credential type</a:t>
            </a:r>
          </a:p>
        </p:txBody>
      </p:sp>
      <p:sp>
        <p:nvSpPr>
          <p:cNvPr id="40" name="Rectangle 39"/>
          <p:cNvSpPr/>
          <p:nvPr/>
        </p:nvSpPr>
        <p:spPr>
          <a:xfrm>
            <a:off x="3299383" y="5276088"/>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10279" y="5221224"/>
            <a:ext cx="2339263" cy="365760"/>
          </a:xfrm>
          <a:prstGeom prst="rect">
            <a:avLst/>
          </a:prstGeom>
          <a:noFill/>
        </p:spPr>
        <p:txBody>
          <a:bodyPr wrap="square" lIns="0" rIns="0" tIns="0" bIns="0" anchor="t">
            <a:spAutoFit/>
          </a:bodyPr>
          <a:lstStyle/>
          <a:p>
            <a:pPr algn="l">
              <a:lnSpc>
                <a:spcPct val="120000"/>
              </a:lnSpc>
              <a:spcBef>
                <a:spcPts val="0"/>
              </a:spcBef>
              <a:spcAft>
                <a:spcPts val="0"/>
              </a:spcAft>
            </a:pPr>
            <a:r>
              <a:rPr sz="980" b="0" i="0">
                <a:solidFill>
                  <a:srgbClr val="1E293B"/>
                </a:solidFill>
                <a:latin typeface="Arial"/>
              </a:rPr>
              <a:t>HSM procurement and key ceremony</a:t>
            </a:r>
          </a:p>
        </p:txBody>
      </p:sp>
      <p:sp>
        <p:nvSpPr>
          <p:cNvPr id="42" name="Rectangle 41"/>
          <p:cNvSpPr/>
          <p:nvPr/>
        </p:nvSpPr>
        <p:spPr>
          <a:xfrm>
            <a:off x="6095847" y="5276088"/>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6743" y="5221224"/>
            <a:ext cx="2339263" cy="365760"/>
          </a:xfrm>
          <a:prstGeom prst="rect">
            <a:avLst/>
          </a:prstGeom>
          <a:noFill/>
        </p:spPr>
        <p:txBody>
          <a:bodyPr wrap="square" lIns="0" rIns="0" tIns="0" bIns="0" anchor="t">
            <a:spAutoFit/>
          </a:bodyPr>
          <a:lstStyle/>
          <a:p>
            <a:pPr algn="l">
              <a:lnSpc>
                <a:spcPct val="120000"/>
              </a:lnSpc>
              <a:spcBef>
                <a:spcPts val="0"/>
              </a:spcBef>
              <a:spcAft>
                <a:spcPts val="0"/>
              </a:spcAft>
            </a:pPr>
            <a:r>
              <a:rPr sz="980" b="0" i="0">
                <a:solidFill>
                  <a:srgbClr val="1E293B"/>
                </a:solidFill>
                <a:latin typeface="Arial"/>
              </a:rPr>
              <a:t>CA chain and ICP-Brasil</a:t>
            </a:r>
          </a:p>
        </p:txBody>
      </p:sp>
      <p:sp>
        <p:nvSpPr>
          <p:cNvPr id="44" name="Rectangle 43"/>
          <p:cNvSpPr/>
          <p:nvPr/>
        </p:nvSpPr>
        <p:spPr>
          <a:xfrm>
            <a:off x="8892311" y="5276088"/>
            <a:ext cx="146304" cy="146304"/>
          </a:xfrm>
          <a:prstGeom prst="rect">
            <a:avLst/>
          </a:prstGeom>
          <a:noFill/>
          <a:ln w="16510">
            <a:solidFill>
              <a:srgbClr val="0E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203207" y="5221224"/>
            <a:ext cx="2339263" cy="365760"/>
          </a:xfrm>
          <a:prstGeom prst="rect">
            <a:avLst/>
          </a:prstGeom>
          <a:noFill/>
        </p:spPr>
        <p:txBody>
          <a:bodyPr wrap="square" lIns="0" rIns="0" tIns="0" bIns="0" anchor="t">
            <a:spAutoFit/>
          </a:bodyPr>
          <a:lstStyle/>
          <a:p>
            <a:pPr algn="l">
              <a:lnSpc>
                <a:spcPct val="120000"/>
              </a:lnSpc>
              <a:spcBef>
                <a:spcPts val="0"/>
              </a:spcBef>
              <a:spcAft>
                <a:spcPts val="0"/>
              </a:spcAft>
            </a:pPr>
            <a:r>
              <a:rPr sz="980" b="0" i="0">
                <a:solidFill>
                  <a:srgbClr val="1E293B"/>
                </a:solidFill>
                <a:latin typeface="Arial"/>
              </a:rPr>
              <a:t>Incident drill before go-live</a:t>
            </a:r>
          </a:p>
        </p:txBody>
      </p:sp>
      <p:sp>
        <p:nvSpPr>
          <p:cNvPr id="46" name="TextBox 45"/>
          <p:cNvSpPr txBox="1"/>
          <p:nvPr/>
        </p:nvSpPr>
        <p:spPr>
          <a:xfrm>
            <a:off x="502920" y="6419088"/>
            <a:ext cx="8229600" cy="274320"/>
          </a:xfrm>
          <a:prstGeom prst="rect">
            <a:avLst/>
          </a:prstGeom>
          <a:noFill/>
        </p:spPr>
        <p:txBody>
          <a:bodyPr wrap="square" lIns="0" rIns="0" tIns="0" bIns="0" anchor="t">
            <a:spAutoFit/>
          </a:bodyPr>
          <a:lstStyle/>
          <a:p>
            <a:pPr algn="l">
              <a:lnSpc>
                <a:spcPct val="114000"/>
              </a:lnSpc>
              <a:spcBef>
                <a:spcPts val="0"/>
              </a:spcBef>
              <a:spcAft>
                <a:spcPts val="0"/>
              </a:spcAft>
            </a:pPr>
            <a:r>
              <a:rPr sz="850" b="0" i="0">
                <a:solidFill>
                  <a:srgbClr val="94A3B8"/>
                </a:solidFill>
                <a:latin typeface="Arial"/>
              </a:rPr>
              <a:t>Key Manager — trust &amp; key management</a:t>
            </a:r>
          </a:p>
        </p:txBody>
      </p:sp>
      <p:sp>
        <p:nvSpPr>
          <p:cNvPr id="47" name="TextBox 46"/>
          <p:cNvSpPr txBox="1"/>
          <p:nvPr/>
        </p:nvSpPr>
        <p:spPr>
          <a:xfrm>
            <a:off x="10591495" y="6419088"/>
            <a:ext cx="1097280" cy="274320"/>
          </a:xfrm>
          <a:prstGeom prst="rect">
            <a:avLst/>
          </a:prstGeom>
          <a:noFill/>
        </p:spPr>
        <p:txBody>
          <a:bodyPr wrap="square" lIns="0" rIns="0" tIns="0" bIns="0" anchor="t">
            <a:spAutoFit/>
          </a:bodyPr>
          <a:lstStyle/>
          <a:p>
            <a:pPr algn="r">
              <a:lnSpc>
                <a:spcPct val="114000"/>
              </a:lnSpc>
              <a:spcBef>
                <a:spcPts val="0"/>
              </a:spcBef>
              <a:spcAft>
                <a:spcPts val="0"/>
              </a:spcAft>
            </a:pPr>
            <a:r>
              <a:rPr sz="850" b="0" i="0">
                <a:solidFill>
                  <a:srgbClr val="94A3B8"/>
                </a:solidFill>
                <a:latin typeface="Arial"/>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