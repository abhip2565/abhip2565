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88" r:id="rId53"/>
    <p:sldId id="289" r:id="rId54"/>
    <p:sldId id="287" r:id="rId52"/>
    <p:sldId id="286" r:id="rId51"/>
    <p:sldId id="271" r:id="rId22"/>
    <p:sldId id="272" r:id="rId23"/>
    <p:sldId id="273" r:id="rId24"/>
    <p:sldId id="274" r:id="rId25"/>
    <p:sldId id="275" r:id="rId26"/>
    <p:sldId id="276" r:id="rId27"/>
    <p:sldId id="283" r:id="rId48"/>
    <p:sldId id="284" r:id="rId49"/>
    <p:sldId id="277" r:id="rId28"/>
    <p:sldId id="281" r:id="rId46"/>
    <p:sldId id="282" r:id="rId47"/>
    <p:sldId id="278" r:id="rId29"/>
    <p:sldId id="285" r:id="rId50"/>
    <p:sldId id="279" r:id="rId30"/>
    <p:sldId id="280" r:id="rId31"/>
  </p:sldIdLst>
  <p:sldSz cy="5143500" cx="9144000"/>
  <p:notesSz cx="6858000" cy="9144000"/>
  <p:embeddedFontLst>
    <p:embeddedFont>
      <p:font typeface="Play"/>
      <p:regular r:id="rId32"/>
      <p:bold r:id="rId33"/>
    </p:embeddedFont>
    <p:embeddedFont>
      <p:font typeface="Montserrat SemiBold"/>
      <p:regular r:id="rId34"/>
      <p:bold r:id="rId35"/>
      <p:italic r:id="rId36"/>
      <p:boldItalic r:id="rId37"/>
    </p:embeddedFont>
    <p:embeddedFont>
      <p:font typeface="Montserrat"/>
      <p:regular r:id="rId38"/>
      <p:bold r:id="rId39"/>
      <p:italic r:id="rId40"/>
      <p:boldItalic r:id="rId41"/>
    </p:embeddedFont>
    <p:embeddedFont>
      <p:font typeface="Montserrat Medium"/>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font" Target="fonts/Play-regular.fntdata"/><Relationship Id="rId33" Type="http://schemas.openxmlformats.org/officeDocument/2006/relationships/font" Target="fonts/Play-bold.fntdata"/><Relationship Id="rId34" Type="http://schemas.openxmlformats.org/officeDocument/2006/relationships/font" Target="fonts/MontserratSemiBold-regular.fntdata"/><Relationship Id="rId35" Type="http://schemas.openxmlformats.org/officeDocument/2006/relationships/font" Target="fonts/MontserratSemiBold-bold.fntdata"/><Relationship Id="rId36" Type="http://schemas.openxmlformats.org/officeDocument/2006/relationships/font" Target="fonts/MontserratSemiBold-italic.fntdata"/><Relationship Id="rId37" Type="http://schemas.openxmlformats.org/officeDocument/2006/relationships/font" Target="fonts/MontserratSemiBold-boldItalic.fntdata"/><Relationship Id="rId38" Type="http://schemas.openxmlformats.org/officeDocument/2006/relationships/font" Target="fonts/Montserrat-regular.fntdata"/><Relationship Id="rId39" Type="http://schemas.openxmlformats.org/officeDocument/2006/relationships/font" Target="fonts/Montserrat-bold.fntdata"/><Relationship Id="rId40" Type="http://schemas.openxmlformats.org/officeDocument/2006/relationships/font" Target="fonts/Montserrat-italic.fntdata"/><Relationship Id="rId41" Type="http://schemas.openxmlformats.org/officeDocument/2006/relationships/font" Target="fonts/Montserrat-boldItalic.fntdata"/><Relationship Id="rId42" Type="http://schemas.openxmlformats.org/officeDocument/2006/relationships/font" Target="fonts/MontserratMedium-regular.fntdata"/><Relationship Id="rId43" Type="http://schemas.openxmlformats.org/officeDocument/2006/relationships/font" Target="fonts/MontserratMedium-bold.fntdata"/><Relationship Id="rId44" Type="http://schemas.openxmlformats.org/officeDocument/2006/relationships/font" Target="fonts/MontserratMedium-italic.fntdata"/><Relationship Id="rId45" Type="http://schemas.openxmlformats.org/officeDocument/2006/relationships/font" Target="fonts/MontserratMedium-boldItalic.fntdata"/><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schemas.openxmlformats.org/officeDocument/2006/relationships/slide" Target="slides/slide32.xml"/><Relationship Id="rId53" Type="http://schemas.openxmlformats.org/officeDocument/2006/relationships/slide" Target="slides/slide33.xml"/><Relationship Id="rId54"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6f969dbc0d243689_0_6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h6f969dbc0d243689_0_6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Talk about the steps like offer, issuer, grant, Token, Validation.</a:t>
            </a:r>
            <a:endParaRPr/>
          </a:p>
        </p:txBody>
      </p:sp>
      <p:sp>
        <p:nvSpPr>
          <p:cNvPr id="135" name="Google Shape;135;h6f969dbc0d243689_0_65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6f969dbc0d243689_0_6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h6f969dbc0d243689_0_6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The issuer establishes user context before the wallet receives the credential offer.</a:t>
            </a:r>
            <a:endParaRPr/>
          </a:p>
        </p:txBody>
      </p:sp>
      <p:sp>
        <p:nvSpPr>
          <p:cNvPr id="162" name="Google Shape;162;h6f969dbc0d243689_0_68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h6f969dbc0d243689_0_70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h6f969dbc0d243689_0_70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Distinguish the standard flow from the exact variants enabled in the stable Certify deployment.</a:t>
            </a:r>
            <a:endParaRPr/>
          </a:p>
        </p:txBody>
      </p:sp>
      <p:sp>
        <p:nvSpPr>
          <p:cNvPr id="186" name="Google Shape;186;h6f969dbc0d243689_0_70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6f969dbc0d243689_0_7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Seq dia</a:t>
            </a:r>
            <a:endParaRPr/>
          </a:p>
        </p:txBody>
      </p:sp>
      <p:sp>
        <p:nvSpPr>
          <p:cNvPr id="212" name="Google Shape;212;h6f969dbc0d243689_0_7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6f969dbc0d243689_0_7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h6f969dbc0d243689_0_7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Keep authentication, holder proof, and credential signature validation as separate concepts.</a:t>
            </a:r>
            <a:endParaRPr/>
          </a:p>
        </p:txBody>
      </p:sp>
      <p:sp>
        <p:nvSpPr>
          <p:cNvPr id="219" name="Google Shape;219;h6f969dbc0d243689_0_7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h6f969dbc0d243689_0_75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 setup with custom wallet</a:t>
            </a:r>
            <a:endParaRPr/>
          </a:p>
        </p:txBody>
      </p:sp>
      <p:sp>
        <p:nvSpPr>
          <p:cNvPr id="239" name="Google Shape;239;h6f969dbc0d243689_0_7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6f969dbc0d243689_0_76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h6f969dbc0d243689_0_76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The access token authorizes the credential API; it is not itself a credential.</a:t>
            </a:r>
            <a:endParaRPr/>
          </a:p>
        </p:txBody>
      </p:sp>
      <p:sp>
        <p:nvSpPr>
          <p:cNvPr id="247" name="Google Shape;247;h6f969dbc0d243689_0_76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6f969dbc0d243689_0_7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h6f969dbc0d243689_0_7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The wallet validates before storage. Final 1.0 uses credential_configuration_id and proofs; draft-13 Certify payload names may differ.</a:t>
            </a:r>
            <a:endParaRPr/>
          </a:p>
        </p:txBody>
      </p:sp>
      <p:sp>
        <p:nvSpPr>
          <p:cNvPr id="281" name="Google Shape;281;h6f969dbc0d243689_0_79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h6f969dbc0d243689_0_8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h6f969dbc0d243689_0_8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Module 7 · 40 minutes.</a:t>
            </a:r>
            <a:endParaRPr/>
          </a:p>
        </p:txBody>
      </p:sp>
      <p:sp>
        <p:nvSpPr>
          <p:cNvPr id="315" name="Google Shape;315;h6f969dbc0d243689_0_8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h6f969dbc0d243689_0_8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h6f969dbc0d243689_0_8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The app orchestrates; specialized libraries and native services keep responsibility boundaries narrow.</a:t>
            </a:r>
            <a:endParaRPr/>
          </a:p>
        </p:txBody>
      </p:sp>
      <p:sp>
        <p:nvSpPr>
          <p:cNvPr id="343" name="Google Shape;343;h6f969dbc0d243689_0_85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h6f969dbc0d243689_0_9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h6f969dbc0d243689_0_9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Do not present unreleased DPoP changes as part of v0.7.0.</a:t>
            </a:r>
            <a:endParaRPr/>
          </a:p>
        </p:txBody>
      </p:sp>
      <p:sp>
        <p:nvSpPr>
          <p:cNvPr id="406" name="Google Shape;406;h6f969dbc0d243689_0_9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h6f969dbc0d243689_0_9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h6f969dbc0d243689_0_9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Exact pipeline: JSON → optional mapper → CBOR → zlib → Base45 → QR, and reverse for decode.</a:t>
            </a:r>
            <a:endParaRPr/>
          </a:p>
        </p:txBody>
      </p:sp>
      <p:sp>
        <p:nvSpPr>
          <p:cNvPr id="428" name="Google Shape;428;h6f969dbc0d243689_0_9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h6f969dbc0d243689_0_9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h6f969dbc0d243689_0_9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The current wallet is cross-platform; avoid older Android-only architecture wording.</a:t>
            </a:r>
            <a:endParaRPr/>
          </a:p>
        </p:txBody>
      </p:sp>
      <p:sp>
        <p:nvSpPr>
          <p:cNvPr id="451" name="Google Shape;451;h6f969dbc0d243689_0_95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h6f969dbc0d243689_0_9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h6f969dbc0d243689_0_9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Current FaceMatch guidance describes local comparison; liveness is not part of the active flow.</a:t>
            </a:r>
            <a:endParaRPr/>
          </a:p>
        </p:txBody>
      </p:sp>
      <p:sp>
        <p:nvSpPr>
          <p:cNvPr id="487" name="Google Shape;487;h6f969dbc0d243689_0_99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h6f969dbc0d243689_0_10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h6f969dbc0d243689_0_10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Close with the design rule: compose the wallet; do not reimplement the stack.</a:t>
            </a:r>
            <a:endParaRPr/>
          </a:p>
        </p:txBody>
      </p:sp>
      <p:sp>
        <p:nvSpPr>
          <p:cNvPr id="516" name="Google Shape;516;h6f969dbc0d243689_0_10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h6f969dbc0d243689_0_10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h6f969dbc0d243689_0_10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h6f969dbc0d243689_0_10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h6f969dbc0d243689_0_10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Day 3 follows the VERIFY stage of the credential lifecycle.</a:t>
            </a:r>
            <a:endParaRPr/>
          </a:p>
          <a:p>
            <a:pPr indent="0" lvl="0" marL="0" rtl="0" algn="l">
              <a:spcBef>
                <a:spcPts val="0"/>
              </a:spcBef>
              <a:spcAft>
                <a:spcPts val="0"/>
              </a:spcAft>
              <a:buSzPts val="1200"/>
              <a:buNone/>
            </a:pPr>
            <a:r>
              <a:rPr lang="en" sz="1200"/>
              <a:t>Outcome: trace a transaction-bound VP from request through validation and relying-party trust policy.</a:t>
            </a:r>
            <a:endParaRPr/>
          </a:p>
        </p:txBody>
      </p:sp>
      <p:sp>
        <p:nvSpPr>
          <p:cNvPr id="545" name="Google Shape;545;h6f969dbc0d243689_0_104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h6f969dbc0d243689_0_106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h6f969dbc0d243689_0_106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Use this mental model for every route in the deck: OpenID4VP, QR scan/upload, and the optional DataShare reference path.</a:t>
            </a:r>
            <a:endParaRPr/>
          </a:p>
        </p:txBody>
      </p:sp>
      <p:sp>
        <p:nvSpPr>
          <p:cNvPr id="564" name="Google Shape;564;h6f969dbc0d243689_0_106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h6f969dbc0d243689_0_109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h6f969dbc0d243689_0_109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a:t>Openid4vp with inji library.</a:t>
            </a:r>
            <a:endParaRPr/>
          </a:p>
        </p:txBody>
      </p:sp>
      <p:sp>
        <p:nvSpPr>
          <p:cNvPr id="594" name="Google Shape;594;h6f969dbc0d243689_0_109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h6f969dbc0d243689_0_110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h6f969dbc0d243689_0_110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The request may be passed by value or referenced through request_uri, depending on implementation and version.</a:t>
            </a:r>
            <a:endParaRPr/>
          </a:p>
          <a:p>
            <a:pPr indent="0" lvl="0" marL="0" rtl="0" algn="l">
              <a:spcBef>
                <a:spcPts val="0"/>
              </a:spcBef>
              <a:spcAft>
                <a:spcPts val="0"/>
              </a:spcAft>
              <a:buSzPts val="1200"/>
              <a:buNone/>
            </a:pPr>
            <a:r>
              <a:rPr lang="en" sz="1200"/>
              <a:t>The verifier must validate the response against the original request context.</a:t>
            </a:r>
            <a:endParaRPr/>
          </a:p>
        </p:txBody>
      </p:sp>
      <p:sp>
        <p:nvSpPr>
          <p:cNvPr id="601" name="Google Shape;601;h6f969dbc0d243689_0_110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h6f969dbc0d243689_0_11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h6f969dbc0d243689_0_11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Do not silently rename fields between Draft 23 and final 1.0.</a:t>
            </a:r>
            <a:endParaRPr/>
          </a:p>
          <a:p>
            <a:pPr indent="0" lvl="0" marL="0" rtl="0" algn="l">
              <a:spcBef>
                <a:spcPts val="0"/>
              </a:spcBef>
              <a:spcAft>
                <a:spcPts val="0"/>
              </a:spcAft>
              <a:buSzPts val="1200"/>
              <a:buNone/>
            </a:pPr>
            <a:r>
              <a:rPr lang="en" sz="1200"/>
              <a:t>Current Inji main branches contain V1/DCQL work; released v0.7.x libraries remain the Draft 23 training line.</a:t>
            </a:r>
            <a:endParaRPr/>
          </a:p>
        </p:txBody>
      </p:sp>
      <p:sp>
        <p:nvSpPr>
          <p:cNvPr id="635" name="Google Shape;635;h6f969dbc0d243689_0_11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h6f969dbc0d243689_0_116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8" name="Google Shape;668;h6f969dbc0d243689_0_116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A VP can carry one or more credentials or derived disclosures, depending on format.</a:t>
            </a:r>
            <a:endParaRPr/>
          </a:p>
          <a:p>
            <a:pPr indent="0" lvl="0" marL="0" rtl="0" algn="l">
              <a:spcBef>
                <a:spcPts val="0"/>
              </a:spcBef>
              <a:spcAft>
                <a:spcPts val="0"/>
              </a:spcAft>
              <a:buSzPts val="1200"/>
              <a:buNone/>
            </a:pPr>
            <a:r>
              <a:rPr lang="en" sz="1200"/>
              <a:t>OpenID4VP 1.0 defines vp_token as the presentation response parameter.</a:t>
            </a:r>
            <a:endParaRPr/>
          </a:p>
        </p:txBody>
      </p:sp>
      <p:sp>
        <p:nvSpPr>
          <p:cNvPr id="669" name="Google Shape;669;h6f969dbc0d243689_0_116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h6f969dbc0d243689_0_120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2" name="Google Shape;702;h6f969dbc0d243689_0_12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OpenID4VP does not issue a credential and does not define the relying party's domain policy.</a:t>
            </a:r>
            <a:endParaRPr/>
          </a:p>
        </p:txBody>
      </p:sp>
      <p:sp>
        <p:nvSpPr>
          <p:cNvPr id="703" name="Google Shape;703;h6f969dbc0d243689_0_120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h6f969dbc0d243689_0_12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2" name="Google Shape;722;h6f969dbc0d243689_0_12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 sz="1200"/>
              <a:t>Standard: https://openid.net/specs/openid-4-verifiable-presentations-1_0.html</a:t>
            </a:r>
            <a:endParaRPr/>
          </a:p>
          <a:p>
            <a:pPr indent="0" lvl="0" marL="0" rtl="0" algn="l">
              <a:spcBef>
                <a:spcPts val="0"/>
              </a:spcBef>
              <a:spcAft>
                <a:spcPts val="0"/>
              </a:spcAft>
              <a:buSzPts val="1200"/>
              <a:buNone/>
            </a:pPr>
            <a:r>
              <a:rPr lang="en" sz="1200"/>
              <a:t>Released library versions were verified from local tags on 16 July 2026.</a:t>
            </a:r>
            <a:endParaRPr/>
          </a:p>
        </p:txBody>
      </p:sp>
      <p:sp>
        <p:nvSpPr>
          <p:cNvPr id="723" name="Google Shape;723;h6f969dbc0d243689_0_12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slide that makes selective disclosure click, so do not rush it. Walk the two strips top to bottom.</a:t>
            </a:r>
          </a:p>
          <a:p/>
          <a:p>
            <a:r>
              <a:t>Top strip: the credential as issued. The issuer-signed JWT, then one disclosure per selectively-disclosable claim, all joined by tilde characters. That whole string is what sits in the wallet.</a:t>
            </a:r>
          </a:p>
          <a:p/>
          <a:p>
            <a:r>
              <a:t>Bottom strip: the same credential as presented when the verifier only asked for date of birth. Four disclosures are simply absent. The wallet did not rewrite the credential, did not ask the issuer for a new one, and did not re-sign anything. It concatenated fewer segments.</a:t>
            </a:r>
          </a:p>
          <a:p/>
          <a:p>
            <a:r>
              <a:t>Then the code box. The issuer signs a payload that contains digests, not values. _sd is an array of hashes. _sd_alg names the hash. cnf names the holder key that will sign the KB-JWT later. There is no given_name field anywhere in the signed payload.</a:t>
            </a:r>
          </a:p>
          <a:p/>
          <a:p>
            <a:r>
              <a:t>The KB-JWT appended at the end of the bottom strip is the holder binding proof, and it is the subject of the binding slide later in this module.</a:t>
            </a:r>
          </a:p>
          <a:p/>
          <a:p>
            <a:r>
              <a:t>The point to land: selective disclosure costs the issuer nothing at presentation time. The issuer is offline. The holder does all the work, and the maths still holds. The next slide explains why.</a:t>
            </a:r>
          </a:p>
          <a:p/>
          <a:p>
            <a:r>
              <a:t>[6 min]</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question this slide answers is the one every verifier team asks: if the holder can delete parts of the credential, how is that not tampering?</a:t>
            </a:r>
          </a:p>
          <a:p/>
          <a:p>
            <a:r>
              <a:t>Because the digests live inside the issuer's signature. The issuer signed an array of hashes. Removing a disclosure removes a preimage; it does not touch the array. The signature still verifies. Adding a claim means presenting a disclosure whose hash is not in the array, and the verifier rejects it.</a:t>
            </a:r>
          </a:p>
          <a:p/>
          <a:p>
            <a:r>
              <a:t>So the trust boundary is: the issuer vouches for the set of possible claims. The holder chooses a subset. The verifier can prove the subset is authentic but learns nothing about what was withheld beyond the count of unmatched digests.</a:t>
            </a:r>
          </a:p>
          <a:p/>
          <a:p>
            <a:r>
              <a:t>Say that last part plainly, because it is the honest limitation: the verifier does see how many claims exist, since _sd has a fixed length. It does not see what they are. If even the count is sensitive, decoy digests are the spec's answer.</a:t>
            </a:r>
          </a:p>
          <a:p/>
          <a:p>
            <a:r>
              <a:t>The integration note is the practically important one and it is verified in the released code. The Inji library builds the KB-JWT and assembles the final token, but it hands back whatever SD-JWT string you gave it. If the wallet passes the full credential, the holder discloses everything while believing selective disclosure happened. Whoever writes the wallet owns that filtering step.</a:t>
            </a:r>
          </a:p>
          <a:p/>
          <a:p>
            <a:r>
              <a:t>[6 min]</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mechanics people expect to differ mostly do not, and that is the headline. Say it first: same-device and cross-device differ only in how the authorization request reaches the wallet. Everything after that is the same protocol.</a:t>
            </a:r>
          </a:p>
          <a:p/>
          <a:p>
            <a:r>
              <a:t>Same-device: the verifier's web page invokes a custom scheme or an app link. The OS routes it to the wallet. Cross-device: the verifier paints a QR and the wallet's camera reads it. In both cases the wallet ends up holding an authorization request.</a:t>
            </a:r>
          </a:p>
          <a:p/>
          <a:p>
            <a:r>
              <a:t>Now the part that surprises people. In neither flow does the response go back the way the request came. It is POSTed to response_uri. Even same-device, where a redirect back to the browser looks natural, the vp_token does not travel through the browser. direct_post exists precisely so the presentation never touches the user agent.</a:t>
            </a:r>
          </a:p>
          <a:p/>
          <a:p>
            <a:r>
              <a:t>That is why state matters so much. The verifier's front end has no idea the presentation happened; it correlates through state and then polls or gets pushed the result.</a:t>
            </a:r>
          </a:p>
          <a:p/>
          <a:p>
            <a:r>
              <a:t>For Brazil-style deployments the practical question is which one to build first. Cross-device is usually the safer default: it works when the credential holder and the relying party are not on the same machine, which is most counter and kiosk scenarios. Same-device needs app-link registration and per-platform testing.</a:t>
            </a:r>
          </a:p>
          <a:p/>
          <a:p>
            <a:r>
              <a:t>[6 min]</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Reference slide. Do not read it aloud. Put it up, give the room twenty seconds, then point at four things.</a:t>
            </a:r>
          </a:p>
          <a:p/>
          <a:p>
            <a:r>
              <a:t>One: client_id and client_id_scheme travel together. The scheme tells the wallet how to authenticate the verifier's identity — resolve a DID, match a redirect URI, or look it up in a pre-registered list. Inji's released library supports exactly those three.</a:t>
            </a:r>
          </a:p>
          <a:p/>
          <a:p>
            <a:r>
              <a:t>Two: response_mode is direct_post, so response_uri is where the answer goes. There is no redirect carrying the vp_token.</a:t>
            </a:r>
          </a:p>
          <a:p/>
          <a:p>
            <a:r>
              <a:t>Three: the presentation_definition asks for one field. Look at the response: the vp_token carries the issuer JWT, exactly one disclosure, and the KB-JWT. That is selective disclosure, visible on the wire.</a:t>
            </a:r>
          </a:p>
          <a:p/>
          <a:p>
            <a:r>
              <a:t>Four: presentation_submission is the map from the request's input_descriptor ids to where each credential landed in the vp_token. When there is one credential the path is just dollar-sign. With several it becomes an array index, and getting that wrong is the single most common integration bug in this protocol.</a:t>
            </a:r>
          </a:p>
          <a:p/>
          <a:p>
            <a:r>
              <a:t>Flag the draft difference: this is the Presentation Exchange shape that the released Inji libraries implement. OpenID4VP 1.0 replaces presentation_definition with dcql_query and drops descriptor_map. Same idea, different field names.</a:t>
            </a:r>
          </a:p>
          <a:p/>
          <a:p>
            <a:r>
              <a:t>[7 min]</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Module 6 showed binding at issuance. This is the other half, and without it the first half proves nothing.</a:t>
            </a:r>
          </a:p>
          <a:p/>
          <a:p>
            <a:r>
              <a:t>Work the table by column, not by row. The middle column is what the wallet produces. The right column is where the verifier finds the key to check it against — and in every format that key came from inside the issuer's signature. That is the whole trick. The issuer says 'this credential belongs to key K'. The holder proves control of K, right now, against this verifier's nonce.</a:t>
            </a:r>
          </a:p>
          <a:p/>
          <a:p>
            <a:r>
              <a:t>For ldp_vc the proof carries challenge and domain. Challenge is the nonce, domain is the client id. Inji's Proof class sets proofPurpose to authentication.</a:t>
            </a:r>
          </a:p>
          <a:p/>
          <a:p>
            <a:r>
              <a:t>For SD-JWT it is the KB-JWT, and note sd_hash: it is a hash over the exact presented credential string, so the binding covers which disclosures were sent. You cannot lift a KB-JWT onto a different subset.</a:t>
            </a:r>
          </a:p>
          <a:p/>
          <a:p>
            <a:r>
              <a:t>For mdoc the session transcript hashes the client id, the response uri and the nonce together, which binds the presentation to the channel as well as the moment.</a:t>
            </a:r>
          </a:p>
          <a:p/>
          <a:p>
            <a:r>
              <a:t>Then the four-box chain at the bottom. That is the non-repudiation argument in one line: same key at both ends, so the presenter is demonstrably the subject the issuer bound the credential to. Without presentation-time binding, a stolen credential file would be enough.</a:t>
            </a:r>
          </a:p>
          <a:p/>
          <a:p>
            <a:r>
              <a:t>Close on the red caveat. It is verified in the released library and it will bite during interop if the other side emits cnf with an embedded jwk.</a:t>
            </a:r>
          </a:p>
          <a:p/>
          <a:p>
            <a:r>
              <a:t>[7 min]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is where the security architecture and the user experience collide, so present it as a trade-off rather than a feature.</a:t>
            </a:r>
          </a:p>
          <a:p/>
          <a:p>
            <a:r>
              <a:t>Walk the five steps. Step two is the one that matters: before anything is written out, the wallet nulls the private key, the public key and the wallet binding response on every credential. That is a named function in the codebase.</a:t>
            </a:r>
          </a:p>
          <a:p/>
          <a:p>
            <a:r>
              <a:t>Why? Because the binding key lives in the platform keystore and is non-exportable. That is the guarantee the secure-storage slide makes. A backup that could extract it would break exactly the property the whole design rests on.</a:t>
            </a:r>
          </a:p>
          <a:p/>
          <a:p>
            <a:r>
              <a:t>So state the consequence plainly, because users will meet it: restore gives you your credentials back, but they arrive unbound. They will display. They cannot be presented until the holder re-binds on the new device, which means going back to the issuer for a fresh binding.</a:t>
            </a:r>
          </a:p>
          <a:p/>
          <a:p>
            <a:r>
              <a:t>That has real programme consequences. If a citizen loses a phone, restore alone does not put them back in business. Whatever re-binding path exists has to be as available as issuance was, and it needs to be in the support script.</a:t>
            </a:r>
          </a:p>
          <a:p/>
          <a:p>
            <a:r>
              <a:t>Also note where the backup goes: the user's own Drive or iCloud account, not programme infrastructure. That is good for data minimisation and it means the programme cannot restore on a user's behalf.</a:t>
            </a:r>
          </a:p>
          <a:p/>
          <a:p>
            <a:r>
              <a:t>[6 min]</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slide exists to prevent a specific confusion. Three different things arrive at the wallet as a QR code, and teams routinely assume they are one feature.</a:t>
            </a:r>
          </a:p>
          <a:p/>
          <a:p>
            <a:r>
              <a:t>Walk the table. The wallet literally branches on the prefix — there is a guard for each of these three in the scan state machine. OPENID4VP://connect means Bluetooth. openid4vp://authorize means online presentation. A URL carrying a linkCode parameter means QR login.</a:t>
            </a:r>
          </a:p>
          <a:p/>
          <a:p>
            <a:r>
              <a:t>The third is not OpenID4VP at all. It is eSignet's linked-authorization API: link-transaction, then authenticate, then consent. The wallet is standing in for a password. The website gets its tokens from eSignet in the normal OIDC way.</a:t>
            </a:r>
          </a:p>
          <a:p/>
          <a:p>
            <a:r>
              <a:t>Make the distinction concrete: in QR login the relying party learns who you are because an identity provider vouches for you. In OpenID4VP the relying party learns a claim because an issuer vouched for it and you proved you hold it. Different trust model, different failure modes, different governance.</a:t>
            </a:r>
          </a:p>
          <a:p/>
          <a:p>
            <a:r>
              <a:t>There is also a same-device variant of this flow via deep link, so the wallet has a separate guard for QR-login-via-deep-link. Same protocol, no camera.</a:t>
            </a:r>
          </a:p>
          <a:p/>
          <a:p>
            <a:r>
              <a:t>Practical note for the room: if your programme only needs web login, you do not need credentials at all. Ask the question early, because it changes the scope enormously.</a:t>
            </a:r>
          </a:p>
          <a:p/>
          <a:p>
            <a:r>
              <a:t>[5 min]</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Rendering looks cosmetic and is not. It is the only part of the credential the citizen actually sees, and it is issuer-controlled.</a:t>
            </a:r>
          </a:p>
          <a:p/>
          <a:p>
            <a:r>
              <a:t>The credential carries a renderMethod block pointing at an SVG template on the issuer's server, plus a digest of that template. The wallet fetches the SVG, hashes it, compares against digestMultibase, and refuses to render on a mismatch. So the issuer can change the design without shipping a wallet update, but cannot have the template swapped underneath them.</a:t>
            </a:r>
          </a:p>
          <a:p/>
          <a:p>
            <a:r>
              <a:t>Placeholders are JSON Pointers, not arbitrary expressions. Double brace, slash-separated path into the credential JSON. There is one special placeholder for the QR image, which the renderer generates from the credential and substitutes as a base64 PNG data URI, with a fallback image if generation fails.</a:t>
            </a:r>
          </a:p>
          <a:p/>
          <a:p>
            <a:r>
              <a:t>Two things to raise with whoever owns the issuer side. First, the template URL has to stay up as long as credentials referencing it are in circulation, and it has to be reachable from consumer networks. Second, changing the template means changing the digest, which means credentials already issued will fail the check — so template versioning is an issuance-time decision, not a design-time one.</a:t>
            </a:r>
          </a:p>
          <a:p/>
          <a:p>
            <a:r>
              <a:t>The offline point in the callout is the one to insist on. Cache the rendered output or at least the template when the credential is issued. Testing on office wifi will not surface this.</a:t>
            </a:r>
          </a:p>
          <a:p/>
          <a:p>
            <a:r>
              <a:t>[5 min]</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Offline sharing is the feature that sells the wallet in low-connectivity contexts, so be precise about what actually works today.</a:t>
            </a:r>
          </a:p>
          <a:p/>
          <a:p>
            <a:r>
              <a:t>The bootstrap is the interesting part. Bluetooth Low Energy has no trust model of its own, so the QR code does that job. The verifier advertises and encodes its name and public key into a connect URI. The wallet scans, extracts the key, and establishes an encrypted channel. The QR is functioning as the out-of-band channel that makes the pairing trustworthy.</a:t>
            </a:r>
          </a:p>
          <a:p/>
          <a:p>
            <a:r>
              <a:t>Then the transport reality. A BLE characteristic write is capped around 512 bytes, so a credential has to be split. Tuvali encrypts and compresses first, tells the receiver the resulting size, then streams chunks. The receiver reports which sequence numbers are missing or corrupt and the sender replays just those. That repair loop is why this works at all across a crowded room.</a:t>
            </a:r>
          </a:p>
          <a:p/>
          <a:p>
            <a:r>
              <a:t>Now the honest scoping, and do not soften it. The library's own README says it is under active development with no major version released and non-backward-compatible changes expected. And the implementation notes state that although the specification covers both request and response, the current version only transfers a credential from central to peripheral.</a:t>
            </a:r>
          </a:p>
          <a:p/>
          <a:p>
            <a:r>
              <a:t>So if your use case is a verifier handing a request to a wallet offline and receiving a signed presentation back, that is not what ships today. Plan accordingly, and raise it upstream if it is on your critical path.</a:t>
            </a:r>
          </a:p>
          <a:p/>
          <a:p>
            <a:r>
              <a:t>[5 min]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71" name="Google Shape;71;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300" cy="3655200"/>
          </a:xfrm>
          <a:prstGeom prst="rect">
            <a:avLst/>
          </a:prstGeom>
          <a:noFill/>
          <a:ln>
            <a:noFill/>
          </a:ln>
        </p:spPr>
      </p:sp>
      <p:sp>
        <p:nvSpPr>
          <p:cNvPr id="109" name="Google Shape;109;p22"/>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409acb7dc99_6_0)">
  <p:cSld name="Generated (g409acb7dc99_6_0)">
    <p:spTree>
      <p:nvGrpSpPr>
        <p:cNvPr id="125" name="Shape 1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757575"/>
                </a:solidFill>
                <a:latin typeface="Arial"/>
                <a:ea typeface="Arial"/>
                <a:cs typeface="Arial"/>
                <a:sym typeface="Arial"/>
              </a:defRPr>
            </a:lvl1pPr>
            <a:lvl2pPr indent="0" lvl="1" marL="0" marR="0" algn="r">
              <a:spcBef>
                <a:spcPts val="0"/>
              </a:spcBef>
              <a:buNone/>
              <a:defRPr b="0" i="0" sz="900" u="none" cap="none" strike="noStrike">
                <a:solidFill>
                  <a:srgbClr val="757575"/>
                </a:solidFill>
                <a:latin typeface="Arial"/>
                <a:ea typeface="Arial"/>
                <a:cs typeface="Arial"/>
                <a:sym typeface="Arial"/>
              </a:defRPr>
            </a:lvl2pPr>
            <a:lvl3pPr indent="0" lvl="2" marL="0" marR="0" algn="r">
              <a:spcBef>
                <a:spcPts val="0"/>
              </a:spcBef>
              <a:buNone/>
              <a:defRPr b="0" i="0" sz="900" u="none" cap="none" strike="noStrike">
                <a:solidFill>
                  <a:srgbClr val="757575"/>
                </a:solidFill>
                <a:latin typeface="Arial"/>
                <a:ea typeface="Arial"/>
                <a:cs typeface="Arial"/>
                <a:sym typeface="Arial"/>
              </a:defRPr>
            </a:lvl3pPr>
            <a:lvl4pPr indent="0" lvl="3" marL="0" marR="0" algn="r">
              <a:spcBef>
                <a:spcPts val="0"/>
              </a:spcBef>
              <a:buNone/>
              <a:defRPr b="0" i="0" sz="900" u="none" cap="none" strike="noStrike">
                <a:solidFill>
                  <a:srgbClr val="757575"/>
                </a:solidFill>
                <a:latin typeface="Arial"/>
                <a:ea typeface="Arial"/>
                <a:cs typeface="Arial"/>
                <a:sym typeface="Arial"/>
              </a:defRPr>
            </a:lvl4pPr>
            <a:lvl5pPr indent="0" lvl="4" marL="0" marR="0" algn="r">
              <a:spcBef>
                <a:spcPts val="0"/>
              </a:spcBef>
              <a:buNone/>
              <a:defRPr b="0" i="0" sz="900" u="none" cap="none" strike="noStrike">
                <a:solidFill>
                  <a:srgbClr val="757575"/>
                </a:solidFill>
                <a:latin typeface="Arial"/>
                <a:ea typeface="Arial"/>
                <a:cs typeface="Arial"/>
                <a:sym typeface="Arial"/>
              </a:defRPr>
            </a:lvl5pPr>
            <a:lvl6pPr indent="0" lvl="5" marL="0" marR="0" algn="r">
              <a:spcBef>
                <a:spcPts val="0"/>
              </a:spcBef>
              <a:buNone/>
              <a:defRPr b="0" i="0" sz="900" u="none" cap="none" strike="noStrike">
                <a:solidFill>
                  <a:srgbClr val="757575"/>
                </a:solidFill>
                <a:latin typeface="Arial"/>
                <a:ea typeface="Arial"/>
                <a:cs typeface="Arial"/>
                <a:sym typeface="Arial"/>
              </a:defRPr>
            </a:lvl6pPr>
            <a:lvl7pPr indent="0" lvl="6" marL="0" marR="0" algn="r">
              <a:spcBef>
                <a:spcPts val="0"/>
              </a:spcBef>
              <a:buNone/>
              <a:defRPr b="0" i="0" sz="900" u="none" cap="none" strike="noStrike">
                <a:solidFill>
                  <a:srgbClr val="757575"/>
                </a:solidFill>
                <a:latin typeface="Arial"/>
                <a:ea typeface="Arial"/>
                <a:cs typeface="Arial"/>
                <a:sym typeface="Arial"/>
              </a:defRPr>
            </a:lvl7pPr>
            <a:lvl8pPr indent="0" lvl="7" marL="0" marR="0" algn="r">
              <a:spcBef>
                <a:spcPts val="0"/>
              </a:spcBef>
              <a:buNone/>
              <a:defRPr b="0" i="0" sz="900" u="none" cap="none" strike="noStrike">
                <a:solidFill>
                  <a:srgbClr val="757575"/>
                </a:solidFill>
                <a:latin typeface="Arial"/>
                <a:ea typeface="Arial"/>
                <a:cs typeface="Arial"/>
                <a:sym typeface="Arial"/>
              </a:defRPr>
            </a:lvl8pPr>
            <a:lvl9pPr indent="0" lvl="8" marL="0" marR="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18.png"/><Relationship Id="rId7" Type="http://schemas.openxmlformats.org/officeDocument/2006/relationships/image" Target="../media/image17.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7.png"/><Relationship Id="rId6" Type="http://schemas.openxmlformats.org/officeDocument/2006/relationships/image" Target="../media/image29.png"/><Relationship Id="rId7"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37.png"/><Relationship Id="rId6" Type="http://schemas.openxmlformats.org/officeDocument/2006/relationships/image" Target="../media/image5.png"/><Relationship Id="rId7" Type="http://schemas.openxmlformats.org/officeDocument/2006/relationships/image" Target="../media/image35.png"/><Relationship Id="rId8" Type="http://schemas.openxmlformats.org/officeDocument/2006/relationships/image" Target="../media/image38.png"/><Relationship Id="rId9" Type="http://schemas.openxmlformats.org/officeDocument/2006/relationships/image" Target="../media/image36.png"/><Relationship Id="rId10"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0.png"/><Relationship Id="rId6"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31" name="Google Shape;131;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7"/>
          <p:cNvPicPr preferRelativeResize="0"/>
          <p:nvPr/>
        </p:nvPicPr>
        <p:blipFill rotWithShape="1">
          <a:blip r:embed="rId3">
            <a:alphaModFix/>
          </a:blip>
          <a:srcRect b="0" l="0" r="0" t="0"/>
          <a:stretch/>
        </p:blipFill>
        <p:spPr>
          <a:xfrm>
            <a:off x="0" y="0"/>
            <a:ext cx="9147362" cy="5144475"/>
          </a:xfrm>
          <a:prstGeom prst="rect">
            <a:avLst/>
          </a:prstGeom>
          <a:noFill/>
          <a:ln>
            <a:noFill/>
          </a:ln>
        </p:spPr>
      </p:pic>
      <p:sp>
        <p:nvSpPr>
          <p:cNvPr id="138" name="Google Shape;138;p27"/>
          <p:cNvSpPr/>
          <p:nvPr/>
        </p:nvSpPr>
        <p:spPr>
          <a:xfrm>
            <a:off x="566738" y="3471863"/>
            <a:ext cx="8010600" cy="1057200"/>
          </a:xfrm>
          <a:prstGeom prst="roundRect">
            <a:avLst>
              <a:gd fmla="val 16667" name="adj"/>
            </a:avLst>
          </a:prstGeom>
          <a:solidFill>
            <a:srgbClr val="8C2D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27"/>
          <p:cNvSpPr/>
          <p:nvPr/>
        </p:nvSpPr>
        <p:spPr>
          <a:xfrm>
            <a:off x="5491163" y="1376363"/>
            <a:ext cx="1438200" cy="1819200"/>
          </a:xfrm>
          <a:prstGeom prst="roundRect">
            <a:avLst>
              <a:gd fmla="val 16667" name="adj"/>
            </a:avLst>
          </a:prstGeom>
          <a:solidFill>
            <a:srgbClr val="E5E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27"/>
          <p:cNvSpPr/>
          <p:nvPr/>
        </p:nvSpPr>
        <p:spPr>
          <a:xfrm>
            <a:off x="3852863" y="1376363"/>
            <a:ext cx="1438200" cy="1819200"/>
          </a:xfrm>
          <a:prstGeom prst="roundRect">
            <a:avLst>
              <a:gd fmla="val 16667" name="adj"/>
            </a:avLst>
          </a:prstGeom>
          <a:solidFill>
            <a:srgbClr val="6B71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7"/>
          <p:cNvSpPr/>
          <p:nvPr/>
        </p:nvSpPr>
        <p:spPr>
          <a:xfrm>
            <a:off x="2205038" y="1376363"/>
            <a:ext cx="1438200" cy="1819200"/>
          </a:xfrm>
          <a:prstGeom prst="roundRect">
            <a:avLst>
              <a:gd fmla="val 16667" name="adj"/>
            </a:avLst>
          </a:prstGeom>
          <a:solidFill>
            <a:srgbClr val="8C2D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7"/>
          <p:cNvSpPr/>
          <p:nvPr/>
        </p:nvSpPr>
        <p:spPr>
          <a:xfrm>
            <a:off x="566738" y="1376363"/>
            <a:ext cx="1438200" cy="18192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7"/>
          <p:cNvSpPr/>
          <p:nvPr/>
        </p:nvSpPr>
        <p:spPr>
          <a:xfrm>
            <a:off x="7138988" y="1376363"/>
            <a:ext cx="1438200" cy="18192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4" name="Google Shape;144;p27"/>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sp>
        <p:nvSpPr>
          <p:cNvPr id="145" name="Google Shape;145;p27"/>
          <p:cNvSpPr/>
          <p:nvPr/>
        </p:nvSpPr>
        <p:spPr>
          <a:xfrm>
            <a:off x="571500" y="381000"/>
            <a:ext cx="800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2 · MODULE 6 · OPENID4VCI</a:t>
            </a:r>
            <a:endParaRPr/>
          </a:p>
        </p:txBody>
      </p:sp>
      <p:sp>
        <p:nvSpPr>
          <p:cNvPr id="146" name="Google Shape;146;p27"/>
          <p:cNvSpPr/>
          <p:nvPr/>
        </p:nvSpPr>
        <p:spPr>
          <a:xfrm>
            <a:off x="571500" y="66675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60"/>
              <a:buFont typeface="Montserrat"/>
              <a:buNone/>
            </a:pPr>
            <a:r>
              <a:rPr b="1" i="1" lang="en" sz="2960">
                <a:solidFill>
                  <a:srgbClr val="FFFFFF"/>
                </a:solidFill>
                <a:latin typeface="Montserrat"/>
                <a:ea typeface="Montserrat"/>
                <a:cs typeface="Montserrat"/>
                <a:sym typeface="Montserrat"/>
              </a:rPr>
              <a:t>Openid4VCI is a multi-step protocol</a:t>
            </a:r>
            <a:endParaRPr/>
          </a:p>
        </p:txBody>
      </p:sp>
      <p:pic>
        <p:nvPicPr>
          <p:cNvPr id="147" name="Google Shape;147;p27"/>
          <p:cNvPicPr preferRelativeResize="0"/>
          <p:nvPr/>
        </p:nvPicPr>
        <p:blipFill rotWithShape="1">
          <a:blip r:embed="rId5">
            <a:alphaModFix/>
          </a:blip>
          <a:srcRect b="0" l="0" r="0" t="0"/>
          <a:stretch/>
        </p:blipFill>
        <p:spPr>
          <a:xfrm>
            <a:off x="2047875" y="2219325"/>
            <a:ext cx="81000" cy="133500"/>
          </a:xfrm>
          <a:prstGeom prst="rect">
            <a:avLst/>
          </a:prstGeom>
          <a:noFill/>
          <a:ln>
            <a:noFill/>
          </a:ln>
        </p:spPr>
      </p:pic>
      <p:pic>
        <p:nvPicPr>
          <p:cNvPr id="148" name="Google Shape;148;p27"/>
          <p:cNvPicPr preferRelativeResize="0"/>
          <p:nvPr/>
        </p:nvPicPr>
        <p:blipFill rotWithShape="1">
          <a:blip r:embed="rId5">
            <a:alphaModFix/>
          </a:blip>
          <a:srcRect b="0" l="0" r="0" t="0"/>
          <a:stretch/>
        </p:blipFill>
        <p:spPr>
          <a:xfrm>
            <a:off x="3695700" y="2219325"/>
            <a:ext cx="81000" cy="133500"/>
          </a:xfrm>
          <a:prstGeom prst="rect">
            <a:avLst/>
          </a:prstGeom>
          <a:noFill/>
          <a:ln>
            <a:noFill/>
          </a:ln>
        </p:spPr>
      </p:pic>
      <p:pic>
        <p:nvPicPr>
          <p:cNvPr id="149" name="Google Shape;149;p27"/>
          <p:cNvPicPr preferRelativeResize="0"/>
          <p:nvPr/>
        </p:nvPicPr>
        <p:blipFill rotWithShape="1">
          <a:blip r:embed="rId5">
            <a:alphaModFix/>
          </a:blip>
          <a:srcRect b="0" l="0" r="0" t="0"/>
          <a:stretch/>
        </p:blipFill>
        <p:spPr>
          <a:xfrm>
            <a:off x="5334000" y="2219325"/>
            <a:ext cx="81000" cy="133500"/>
          </a:xfrm>
          <a:prstGeom prst="rect">
            <a:avLst/>
          </a:prstGeom>
          <a:noFill/>
          <a:ln>
            <a:noFill/>
          </a:ln>
        </p:spPr>
      </p:pic>
      <p:pic>
        <p:nvPicPr>
          <p:cNvPr id="150" name="Google Shape;150;p27"/>
          <p:cNvPicPr preferRelativeResize="0"/>
          <p:nvPr/>
        </p:nvPicPr>
        <p:blipFill rotWithShape="1">
          <a:blip r:embed="rId5">
            <a:alphaModFix/>
          </a:blip>
          <a:srcRect b="0" l="0" r="0" t="0"/>
          <a:stretch/>
        </p:blipFill>
        <p:spPr>
          <a:xfrm>
            <a:off x="6981825" y="2219325"/>
            <a:ext cx="81000" cy="133500"/>
          </a:xfrm>
          <a:prstGeom prst="rect">
            <a:avLst/>
          </a:prstGeom>
          <a:noFill/>
          <a:ln>
            <a:noFill/>
          </a:ln>
        </p:spPr>
      </p:pic>
      <p:sp>
        <p:nvSpPr>
          <p:cNvPr id="151" name="Google Shape;151;p27"/>
          <p:cNvSpPr/>
          <p:nvPr/>
        </p:nvSpPr>
        <p:spPr>
          <a:xfrm>
            <a:off x="723900"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362D"/>
              </a:buClr>
              <a:buSzPts val="900"/>
              <a:buFont typeface="Montserrat"/>
              <a:buNone/>
            </a:pPr>
            <a:r>
              <a:rPr b="1" lang="en" sz="900">
                <a:solidFill>
                  <a:srgbClr val="F1752F"/>
                </a:solidFill>
                <a:latin typeface="Montserrat"/>
                <a:ea typeface="Montserrat"/>
                <a:cs typeface="Montserrat"/>
                <a:sym typeface="Montserrat"/>
              </a:rPr>
              <a:t>01 / INITIATE</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Offer or select</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Credential</a:t>
            </a:r>
            <a:endParaRPr/>
          </a:p>
        </p:txBody>
      </p:sp>
      <p:sp>
        <p:nvSpPr>
          <p:cNvPr id="152" name="Google Shape;152;p27"/>
          <p:cNvSpPr/>
          <p:nvPr/>
        </p:nvSpPr>
        <p:spPr>
          <a:xfrm>
            <a:off x="2362200"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63156"/>
              </a:buClr>
              <a:buSzPts val="900"/>
              <a:buFont typeface="Montserrat"/>
              <a:buNone/>
            </a:pPr>
            <a:r>
              <a:rPr b="1" lang="en" sz="900">
                <a:solidFill>
                  <a:srgbClr val="F1752F"/>
                </a:solidFill>
                <a:latin typeface="Montserrat"/>
                <a:ea typeface="Montserrat"/>
                <a:cs typeface="Montserrat"/>
                <a:sym typeface="Montserrat"/>
              </a:rPr>
              <a:t>02 / DISCOVER</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Issuer + AS</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Metadata</a:t>
            </a:r>
            <a:endParaRPr/>
          </a:p>
        </p:txBody>
      </p:sp>
      <p:sp>
        <p:nvSpPr>
          <p:cNvPr id="153" name="Google Shape;153;p27"/>
          <p:cNvSpPr/>
          <p:nvPr/>
        </p:nvSpPr>
        <p:spPr>
          <a:xfrm>
            <a:off x="4010025"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2D80"/>
              </a:buClr>
              <a:buSzPts val="900"/>
              <a:buFont typeface="Montserrat"/>
              <a:buNone/>
            </a:pPr>
            <a:r>
              <a:rPr b="1" lang="en" sz="900">
                <a:solidFill>
                  <a:srgbClr val="F1752F"/>
                </a:solidFill>
                <a:latin typeface="Montserrat"/>
                <a:ea typeface="Montserrat"/>
                <a:cs typeface="Montserrat"/>
                <a:sym typeface="Montserrat"/>
              </a:rPr>
              <a:t>03 / AUTHORIZE</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Grant path</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Pre-auth or code</a:t>
            </a:r>
            <a:endParaRPr/>
          </a:p>
        </p:txBody>
      </p:sp>
      <p:sp>
        <p:nvSpPr>
          <p:cNvPr id="154" name="Google Shape;154;p27"/>
          <p:cNvSpPr/>
          <p:nvPr/>
        </p:nvSpPr>
        <p:spPr>
          <a:xfrm>
            <a:off x="5648325"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62DB0"/>
              </a:buClr>
              <a:buSzPts val="900"/>
              <a:buFont typeface="Montserrat"/>
              <a:buNone/>
            </a:pPr>
            <a:r>
              <a:rPr b="1" lang="en" sz="900">
                <a:solidFill>
                  <a:srgbClr val="F1752F"/>
                </a:solidFill>
                <a:latin typeface="Montserrat"/>
                <a:ea typeface="Montserrat"/>
                <a:cs typeface="Montserrat"/>
                <a:sym typeface="Montserrat"/>
              </a:rPr>
              <a:t>04 / ACCESS</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1D1E3A"/>
                </a:solidFill>
                <a:latin typeface="Montserrat"/>
                <a:ea typeface="Montserrat"/>
                <a:cs typeface="Montserrat"/>
                <a:sym typeface="Montserrat"/>
              </a:rPr>
              <a:t>Token + nonce</a:t>
            </a:r>
            <a:endParaRPr>
              <a:solidFill>
                <a:srgbClr val="1D1E3A"/>
              </a:solidFill>
            </a:endParaRPr>
          </a:p>
          <a:p>
            <a:pPr indent="0" lvl="0" marL="0" marR="0" rtl="0" algn="l">
              <a:spcBef>
                <a:spcPts val="900"/>
              </a:spcBef>
              <a:spcAft>
                <a:spcPts val="0"/>
              </a:spcAft>
              <a:buClr>
                <a:srgbClr val="C7D0E8"/>
              </a:buClr>
              <a:buSzPts val="1050"/>
              <a:buFont typeface="Montserrat"/>
              <a:buNone/>
            </a:pPr>
            <a:r>
              <a:rPr b="0" lang="en" sz="1050">
                <a:solidFill>
                  <a:srgbClr val="1D1E3A"/>
                </a:solidFill>
                <a:latin typeface="Montserrat"/>
                <a:ea typeface="Montserrat"/>
                <a:cs typeface="Montserrat"/>
                <a:sym typeface="Montserrat"/>
              </a:rPr>
              <a:t>Key proof</a:t>
            </a:r>
            <a:endParaRPr>
              <a:solidFill>
                <a:srgbClr val="1D1E3A"/>
              </a:solidFill>
            </a:endParaRPr>
          </a:p>
        </p:txBody>
      </p:sp>
      <p:sp>
        <p:nvSpPr>
          <p:cNvPr id="155" name="Google Shape;155;p27"/>
          <p:cNvSpPr/>
          <p:nvPr/>
        </p:nvSpPr>
        <p:spPr>
          <a:xfrm>
            <a:off x="7248200" y="1593063"/>
            <a:ext cx="12198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F35D6"/>
              </a:buClr>
              <a:buSzPts val="900"/>
              <a:buFont typeface="Montserrat"/>
              <a:buNone/>
            </a:pPr>
            <a:r>
              <a:rPr b="1" lang="en" sz="900">
                <a:solidFill>
                  <a:srgbClr val="F1752F"/>
                </a:solidFill>
                <a:latin typeface="Montserrat"/>
                <a:ea typeface="Montserrat"/>
                <a:cs typeface="Montserrat"/>
                <a:sym typeface="Montserrat"/>
              </a:rPr>
              <a:t>05 / ACCEPT</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Request + validate</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Store + render</a:t>
            </a:r>
            <a:endParaRPr/>
          </a:p>
        </p:txBody>
      </p:sp>
      <p:sp>
        <p:nvSpPr>
          <p:cNvPr id="156" name="Google Shape;156;p27"/>
          <p:cNvSpPr/>
          <p:nvPr/>
        </p:nvSpPr>
        <p:spPr>
          <a:xfrm>
            <a:off x="723900" y="3714750"/>
            <a:ext cx="0" cy="571500"/>
          </a:xfrm>
          <a:custGeom>
            <a:rect b="b" l="l" r="r" t="t"/>
            <a:pathLst>
              <a:path extrusionOk="0" h="120000" w="120000">
                <a:moveTo>
                  <a:pt x="0" y="0"/>
                </a:moveTo>
                <a:lnTo>
                  <a:pt x="0" y="120000"/>
                </a:lnTo>
              </a:path>
            </a:pathLst>
          </a:custGeom>
          <a:solidFill>
            <a:srgbClr val="000000">
              <a:alpha val="0"/>
            </a:srgbClr>
          </a:solidFill>
          <a:ln cap="flat" cmpd="sng" w="38100">
            <a:solidFill>
              <a:srgbClr val="D63156"/>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7" name="Google Shape;157;p27"/>
          <p:cNvSpPr/>
          <p:nvPr/>
        </p:nvSpPr>
        <p:spPr>
          <a:xfrm>
            <a:off x="952500" y="3476625"/>
            <a:ext cx="7239000" cy="104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A9C0"/>
              </a:buClr>
              <a:buSzPts val="1300"/>
              <a:buFont typeface="Montserrat"/>
              <a:buNone/>
            </a:pPr>
            <a:r>
              <a:rPr b="1" lang="en" sz="1300">
                <a:solidFill>
                  <a:srgbClr val="FFA9C0"/>
                </a:solidFill>
                <a:latin typeface="Montserrat"/>
                <a:ea typeface="Montserrat"/>
                <a:cs typeface="Montserrat"/>
                <a:sym typeface="Montserrat"/>
              </a:rPr>
              <a:t>Mental model: initiate → discover → authorize → access → accept.</a:t>
            </a:r>
            <a:endParaRPr/>
          </a:p>
        </p:txBody>
      </p:sp>
      <p:pic>
        <p:nvPicPr>
          <p:cNvPr id="158" name="Google Shape;158;p27"/>
          <p:cNvPicPr preferRelativeResize="0"/>
          <p:nvPr/>
        </p:nvPicPr>
        <p:blipFill rotWithShape="1">
          <a:blip r:embed="rId6">
            <a:alphaModFix/>
          </a:blip>
          <a:srcRect b="23807" l="19146" r="18491" t="22148"/>
          <a:stretch/>
        </p:blipFill>
        <p:spPr>
          <a:xfrm>
            <a:off x="8058150" y="333375"/>
            <a:ext cx="611102" cy="334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8"/>
          <p:cNvPicPr preferRelativeResize="0"/>
          <p:nvPr/>
        </p:nvPicPr>
        <p:blipFill rotWithShape="1">
          <a:blip r:embed="rId3">
            <a:alphaModFix/>
          </a:blip>
          <a:srcRect b="0" l="0" r="0" t="0"/>
          <a:stretch/>
        </p:blipFill>
        <p:spPr>
          <a:xfrm>
            <a:off x="0" y="0"/>
            <a:ext cx="9147362" cy="5144475"/>
          </a:xfrm>
          <a:prstGeom prst="rect">
            <a:avLst/>
          </a:prstGeom>
          <a:noFill/>
          <a:ln>
            <a:noFill/>
          </a:ln>
        </p:spPr>
      </p:pic>
      <p:sp>
        <p:nvSpPr>
          <p:cNvPr id="165" name="Google Shape;165;p28"/>
          <p:cNvSpPr/>
          <p:nvPr/>
        </p:nvSpPr>
        <p:spPr>
          <a:xfrm>
            <a:off x="7138988" y="1376363"/>
            <a:ext cx="1438200" cy="18192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8"/>
          <p:cNvSpPr/>
          <p:nvPr/>
        </p:nvSpPr>
        <p:spPr>
          <a:xfrm>
            <a:off x="5491163" y="1376363"/>
            <a:ext cx="1438200" cy="1819200"/>
          </a:xfrm>
          <a:prstGeom prst="roundRect">
            <a:avLst>
              <a:gd fmla="val 16667" name="adj"/>
            </a:avLst>
          </a:prstGeom>
          <a:solidFill>
            <a:srgbClr val="E5E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8"/>
          <p:cNvSpPr/>
          <p:nvPr/>
        </p:nvSpPr>
        <p:spPr>
          <a:xfrm>
            <a:off x="3852863" y="1376363"/>
            <a:ext cx="1438200" cy="1819200"/>
          </a:xfrm>
          <a:prstGeom prst="roundRect">
            <a:avLst>
              <a:gd fmla="val 16667" name="adj"/>
            </a:avLst>
          </a:prstGeom>
          <a:solidFill>
            <a:srgbClr val="6B71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8"/>
          <p:cNvSpPr/>
          <p:nvPr/>
        </p:nvSpPr>
        <p:spPr>
          <a:xfrm>
            <a:off x="2205038" y="1376363"/>
            <a:ext cx="1438200" cy="1819200"/>
          </a:xfrm>
          <a:prstGeom prst="roundRect">
            <a:avLst>
              <a:gd fmla="val 16667" name="adj"/>
            </a:avLst>
          </a:prstGeom>
          <a:solidFill>
            <a:srgbClr val="8C2D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8"/>
          <p:cNvSpPr/>
          <p:nvPr/>
        </p:nvSpPr>
        <p:spPr>
          <a:xfrm>
            <a:off x="566738" y="1376363"/>
            <a:ext cx="1438200" cy="18192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0" name="Google Shape;170;p28"/>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sp>
        <p:nvSpPr>
          <p:cNvPr id="171" name="Google Shape;171;p28"/>
          <p:cNvSpPr/>
          <p:nvPr/>
        </p:nvSpPr>
        <p:spPr>
          <a:xfrm>
            <a:off x="571500" y="381000"/>
            <a:ext cx="800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2 · MODULE 6 · OPENID4VCI</a:t>
            </a:r>
            <a:endParaRPr/>
          </a:p>
        </p:txBody>
      </p:sp>
      <p:sp>
        <p:nvSpPr>
          <p:cNvPr id="172" name="Google Shape;172;p28"/>
          <p:cNvSpPr/>
          <p:nvPr/>
        </p:nvSpPr>
        <p:spPr>
          <a:xfrm>
            <a:off x="571500" y="66675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60"/>
              <a:buFont typeface="Montserrat"/>
              <a:buNone/>
            </a:pPr>
            <a:r>
              <a:rPr b="1" i="1" lang="en" sz="2960">
                <a:solidFill>
                  <a:srgbClr val="FFFFFF"/>
                </a:solidFill>
                <a:latin typeface="Montserrat"/>
                <a:ea typeface="Montserrat"/>
                <a:cs typeface="Montserrat"/>
                <a:sym typeface="Montserrat"/>
              </a:rPr>
              <a:t>Pre-authorized flow </a:t>
            </a:r>
            <a:endParaRPr/>
          </a:p>
        </p:txBody>
      </p:sp>
      <p:pic>
        <p:nvPicPr>
          <p:cNvPr id="173" name="Google Shape;173;p28"/>
          <p:cNvPicPr preferRelativeResize="0"/>
          <p:nvPr/>
        </p:nvPicPr>
        <p:blipFill rotWithShape="1">
          <a:blip r:embed="rId5">
            <a:alphaModFix/>
          </a:blip>
          <a:srcRect b="0" l="0" r="0" t="0"/>
          <a:stretch/>
        </p:blipFill>
        <p:spPr>
          <a:xfrm>
            <a:off x="2047875" y="2219325"/>
            <a:ext cx="81000" cy="133500"/>
          </a:xfrm>
          <a:prstGeom prst="rect">
            <a:avLst/>
          </a:prstGeom>
          <a:noFill/>
          <a:ln>
            <a:noFill/>
          </a:ln>
        </p:spPr>
      </p:pic>
      <p:pic>
        <p:nvPicPr>
          <p:cNvPr id="174" name="Google Shape;174;p28"/>
          <p:cNvPicPr preferRelativeResize="0"/>
          <p:nvPr/>
        </p:nvPicPr>
        <p:blipFill rotWithShape="1">
          <a:blip r:embed="rId5">
            <a:alphaModFix/>
          </a:blip>
          <a:srcRect b="0" l="0" r="0" t="0"/>
          <a:stretch/>
        </p:blipFill>
        <p:spPr>
          <a:xfrm>
            <a:off x="3695700" y="2219325"/>
            <a:ext cx="81000" cy="133500"/>
          </a:xfrm>
          <a:prstGeom prst="rect">
            <a:avLst/>
          </a:prstGeom>
          <a:noFill/>
          <a:ln>
            <a:noFill/>
          </a:ln>
        </p:spPr>
      </p:pic>
      <p:pic>
        <p:nvPicPr>
          <p:cNvPr id="175" name="Google Shape;175;p28"/>
          <p:cNvPicPr preferRelativeResize="0"/>
          <p:nvPr/>
        </p:nvPicPr>
        <p:blipFill rotWithShape="1">
          <a:blip r:embed="rId5">
            <a:alphaModFix/>
          </a:blip>
          <a:srcRect b="0" l="0" r="0" t="0"/>
          <a:stretch/>
        </p:blipFill>
        <p:spPr>
          <a:xfrm>
            <a:off x="5334000" y="2219325"/>
            <a:ext cx="81000" cy="133500"/>
          </a:xfrm>
          <a:prstGeom prst="rect">
            <a:avLst/>
          </a:prstGeom>
          <a:noFill/>
          <a:ln>
            <a:noFill/>
          </a:ln>
        </p:spPr>
      </p:pic>
      <p:pic>
        <p:nvPicPr>
          <p:cNvPr id="176" name="Google Shape;176;p28"/>
          <p:cNvPicPr preferRelativeResize="0"/>
          <p:nvPr/>
        </p:nvPicPr>
        <p:blipFill rotWithShape="1">
          <a:blip r:embed="rId5">
            <a:alphaModFix/>
          </a:blip>
          <a:srcRect b="0" l="0" r="0" t="0"/>
          <a:stretch/>
        </p:blipFill>
        <p:spPr>
          <a:xfrm>
            <a:off x="6981825" y="2219325"/>
            <a:ext cx="81000" cy="133500"/>
          </a:xfrm>
          <a:prstGeom prst="rect">
            <a:avLst/>
          </a:prstGeom>
          <a:noFill/>
          <a:ln>
            <a:noFill/>
          </a:ln>
        </p:spPr>
      </p:pic>
      <p:sp>
        <p:nvSpPr>
          <p:cNvPr id="177" name="Google Shape;177;p28"/>
          <p:cNvSpPr/>
          <p:nvPr/>
        </p:nvSpPr>
        <p:spPr>
          <a:xfrm>
            <a:off x="723900"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362D"/>
              </a:buClr>
              <a:buSzPts val="900"/>
              <a:buFont typeface="Montserrat"/>
              <a:buNone/>
            </a:pPr>
            <a:r>
              <a:rPr b="1" lang="en" sz="900">
                <a:solidFill>
                  <a:srgbClr val="F1752F"/>
                </a:solidFill>
                <a:latin typeface="Montserrat"/>
                <a:ea typeface="Montserrat"/>
                <a:cs typeface="Montserrat"/>
                <a:sym typeface="Montserrat"/>
              </a:rPr>
              <a:t>01 / OFFER</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Issuer → wallet</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Pre-authorized code</a:t>
            </a:r>
            <a:endParaRPr/>
          </a:p>
        </p:txBody>
      </p:sp>
      <p:sp>
        <p:nvSpPr>
          <p:cNvPr id="178" name="Google Shape;178;p28"/>
          <p:cNvSpPr/>
          <p:nvPr/>
        </p:nvSpPr>
        <p:spPr>
          <a:xfrm>
            <a:off x="2362200"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63156"/>
              </a:buClr>
              <a:buSzPts val="900"/>
              <a:buFont typeface="Montserrat"/>
              <a:buNone/>
            </a:pPr>
            <a:r>
              <a:rPr b="1" lang="en" sz="900">
                <a:solidFill>
                  <a:srgbClr val="F1752F"/>
                </a:solidFill>
                <a:latin typeface="Montserrat"/>
                <a:ea typeface="Montserrat"/>
                <a:cs typeface="Montserrat"/>
                <a:sym typeface="Montserrat"/>
              </a:rPr>
              <a:t>02 / CONTROL</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Optional tx_code</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User possession</a:t>
            </a:r>
            <a:endParaRPr/>
          </a:p>
        </p:txBody>
      </p:sp>
      <p:sp>
        <p:nvSpPr>
          <p:cNvPr id="179" name="Google Shape;179;p28"/>
          <p:cNvSpPr/>
          <p:nvPr/>
        </p:nvSpPr>
        <p:spPr>
          <a:xfrm>
            <a:off x="4010025"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2D80"/>
              </a:buClr>
              <a:buSzPts val="900"/>
              <a:buFont typeface="Montserrat"/>
              <a:buNone/>
            </a:pPr>
            <a:r>
              <a:rPr b="1" lang="en" sz="900">
                <a:solidFill>
                  <a:srgbClr val="F1752F"/>
                </a:solidFill>
                <a:latin typeface="Montserrat"/>
                <a:ea typeface="Montserrat"/>
                <a:cs typeface="Montserrat"/>
                <a:sym typeface="Montserrat"/>
              </a:rPr>
              <a:t>03 / TOKEN</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Wallet → AS</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Access token</a:t>
            </a:r>
            <a:endParaRPr/>
          </a:p>
        </p:txBody>
      </p:sp>
      <p:sp>
        <p:nvSpPr>
          <p:cNvPr id="180" name="Google Shape;180;p28"/>
          <p:cNvSpPr/>
          <p:nvPr/>
        </p:nvSpPr>
        <p:spPr>
          <a:xfrm>
            <a:off x="5648325"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62DB0"/>
              </a:buClr>
              <a:buSzPts val="900"/>
              <a:buFont typeface="Montserrat"/>
              <a:buNone/>
            </a:pPr>
            <a:r>
              <a:rPr b="1" lang="en" sz="900">
                <a:solidFill>
                  <a:srgbClr val="F1752F"/>
                </a:solidFill>
                <a:latin typeface="Montserrat"/>
                <a:ea typeface="Montserrat"/>
                <a:cs typeface="Montserrat"/>
                <a:sym typeface="Montserrat"/>
              </a:rPr>
              <a:t>04 / PROOF</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1D1E3A"/>
                </a:solidFill>
                <a:latin typeface="Montserrat"/>
                <a:ea typeface="Montserrat"/>
                <a:cs typeface="Montserrat"/>
                <a:sym typeface="Montserrat"/>
              </a:rPr>
              <a:t>Wallet key</a:t>
            </a:r>
            <a:endParaRPr>
              <a:solidFill>
                <a:srgbClr val="1D1E3A"/>
              </a:solidFill>
            </a:endParaRPr>
          </a:p>
          <a:p>
            <a:pPr indent="0" lvl="0" marL="0" marR="0" rtl="0" algn="l">
              <a:spcBef>
                <a:spcPts val="900"/>
              </a:spcBef>
              <a:spcAft>
                <a:spcPts val="0"/>
              </a:spcAft>
              <a:buClr>
                <a:srgbClr val="C7D0E8"/>
              </a:buClr>
              <a:buSzPts val="1050"/>
              <a:buFont typeface="Montserrat"/>
              <a:buNone/>
            </a:pPr>
            <a:r>
              <a:rPr b="0" lang="en" sz="1050">
                <a:solidFill>
                  <a:srgbClr val="1D1E3A"/>
                </a:solidFill>
                <a:latin typeface="Montserrat"/>
                <a:ea typeface="Montserrat"/>
                <a:cs typeface="Montserrat"/>
                <a:sym typeface="Montserrat"/>
              </a:rPr>
              <a:t>Fresh challenge</a:t>
            </a:r>
            <a:endParaRPr>
              <a:solidFill>
                <a:srgbClr val="1D1E3A"/>
              </a:solidFill>
            </a:endParaRPr>
          </a:p>
        </p:txBody>
      </p:sp>
      <p:sp>
        <p:nvSpPr>
          <p:cNvPr id="181" name="Google Shape;181;p28"/>
          <p:cNvSpPr/>
          <p:nvPr/>
        </p:nvSpPr>
        <p:spPr>
          <a:xfrm>
            <a:off x="7296150"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F35D6"/>
              </a:buClr>
              <a:buSzPts val="900"/>
              <a:buFont typeface="Montserrat"/>
              <a:buNone/>
            </a:pPr>
            <a:r>
              <a:rPr b="1" lang="en" sz="900">
                <a:solidFill>
                  <a:srgbClr val="F1752F"/>
                </a:solidFill>
                <a:latin typeface="Montserrat"/>
                <a:ea typeface="Montserrat"/>
                <a:cs typeface="Montserrat"/>
                <a:sym typeface="Montserrat"/>
              </a:rPr>
              <a:t>05 / CREDENTIAL</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Certify → wallet</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Signed VC</a:t>
            </a:r>
            <a:endParaRPr/>
          </a:p>
        </p:txBody>
      </p:sp>
      <p:pic>
        <p:nvPicPr>
          <p:cNvPr id="182" name="Google Shape;182;p28"/>
          <p:cNvPicPr preferRelativeResize="0"/>
          <p:nvPr/>
        </p:nvPicPr>
        <p:blipFill rotWithShape="1">
          <a:blip r:embed="rId6">
            <a:alphaModFix/>
          </a:blip>
          <a:srcRect b="23807" l="19146" r="18491" t="22148"/>
          <a:stretch/>
        </p:blipFill>
        <p:spPr>
          <a:xfrm>
            <a:off x="8058150" y="333375"/>
            <a:ext cx="611102" cy="334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9"/>
          <p:cNvPicPr preferRelativeResize="0"/>
          <p:nvPr/>
        </p:nvPicPr>
        <p:blipFill rotWithShape="1">
          <a:blip r:embed="rId3">
            <a:alphaModFix/>
          </a:blip>
          <a:srcRect b="0" l="0" r="0" t="0"/>
          <a:stretch/>
        </p:blipFill>
        <p:spPr>
          <a:xfrm>
            <a:off x="0" y="0"/>
            <a:ext cx="9147362" cy="5144475"/>
          </a:xfrm>
          <a:prstGeom prst="rect">
            <a:avLst/>
          </a:prstGeom>
          <a:noFill/>
          <a:ln>
            <a:noFill/>
          </a:ln>
        </p:spPr>
      </p:pic>
      <p:sp>
        <p:nvSpPr>
          <p:cNvPr id="189" name="Google Shape;189;p29"/>
          <p:cNvSpPr/>
          <p:nvPr/>
        </p:nvSpPr>
        <p:spPr>
          <a:xfrm>
            <a:off x="566738" y="3471863"/>
            <a:ext cx="8010600" cy="1057200"/>
          </a:xfrm>
          <a:prstGeom prst="roundRect">
            <a:avLst>
              <a:gd fmla="val 16667" name="adj"/>
            </a:avLst>
          </a:prstGeom>
          <a:solidFill>
            <a:srgbClr val="8C2D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9"/>
          <p:cNvSpPr/>
          <p:nvPr/>
        </p:nvSpPr>
        <p:spPr>
          <a:xfrm>
            <a:off x="7138988" y="1376363"/>
            <a:ext cx="1438200" cy="18192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9"/>
          <p:cNvSpPr/>
          <p:nvPr/>
        </p:nvSpPr>
        <p:spPr>
          <a:xfrm>
            <a:off x="5491163" y="1376363"/>
            <a:ext cx="1438200" cy="1819200"/>
          </a:xfrm>
          <a:prstGeom prst="roundRect">
            <a:avLst>
              <a:gd fmla="val 16667" name="adj"/>
            </a:avLst>
          </a:prstGeom>
          <a:solidFill>
            <a:srgbClr val="E5E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9"/>
          <p:cNvSpPr/>
          <p:nvPr/>
        </p:nvSpPr>
        <p:spPr>
          <a:xfrm>
            <a:off x="3852863" y="1376363"/>
            <a:ext cx="1438200" cy="1819200"/>
          </a:xfrm>
          <a:prstGeom prst="roundRect">
            <a:avLst>
              <a:gd fmla="val 16667" name="adj"/>
            </a:avLst>
          </a:prstGeom>
          <a:solidFill>
            <a:srgbClr val="6B71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9"/>
          <p:cNvSpPr/>
          <p:nvPr/>
        </p:nvSpPr>
        <p:spPr>
          <a:xfrm>
            <a:off x="2205038" y="1376363"/>
            <a:ext cx="1438200" cy="1819200"/>
          </a:xfrm>
          <a:prstGeom prst="roundRect">
            <a:avLst>
              <a:gd fmla="val 16667" name="adj"/>
            </a:avLst>
          </a:prstGeom>
          <a:solidFill>
            <a:srgbClr val="8C2D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9"/>
          <p:cNvSpPr/>
          <p:nvPr/>
        </p:nvSpPr>
        <p:spPr>
          <a:xfrm>
            <a:off x="566738" y="1376363"/>
            <a:ext cx="1438200" cy="18192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5" name="Google Shape;195;p29"/>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sp>
        <p:nvSpPr>
          <p:cNvPr id="196" name="Google Shape;196;p29"/>
          <p:cNvSpPr/>
          <p:nvPr/>
        </p:nvSpPr>
        <p:spPr>
          <a:xfrm>
            <a:off x="571500" y="381000"/>
            <a:ext cx="800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2 · MODULE 6 · OPENID4VCI</a:t>
            </a:r>
            <a:endParaRPr/>
          </a:p>
        </p:txBody>
      </p:sp>
      <p:sp>
        <p:nvSpPr>
          <p:cNvPr id="197" name="Google Shape;197;p29"/>
          <p:cNvSpPr/>
          <p:nvPr/>
        </p:nvSpPr>
        <p:spPr>
          <a:xfrm>
            <a:off x="571500" y="66675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60"/>
              <a:buFont typeface="Montserrat"/>
              <a:buNone/>
            </a:pPr>
            <a:r>
              <a:rPr b="1" i="1" lang="en" sz="2960">
                <a:solidFill>
                  <a:srgbClr val="FFFFFF"/>
                </a:solidFill>
                <a:latin typeface="Montserrat"/>
                <a:ea typeface="Montserrat"/>
                <a:cs typeface="Montserrat"/>
                <a:sym typeface="Montserrat"/>
              </a:rPr>
              <a:t>Authorization code flow </a:t>
            </a:r>
            <a:endParaRPr/>
          </a:p>
        </p:txBody>
      </p:sp>
      <p:pic>
        <p:nvPicPr>
          <p:cNvPr id="198" name="Google Shape;198;p29"/>
          <p:cNvPicPr preferRelativeResize="0"/>
          <p:nvPr/>
        </p:nvPicPr>
        <p:blipFill rotWithShape="1">
          <a:blip r:embed="rId5">
            <a:alphaModFix/>
          </a:blip>
          <a:srcRect b="0" l="0" r="0" t="0"/>
          <a:stretch/>
        </p:blipFill>
        <p:spPr>
          <a:xfrm>
            <a:off x="2047875" y="2219325"/>
            <a:ext cx="81000" cy="133500"/>
          </a:xfrm>
          <a:prstGeom prst="rect">
            <a:avLst/>
          </a:prstGeom>
          <a:noFill/>
          <a:ln>
            <a:noFill/>
          </a:ln>
        </p:spPr>
      </p:pic>
      <p:pic>
        <p:nvPicPr>
          <p:cNvPr id="199" name="Google Shape;199;p29"/>
          <p:cNvPicPr preferRelativeResize="0"/>
          <p:nvPr/>
        </p:nvPicPr>
        <p:blipFill rotWithShape="1">
          <a:blip r:embed="rId5">
            <a:alphaModFix/>
          </a:blip>
          <a:srcRect b="0" l="0" r="0" t="0"/>
          <a:stretch/>
        </p:blipFill>
        <p:spPr>
          <a:xfrm>
            <a:off x="3695700" y="2219325"/>
            <a:ext cx="81000" cy="133500"/>
          </a:xfrm>
          <a:prstGeom prst="rect">
            <a:avLst/>
          </a:prstGeom>
          <a:noFill/>
          <a:ln>
            <a:noFill/>
          </a:ln>
        </p:spPr>
      </p:pic>
      <p:pic>
        <p:nvPicPr>
          <p:cNvPr id="200" name="Google Shape;200;p29"/>
          <p:cNvPicPr preferRelativeResize="0"/>
          <p:nvPr/>
        </p:nvPicPr>
        <p:blipFill rotWithShape="1">
          <a:blip r:embed="rId5">
            <a:alphaModFix/>
          </a:blip>
          <a:srcRect b="0" l="0" r="0" t="0"/>
          <a:stretch/>
        </p:blipFill>
        <p:spPr>
          <a:xfrm>
            <a:off x="5334000" y="2219325"/>
            <a:ext cx="81000" cy="133500"/>
          </a:xfrm>
          <a:prstGeom prst="rect">
            <a:avLst/>
          </a:prstGeom>
          <a:noFill/>
          <a:ln>
            <a:noFill/>
          </a:ln>
        </p:spPr>
      </p:pic>
      <p:pic>
        <p:nvPicPr>
          <p:cNvPr id="201" name="Google Shape;201;p29"/>
          <p:cNvPicPr preferRelativeResize="0"/>
          <p:nvPr/>
        </p:nvPicPr>
        <p:blipFill rotWithShape="1">
          <a:blip r:embed="rId5">
            <a:alphaModFix/>
          </a:blip>
          <a:srcRect b="0" l="0" r="0" t="0"/>
          <a:stretch/>
        </p:blipFill>
        <p:spPr>
          <a:xfrm>
            <a:off x="6981825" y="2219325"/>
            <a:ext cx="81000" cy="133500"/>
          </a:xfrm>
          <a:prstGeom prst="rect">
            <a:avLst/>
          </a:prstGeom>
          <a:noFill/>
          <a:ln>
            <a:noFill/>
          </a:ln>
        </p:spPr>
      </p:pic>
      <p:sp>
        <p:nvSpPr>
          <p:cNvPr id="202" name="Google Shape;202;p29"/>
          <p:cNvSpPr/>
          <p:nvPr/>
        </p:nvSpPr>
        <p:spPr>
          <a:xfrm>
            <a:off x="723900"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362D"/>
              </a:buClr>
              <a:buSzPts val="900"/>
              <a:buFont typeface="Montserrat"/>
              <a:buNone/>
            </a:pPr>
            <a:r>
              <a:rPr b="1" lang="en" sz="900">
                <a:solidFill>
                  <a:srgbClr val="F1752F"/>
                </a:solidFill>
                <a:latin typeface="Montserrat"/>
                <a:ea typeface="Montserrat"/>
                <a:cs typeface="Montserrat"/>
                <a:sym typeface="Montserrat"/>
              </a:rPr>
              <a:t>01 / REQUEST</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Wallet → AS</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Authorization + PKCE</a:t>
            </a:r>
            <a:endParaRPr/>
          </a:p>
        </p:txBody>
      </p:sp>
      <p:sp>
        <p:nvSpPr>
          <p:cNvPr id="203" name="Google Shape;203;p29"/>
          <p:cNvSpPr/>
          <p:nvPr/>
        </p:nvSpPr>
        <p:spPr>
          <a:xfrm>
            <a:off x="2362200"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63156"/>
              </a:buClr>
              <a:buSzPts val="900"/>
              <a:buFont typeface="Montserrat"/>
              <a:buNone/>
            </a:pPr>
            <a:r>
              <a:rPr b="1" lang="en" sz="900">
                <a:solidFill>
                  <a:srgbClr val="F1752F"/>
                </a:solidFill>
                <a:latin typeface="Montserrat"/>
                <a:ea typeface="Montserrat"/>
                <a:cs typeface="Montserrat"/>
                <a:sym typeface="Montserrat"/>
              </a:rPr>
              <a:t>02 / LOGIN</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Auth service</a:t>
            </a:r>
            <a:endParaRPr/>
          </a:p>
          <a:p>
            <a:pPr indent="0" lvl="0" marL="0" marR="0" rtl="0" algn="l">
              <a:spcBef>
                <a:spcPts val="900"/>
              </a:spcBef>
              <a:spcAft>
                <a:spcPts val="0"/>
              </a:spcAft>
              <a:buClr>
                <a:srgbClr val="C7D0E8"/>
              </a:buClr>
              <a:buSzPts val="1050"/>
              <a:buFont typeface="Montserrat"/>
              <a:buNone/>
            </a:pPr>
            <a:r>
              <a:rPr lang="en" sz="1050">
                <a:solidFill>
                  <a:srgbClr val="C7D0E8"/>
                </a:solidFill>
                <a:latin typeface="Montserrat"/>
                <a:ea typeface="Montserrat"/>
                <a:cs typeface="Montserrat"/>
                <a:sym typeface="Montserrat"/>
              </a:rPr>
              <a:t>User Login</a:t>
            </a:r>
            <a:endParaRPr/>
          </a:p>
        </p:txBody>
      </p:sp>
      <p:sp>
        <p:nvSpPr>
          <p:cNvPr id="204" name="Google Shape;204;p29"/>
          <p:cNvSpPr/>
          <p:nvPr/>
        </p:nvSpPr>
        <p:spPr>
          <a:xfrm>
            <a:off x="4010025"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2D80"/>
              </a:buClr>
              <a:buSzPts val="900"/>
              <a:buFont typeface="Montserrat"/>
              <a:buNone/>
            </a:pPr>
            <a:r>
              <a:rPr b="1" lang="en" sz="900">
                <a:solidFill>
                  <a:srgbClr val="F1752F"/>
                </a:solidFill>
                <a:latin typeface="Montserrat"/>
                <a:ea typeface="Montserrat"/>
                <a:cs typeface="Montserrat"/>
                <a:sym typeface="Montserrat"/>
              </a:rPr>
              <a:t>03 / CODE</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Redirect → wallet</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Authorization code</a:t>
            </a:r>
            <a:endParaRPr/>
          </a:p>
        </p:txBody>
      </p:sp>
      <p:sp>
        <p:nvSpPr>
          <p:cNvPr id="205" name="Google Shape;205;p29"/>
          <p:cNvSpPr/>
          <p:nvPr/>
        </p:nvSpPr>
        <p:spPr>
          <a:xfrm>
            <a:off x="5648325"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62DB0"/>
              </a:buClr>
              <a:buSzPts val="900"/>
              <a:buFont typeface="Montserrat"/>
              <a:buNone/>
            </a:pPr>
            <a:r>
              <a:rPr b="1" lang="en" sz="900">
                <a:solidFill>
                  <a:srgbClr val="F1752F"/>
                </a:solidFill>
                <a:latin typeface="Montserrat"/>
                <a:ea typeface="Montserrat"/>
                <a:cs typeface="Montserrat"/>
                <a:sym typeface="Montserrat"/>
              </a:rPr>
              <a:t>04 / TOKEN</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1D1E3A"/>
                </a:solidFill>
                <a:latin typeface="Montserrat"/>
                <a:ea typeface="Montserrat"/>
                <a:cs typeface="Montserrat"/>
                <a:sym typeface="Montserrat"/>
              </a:rPr>
              <a:t>PKCE</a:t>
            </a:r>
            <a:endParaRPr>
              <a:solidFill>
                <a:srgbClr val="1D1E3A"/>
              </a:solidFill>
            </a:endParaRPr>
          </a:p>
          <a:p>
            <a:pPr indent="0" lvl="0" marL="0" marR="0" rtl="0" algn="l">
              <a:spcBef>
                <a:spcPts val="900"/>
              </a:spcBef>
              <a:spcAft>
                <a:spcPts val="0"/>
              </a:spcAft>
              <a:buClr>
                <a:srgbClr val="C7D0E8"/>
              </a:buClr>
              <a:buSzPts val="1050"/>
              <a:buFont typeface="Montserrat"/>
              <a:buNone/>
            </a:pPr>
            <a:r>
              <a:rPr b="0" lang="en" sz="1050">
                <a:solidFill>
                  <a:srgbClr val="1D1E3A"/>
                </a:solidFill>
                <a:latin typeface="Montserrat"/>
                <a:ea typeface="Montserrat"/>
                <a:cs typeface="Montserrat"/>
                <a:sym typeface="Montserrat"/>
              </a:rPr>
              <a:t>Access token</a:t>
            </a:r>
            <a:endParaRPr>
              <a:solidFill>
                <a:srgbClr val="1D1E3A"/>
              </a:solidFill>
            </a:endParaRPr>
          </a:p>
        </p:txBody>
      </p:sp>
      <p:sp>
        <p:nvSpPr>
          <p:cNvPr id="206" name="Google Shape;206;p29"/>
          <p:cNvSpPr/>
          <p:nvPr/>
        </p:nvSpPr>
        <p:spPr>
          <a:xfrm>
            <a:off x="7296150"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F35D6"/>
              </a:buClr>
              <a:buSzPts val="900"/>
              <a:buFont typeface="Montserrat"/>
              <a:buNone/>
            </a:pPr>
            <a:r>
              <a:rPr b="1" lang="en" sz="900">
                <a:solidFill>
                  <a:srgbClr val="F1752F"/>
                </a:solidFill>
                <a:latin typeface="Montserrat"/>
                <a:ea typeface="Montserrat"/>
                <a:cs typeface="Montserrat"/>
                <a:sym typeface="Montserrat"/>
              </a:rPr>
              <a:t>05 / CREDENTIAL</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Proof + request</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Signed VC</a:t>
            </a:r>
            <a:endParaRPr/>
          </a:p>
        </p:txBody>
      </p:sp>
      <p:sp>
        <p:nvSpPr>
          <p:cNvPr id="207" name="Google Shape;207;p29"/>
          <p:cNvSpPr/>
          <p:nvPr/>
        </p:nvSpPr>
        <p:spPr>
          <a:xfrm>
            <a:off x="723900" y="3714750"/>
            <a:ext cx="0" cy="571500"/>
          </a:xfrm>
          <a:custGeom>
            <a:rect b="b" l="l" r="r" t="t"/>
            <a:pathLst>
              <a:path extrusionOk="0" h="120000" w="120000">
                <a:moveTo>
                  <a:pt x="0" y="0"/>
                </a:moveTo>
                <a:lnTo>
                  <a:pt x="0" y="120000"/>
                </a:lnTo>
              </a:path>
            </a:pathLst>
          </a:custGeom>
          <a:solidFill>
            <a:srgbClr val="000000">
              <a:alpha val="0"/>
            </a:srgbClr>
          </a:solidFill>
          <a:ln cap="flat" cmpd="sng" w="38100">
            <a:solidFill>
              <a:srgbClr val="D63156"/>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08" name="Google Shape;208;p29"/>
          <p:cNvSpPr/>
          <p:nvPr/>
        </p:nvSpPr>
        <p:spPr>
          <a:xfrm>
            <a:off x="952500" y="3476625"/>
            <a:ext cx="7239000" cy="104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A9C0"/>
              </a:buClr>
              <a:buSzPts val="1300"/>
              <a:buFont typeface="Montserrat"/>
              <a:buNone/>
            </a:pPr>
            <a:r>
              <a:rPr b="1" lang="en" sz="1300">
                <a:solidFill>
                  <a:srgbClr val="FFA9C0"/>
                </a:solidFill>
                <a:latin typeface="Montserrat"/>
                <a:ea typeface="Montserrat"/>
                <a:cs typeface="Montserrat"/>
                <a:sym typeface="Montserrat"/>
              </a:rPr>
              <a:t>Authorization service authenticates. Certify issues. PKCE protects the code exchange.</a:t>
            </a:r>
            <a:endParaRPr/>
          </a:p>
        </p:txBody>
      </p:sp>
      <p:pic>
        <p:nvPicPr>
          <p:cNvPr id="209" name="Google Shape;209;p29"/>
          <p:cNvPicPr preferRelativeResize="0"/>
          <p:nvPr/>
        </p:nvPicPr>
        <p:blipFill rotWithShape="1">
          <a:blip r:embed="rId6">
            <a:alphaModFix/>
          </a:blip>
          <a:srcRect b="23807" l="19146" r="18491" t="22148"/>
          <a:stretch/>
        </p:blipFill>
        <p:spPr>
          <a:xfrm>
            <a:off x="8058150" y="333375"/>
            <a:ext cx="611102" cy="334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descr="A black and white logo&#10;&#10;AI-generated content may be incorrect." id="214" name="Google Shape;214;p30"/>
          <p:cNvPicPr preferRelativeResize="0"/>
          <p:nvPr/>
        </p:nvPicPr>
        <p:blipFill rotWithShape="1">
          <a:blip r:embed="rId3">
            <a:alphaModFix amt="10000"/>
          </a:blip>
          <a:srcRect b="0" l="0" r="0" t="0"/>
          <a:stretch/>
        </p:blipFill>
        <p:spPr>
          <a:xfrm>
            <a:off x="5073833" y="2853243"/>
            <a:ext cx="4207772" cy="2603598"/>
          </a:xfrm>
          <a:prstGeom prst="rect">
            <a:avLst/>
          </a:prstGeom>
          <a:noFill/>
          <a:ln>
            <a:noFill/>
          </a:ln>
        </p:spPr>
      </p:pic>
      <p:pic>
        <p:nvPicPr>
          <p:cNvPr id="215" name="Google Shape;215;p30"/>
          <p:cNvPicPr preferRelativeResize="0"/>
          <p:nvPr/>
        </p:nvPicPr>
        <p:blipFill>
          <a:blip r:embed="rId4">
            <a:alphaModFix/>
          </a:blip>
          <a:stretch>
            <a:fillRect/>
          </a:stretch>
        </p:blipFill>
        <p:spPr>
          <a:xfrm>
            <a:off x="2735850" y="0"/>
            <a:ext cx="4207774" cy="516328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1"/>
          <p:cNvPicPr preferRelativeResize="0"/>
          <p:nvPr/>
        </p:nvPicPr>
        <p:blipFill rotWithShape="1">
          <a:blip r:embed="rId3">
            <a:alphaModFix/>
          </a:blip>
          <a:srcRect b="0" l="0" r="0" t="0"/>
          <a:stretch/>
        </p:blipFill>
        <p:spPr>
          <a:xfrm>
            <a:off x="0" y="0"/>
            <a:ext cx="9147362" cy="5144475"/>
          </a:xfrm>
          <a:prstGeom prst="rect">
            <a:avLst/>
          </a:prstGeom>
          <a:noFill/>
          <a:ln>
            <a:noFill/>
          </a:ln>
        </p:spPr>
      </p:pic>
      <p:sp>
        <p:nvSpPr>
          <p:cNvPr id="222" name="Google Shape;222;p31"/>
          <p:cNvSpPr/>
          <p:nvPr/>
        </p:nvSpPr>
        <p:spPr>
          <a:xfrm>
            <a:off x="5619750" y="1428750"/>
            <a:ext cx="1905000" cy="7143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31"/>
          <p:cNvSpPr/>
          <p:nvPr/>
        </p:nvSpPr>
        <p:spPr>
          <a:xfrm>
            <a:off x="762000" y="523875"/>
            <a:ext cx="76200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2 · MODULE 6 · OPENID4VCI</a:t>
            </a:r>
            <a:endParaRPr/>
          </a:p>
          <a:p>
            <a:pPr indent="0" lvl="0" marL="0" marR="0" rtl="0" algn="l">
              <a:spcBef>
                <a:spcPts val="375"/>
              </a:spcBef>
              <a:spcAft>
                <a:spcPts val="0"/>
              </a:spcAft>
              <a:buClr>
                <a:srgbClr val="FFFFFF"/>
              </a:buClr>
              <a:buSzPts val="3200"/>
              <a:buFont typeface="Montserrat"/>
              <a:buNone/>
            </a:pPr>
            <a:r>
              <a:rPr b="1" i="1" lang="en" sz="3200">
                <a:solidFill>
                  <a:srgbClr val="FFFFFF"/>
                </a:solidFill>
                <a:latin typeface="Montserrat"/>
                <a:ea typeface="Montserrat"/>
                <a:cs typeface="Montserrat"/>
                <a:sym typeface="Montserrat"/>
              </a:rPr>
              <a:t>Proof of possession</a:t>
            </a:r>
            <a:endParaRPr/>
          </a:p>
        </p:txBody>
      </p:sp>
      <p:sp>
        <p:nvSpPr>
          <p:cNvPr id="224" name="Google Shape;224;p31"/>
          <p:cNvSpPr/>
          <p:nvPr/>
        </p:nvSpPr>
        <p:spPr>
          <a:xfrm>
            <a:off x="4667250" y="3333750"/>
            <a:ext cx="1714500" cy="714300"/>
          </a:xfrm>
          <a:prstGeom prst="roundRect">
            <a:avLst>
              <a:gd fmla="val 13333" name="adj"/>
            </a:avLst>
          </a:prstGeom>
          <a:solidFill>
            <a:srgbClr val="951F6F">
              <a:alpha val="8000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225" name="Google Shape;225;p31"/>
          <p:cNvPicPr preferRelativeResize="0"/>
          <p:nvPr/>
        </p:nvPicPr>
        <p:blipFill rotWithShape="1">
          <a:blip r:embed="rId4">
            <a:alphaModFix/>
          </a:blip>
          <a:srcRect b="12880" l="0" r="0" t="12880"/>
          <a:stretch/>
        </p:blipFill>
        <p:spPr>
          <a:xfrm>
            <a:off x="5476875" y="2095500"/>
            <a:ext cx="1095300" cy="1285800"/>
          </a:xfrm>
          <a:prstGeom prst="rect">
            <a:avLst/>
          </a:prstGeom>
          <a:noFill/>
          <a:ln>
            <a:noFill/>
          </a:ln>
        </p:spPr>
      </p:pic>
      <p:pic>
        <p:nvPicPr>
          <p:cNvPr id="226" name="Google Shape;226;p31"/>
          <p:cNvPicPr preferRelativeResize="0"/>
          <p:nvPr/>
        </p:nvPicPr>
        <p:blipFill rotWithShape="1">
          <a:blip r:embed="rId5">
            <a:alphaModFix/>
          </a:blip>
          <a:srcRect b="12880" l="0" r="0" t="12880"/>
          <a:stretch/>
        </p:blipFill>
        <p:spPr>
          <a:xfrm>
            <a:off x="6572250" y="2095500"/>
            <a:ext cx="1095300" cy="1285800"/>
          </a:xfrm>
          <a:prstGeom prst="rect">
            <a:avLst/>
          </a:prstGeom>
          <a:noFill/>
          <a:ln>
            <a:noFill/>
          </a:ln>
        </p:spPr>
      </p:pic>
      <p:pic>
        <p:nvPicPr>
          <p:cNvPr id="227" name="Google Shape;227;p31"/>
          <p:cNvPicPr preferRelativeResize="0"/>
          <p:nvPr/>
        </p:nvPicPr>
        <p:blipFill rotWithShape="1">
          <a:blip r:embed="rId6">
            <a:alphaModFix/>
          </a:blip>
          <a:srcRect b="0" l="39796" r="39796" t="0"/>
          <a:stretch/>
        </p:blipFill>
        <p:spPr>
          <a:xfrm>
            <a:off x="6381750" y="3676650"/>
            <a:ext cx="381000" cy="19200"/>
          </a:xfrm>
          <a:prstGeom prst="rect">
            <a:avLst/>
          </a:prstGeom>
          <a:noFill/>
          <a:ln>
            <a:noFill/>
          </a:ln>
        </p:spPr>
      </p:pic>
      <p:sp>
        <p:nvSpPr>
          <p:cNvPr id="228" name="Google Shape;228;p31"/>
          <p:cNvSpPr/>
          <p:nvPr/>
        </p:nvSpPr>
        <p:spPr>
          <a:xfrm>
            <a:off x="5619750" y="1428750"/>
            <a:ext cx="19050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ISSUER</a:t>
            </a:r>
            <a:endParaRPr/>
          </a:p>
          <a:p>
            <a:pPr indent="0" lvl="0" marL="0" marR="0" rtl="0" algn="ctr">
              <a:spcBef>
                <a:spcPts val="150"/>
              </a:spcBef>
              <a:spcAft>
                <a:spcPts val="0"/>
              </a:spcAft>
              <a:buClr>
                <a:srgbClr val="C7D0E8"/>
              </a:buClr>
              <a:buSzPts val="1000"/>
              <a:buFont typeface="Montserrat"/>
              <a:buNone/>
            </a:pPr>
            <a:r>
              <a:rPr b="0" lang="en" sz="1000">
                <a:solidFill>
                  <a:srgbClr val="C7D0E8"/>
                </a:solidFill>
                <a:latin typeface="Montserrat"/>
                <a:ea typeface="Montserrat"/>
                <a:cs typeface="Montserrat"/>
                <a:sym typeface="Montserrat"/>
              </a:rPr>
              <a:t>nonce / challenge</a:t>
            </a:r>
            <a:endParaRPr/>
          </a:p>
        </p:txBody>
      </p:sp>
      <p:sp>
        <p:nvSpPr>
          <p:cNvPr id="229" name="Google Shape;229;p31"/>
          <p:cNvSpPr/>
          <p:nvPr/>
        </p:nvSpPr>
        <p:spPr>
          <a:xfrm>
            <a:off x="4667250" y="3333750"/>
            <a:ext cx="17145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WALLET KEY</a:t>
            </a:r>
            <a:endParaRPr/>
          </a:p>
          <a:p>
            <a:pPr indent="0" lvl="0" marL="0" marR="0" rtl="0" algn="ctr">
              <a:spcBef>
                <a:spcPts val="150"/>
              </a:spcBef>
              <a:spcAft>
                <a:spcPts val="0"/>
              </a:spcAft>
              <a:buClr>
                <a:srgbClr val="FBD9DF"/>
              </a:buClr>
              <a:buSzPts val="1000"/>
              <a:buFont typeface="Montserrat"/>
              <a:buNone/>
            </a:pPr>
            <a:r>
              <a:rPr b="0" lang="en" sz="1000">
                <a:solidFill>
                  <a:srgbClr val="FBD9DF"/>
                </a:solidFill>
                <a:latin typeface="Montserrat"/>
                <a:ea typeface="Montserrat"/>
                <a:cs typeface="Montserrat"/>
                <a:sym typeface="Montserrat"/>
              </a:rPr>
              <a:t>private key protected</a:t>
            </a:r>
            <a:endParaRPr/>
          </a:p>
        </p:txBody>
      </p:sp>
      <p:sp>
        <p:nvSpPr>
          <p:cNvPr id="230" name="Google Shape;230;p31"/>
          <p:cNvSpPr/>
          <p:nvPr/>
        </p:nvSpPr>
        <p:spPr>
          <a:xfrm>
            <a:off x="6762750" y="3333750"/>
            <a:ext cx="1714500" cy="714300"/>
          </a:xfrm>
          <a:prstGeom prst="roundRect">
            <a:avLst>
              <a:gd fmla="val 13333" name="adj"/>
            </a:avLst>
          </a:prstGeom>
          <a:solidFill>
            <a:srgbClr val="6B7FD7">
              <a:alpha val="8000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1" name="Google Shape;231;p31"/>
          <p:cNvSpPr/>
          <p:nvPr/>
        </p:nvSpPr>
        <p:spPr>
          <a:xfrm>
            <a:off x="6762750" y="3333750"/>
            <a:ext cx="17145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CERTIFY</a:t>
            </a:r>
            <a:endParaRPr/>
          </a:p>
          <a:p>
            <a:pPr indent="0" lvl="0" marL="0" marR="0" rtl="0" algn="ctr">
              <a:spcBef>
                <a:spcPts val="150"/>
              </a:spcBef>
              <a:spcAft>
                <a:spcPts val="0"/>
              </a:spcAft>
              <a:buClr>
                <a:srgbClr val="DDD0F7"/>
              </a:buClr>
              <a:buSzPts val="1000"/>
              <a:buFont typeface="Montserrat"/>
              <a:buNone/>
            </a:pPr>
            <a:r>
              <a:rPr b="0" lang="en" sz="1000">
                <a:solidFill>
                  <a:srgbClr val="DDD0F7"/>
                </a:solidFill>
                <a:latin typeface="Montserrat"/>
                <a:ea typeface="Montserrat"/>
                <a:cs typeface="Montserrat"/>
                <a:sym typeface="Montserrat"/>
              </a:rPr>
              <a:t>proof validator</a:t>
            </a:r>
            <a:endParaRPr/>
          </a:p>
        </p:txBody>
      </p:sp>
      <p:sp>
        <p:nvSpPr>
          <p:cNvPr id="232" name="Google Shape;232;p31"/>
          <p:cNvSpPr/>
          <p:nvPr/>
        </p:nvSpPr>
        <p:spPr>
          <a:xfrm>
            <a:off x="4857750" y="2428875"/>
            <a:ext cx="1143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950"/>
              <a:buFont typeface="Montserrat"/>
              <a:buNone/>
            </a:pPr>
            <a:r>
              <a:rPr b="1" lang="en" sz="950">
                <a:solidFill>
                  <a:srgbClr val="C7D0E8"/>
                </a:solidFill>
                <a:highlight>
                  <a:srgbClr val="0B1C3F"/>
                </a:highlight>
                <a:latin typeface="Montserrat"/>
                <a:ea typeface="Montserrat"/>
                <a:cs typeface="Montserrat"/>
                <a:sym typeface="Montserrat"/>
              </a:rPr>
              <a:t>challenge</a:t>
            </a:r>
            <a:endParaRPr/>
          </a:p>
        </p:txBody>
      </p:sp>
      <p:sp>
        <p:nvSpPr>
          <p:cNvPr id="233" name="Google Shape;233;p31"/>
          <p:cNvSpPr/>
          <p:nvPr/>
        </p:nvSpPr>
        <p:spPr>
          <a:xfrm>
            <a:off x="7048500" y="2428875"/>
            <a:ext cx="12384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950"/>
              <a:buFont typeface="Montserrat"/>
              <a:buNone/>
            </a:pPr>
            <a:r>
              <a:rPr b="1" lang="en" sz="950">
                <a:solidFill>
                  <a:srgbClr val="C7D0E8"/>
                </a:solidFill>
                <a:highlight>
                  <a:srgbClr val="0B1C3F"/>
                </a:highlight>
                <a:latin typeface="Montserrat"/>
                <a:ea typeface="Montserrat"/>
                <a:cs typeface="Montserrat"/>
                <a:sym typeface="Montserrat"/>
              </a:rPr>
              <a:t>signed proof</a:t>
            </a:r>
            <a:endParaRPr/>
          </a:p>
        </p:txBody>
      </p:sp>
      <p:sp>
        <p:nvSpPr>
          <p:cNvPr id="234" name="Google Shape;234;p31"/>
          <p:cNvSpPr/>
          <p:nvPr/>
        </p:nvSpPr>
        <p:spPr>
          <a:xfrm>
            <a:off x="6000750" y="3676650"/>
            <a:ext cx="1143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950"/>
              <a:buFont typeface="Montserrat"/>
              <a:buNone/>
            </a:pPr>
            <a:r>
              <a:rPr b="1" lang="en" sz="950">
                <a:solidFill>
                  <a:srgbClr val="C7D0E8"/>
                </a:solidFill>
                <a:highlight>
                  <a:srgbClr val="0B1C3F"/>
                </a:highlight>
                <a:latin typeface="Montserrat"/>
                <a:ea typeface="Montserrat"/>
                <a:cs typeface="Montserrat"/>
                <a:sym typeface="Montserrat"/>
              </a:rPr>
              <a:t>binds credential</a:t>
            </a:r>
            <a:endParaRPr/>
          </a:p>
        </p:txBody>
      </p:sp>
      <p:sp>
        <p:nvSpPr>
          <p:cNvPr id="235" name="Google Shape;235;p31"/>
          <p:cNvSpPr/>
          <p:nvPr/>
        </p:nvSpPr>
        <p:spPr>
          <a:xfrm>
            <a:off x="873425" y="1619095"/>
            <a:ext cx="3619500" cy="95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Montserrat"/>
              <a:buNone/>
            </a:pPr>
            <a:r>
              <a:rPr lang="en" sz="1800">
                <a:solidFill>
                  <a:srgbClr val="FFFFFF"/>
                </a:solidFill>
                <a:latin typeface="Montserrat"/>
                <a:ea typeface="Montserrat"/>
                <a:cs typeface="Montserrat"/>
                <a:sym typeface="Montserrat"/>
              </a:rPr>
              <a:t>The wallet signs a fresh proof with its holder key. Certify validates possession before binding the credential.</a:t>
            </a:r>
            <a:endParaRPr/>
          </a:p>
          <a:p>
            <a:pPr indent="0" lvl="0" marL="0" marR="0" rtl="0" algn="l">
              <a:spcBef>
                <a:spcPts val="0"/>
              </a:spcBef>
              <a:spcAft>
                <a:spcPts val="0"/>
              </a:spcAft>
              <a:buClr>
                <a:schemeClr val="dk1"/>
              </a:buClr>
              <a:buSzPts val="1800"/>
              <a:buFont typeface="Arial"/>
              <a:buNone/>
            </a:pPr>
            <a:r>
              <a:t/>
            </a:r>
            <a:endParaRPr sz="1800">
              <a:solidFill>
                <a:srgbClr val="FFFFFF"/>
              </a:solidFill>
              <a:latin typeface="Montserrat"/>
              <a:ea typeface="Montserrat"/>
              <a:cs typeface="Montserrat"/>
              <a:sym typeface="Montserrat"/>
            </a:endParaRPr>
          </a:p>
          <a:p>
            <a:pPr indent="0" lvl="0" marL="0" marR="0" rtl="0" algn="l">
              <a:spcBef>
                <a:spcPts val="1500"/>
              </a:spcBef>
              <a:spcAft>
                <a:spcPts val="0"/>
              </a:spcAft>
              <a:buClr>
                <a:srgbClr val="C7D0E8"/>
              </a:buClr>
              <a:buSzPts val="1200"/>
              <a:buFont typeface="Montserrat"/>
              <a:buNone/>
            </a:pPr>
            <a:r>
              <a:rPr b="0" lang="en" sz="1200">
                <a:solidFill>
                  <a:srgbClr val="C7D0E8"/>
                </a:solidFill>
                <a:latin typeface="Montserrat"/>
                <a:ea typeface="Montserrat"/>
                <a:cs typeface="Montserrat"/>
                <a:sym typeface="Montserrat"/>
              </a:rPr>
              <a:t>This is not user login and not credential verification.</a:t>
            </a:r>
            <a:endParaRPr/>
          </a:p>
        </p:txBody>
      </p:sp>
      <p:pic>
        <p:nvPicPr>
          <p:cNvPr id="236" name="Google Shape;236;p31"/>
          <p:cNvPicPr preferRelativeResize="0"/>
          <p:nvPr/>
        </p:nvPicPr>
        <p:blipFill rotWithShape="1">
          <a:blip r:embed="rId7">
            <a:alphaModFix/>
          </a:blip>
          <a:srcRect b="23807" l="19146" r="18491" t="22148"/>
          <a:stretch/>
        </p:blipFill>
        <p:spPr>
          <a:xfrm>
            <a:off x="8058150" y="333375"/>
            <a:ext cx="611102" cy="334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0" name="Shape 240"/>
        <p:cNvGrpSpPr/>
        <p:nvPr/>
      </p:nvGrpSpPr>
      <p:grpSpPr>
        <a:xfrm>
          <a:off x="0" y="0"/>
          <a:ext cx="0" cy="0"/>
          <a:chOff x="0" y="0"/>
          <a:chExt cx="0" cy="0"/>
        </a:xfrm>
      </p:grpSpPr>
      <p:pic>
        <p:nvPicPr>
          <p:cNvPr descr="A blue and red gradient&#10;&#10;AI-generated content may be incorrect." id="241" name="Google Shape;241;p32"/>
          <p:cNvPicPr preferRelativeResize="0"/>
          <p:nvPr/>
        </p:nvPicPr>
        <p:blipFill rotWithShape="1">
          <a:blip r:embed="rId3">
            <a:alphaModFix/>
          </a:blip>
          <a:srcRect b="0" l="0" r="0" t="0"/>
          <a:stretch/>
        </p:blipFill>
        <p:spPr>
          <a:xfrm>
            <a:off x="0" y="0"/>
            <a:ext cx="9147362" cy="5144475"/>
          </a:xfrm>
          <a:prstGeom prst="rect">
            <a:avLst/>
          </a:prstGeom>
          <a:noFill/>
          <a:ln>
            <a:noFill/>
          </a:ln>
        </p:spPr>
      </p:pic>
      <p:pic>
        <p:nvPicPr>
          <p:cNvPr descr="A black and white logo&#10;&#10;AI-generated content may be incorrect." id="242" name="Google Shape;242;p32"/>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pic>
        <p:nvPicPr>
          <p:cNvPr id="243" name="Google Shape;243;p32"/>
          <p:cNvPicPr preferRelativeResize="0"/>
          <p:nvPr/>
        </p:nvPicPr>
        <p:blipFill>
          <a:blip r:embed="rId5">
            <a:alphaModFix/>
          </a:blip>
          <a:stretch>
            <a:fillRect/>
          </a:stretch>
        </p:blipFill>
        <p:spPr>
          <a:xfrm>
            <a:off x="2429" y="0"/>
            <a:ext cx="9139139" cy="5143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33"/>
          <p:cNvPicPr preferRelativeResize="0"/>
          <p:nvPr/>
        </p:nvPicPr>
        <p:blipFill rotWithShape="1">
          <a:blip r:embed="rId3">
            <a:alphaModFix/>
          </a:blip>
          <a:srcRect b="0" l="0" r="0" t="0"/>
          <a:stretch/>
        </p:blipFill>
        <p:spPr>
          <a:xfrm>
            <a:off x="0" y="0"/>
            <a:ext cx="9147362" cy="5144475"/>
          </a:xfrm>
          <a:prstGeom prst="rect">
            <a:avLst/>
          </a:prstGeom>
          <a:noFill/>
          <a:ln>
            <a:noFill/>
          </a:ln>
        </p:spPr>
      </p:pic>
      <p:cxnSp>
        <p:nvCxnSpPr>
          <p:cNvPr id="250" name="Google Shape;250;p33"/>
          <p:cNvCxnSpPr/>
          <p:nvPr/>
        </p:nvCxnSpPr>
        <p:spPr>
          <a:xfrm>
            <a:off x="428625" y="381000"/>
            <a:ext cx="0" cy="4286400"/>
          </a:xfrm>
          <a:prstGeom prst="straightConnector1">
            <a:avLst/>
          </a:prstGeom>
          <a:noFill/>
          <a:ln cap="flat" cmpd="sng" w="28575">
            <a:solidFill>
              <a:srgbClr val="F2680C"/>
            </a:solidFill>
            <a:prstDash val="solid"/>
            <a:round/>
            <a:headEnd len="sm" w="sm" type="none"/>
            <a:tailEnd len="sm" w="sm" type="none"/>
          </a:ln>
        </p:spPr>
      </p:cxnSp>
      <p:sp>
        <p:nvSpPr>
          <p:cNvPr id="251" name="Google Shape;251;p33"/>
          <p:cNvSpPr/>
          <p:nvPr/>
        </p:nvSpPr>
        <p:spPr>
          <a:xfrm>
            <a:off x="571500" y="381000"/>
            <a:ext cx="80010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D0E8"/>
              </a:buClr>
              <a:buSzPts val="1200"/>
              <a:buFont typeface="Montserrat"/>
              <a:buNone/>
            </a:pPr>
            <a:r>
              <a:rPr b="1" lang="en" sz="1200">
                <a:solidFill>
                  <a:srgbClr val="C7D0E8"/>
                </a:solidFill>
                <a:latin typeface="Montserrat"/>
                <a:ea typeface="Montserrat"/>
                <a:cs typeface="Montserrat"/>
                <a:sym typeface="Montserrat"/>
              </a:rPr>
              <a:t>DAY 2 · MODULE 6 · OPENID4VCI</a:t>
            </a:r>
            <a:endParaRPr/>
          </a:p>
        </p:txBody>
      </p:sp>
      <p:sp>
        <p:nvSpPr>
          <p:cNvPr id="252" name="Google Shape;252;p33"/>
          <p:cNvSpPr/>
          <p:nvPr/>
        </p:nvSpPr>
        <p:spPr>
          <a:xfrm>
            <a:off x="571500" y="609600"/>
            <a:ext cx="8001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600"/>
              <a:buFont typeface="Montserrat"/>
              <a:buNone/>
            </a:pPr>
            <a:r>
              <a:rPr b="1" i="1" lang="en" sz="2600">
                <a:solidFill>
                  <a:srgbClr val="FFFFFF"/>
                </a:solidFill>
                <a:latin typeface="Montserrat"/>
                <a:ea typeface="Montserrat"/>
                <a:cs typeface="Montserrat"/>
                <a:sym typeface="Montserrat"/>
              </a:rPr>
              <a:t>The token endpoint</a:t>
            </a:r>
            <a:endParaRPr/>
          </a:p>
        </p:txBody>
      </p:sp>
      <p:pic>
        <p:nvPicPr>
          <p:cNvPr id="253" name="Google Shape;253;p33"/>
          <p:cNvPicPr preferRelativeResize="0"/>
          <p:nvPr/>
        </p:nvPicPr>
        <p:blipFill rotWithShape="1">
          <a:blip r:embed="rId4">
            <a:alphaModFix/>
          </a:blip>
          <a:srcRect b="24614" l="19065" r="18735" t="21539"/>
          <a:stretch/>
        </p:blipFill>
        <p:spPr>
          <a:xfrm>
            <a:off x="8248650" y="238125"/>
            <a:ext cx="609599" cy="333299"/>
          </a:xfrm>
          <a:prstGeom prst="rect">
            <a:avLst/>
          </a:prstGeom>
          <a:noFill/>
          <a:ln>
            <a:noFill/>
          </a:ln>
        </p:spPr>
      </p:pic>
      <p:sp>
        <p:nvSpPr>
          <p:cNvPr id="254" name="Google Shape;254;p33"/>
          <p:cNvSpPr/>
          <p:nvPr/>
        </p:nvSpPr>
        <p:spPr>
          <a:xfrm>
            <a:off x="2638425" y="1238250"/>
            <a:ext cx="2667000" cy="381000"/>
          </a:xfrm>
          <a:prstGeom prst="roundRect">
            <a:avLst>
              <a:gd fmla="val 20000" name="adj"/>
            </a:avLst>
          </a:prstGeom>
          <a:solidFill>
            <a:srgbClr val="FFFFFF">
              <a:alpha val="784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55" name="Google Shape;255;p33"/>
          <p:cNvSpPr/>
          <p:nvPr/>
        </p:nvSpPr>
        <p:spPr>
          <a:xfrm>
            <a:off x="2638425" y="1238250"/>
            <a:ext cx="2667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200"/>
              <a:buFont typeface="Montserrat"/>
              <a:buNone/>
            </a:pPr>
            <a:r>
              <a:rPr b="1" lang="en" sz="1200">
                <a:solidFill>
                  <a:srgbClr val="C7D0E8"/>
                </a:solidFill>
                <a:latin typeface="Montserrat"/>
                <a:ea typeface="Montserrat"/>
                <a:cs typeface="Montserrat"/>
                <a:sym typeface="Montserrat"/>
              </a:rPr>
              <a:t>PRE-AUTHORIZED CODE</a:t>
            </a:r>
            <a:endParaRPr/>
          </a:p>
        </p:txBody>
      </p:sp>
      <p:sp>
        <p:nvSpPr>
          <p:cNvPr id="256" name="Google Shape;256;p33"/>
          <p:cNvSpPr/>
          <p:nvPr/>
        </p:nvSpPr>
        <p:spPr>
          <a:xfrm>
            <a:off x="5495925" y="1238250"/>
            <a:ext cx="2952900" cy="381000"/>
          </a:xfrm>
          <a:prstGeom prst="roundRect">
            <a:avLst>
              <a:gd fmla="val 20000" name="adj"/>
            </a:avLst>
          </a:prstGeom>
          <a:solidFill>
            <a:srgbClr val="951F6F"/>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57" name="Google Shape;257;p33"/>
          <p:cNvSpPr/>
          <p:nvPr/>
        </p:nvSpPr>
        <p:spPr>
          <a:xfrm>
            <a:off x="5495925" y="1238250"/>
            <a:ext cx="29529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Montserrat"/>
              <a:buNone/>
            </a:pPr>
            <a:r>
              <a:rPr b="1" lang="en" sz="1200">
                <a:solidFill>
                  <a:srgbClr val="FFFFFF"/>
                </a:solidFill>
                <a:latin typeface="Montserrat"/>
                <a:ea typeface="Montserrat"/>
                <a:cs typeface="Montserrat"/>
                <a:sym typeface="Montserrat"/>
              </a:rPr>
              <a:t>AUTHORIZATION CODE</a:t>
            </a:r>
            <a:endParaRPr/>
          </a:p>
        </p:txBody>
      </p:sp>
      <p:sp>
        <p:nvSpPr>
          <p:cNvPr id="258" name="Google Shape;258;p33"/>
          <p:cNvSpPr/>
          <p:nvPr/>
        </p:nvSpPr>
        <p:spPr>
          <a:xfrm>
            <a:off x="733425" y="1762125"/>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Starts with</a:t>
            </a:r>
            <a:endParaRPr/>
          </a:p>
        </p:txBody>
      </p:sp>
      <p:sp>
        <p:nvSpPr>
          <p:cNvPr id="259" name="Google Shape;259;p33"/>
          <p:cNvSpPr/>
          <p:nvPr/>
        </p:nvSpPr>
        <p:spPr>
          <a:xfrm>
            <a:off x="2638425" y="1762125"/>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60" name="Google Shape;260;p33"/>
          <p:cNvSpPr/>
          <p:nvPr/>
        </p:nvSpPr>
        <p:spPr>
          <a:xfrm>
            <a:off x="2781300" y="1762125"/>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Credential offer</a:t>
            </a:r>
            <a:endParaRPr/>
          </a:p>
        </p:txBody>
      </p:sp>
      <p:sp>
        <p:nvSpPr>
          <p:cNvPr id="261" name="Google Shape;261;p33"/>
          <p:cNvSpPr/>
          <p:nvPr/>
        </p:nvSpPr>
        <p:spPr>
          <a:xfrm>
            <a:off x="5495925" y="1762125"/>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62" name="Google Shape;262;p33"/>
          <p:cNvSpPr/>
          <p:nvPr/>
        </p:nvSpPr>
        <p:spPr>
          <a:xfrm>
            <a:off x="5638800" y="1762125"/>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Interactive authorization</a:t>
            </a:r>
            <a:endParaRPr/>
          </a:p>
        </p:txBody>
      </p:sp>
      <p:sp>
        <p:nvSpPr>
          <p:cNvPr id="263" name="Google Shape;263;p33"/>
          <p:cNvSpPr/>
          <p:nvPr/>
        </p:nvSpPr>
        <p:spPr>
          <a:xfrm>
            <a:off x="733425" y="2476500"/>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Primary grant</a:t>
            </a:r>
            <a:endParaRPr/>
          </a:p>
        </p:txBody>
      </p:sp>
      <p:sp>
        <p:nvSpPr>
          <p:cNvPr id="264" name="Google Shape;264;p33"/>
          <p:cNvSpPr/>
          <p:nvPr/>
        </p:nvSpPr>
        <p:spPr>
          <a:xfrm>
            <a:off x="2638425" y="2476500"/>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65" name="Google Shape;265;p33"/>
          <p:cNvSpPr/>
          <p:nvPr/>
        </p:nvSpPr>
        <p:spPr>
          <a:xfrm>
            <a:off x="2781300" y="2476500"/>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pre-authorized_code</a:t>
            </a:r>
            <a:endParaRPr/>
          </a:p>
        </p:txBody>
      </p:sp>
      <p:sp>
        <p:nvSpPr>
          <p:cNvPr id="266" name="Google Shape;266;p33"/>
          <p:cNvSpPr/>
          <p:nvPr/>
        </p:nvSpPr>
        <p:spPr>
          <a:xfrm>
            <a:off x="5495925" y="2476500"/>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67" name="Google Shape;267;p33"/>
          <p:cNvSpPr/>
          <p:nvPr/>
        </p:nvSpPr>
        <p:spPr>
          <a:xfrm>
            <a:off x="5638800" y="2476500"/>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authorization_code</a:t>
            </a:r>
            <a:endParaRPr/>
          </a:p>
        </p:txBody>
      </p:sp>
      <p:sp>
        <p:nvSpPr>
          <p:cNvPr id="268" name="Google Shape;268;p33"/>
          <p:cNvSpPr/>
          <p:nvPr/>
        </p:nvSpPr>
        <p:spPr>
          <a:xfrm>
            <a:off x="733425" y="3190875"/>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Extra control</a:t>
            </a:r>
            <a:endParaRPr/>
          </a:p>
        </p:txBody>
      </p:sp>
      <p:sp>
        <p:nvSpPr>
          <p:cNvPr id="269" name="Google Shape;269;p33"/>
          <p:cNvSpPr/>
          <p:nvPr/>
        </p:nvSpPr>
        <p:spPr>
          <a:xfrm>
            <a:off x="2638425" y="3190875"/>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0" name="Google Shape;270;p33"/>
          <p:cNvSpPr/>
          <p:nvPr/>
        </p:nvSpPr>
        <p:spPr>
          <a:xfrm>
            <a:off x="2781300" y="3190875"/>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Optional transaction code</a:t>
            </a:r>
            <a:endParaRPr/>
          </a:p>
        </p:txBody>
      </p:sp>
      <p:sp>
        <p:nvSpPr>
          <p:cNvPr id="271" name="Google Shape;271;p33"/>
          <p:cNvSpPr/>
          <p:nvPr/>
        </p:nvSpPr>
        <p:spPr>
          <a:xfrm>
            <a:off x="5495925" y="3190875"/>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2" name="Google Shape;272;p33"/>
          <p:cNvSpPr/>
          <p:nvPr/>
        </p:nvSpPr>
        <p:spPr>
          <a:xfrm>
            <a:off x="5638800" y="3190875"/>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PKCE code verifier</a:t>
            </a:r>
            <a:endParaRPr/>
          </a:p>
        </p:txBody>
      </p:sp>
      <p:sp>
        <p:nvSpPr>
          <p:cNvPr id="273" name="Google Shape;273;p33"/>
          <p:cNvSpPr/>
          <p:nvPr/>
        </p:nvSpPr>
        <p:spPr>
          <a:xfrm>
            <a:off x="733425" y="3905250"/>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Result</a:t>
            </a:r>
            <a:endParaRPr/>
          </a:p>
        </p:txBody>
      </p:sp>
      <p:sp>
        <p:nvSpPr>
          <p:cNvPr id="274" name="Google Shape;274;p33"/>
          <p:cNvSpPr/>
          <p:nvPr/>
        </p:nvSpPr>
        <p:spPr>
          <a:xfrm>
            <a:off x="2638425" y="3905250"/>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5" name="Google Shape;275;p33"/>
          <p:cNvSpPr/>
          <p:nvPr/>
        </p:nvSpPr>
        <p:spPr>
          <a:xfrm>
            <a:off x="2781300" y="3905250"/>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Access token</a:t>
            </a:r>
            <a:endParaRPr/>
          </a:p>
        </p:txBody>
      </p:sp>
      <p:sp>
        <p:nvSpPr>
          <p:cNvPr id="276" name="Google Shape;276;p33"/>
          <p:cNvSpPr/>
          <p:nvPr/>
        </p:nvSpPr>
        <p:spPr>
          <a:xfrm>
            <a:off x="5495925" y="3905250"/>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7" name="Google Shape;277;p33"/>
          <p:cNvSpPr/>
          <p:nvPr/>
        </p:nvSpPr>
        <p:spPr>
          <a:xfrm>
            <a:off x="5638800" y="3905250"/>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Access token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34"/>
          <p:cNvPicPr preferRelativeResize="0"/>
          <p:nvPr/>
        </p:nvPicPr>
        <p:blipFill rotWithShape="1">
          <a:blip r:embed="rId3">
            <a:alphaModFix/>
          </a:blip>
          <a:srcRect b="0" l="0" r="0" t="0"/>
          <a:stretch/>
        </p:blipFill>
        <p:spPr>
          <a:xfrm>
            <a:off x="0" y="0"/>
            <a:ext cx="9147362" cy="5144475"/>
          </a:xfrm>
          <a:prstGeom prst="rect">
            <a:avLst/>
          </a:prstGeom>
          <a:noFill/>
          <a:ln>
            <a:noFill/>
          </a:ln>
        </p:spPr>
      </p:pic>
      <p:cxnSp>
        <p:nvCxnSpPr>
          <p:cNvPr id="284" name="Google Shape;284;p34"/>
          <p:cNvCxnSpPr/>
          <p:nvPr/>
        </p:nvCxnSpPr>
        <p:spPr>
          <a:xfrm>
            <a:off x="428625" y="381000"/>
            <a:ext cx="0" cy="4286400"/>
          </a:xfrm>
          <a:prstGeom prst="straightConnector1">
            <a:avLst/>
          </a:prstGeom>
          <a:noFill/>
          <a:ln cap="flat" cmpd="sng" w="28575">
            <a:solidFill>
              <a:srgbClr val="F2680C"/>
            </a:solidFill>
            <a:prstDash val="solid"/>
            <a:round/>
            <a:headEnd len="sm" w="sm" type="none"/>
            <a:tailEnd len="sm" w="sm" type="none"/>
          </a:ln>
        </p:spPr>
      </p:cxnSp>
      <p:sp>
        <p:nvSpPr>
          <p:cNvPr id="285" name="Google Shape;285;p34"/>
          <p:cNvSpPr/>
          <p:nvPr/>
        </p:nvSpPr>
        <p:spPr>
          <a:xfrm>
            <a:off x="571500" y="381000"/>
            <a:ext cx="80010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D0E8"/>
              </a:buClr>
              <a:buSzPts val="1200"/>
              <a:buFont typeface="Montserrat"/>
              <a:buNone/>
            </a:pPr>
            <a:r>
              <a:rPr b="1" lang="en" sz="1200">
                <a:solidFill>
                  <a:srgbClr val="C7D0E8"/>
                </a:solidFill>
                <a:latin typeface="Montserrat"/>
                <a:ea typeface="Montserrat"/>
                <a:cs typeface="Montserrat"/>
                <a:sym typeface="Montserrat"/>
              </a:rPr>
              <a:t>DAY 2 · MODULE 6 · OPENID4VCI</a:t>
            </a:r>
            <a:endParaRPr/>
          </a:p>
        </p:txBody>
      </p:sp>
      <p:sp>
        <p:nvSpPr>
          <p:cNvPr id="286" name="Google Shape;286;p34"/>
          <p:cNvSpPr/>
          <p:nvPr/>
        </p:nvSpPr>
        <p:spPr>
          <a:xfrm>
            <a:off x="571500" y="609600"/>
            <a:ext cx="8001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600"/>
              <a:buFont typeface="Montserrat"/>
              <a:buNone/>
            </a:pPr>
            <a:r>
              <a:rPr b="1" i="1" lang="en" sz="2600">
                <a:solidFill>
                  <a:srgbClr val="FFFFFF"/>
                </a:solidFill>
                <a:latin typeface="Montserrat"/>
                <a:ea typeface="Montserrat"/>
                <a:cs typeface="Montserrat"/>
                <a:sym typeface="Montserrat"/>
              </a:rPr>
              <a:t>The credential endpoint</a:t>
            </a:r>
            <a:endParaRPr/>
          </a:p>
        </p:txBody>
      </p:sp>
      <p:pic>
        <p:nvPicPr>
          <p:cNvPr id="287" name="Google Shape;287;p34"/>
          <p:cNvPicPr preferRelativeResize="0"/>
          <p:nvPr/>
        </p:nvPicPr>
        <p:blipFill rotWithShape="1">
          <a:blip r:embed="rId4">
            <a:alphaModFix/>
          </a:blip>
          <a:srcRect b="24614" l="19065" r="18735" t="21539"/>
          <a:stretch/>
        </p:blipFill>
        <p:spPr>
          <a:xfrm>
            <a:off x="8248650" y="238125"/>
            <a:ext cx="609599" cy="333299"/>
          </a:xfrm>
          <a:prstGeom prst="rect">
            <a:avLst/>
          </a:prstGeom>
          <a:noFill/>
          <a:ln>
            <a:noFill/>
          </a:ln>
        </p:spPr>
      </p:pic>
      <p:sp>
        <p:nvSpPr>
          <p:cNvPr id="288" name="Google Shape;288;p34"/>
          <p:cNvSpPr/>
          <p:nvPr/>
        </p:nvSpPr>
        <p:spPr>
          <a:xfrm>
            <a:off x="2638425" y="1238250"/>
            <a:ext cx="2667000" cy="381000"/>
          </a:xfrm>
          <a:prstGeom prst="roundRect">
            <a:avLst>
              <a:gd fmla="val 20000" name="adj"/>
            </a:avLst>
          </a:prstGeom>
          <a:solidFill>
            <a:srgbClr val="FFFFFF">
              <a:alpha val="784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89" name="Google Shape;289;p34"/>
          <p:cNvSpPr/>
          <p:nvPr/>
        </p:nvSpPr>
        <p:spPr>
          <a:xfrm>
            <a:off x="2638425" y="1238250"/>
            <a:ext cx="2667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200"/>
              <a:buFont typeface="Montserrat"/>
              <a:buNone/>
            </a:pPr>
            <a:r>
              <a:rPr b="1" lang="en" sz="1200">
                <a:solidFill>
                  <a:srgbClr val="C7D0E8"/>
                </a:solidFill>
                <a:latin typeface="Montserrat"/>
                <a:ea typeface="Montserrat"/>
                <a:cs typeface="Montserrat"/>
                <a:sym typeface="Montserrat"/>
              </a:rPr>
              <a:t>REQUEST</a:t>
            </a:r>
            <a:endParaRPr/>
          </a:p>
        </p:txBody>
      </p:sp>
      <p:sp>
        <p:nvSpPr>
          <p:cNvPr id="290" name="Google Shape;290;p34"/>
          <p:cNvSpPr/>
          <p:nvPr/>
        </p:nvSpPr>
        <p:spPr>
          <a:xfrm>
            <a:off x="5495925" y="1238250"/>
            <a:ext cx="2952900" cy="381000"/>
          </a:xfrm>
          <a:prstGeom prst="roundRect">
            <a:avLst>
              <a:gd fmla="val 20000" name="adj"/>
            </a:avLst>
          </a:prstGeom>
          <a:solidFill>
            <a:srgbClr val="951F6F"/>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1" name="Google Shape;291;p34"/>
          <p:cNvSpPr/>
          <p:nvPr/>
        </p:nvSpPr>
        <p:spPr>
          <a:xfrm>
            <a:off x="5495925" y="1238250"/>
            <a:ext cx="29529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Montserrat"/>
              <a:buNone/>
            </a:pPr>
            <a:r>
              <a:rPr b="1" lang="en" sz="1200">
                <a:solidFill>
                  <a:srgbClr val="FFFFFF"/>
                </a:solidFill>
                <a:latin typeface="Montserrat"/>
                <a:ea typeface="Montserrat"/>
                <a:cs typeface="Montserrat"/>
                <a:sym typeface="Montserrat"/>
              </a:rPr>
              <a:t>RESPONSE</a:t>
            </a:r>
            <a:endParaRPr/>
          </a:p>
        </p:txBody>
      </p:sp>
      <p:sp>
        <p:nvSpPr>
          <p:cNvPr id="292" name="Google Shape;292;p34"/>
          <p:cNvSpPr/>
          <p:nvPr/>
        </p:nvSpPr>
        <p:spPr>
          <a:xfrm>
            <a:off x="733425" y="1762125"/>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Authorization</a:t>
            </a:r>
            <a:endParaRPr/>
          </a:p>
        </p:txBody>
      </p:sp>
      <p:sp>
        <p:nvSpPr>
          <p:cNvPr id="293" name="Google Shape;293;p34"/>
          <p:cNvSpPr/>
          <p:nvPr/>
        </p:nvSpPr>
        <p:spPr>
          <a:xfrm>
            <a:off x="2638425" y="1762125"/>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4" name="Google Shape;294;p34"/>
          <p:cNvSpPr/>
          <p:nvPr/>
        </p:nvSpPr>
        <p:spPr>
          <a:xfrm>
            <a:off x="2781300" y="1762125"/>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Bearer access token</a:t>
            </a:r>
            <a:endParaRPr/>
          </a:p>
        </p:txBody>
      </p:sp>
      <p:sp>
        <p:nvSpPr>
          <p:cNvPr id="295" name="Google Shape;295;p34"/>
          <p:cNvSpPr/>
          <p:nvPr/>
        </p:nvSpPr>
        <p:spPr>
          <a:xfrm>
            <a:off x="5495925" y="1762125"/>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6" name="Google Shape;296;p34"/>
          <p:cNvSpPr/>
          <p:nvPr/>
        </p:nvSpPr>
        <p:spPr>
          <a:xfrm>
            <a:off x="5638800" y="1762125"/>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Token validated</a:t>
            </a:r>
            <a:endParaRPr/>
          </a:p>
        </p:txBody>
      </p:sp>
      <p:sp>
        <p:nvSpPr>
          <p:cNvPr id="297" name="Google Shape;297;p34"/>
          <p:cNvSpPr/>
          <p:nvPr/>
        </p:nvSpPr>
        <p:spPr>
          <a:xfrm>
            <a:off x="733425" y="2476500"/>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Selection</a:t>
            </a:r>
            <a:endParaRPr/>
          </a:p>
        </p:txBody>
      </p:sp>
      <p:sp>
        <p:nvSpPr>
          <p:cNvPr id="298" name="Google Shape;298;p34"/>
          <p:cNvSpPr/>
          <p:nvPr/>
        </p:nvSpPr>
        <p:spPr>
          <a:xfrm>
            <a:off x="2638425" y="2476500"/>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9" name="Google Shape;299;p34"/>
          <p:cNvSpPr/>
          <p:nvPr/>
        </p:nvSpPr>
        <p:spPr>
          <a:xfrm>
            <a:off x="2781300" y="2476500"/>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credential_configuration_id</a:t>
            </a:r>
            <a:endParaRPr/>
          </a:p>
        </p:txBody>
      </p:sp>
      <p:sp>
        <p:nvSpPr>
          <p:cNvPr id="300" name="Google Shape;300;p34"/>
          <p:cNvSpPr/>
          <p:nvPr/>
        </p:nvSpPr>
        <p:spPr>
          <a:xfrm>
            <a:off x="5495925" y="2476500"/>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01" name="Google Shape;301;p34"/>
          <p:cNvSpPr/>
          <p:nvPr/>
        </p:nvSpPr>
        <p:spPr>
          <a:xfrm>
            <a:off x="5638800" y="2476500"/>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Configured credential</a:t>
            </a:r>
            <a:endParaRPr/>
          </a:p>
        </p:txBody>
      </p:sp>
      <p:sp>
        <p:nvSpPr>
          <p:cNvPr id="302" name="Google Shape;302;p34"/>
          <p:cNvSpPr/>
          <p:nvPr/>
        </p:nvSpPr>
        <p:spPr>
          <a:xfrm>
            <a:off x="733425" y="3190875"/>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Binding</a:t>
            </a:r>
            <a:endParaRPr/>
          </a:p>
        </p:txBody>
      </p:sp>
      <p:sp>
        <p:nvSpPr>
          <p:cNvPr id="303" name="Google Shape;303;p34"/>
          <p:cNvSpPr/>
          <p:nvPr/>
        </p:nvSpPr>
        <p:spPr>
          <a:xfrm>
            <a:off x="2638425" y="3190875"/>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04" name="Google Shape;304;p34"/>
          <p:cNvSpPr/>
          <p:nvPr/>
        </p:nvSpPr>
        <p:spPr>
          <a:xfrm>
            <a:off x="2781300" y="3190875"/>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proofs / key proof</a:t>
            </a:r>
            <a:endParaRPr/>
          </a:p>
        </p:txBody>
      </p:sp>
      <p:sp>
        <p:nvSpPr>
          <p:cNvPr id="305" name="Google Shape;305;p34"/>
          <p:cNvSpPr/>
          <p:nvPr/>
        </p:nvSpPr>
        <p:spPr>
          <a:xfrm>
            <a:off x="5495925" y="3190875"/>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06" name="Google Shape;306;p34"/>
          <p:cNvSpPr/>
          <p:nvPr/>
        </p:nvSpPr>
        <p:spPr>
          <a:xfrm>
            <a:off x="5638800" y="3190875"/>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Holder binding applied</a:t>
            </a:r>
            <a:endParaRPr/>
          </a:p>
        </p:txBody>
      </p:sp>
      <p:sp>
        <p:nvSpPr>
          <p:cNvPr id="307" name="Google Shape;307;p34"/>
          <p:cNvSpPr/>
          <p:nvPr/>
        </p:nvSpPr>
        <p:spPr>
          <a:xfrm>
            <a:off x="733425" y="3905250"/>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Outcome</a:t>
            </a:r>
            <a:endParaRPr/>
          </a:p>
        </p:txBody>
      </p:sp>
      <p:sp>
        <p:nvSpPr>
          <p:cNvPr id="308" name="Google Shape;308;p34"/>
          <p:cNvSpPr/>
          <p:nvPr/>
        </p:nvSpPr>
        <p:spPr>
          <a:xfrm>
            <a:off x="2638425" y="3905250"/>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09" name="Google Shape;309;p34"/>
          <p:cNvSpPr/>
          <p:nvPr/>
        </p:nvSpPr>
        <p:spPr>
          <a:xfrm>
            <a:off x="2781300" y="3905250"/>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Format-specific request</a:t>
            </a:r>
            <a:endParaRPr/>
          </a:p>
        </p:txBody>
      </p:sp>
      <p:sp>
        <p:nvSpPr>
          <p:cNvPr id="310" name="Google Shape;310;p34"/>
          <p:cNvSpPr/>
          <p:nvPr/>
        </p:nvSpPr>
        <p:spPr>
          <a:xfrm>
            <a:off x="5495925" y="3905250"/>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311" name="Google Shape;311;p34"/>
          <p:cNvSpPr/>
          <p:nvPr/>
        </p:nvSpPr>
        <p:spPr>
          <a:xfrm>
            <a:off x="5638800" y="3905250"/>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Credential(s) or deferred transaction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35"/>
          <p:cNvPicPr preferRelativeResize="0"/>
          <p:nvPr/>
        </p:nvPicPr>
        <p:blipFill rotWithShape="1">
          <a:blip r:embed="rId3">
            <a:alphaModFix/>
          </a:blip>
          <a:srcRect b="0" l="0" r="0" t="0"/>
          <a:stretch/>
        </p:blipFill>
        <p:spPr>
          <a:xfrm>
            <a:off x="0" y="0"/>
            <a:ext cx="9147362" cy="5144475"/>
          </a:xfrm>
          <a:prstGeom prst="rect">
            <a:avLst/>
          </a:prstGeom>
          <a:noFill/>
          <a:ln>
            <a:noFill/>
          </a:ln>
        </p:spPr>
      </p:pic>
      <p:pic>
        <p:nvPicPr>
          <p:cNvPr id="318" name="Google Shape;318;p35"/>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sp>
        <p:nvSpPr>
          <p:cNvPr id="319" name="Google Shape;319;p35"/>
          <p:cNvSpPr/>
          <p:nvPr/>
        </p:nvSpPr>
        <p:spPr>
          <a:xfrm>
            <a:off x="571500" y="381000"/>
            <a:ext cx="800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2 · MODULE 7 · WALLET INTEGRATION</a:t>
            </a:r>
            <a:endParaRPr/>
          </a:p>
        </p:txBody>
      </p:sp>
      <p:sp>
        <p:nvSpPr>
          <p:cNvPr id="320" name="Google Shape;320;p35"/>
          <p:cNvSpPr/>
          <p:nvPr/>
        </p:nvSpPr>
        <p:spPr>
          <a:xfrm>
            <a:off x="571500" y="66675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60"/>
              <a:buFont typeface="Montserrat"/>
              <a:buNone/>
            </a:pPr>
            <a:r>
              <a:rPr b="1" i="1" lang="en" sz="2960">
                <a:solidFill>
                  <a:srgbClr val="FFFFFF"/>
                </a:solidFill>
                <a:latin typeface="Montserrat"/>
                <a:ea typeface="Montserrat"/>
                <a:cs typeface="Montserrat"/>
                <a:sym typeface="Montserrat"/>
              </a:rPr>
              <a:t>The wallet composes focused libraries</a:t>
            </a:r>
            <a:endParaRPr/>
          </a:p>
        </p:txBody>
      </p:sp>
      <p:pic>
        <p:nvPicPr>
          <p:cNvPr id="321" name="Google Shape;321;p35"/>
          <p:cNvPicPr preferRelativeResize="0"/>
          <p:nvPr/>
        </p:nvPicPr>
        <p:blipFill rotWithShape="1">
          <a:blip r:embed="rId5">
            <a:alphaModFix/>
          </a:blip>
          <a:srcRect b="23807" l="19146" r="18491" t="22148"/>
          <a:stretch/>
        </p:blipFill>
        <p:spPr>
          <a:xfrm>
            <a:off x="8058150" y="333375"/>
            <a:ext cx="611102" cy="334500"/>
          </a:xfrm>
          <a:prstGeom prst="rect">
            <a:avLst/>
          </a:prstGeom>
          <a:noFill/>
          <a:ln>
            <a:noFill/>
          </a:ln>
        </p:spPr>
      </p:pic>
      <p:grpSp>
        <p:nvGrpSpPr>
          <p:cNvPr id="322" name="Google Shape;322;p35"/>
          <p:cNvGrpSpPr/>
          <p:nvPr/>
        </p:nvGrpSpPr>
        <p:grpSpPr>
          <a:xfrm>
            <a:off x="571500" y="1333500"/>
            <a:ext cx="2381400" cy="1809600"/>
            <a:chOff x="0" y="0"/>
            <a:chExt cx="2381400" cy="1809600"/>
          </a:xfrm>
        </p:grpSpPr>
        <p:sp>
          <p:nvSpPr>
            <p:cNvPr id="323" name="Google Shape;323;p35"/>
            <p:cNvSpPr/>
            <p:nvPr/>
          </p:nvSpPr>
          <p:spPr>
            <a:xfrm>
              <a:off x="0" y="0"/>
              <a:ext cx="2381400" cy="1809600"/>
            </a:xfrm>
            <a:prstGeom prst="roundRect">
              <a:avLst>
                <a:gd fmla="val 6315" name="adj"/>
              </a:avLst>
            </a:prstGeom>
            <a:solidFill>
              <a:srgbClr val="FFFFFF">
                <a:alpha val="5000"/>
              </a:srgbClr>
            </a:solidFill>
            <a:ln cap="flat" cmpd="sng" w="14300">
              <a:solidFill>
                <a:srgbClr val="E8362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35"/>
            <p:cNvSpPr/>
            <p:nvPr/>
          </p:nvSpPr>
          <p:spPr>
            <a:xfrm>
              <a:off x="152400" y="152400"/>
              <a:ext cx="2076600" cy="38100"/>
            </a:xfrm>
            <a:prstGeom prst="roundRect">
              <a:avLst>
                <a:gd fmla="val 50000" name="adj"/>
              </a:avLst>
            </a:prstGeom>
            <a:solidFill>
              <a:srgbClr val="E8362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35"/>
            <p:cNvSpPr txBox="1"/>
            <p:nvPr/>
          </p:nvSpPr>
          <p:spPr>
            <a:xfrm>
              <a:off x="152400" y="304800"/>
              <a:ext cx="2076600" cy="135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E8362D"/>
                  </a:solidFill>
                  <a:latin typeface="Montserrat"/>
                  <a:ea typeface="Montserrat"/>
                  <a:cs typeface="Montserrat"/>
                  <a:sym typeface="Montserrat"/>
                </a:rPr>
                <a:t>01 / EXPERIENCE</a:t>
              </a:r>
              <a:endParaRPr b="1" sz="900">
                <a:solidFill>
                  <a:srgbClr val="E8362D"/>
                </a:solidFill>
                <a:latin typeface="Montserrat"/>
                <a:ea typeface="Montserrat"/>
                <a:cs typeface="Montserrat"/>
                <a:sym typeface="Montserrat"/>
              </a:endParaRPr>
            </a:p>
            <a:p>
              <a:pPr indent="0" lvl="0" marL="0" rtl="0" algn="l">
                <a:spcBef>
                  <a:spcPts val="750"/>
                </a:spcBef>
                <a:spcAft>
                  <a:spcPts val="0"/>
                </a:spcAft>
                <a:buNone/>
              </a:pPr>
              <a:r>
                <a:rPr b="1" lang="en" sz="1800">
                  <a:solidFill>
                    <a:srgbClr val="FFFFFF"/>
                  </a:solidFill>
                  <a:latin typeface="Montserrat"/>
                  <a:ea typeface="Montserrat"/>
                  <a:cs typeface="Montserrat"/>
                  <a:sym typeface="Montserrat"/>
                </a:rPr>
                <a:t>App UI</a:t>
              </a:r>
              <a:endParaRPr b="1" sz="1800">
                <a:solidFill>
                  <a:srgbClr val="FFFFFF"/>
                </a:solidFill>
                <a:latin typeface="Montserrat"/>
                <a:ea typeface="Montserrat"/>
                <a:cs typeface="Montserrat"/>
                <a:sym typeface="Montserrat"/>
              </a:endParaRPr>
            </a:p>
            <a:p>
              <a:pPr indent="0" lvl="0" marL="0" rtl="0" algn="l">
                <a:spcBef>
                  <a:spcPts val="750"/>
                </a:spcBef>
                <a:spcAft>
                  <a:spcPts val="0"/>
                </a:spcAft>
                <a:buNone/>
              </a:pPr>
              <a:r>
                <a:rPr b="0" lang="en" sz="1100">
                  <a:solidFill>
                    <a:srgbClr val="C7D0E8"/>
                  </a:solidFill>
                  <a:latin typeface="Montserrat"/>
                  <a:ea typeface="Montserrat"/>
                  <a:cs typeface="Montserrat"/>
                  <a:sym typeface="Montserrat"/>
                </a:rPr>
                <a:t>Handles direct user interactions and user intent capture.</a:t>
              </a:r>
              <a:endParaRPr b="0" sz="1100">
                <a:solidFill>
                  <a:srgbClr val="C7D0E8"/>
                </a:solidFill>
                <a:latin typeface="Montserrat"/>
                <a:ea typeface="Montserrat"/>
                <a:cs typeface="Montserrat"/>
                <a:sym typeface="Montserrat"/>
              </a:endParaRPr>
            </a:p>
          </p:txBody>
        </p:sp>
      </p:grpSp>
      <p:sp>
        <p:nvSpPr>
          <p:cNvPr id="326" name="Google Shape;326;p35"/>
          <p:cNvSpPr/>
          <p:nvPr/>
        </p:nvSpPr>
        <p:spPr>
          <a:xfrm>
            <a:off x="3067050" y="2162175"/>
            <a:ext cx="95400" cy="114300"/>
          </a:xfrm>
          <a:custGeom>
            <a:rect b="b" l="l" r="r" t="t"/>
            <a:pathLst>
              <a:path extrusionOk="0" h="120000" w="120000">
                <a:moveTo>
                  <a:pt x="0" y="0"/>
                </a:moveTo>
                <a:lnTo>
                  <a:pt x="120000" y="60000"/>
                </a:lnTo>
                <a:lnTo>
                  <a:pt x="0" y="120000"/>
                </a:lnTo>
                <a:close/>
              </a:path>
            </a:pathLst>
          </a:custGeom>
          <a:solidFill>
            <a:srgbClr val="C7D0E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27" name="Google Shape;327;p35"/>
          <p:cNvGrpSpPr/>
          <p:nvPr/>
        </p:nvGrpSpPr>
        <p:grpSpPr>
          <a:xfrm>
            <a:off x="3276600" y="1333500"/>
            <a:ext cx="2381400" cy="1809600"/>
            <a:chOff x="0" y="0"/>
            <a:chExt cx="2381400" cy="1809600"/>
          </a:xfrm>
        </p:grpSpPr>
        <p:sp>
          <p:nvSpPr>
            <p:cNvPr id="328" name="Google Shape;328;p35"/>
            <p:cNvSpPr/>
            <p:nvPr/>
          </p:nvSpPr>
          <p:spPr>
            <a:xfrm>
              <a:off x="0" y="0"/>
              <a:ext cx="2381400" cy="1809600"/>
            </a:xfrm>
            <a:prstGeom prst="roundRect">
              <a:avLst>
                <a:gd fmla="val 6315" name="adj"/>
              </a:avLst>
            </a:prstGeom>
            <a:solidFill>
              <a:srgbClr val="FFFFFF">
                <a:alpha val="5000"/>
              </a:srgbClr>
            </a:solidFill>
            <a:ln cap="flat" cmpd="sng" w="14300">
              <a:solidFill>
                <a:srgbClr val="D6315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35"/>
            <p:cNvSpPr/>
            <p:nvPr/>
          </p:nvSpPr>
          <p:spPr>
            <a:xfrm>
              <a:off x="152400" y="152400"/>
              <a:ext cx="2076600" cy="38100"/>
            </a:xfrm>
            <a:prstGeom prst="roundRect">
              <a:avLst>
                <a:gd fmla="val 50000" name="adj"/>
              </a:avLst>
            </a:prstGeom>
            <a:solidFill>
              <a:srgbClr val="D6315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35"/>
            <p:cNvSpPr txBox="1"/>
            <p:nvPr/>
          </p:nvSpPr>
          <p:spPr>
            <a:xfrm>
              <a:off x="152400" y="304800"/>
              <a:ext cx="2076600" cy="135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D63156"/>
                  </a:solidFill>
                  <a:latin typeface="Montserrat"/>
                  <a:ea typeface="Montserrat"/>
                  <a:cs typeface="Montserrat"/>
                  <a:sym typeface="Montserrat"/>
                </a:rPr>
                <a:t>02 / ORCHESTRATE</a:t>
              </a:r>
              <a:endParaRPr b="1" sz="900">
                <a:solidFill>
                  <a:srgbClr val="D63156"/>
                </a:solidFill>
                <a:latin typeface="Montserrat"/>
                <a:ea typeface="Montserrat"/>
                <a:cs typeface="Montserrat"/>
                <a:sym typeface="Montserrat"/>
              </a:endParaRPr>
            </a:p>
            <a:p>
              <a:pPr indent="0" lvl="0" marL="0" rtl="0" algn="l">
                <a:spcBef>
                  <a:spcPts val="750"/>
                </a:spcBef>
                <a:spcAft>
                  <a:spcPts val="0"/>
                </a:spcAft>
                <a:buNone/>
              </a:pPr>
              <a:r>
                <a:rPr b="1" lang="en" sz="1800">
                  <a:solidFill>
                    <a:srgbClr val="FFFFFF"/>
                  </a:solidFill>
                  <a:latin typeface="Montserrat"/>
                  <a:ea typeface="Montserrat"/>
                  <a:cs typeface="Montserrat"/>
                  <a:sym typeface="Montserrat"/>
                </a:rPr>
                <a:t>State + workflow</a:t>
              </a:r>
              <a:endParaRPr b="1" sz="1800">
                <a:solidFill>
                  <a:srgbClr val="FFFFFF"/>
                </a:solidFill>
                <a:latin typeface="Montserrat"/>
                <a:ea typeface="Montserrat"/>
                <a:cs typeface="Montserrat"/>
                <a:sym typeface="Montserrat"/>
              </a:endParaRPr>
            </a:p>
            <a:p>
              <a:pPr indent="0" lvl="0" marL="0" rtl="0" algn="l">
                <a:spcBef>
                  <a:spcPts val="750"/>
                </a:spcBef>
                <a:spcAft>
                  <a:spcPts val="0"/>
                </a:spcAft>
                <a:buNone/>
              </a:pPr>
              <a:r>
                <a:rPr b="0" lang="en" sz="1100">
                  <a:solidFill>
                    <a:srgbClr val="C7D0E8"/>
                  </a:solidFill>
                  <a:latin typeface="Montserrat"/>
                  <a:ea typeface="Montserrat"/>
                  <a:cs typeface="Montserrat"/>
                  <a:sym typeface="Montserrat"/>
                </a:rPr>
                <a:t>Orchestrates the user journey transitions and state machine.</a:t>
              </a:r>
              <a:endParaRPr b="0" sz="1100">
                <a:solidFill>
                  <a:srgbClr val="C7D0E8"/>
                </a:solidFill>
                <a:latin typeface="Montserrat"/>
                <a:ea typeface="Montserrat"/>
                <a:cs typeface="Montserrat"/>
                <a:sym typeface="Montserrat"/>
              </a:endParaRPr>
            </a:p>
          </p:txBody>
        </p:sp>
      </p:grpSp>
      <p:sp>
        <p:nvSpPr>
          <p:cNvPr id="331" name="Google Shape;331;p35"/>
          <p:cNvSpPr/>
          <p:nvPr/>
        </p:nvSpPr>
        <p:spPr>
          <a:xfrm>
            <a:off x="5772150" y="2162175"/>
            <a:ext cx="95400" cy="114300"/>
          </a:xfrm>
          <a:custGeom>
            <a:rect b="b" l="l" r="r" t="t"/>
            <a:pathLst>
              <a:path extrusionOk="0" h="120000" w="120000">
                <a:moveTo>
                  <a:pt x="0" y="0"/>
                </a:moveTo>
                <a:lnTo>
                  <a:pt x="120000" y="60000"/>
                </a:lnTo>
                <a:lnTo>
                  <a:pt x="0" y="120000"/>
                </a:lnTo>
                <a:close/>
              </a:path>
            </a:pathLst>
          </a:custGeom>
          <a:solidFill>
            <a:srgbClr val="C7D0E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32" name="Google Shape;332;p35"/>
          <p:cNvGrpSpPr/>
          <p:nvPr/>
        </p:nvGrpSpPr>
        <p:grpSpPr>
          <a:xfrm>
            <a:off x="5981700" y="1333500"/>
            <a:ext cx="2590800" cy="1809600"/>
            <a:chOff x="0" y="0"/>
            <a:chExt cx="2590800" cy="1809600"/>
          </a:xfrm>
        </p:grpSpPr>
        <p:sp>
          <p:nvSpPr>
            <p:cNvPr id="333" name="Google Shape;333;p35"/>
            <p:cNvSpPr/>
            <p:nvPr/>
          </p:nvSpPr>
          <p:spPr>
            <a:xfrm>
              <a:off x="0" y="0"/>
              <a:ext cx="2590800" cy="1809600"/>
            </a:xfrm>
            <a:prstGeom prst="roundRect">
              <a:avLst>
                <a:gd fmla="val 6315" name="adj"/>
              </a:avLst>
            </a:prstGeom>
            <a:solidFill>
              <a:srgbClr val="FFFFFF">
                <a:alpha val="5000"/>
              </a:srgbClr>
            </a:solidFill>
            <a:ln cap="flat" cmpd="sng" w="14300">
              <a:solidFill>
                <a:srgbClr val="C02D8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35"/>
            <p:cNvSpPr/>
            <p:nvPr/>
          </p:nvSpPr>
          <p:spPr>
            <a:xfrm>
              <a:off x="152400" y="152400"/>
              <a:ext cx="2286000" cy="38100"/>
            </a:xfrm>
            <a:prstGeom prst="roundRect">
              <a:avLst>
                <a:gd fmla="val 50000" name="adj"/>
              </a:avLst>
            </a:prstGeom>
            <a:solidFill>
              <a:srgbClr val="C02D8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35"/>
            <p:cNvSpPr txBox="1"/>
            <p:nvPr/>
          </p:nvSpPr>
          <p:spPr>
            <a:xfrm>
              <a:off x="152400" y="304800"/>
              <a:ext cx="2286000" cy="135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C02D80"/>
                  </a:solidFill>
                  <a:latin typeface="Montserrat"/>
                  <a:ea typeface="Montserrat"/>
                  <a:cs typeface="Montserrat"/>
                  <a:sym typeface="Montserrat"/>
                </a:rPr>
                <a:t>03 / PROTOCOL</a:t>
              </a:r>
              <a:endParaRPr b="1" sz="900">
                <a:solidFill>
                  <a:srgbClr val="C02D80"/>
                </a:solidFill>
                <a:latin typeface="Montserrat"/>
                <a:ea typeface="Montserrat"/>
                <a:cs typeface="Montserrat"/>
                <a:sym typeface="Montserrat"/>
              </a:endParaRPr>
            </a:p>
            <a:p>
              <a:pPr indent="0" lvl="0" marL="0" rtl="0" algn="l">
                <a:spcBef>
                  <a:spcPts val="750"/>
                </a:spcBef>
                <a:spcAft>
                  <a:spcPts val="0"/>
                </a:spcAft>
                <a:buNone/>
              </a:pPr>
              <a:r>
                <a:rPr b="1" lang="en" sz="1800">
                  <a:solidFill>
                    <a:srgbClr val="FFFFFF"/>
                  </a:solidFill>
                  <a:latin typeface="Montserrat"/>
                  <a:ea typeface="Montserrat"/>
                  <a:cs typeface="Montserrat"/>
                  <a:sym typeface="Montserrat"/>
                </a:rPr>
                <a:t>Inji libraries</a:t>
              </a:r>
              <a:endParaRPr b="1" sz="1800">
                <a:solidFill>
                  <a:srgbClr val="FFFFFF"/>
                </a:solidFill>
                <a:latin typeface="Montserrat"/>
                <a:ea typeface="Montserrat"/>
                <a:cs typeface="Montserrat"/>
                <a:sym typeface="Montserrat"/>
              </a:endParaRPr>
            </a:p>
            <a:p>
              <a:pPr indent="0" lvl="0" marL="0" rtl="0" algn="l">
                <a:spcBef>
                  <a:spcPts val="750"/>
                </a:spcBef>
                <a:spcAft>
                  <a:spcPts val="0"/>
                </a:spcAft>
                <a:buNone/>
              </a:pPr>
              <a:r>
                <a:rPr b="0" lang="en" sz="1100">
                  <a:solidFill>
                    <a:srgbClr val="C7D0E8"/>
                  </a:solidFill>
                  <a:latin typeface="Montserrat"/>
                  <a:ea typeface="Montserrat"/>
                  <a:cs typeface="Montserrat"/>
                  <a:sym typeface="Montserrat"/>
                </a:rPr>
                <a:t>Executes underlying cryptographic credential work and protocols.</a:t>
              </a:r>
              <a:endParaRPr b="0" sz="1100">
                <a:solidFill>
                  <a:srgbClr val="C7D0E8"/>
                </a:solidFill>
                <a:latin typeface="Montserrat"/>
                <a:ea typeface="Montserrat"/>
                <a:cs typeface="Montserrat"/>
                <a:sym typeface="Montserrat"/>
              </a:endParaRPr>
            </a:p>
          </p:txBody>
        </p:sp>
      </p:grpSp>
      <p:grpSp>
        <p:nvGrpSpPr>
          <p:cNvPr id="336" name="Google Shape;336;p35"/>
          <p:cNvGrpSpPr/>
          <p:nvPr/>
        </p:nvGrpSpPr>
        <p:grpSpPr>
          <a:xfrm>
            <a:off x="566738" y="3424238"/>
            <a:ext cx="8010600" cy="962100"/>
            <a:chOff x="-4762" y="-4762"/>
            <a:chExt cx="8010600" cy="962100"/>
          </a:xfrm>
        </p:grpSpPr>
        <p:pic>
          <p:nvPicPr>
            <p:cNvPr id="337" name="Google Shape;337;p35"/>
            <p:cNvPicPr preferRelativeResize="0"/>
            <p:nvPr/>
          </p:nvPicPr>
          <p:blipFill rotWithShape="1">
            <a:blip r:embed="rId6">
              <a:alphaModFix/>
            </a:blip>
            <a:srcRect b="0" l="0" r="0" t="0"/>
            <a:stretch/>
          </p:blipFill>
          <p:spPr>
            <a:xfrm>
              <a:off x="-4762" y="-4762"/>
              <a:ext cx="8010600" cy="962100"/>
            </a:xfrm>
            <a:prstGeom prst="rect">
              <a:avLst/>
            </a:prstGeom>
            <a:noFill/>
            <a:ln>
              <a:noFill/>
            </a:ln>
          </p:spPr>
        </p:pic>
        <p:sp>
          <p:nvSpPr>
            <p:cNvPr id="338" name="Google Shape;338;p35"/>
            <p:cNvSpPr/>
            <p:nvPr/>
          </p:nvSpPr>
          <p:spPr>
            <a:xfrm>
              <a:off x="152400" y="152400"/>
              <a:ext cx="57300" cy="647700"/>
            </a:xfrm>
            <a:prstGeom prst="roundRect">
              <a:avLst>
                <a:gd fmla="val 50000" name="adj"/>
              </a:avLst>
            </a:prstGeom>
            <a:gradFill>
              <a:gsLst>
                <a:gs pos="0">
                  <a:srgbClr val="E8362D"/>
                </a:gs>
                <a:gs pos="100000">
                  <a:srgbClr val="8F35D6"/>
                </a:gs>
              </a:gsLst>
              <a:lin ang="5400012" scaled="0"/>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35"/>
            <p:cNvSpPr txBox="1"/>
            <p:nvPr/>
          </p:nvSpPr>
          <p:spPr>
            <a:xfrm>
              <a:off x="361950" y="152400"/>
              <a:ext cx="7486800" cy="647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FFA9C0"/>
                  </a:solidFill>
                  <a:latin typeface="Montserrat"/>
                  <a:ea typeface="Montserrat"/>
                  <a:cs typeface="Montserrat"/>
                  <a:sym typeface="Montserrat"/>
                </a:rPr>
                <a:t>MODULE QUESTION</a:t>
              </a:r>
              <a:endParaRPr b="1" sz="950">
                <a:solidFill>
                  <a:srgbClr val="FFA9C0"/>
                </a:solidFill>
                <a:latin typeface="Montserrat"/>
                <a:ea typeface="Montserrat"/>
                <a:cs typeface="Montserrat"/>
                <a:sym typeface="Montserrat"/>
              </a:endParaRPr>
            </a:p>
            <a:p>
              <a:pPr indent="0" lvl="0" marL="0" rtl="0" algn="l">
                <a:spcBef>
                  <a:spcPts val="300"/>
                </a:spcBef>
                <a:spcAft>
                  <a:spcPts val="0"/>
                </a:spcAft>
                <a:buNone/>
              </a:pPr>
              <a:r>
                <a:rPr b="0" lang="en" sz="1350">
                  <a:solidFill>
                    <a:srgbClr val="FFFFFF"/>
                  </a:solidFill>
                  <a:latin typeface="Montserrat Medium"/>
                  <a:ea typeface="Montserrat Medium"/>
                  <a:cs typeface="Montserrat Medium"/>
                  <a:sym typeface="Montserrat Medium"/>
                </a:rPr>
                <a:t>Which responsibility belongs to the app, a reusable library, or the platform?</a:t>
              </a:r>
              <a:endParaRPr b="0" sz="1350">
                <a:solidFill>
                  <a:srgbClr val="FFFFFF"/>
                </a:solidFill>
                <a:latin typeface="Montserrat Medium"/>
                <a:ea typeface="Montserrat Medium"/>
                <a:cs typeface="Montserrat Medium"/>
                <a:sym typeface="Montserrat Medium"/>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36"/>
          <p:cNvPicPr preferRelativeResize="0"/>
          <p:nvPr/>
        </p:nvPicPr>
        <p:blipFill rotWithShape="1">
          <a:blip r:embed="rId3">
            <a:alphaModFix/>
          </a:blip>
          <a:srcRect b="0" l="0" r="0" t="0"/>
          <a:stretch/>
        </p:blipFill>
        <p:spPr>
          <a:xfrm>
            <a:off x="-1675" y="-487"/>
            <a:ext cx="9147362" cy="5144475"/>
          </a:xfrm>
          <a:prstGeom prst="rect">
            <a:avLst/>
          </a:prstGeom>
          <a:noFill/>
          <a:ln>
            <a:noFill/>
          </a:ln>
        </p:spPr>
      </p:pic>
      <p:pic>
        <p:nvPicPr>
          <p:cNvPr id="346" name="Google Shape;346;p36"/>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sp>
        <p:nvSpPr>
          <p:cNvPr id="347" name="Google Shape;347;p36"/>
          <p:cNvSpPr/>
          <p:nvPr/>
        </p:nvSpPr>
        <p:spPr>
          <a:xfrm>
            <a:off x="571500" y="381000"/>
            <a:ext cx="80010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2 · MODULE 7 · WALLET INTEGRATION</a:t>
            </a:r>
            <a:endParaRPr/>
          </a:p>
        </p:txBody>
      </p:sp>
      <p:sp>
        <p:nvSpPr>
          <p:cNvPr id="348" name="Google Shape;348;p36"/>
          <p:cNvSpPr/>
          <p:nvPr/>
        </p:nvSpPr>
        <p:spPr>
          <a:xfrm>
            <a:off x="571500" y="619125"/>
            <a:ext cx="8001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Montserrat"/>
              <a:buNone/>
            </a:pPr>
            <a:r>
              <a:rPr b="1" i="1" lang="en" sz="2600">
                <a:solidFill>
                  <a:srgbClr val="FFFFFF"/>
                </a:solidFill>
                <a:latin typeface="Montserrat"/>
                <a:ea typeface="Montserrat"/>
                <a:cs typeface="Montserrat"/>
                <a:sym typeface="Montserrat"/>
              </a:rPr>
              <a:t>The mobile wallet is layered</a:t>
            </a:r>
            <a:endParaRPr/>
          </a:p>
        </p:txBody>
      </p:sp>
      <p:pic>
        <p:nvPicPr>
          <p:cNvPr id="349" name="Google Shape;349;p36"/>
          <p:cNvPicPr preferRelativeResize="0"/>
          <p:nvPr/>
        </p:nvPicPr>
        <p:blipFill rotWithShape="1">
          <a:blip r:embed="rId5">
            <a:alphaModFix/>
          </a:blip>
          <a:srcRect b="23807" l="19146" r="18491" t="22148"/>
          <a:stretch/>
        </p:blipFill>
        <p:spPr>
          <a:xfrm>
            <a:off x="8058150" y="333375"/>
            <a:ext cx="611102" cy="334500"/>
          </a:xfrm>
          <a:prstGeom prst="rect">
            <a:avLst/>
          </a:prstGeom>
          <a:noFill/>
          <a:ln>
            <a:noFill/>
          </a:ln>
        </p:spPr>
      </p:pic>
      <p:grpSp>
        <p:nvGrpSpPr>
          <p:cNvPr id="350" name="Google Shape;350;p36"/>
          <p:cNvGrpSpPr/>
          <p:nvPr/>
        </p:nvGrpSpPr>
        <p:grpSpPr>
          <a:xfrm>
            <a:off x="571500" y="1428750"/>
            <a:ext cx="1524000" cy="809700"/>
            <a:chOff x="0" y="0"/>
            <a:chExt cx="1524000" cy="809700"/>
          </a:xfrm>
        </p:grpSpPr>
        <p:sp>
          <p:nvSpPr>
            <p:cNvPr id="351" name="Google Shape;351;p36"/>
            <p:cNvSpPr/>
            <p:nvPr/>
          </p:nvSpPr>
          <p:spPr>
            <a:xfrm>
              <a:off x="0" y="0"/>
              <a:ext cx="1524000" cy="8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36"/>
            <p:cNvSpPr txBox="1"/>
            <p:nvPr/>
          </p:nvSpPr>
          <p:spPr>
            <a:xfrm>
              <a:off x="0" y="0"/>
              <a:ext cx="1524000" cy="8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E8362D"/>
                  </a:solidFill>
                  <a:latin typeface="Montserrat"/>
                  <a:ea typeface="Montserrat"/>
                  <a:cs typeface="Montserrat"/>
                  <a:sym typeface="Montserrat"/>
                </a:rPr>
                <a:t>Experience</a:t>
              </a:r>
              <a:endParaRPr b="1" sz="1300">
                <a:solidFill>
                  <a:srgbClr val="E8362D"/>
                </a:solidFill>
                <a:latin typeface="Montserrat"/>
                <a:ea typeface="Montserrat"/>
                <a:cs typeface="Montserrat"/>
                <a:sym typeface="Montserrat"/>
              </a:endParaRPr>
            </a:p>
          </p:txBody>
        </p:sp>
      </p:grpSp>
      <p:grpSp>
        <p:nvGrpSpPr>
          <p:cNvPr id="353" name="Google Shape;353;p36"/>
          <p:cNvGrpSpPr/>
          <p:nvPr/>
        </p:nvGrpSpPr>
        <p:grpSpPr>
          <a:xfrm>
            <a:off x="2286000" y="1428750"/>
            <a:ext cx="1962300" cy="809700"/>
            <a:chOff x="0" y="0"/>
            <a:chExt cx="1962300" cy="809700"/>
          </a:xfrm>
        </p:grpSpPr>
        <p:sp>
          <p:nvSpPr>
            <p:cNvPr id="354" name="Google Shape;354;p36"/>
            <p:cNvSpPr/>
            <p:nvPr/>
          </p:nvSpPr>
          <p:spPr>
            <a:xfrm>
              <a:off x="0" y="0"/>
              <a:ext cx="1962300" cy="809700"/>
            </a:xfrm>
            <a:prstGeom prst="roundRect">
              <a:avLst>
                <a:gd fmla="val 9411"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36"/>
            <p:cNvSpPr/>
            <p:nvPr/>
          </p:nvSpPr>
          <p:spPr>
            <a:xfrm>
              <a:off x="0" y="0"/>
              <a:ext cx="1962300" cy="28500"/>
            </a:xfrm>
            <a:prstGeom prst="roundRect">
              <a:avLst>
                <a:gd fmla="val 50000" name="adj"/>
              </a:avLst>
            </a:prstGeom>
            <a:solidFill>
              <a:srgbClr val="E8362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36"/>
            <p:cNvSpPr txBox="1"/>
            <p:nvPr/>
          </p:nvSpPr>
          <p:spPr>
            <a:xfrm>
              <a:off x="95250" y="95250"/>
              <a:ext cx="17718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Wallet UI</a:t>
              </a:r>
              <a:endParaRPr b="1" sz="1300">
                <a:solidFill>
                  <a:srgbClr val="FFFFFF"/>
                </a:solidFill>
                <a:latin typeface="Montserrat"/>
                <a:ea typeface="Montserrat"/>
                <a:cs typeface="Montserrat"/>
                <a:sym typeface="Montserrat"/>
              </a:endParaRPr>
            </a:p>
            <a:p>
              <a:pPr indent="0" lvl="0" marL="0" rtl="0" algn="ctr">
                <a:spcBef>
                  <a:spcPts val="300"/>
                </a:spcBef>
                <a:spcAft>
                  <a:spcPts val="0"/>
                </a:spcAft>
                <a:buNone/>
              </a:pPr>
              <a:r>
                <a:rPr b="0" lang="en" sz="950">
                  <a:solidFill>
                    <a:srgbClr val="C7D0E8"/>
                  </a:solidFill>
                  <a:latin typeface="Montserrat"/>
                  <a:ea typeface="Montserrat"/>
                  <a:cs typeface="Montserrat"/>
                  <a:sym typeface="Montserrat"/>
                </a:rPr>
                <a:t>Android · iOS</a:t>
              </a:r>
              <a:endParaRPr b="0" sz="950">
                <a:solidFill>
                  <a:srgbClr val="C7D0E8"/>
                </a:solidFill>
                <a:latin typeface="Montserrat"/>
                <a:ea typeface="Montserrat"/>
                <a:cs typeface="Montserrat"/>
                <a:sym typeface="Montserrat"/>
              </a:endParaRPr>
            </a:p>
          </p:txBody>
        </p:sp>
      </p:grpSp>
      <p:grpSp>
        <p:nvGrpSpPr>
          <p:cNvPr id="357" name="Google Shape;357;p36"/>
          <p:cNvGrpSpPr/>
          <p:nvPr/>
        </p:nvGrpSpPr>
        <p:grpSpPr>
          <a:xfrm>
            <a:off x="4429125" y="1428750"/>
            <a:ext cx="1962300" cy="809700"/>
            <a:chOff x="0" y="0"/>
            <a:chExt cx="1962300" cy="809700"/>
          </a:xfrm>
        </p:grpSpPr>
        <p:sp>
          <p:nvSpPr>
            <p:cNvPr id="358" name="Google Shape;358;p36"/>
            <p:cNvSpPr/>
            <p:nvPr/>
          </p:nvSpPr>
          <p:spPr>
            <a:xfrm>
              <a:off x="0" y="0"/>
              <a:ext cx="1962300" cy="809700"/>
            </a:xfrm>
            <a:prstGeom prst="roundRect">
              <a:avLst>
                <a:gd fmla="val 9411"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36"/>
            <p:cNvSpPr/>
            <p:nvPr/>
          </p:nvSpPr>
          <p:spPr>
            <a:xfrm>
              <a:off x="0" y="0"/>
              <a:ext cx="1962300" cy="28500"/>
            </a:xfrm>
            <a:prstGeom prst="roundRect">
              <a:avLst>
                <a:gd fmla="val 50000" name="adj"/>
              </a:avLst>
            </a:prstGeom>
            <a:solidFill>
              <a:srgbClr val="E8362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36"/>
            <p:cNvSpPr txBox="1"/>
            <p:nvPr/>
          </p:nvSpPr>
          <p:spPr>
            <a:xfrm>
              <a:off x="95250" y="95250"/>
              <a:ext cx="17718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Journey state</a:t>
              </a:r>
              <a:endParaRPr b="1" sz="1300">
                <a:solidFill>
                  <a:srgbClr val="FFFFFF"/>
                </a:solidFill>
                <a:latin typeface="Montserrat"/>
                <a:ea typeface="Montserrat"/>
                <a:cs typeface="Montserrat"/>
                <a:sym typeface="Montserrat"/>
              </a:endParaRPr>
            </a:p>
            <a:p>
              <a:pPr indent="0" lvl="0" marL="0" rtl="0" algn="ctr">
                <a:spcBef>
                  <a:spcPts val="300"/>
                </a:spcBef>
                <a:spcAft>
                  <a:spcPts val="0"/>
                </a:spcAft>
                <a:buNone/>
              </a:pPr>
              <a:r>
                <a:rPr b="0" lang="en" sz="950">
                  <a:solidFill>
                    <a:srgbClr val="C7D0E8"/>
                  </a:solidFill>
                  <a:latin typeface="Montserrat"/>
                  <a:ea typeface="Montserrat"/>
                  <a:cs typeface="Montserrat"/>
                  <a:sym typeface="Montserrat"/>
                </a:rPr>
                <a:t>workflow</a:t>
              </a:r>
              <a:endParaRPr b="0" sz="950">
                <a:solidFill>
                  <a:srgbClr val="C7D0E8"/>
                </a:solidFill>
                <a:latin typeface="Montserrat"/>
                <a:ea typeface="Montserrat"/>
                <a:cs typeface="Montserrat"/>
                <a:sym typeface="Montserrat"/>
              </a:endParaRPr>
            </a:p>
          </p:txBody>
        </p:sp>
      </p:grpSp>
      <p:grpSp>
        <p:nvGrpSpPr>
          <p:cNvPr id="361" name="Google Shape;361;p36"/>
          <p:cNvGrpSpPr/>
          <p:nvPr/>
        </p:nvGrpSpPr>
        <p:grpSpPr>
          <a:xfrm>
            <a:off x="6572250" y="1428750"/>
            <a:ext cx="1962300" cy="809700"/>
            <a:chOff x="0" y="0"/>
            <a:chExt cx="1962300" cy="809700"/>
          </a:xfrm>
        </p:grpSpPr>
        <p:sp>
          <p:nvSpPr>
            <p:cNvPr id="362" name="Google Shape;362;p36"/>
            <p:cNvSpPr/>
            <p:nvPr/>
          </p:nvSpPr>
          <p:spPr>
            <a:xfrm>
              <a:off x="0" y="0"/>
              <a:ext cx="1962300" cy="809700"/>
            </a:xfrm>
            <a:prstGeom prst="roundRect">
              <a:avLst>
                <a:gd fmla="val 9411"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36"/>
            <p:cNvSpPr/>
            <p:nvPr/>
          </p:nvSpPr>
          <p:spPr>
            <a:xfrm>
              <a:off x="0" y="0"/>
              <a:ext cx="1962300" cy="28500"/>
            </a:xfrm>
            <a:prstGeom prst="roundRect">
              <a:avLst>
                <a:gd fmla="val 50000" name="adj"/>
              </a:avLst>
            </a:prstGeom>
            <a:solidFill>
              <a:srgbClr val="E8362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36"/>
            <p:cNvSpPr txBox="1"/>
            <p:nvPr/>
          </p:nvSpPr>
          <p:spPr>
            <a:xfrm>
              <a:off x="95250" y="95250"/>
              <a:ext cx="17718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FFFFF"/>
                  </a:solidFill>
                  <a:latin typeface="Montserrat"/>
                  <a:ea typeface="Montserrat"/>
                  <a:cs typeface="Montserrat"/>
                  <a:sym typeface="Montserrat"/>
                </a:rPr>
                <a:t>Issuer / BFF APIs</a:t>
              </a:r>
              <a:endParaRPr b="1" sz="1300">
                <a:solidFill>
                  <a:srgbClr val="FFFFFF"/>
                </a:solidFill>
                <a:latin typeface="Montserrat"/>
                <a:ea typeface="Montserrat"/>
                <a:cs typeface="Montserrat"/>
                <a:sym typeface="Montserrat"/>
              </a:endParaRPr>
            </a:p>
            <a:p>
              <a:pPr indent="0" lvl="0" marL="0" rtl="0" algn="ctr">
                <a:spcBef>
                  <a:spcPts val="300"/>
                </a:spcBef>
                <a:spcAft>
                  <a:spcPts val="0"/>
                </a:spcAft>
                <a:buNone/>
              </a:pPr>
              <a:r>
                <a:rPr b="0" lang="en" sz="950">
                  <a:solidFill>
                    <a:srgbClr val="C7D0E8"/>
                  </a:solidFill>
                  <a:latin typeface="Montserrat"/>
                  <a:ea typeface="Montserrat"/>
                  <a:cs typeface="Montserrat"/>
                  <a:sym typeface="Montserrat"/>
                </a:rPr>
                <a:t>network edge</a:t>
              </a:r>
              <a:endParaRPr b="0" sz="950">
                <a:solidFill>
                  <a:srgbClr val="C7D0E8"/>
                </a:solidFill>
                <a:latin typeface="Montserrat"/>
                <a:ea typeface="Montserrat"/>
                <a:cs typeface="Montserrat"/>
                <a:sym typeface="Montserrat"/>
              </a:endParaRPr>
            </a:p>
          </p:txBody>
        </p:sp>
      </p:grpSp>
      <p:grpSp>
        <p:nvGrpSpPr>
          <p:cNvPr id="365" name="Google Shape;365;p36"/>
          <p:cNvGrpSpPr/>
          <p:nvPr/>
        </p:nvGrpSpPr>
        <p:grpSpPr>
          <a:xfrm>
            <a:off x="571500" y="2524125"/>
            <a:ext cx="1524000" cy="809700"/>
            <a:chOff x="0" y="0"/>
            <a:chExt cx="1524000" cy="809700"/>
          </a:xfrm>
        </p:grpSpPr>
        <p:sp>
          <p:nvSpPr>
            <p:cNvPr id="366" name="Google Shape;366;p36"/>
            <p:cNvSpPr/>
            <p:nvPr/>
          </p:nvSpPr>
          <p:spPr>
            <a:xfrm>
              <a:off x="0" y="0"/>
              <a:ext cx="1524000" cy="8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36"/>
            <p:cNvSpPr txBox="1"/>
            <p:nvPr/>
          </p:nvSpPr>
          <p:spPr>
            <a:xfrm>
              <a:off x="0" y="0"/>
              <a:ext cx="1524000" cy="8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D63156"/>
                  </a:solidFill>
                  <a:latin typeface="Montserrat"/>
                  <a:ea typeface="Montserrat"/>
                  <a:cs typeface="Montserrat"/>
                  <a:sym typeface="Montserrat"/>
                </a:rPr>
                <a:t>Bridge +</a:t>
              </a:r>
              <a:br>
                <a:rPr b="1" lang="en" sz="1100">
                  <a:solidFill>
                    <a:srgbClr val="D63156"/>
                  </a:solidFill>
                  <a:latin typeface="Montserrat"/>
                  <a:ea typeface="Montserrat"/>
                  <a:cs typeface="Montserrat"/>
                  <a:sym typeface="Montserrat"/>
                </a:rPr>
              </a:br>
              <a:r>
                <a:rPr b="1" lang="en" sz="1100">
                  <a:solidFill>
                    <a:srgbClr val="D63156"/>
                  </a:solidFill>
                  <a:latin typeface="Montserrat"/>
                  <a:ea typeface="Montserrat"/>
                  <a:cs typeface="Montserrat"/>
                  <a:sym typeface="Montserrat"/>
                </a:rPr>
                <a:t>Credential Services</a:t>
              </a:r>
              <a:endParaRPr b="1" sz="1100">
                <a:solidFill>
                  <a:srgbClr val="D63156"/>
                </a:solidFill>
                <a:latin typeface="Montserrat"/>
                <a:ea typeface="Montserrat"/>
                <a:cs typeface="Montserrat"/>
                <a:sym typeface="Montserrat"/>
              </a:endParaRPr>
            </a:p>
          </p:txBody>
        </p:sp>
      </p:grpSp>
      <p:grpSp>
        <p:nvGrpSpPr>
          <p:cNvPr id="368" name="Google Shape;368;p36"/>
          <p:cNvGrpSpPr/>
          <p:nvPr/>
        </p:nvGrpSpPr>
        <p:grpSpPr>
          <a:xfrm>
            <a:off x="2286000" y="2524125"/>
            <a:ext cx="1428900" cy="809700"/>
            <a:chOff x="0" y="0"/>
            <a:chExt cx="1428900" cy="809700"/>
          </a:xfrm>
        </p:grpSpPr>
        <p:sp>
          <p:nvSpPr>
            <p:cNvPr id="369" name="Google Shape;369;p36"/>
            <p:cNvSpPr/>
            <p:nvPr/>
          </p:nvSpPr>
          <p:spPr>
            <a:xfrm>
              <a:off x="0" y="0"/>
              <a:ext cx="1428900" cy="809700"/>
            </a:xfrm>
            <a:prstGeom prst="roundRect">
              <a:avLst>
                <a:gd fmla="val 9411"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36"/>
            <p:cNvSpPr/>
            <p:nvPr/>
          </p:nvSpPr>
          <p:spPr>
            <a:xfrm>
              <a:off x="0" y="0"/>
              <a:ext cx="1428900" cy="28500"/>
            </a:xfrm>
            <a:prstGeom prst="roundRect">
              <a:avLst>
                <a:gd fmla="val 50000" name="adj"/>
              </a:avLst>
            </a:prstGeom>
            <a:solidFill>
              <a:srgbClr val="D6315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36"/>
            <p:cNvSpPr txBox="1"/>
            <p:nvPr/>
          </p:nvSpPr>
          <p:spPr>
            <a:xfrm>
              <a:off x="95250" y="95250"/>
              <a:ext cx="1238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Montserrat"/>
                  <a:ea typeface="Montserrat"/>
                  <a:cs typeface="Montserrat"/>
                  <a:sym typeface="Montserrat"/>
                </a:rPr>
                <a:t>Openid4vp</a:t>
              </a:r>
              <a:endParaRPr b="1" sz="1150">
                <a:solidFill>
                  <a:srgbClr val="FFFFFF"/>
                </a:solidFill>
                <a:latin typeface="Montserrat"/>
                <a:ea typeface="Montserrat"/>
                <a:cs typeface="Montserrat"/>
                <a:sym typeface="Montserrat"/>
              </a:endParaRPr>
            </a:p>
            <a:p>
              <a:pPr indent="0" lvl="0" marL="0" rtl="0" algn="ctr">
                <a:spcBef>
                  <a:spcPts val="300"/>
                </a:spcBef>
                <a:spcAft>
                  <a:spcPts val="0"/>
                </a:spcAft>
                <a:buNone/>
              </a:pPr>
              <a:r>
                <a:rPr b="0" lang="en" sz="900">
                  <a:solidFill>
                    <a:srgbClr val="C7D0E8"/>
                  </a:solidFill>
                  <a:latin typeface="Montserrat"/>
                  <a:ea typeface="Montserrat"/>
                  <a:cs typeface="Montserrat"/>
                  <a:sym typeface="Montserrat"/>
                </a:rPr>
                <a:t>sharing</a:t>
              </a:r>
              <a:endParaRPr b="0" sz="900">
                <a:solidFill>
                  <a:srgbClr val="C7D0E8"/>
                </a:solidFill>
                <a:latin typeface="Montserrat"/>
                <a:ea typeface="Montserrat"/>
                <a:cs typeface="Montserrat"/>
                <a:sym typeface="Montserrat"/>
              </a:endParaRPr>
            </a:p>
          </p:txBody>
        </p:sp>
      </p:grpSp>
      <p:grpSp>
        <p:nvGrpSpPr>
          <p:cNvPr id="372" name="Google Shape;372;p36"/>
          <p:cNvGrpSpPr/>
          <p:nvPr/>
        </p:nvGrpSpPr>
        <p:grpSpPr>
          <a:xfrm>
            <a:off x="3886200" y="2524125"/>
            <a:ext cx="1428900" cy="809700"/>
            <a:chOff x="0" y="0"/>
            <a:chExt cx="1428900" cy="809700"/>
          </a:xfrm>
        </p:grpSpPr>
        <p:sp>
          <p:nvSpPr>
            <p:cNvPr id="373" name="Google Shape;373;p36"/>
            <p:cNvSpPr/>
            <p:nvPr/>
          </p:nvSpPr>
          <p:spPr>
            <a:xfrm>
              <a:off x="0" y="0"/>
              <a:ext cx="1428900" cy="809700"/>
            </a:xfrm>
            <a:prstGeom prst="roundRect">
              <a:avLst>
                <a:gd fmla="val 9411"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36"/>
            <p:cNvSpPr/>
            <p:nvPr/>
          </p:nvSpPr>
          <p:spPr>
            <a:xfrm>
              <a:off x="0" y="0"/>
              <a:ext cx="1428900" cy="28500"/>
            </a:xfrm>
            <a:prstGeom prst="roundRect">
              <a:avLst>
                <a:gd fmla="val 50000" name="adj"/>
              </a:avLst>
            </a:prstGeom>
            <a:solidFill>
              <a:srgbClr val="D6315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36"/>
            <p:cNvSpPr txBox="1"/>
            <p:nvPr/>
          </p:nvSpPr>
          <p:spPr>
            <a:xfrm>
              <a:off x="95250" y="95250"/>
              <a:ext cx="1238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Montserrat"/>
                  <a:ea typeface="Montserrat"/>
                  <a:cs typeface="Montserrat"/>
                  <a:sym typeface="Montserrat"/>
                </a:rPr>
                <a:t>VCI Client</a:t>
              </a:r>
              <a:endParaRPr b="1" sz="1150">
                <a:solidFill>
                  <a:srgbClr val="FFFFFF"/>
                </a:solidFill>
                <a:latin typeface="Montserrat"/>
                <a:ea typeface="Montserrat"/>
                <a:cs typeface="Montserrat"/>
                <a:sym typeface="Montserrat"/>
              </a:endParaRPr>
            </a:p>
            <a:p>
              <a:pPr indent="0" lvl="0" marL="0" rtl="0" algn="ctr">
                <a:spcBef>
                  <a:spcPts val="300"/>
                </a:spcBef>
                <a:spcAft>
                  <a:spcPts val="0"/>
                </a:spcAft>
                <a:buNone/>
              </a:pPr>
              <a:r>
                <a:rPr b="0" lang="en" sz="900">
                  <a:solidFill>
                    <a:srgbClr val="C7D0E8"/>
                  </a:solidFill>
                  <a:latin typeface="Montserrat"/>
                  <a:ea typeface="Montserrat"/>
                  <a:cs typeface="Montserrat"/>
                  <a:sym typeface="Montserrat"/>
                </a:rPr>
                <a:t>issuance</a:t>
              </a:r>
              <a:endParaRPr b="0" sz="900">
                <a:solidFill>
                  <a:srgbClr val="C7D0E8"/>
                </a:solidFill>
                <a:latin typeface="Montserrat"/>
                <a:ea typeface="Montserrat"/>
                <a:cs typeface="Montserrat"/>
                <a:sym typeface="Montserrat"/>
              </a:endParaRPr>
            </a:p>
          </p:txBody>
        </p:sp>
      </p:grpSp>
      <p:grpSp>
        <p:nvGrpSpPr>
          <p:cNvPr id="376" name="Google Shape;376;p36"/>
          <p:cNvGrpSpPr/>
          <p:nvPr/>
        </p:nvGrpSpPr>
        <p:grpSpPr>
          <a:xfrm>
            <a:off x="5486400" y="2524125"/>
            <a:ext cx="1428900" cy="809700"/>
            <a:chOff x="0" y="0"/>
            <a:chExt cx="1428900" cy="809700"/>
          </a:xfrm>
        </p:grpSpPr>
        <p:sp>
          <p:nvSpPr>
            <p:cNvPr id="377" name="Google Shape;377;p36"/>
            <p:cNvSpPr/>
            <p:nvPr/>
          </p:nvSpPr>
          <p:spPr>
            <a:xfrm>
              <a:off x="0" y="0"/>
              <a:ext cx="1428900" cy="809700"/>
            </a:xfrm>
            <a:prstGeom prst="roundRect">
              <a:avLst>
                <a:gd fmla="val 9411"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36"/>
            <p:cNvSpPr/>
            <p:nvPr/>
          </p:nvSpPr>
          <p:spPr>
            <a:xfrm>
              <a:off x="0" y="0"/>
              <a:ext cx="1428900" cy="28500"/>
            </a:xfrm>
            <a:prstGeom prst="roundRect">
              <a:avLst>
                <a:gd fmla="val 50000" name="adj"/>
              </a:avLst>
            </a:prstGeom>
            <a:solidFill>
              <a:srgbClr val="D6315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36"/>
            <p:cNvSpPr txBox="1"/>
            <p:nvPr/>
          </p:nvSpPr>
          <p:spPr>
            <a:xfrm>
              <a:off x="95250" y="95250"/>
              <a:ext cx="1238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Montserrat"/>
                  <a:ea typeface="Montserrat"/>
                  <a:cs typeface="Montserrat"/>
                  <a:sym typeface="Montserrat"/>
                </a:rPr>
                <a:t>VC Verifier</a:t>
              </a:r>
              <a:endParaRPr b="1" sz="1150">
                <a:solidFill>
                  <a:srgbClr val="FFFFFF"/>
                </a:solidFill>
                <a:latin typeface="Montserrat"/>
                <a:ea typeface="Montserrat"/>
                <a:cs typeface="Montserrat"/>
                <a:sym typeface="Montserrat"/>
              </a:endParaRPr>
            </a:p>
            <a:p>
              <a:pPr indent="0" lvl="0" marL="0" rtl="0" algn="ctr">
                <a:spcBef>
                  <a:spcPts val="300"/>
                </a:spcBef>
                <a:spcAft>
                  <a:spcPts val="0"/>
                </a:spcAft>
                <a:buNone/>
              </a:pPr>
              <a:r>
                <a:rPr b="0" lang="en" sz="900">
                  <a:solidFill>
                    <a:srgbClr val="C7D0E8"/>
                  </a:solidFill>
                  <a:latin typeface="Montserrat"/>
                  <a:ea typeface="Montserrat"/>
                  <a:cs typeface="Montserrat"/>
                  <a:sym typeface="Montserrat"/>
                </a:rPr>
                <a:t>trust checks</a:t>
              </a:r>
              <a:endParaRPr b="0" sz="900">
                <a:solidFill>
                  <a:srgbClr val="C7D0E8"/>
                </a:solidFill>
                <a:latin typeface="Montserrat"/>
                <a:ea typeface="Montserrat"/>
                <a:cs typeface="Montserrat"/>
                <a:sym typeface="Montserrat"/>
              </a:endParaRPr>
            </a:p>
          </p:txBody>
        </p:sp>
      </p:grpSp>
      <p:grpSp>
        <p:nvGrpSpPr>
          <p:cNvPr id="380" name="Google Shape;380;p36"/>
          <p:cNvGrpSpPr/>
          <p:nvPr/>
        </p:nvGrpSpPr>
        <p:grpSpPr>
          <a:xfrm>
            <a:off x="7086600" y="2524125"/>
            <a:ext cx="1428900" cy="809700"/>
            <a:chOff x="0" y="0"/>
            <a:chExt cx="1428900" cy="809700"/>
          </a:xfrm>
        </p:grpSpPr>
        <p:sp>
          <p:nvSpPr>
            <p:cNvPr id="381" name="Google Shape;381;p36"/>
            <p:cNvSpPr/>
            <p:nvPr/>
          </p:nvSpPr>
          <p:spPr>
            <a:xfrm>
              <a:off x="0" y="0"/>
              <a:ext cx="1428900" cy="809700"/>
            </a:xfrm>
            <a:prstGeom prst="roundRect">
              <a:avLst>
                <a:gd fmla="val 9411"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2" name="Google Shape;382;p36"/>
            <p:cNvSpPr/>
            <p:nvPr/>
          </p:nvSpPr>
          <p:spPr>
            <a:xfrm>
              <a:off x="0" y="0"/>
              <a:ext cx="1428900" cy="28500"/>
            </a:xfrm>
            <a:prstGeom prst="roundRect">
              <a:avLst>
                <a:gd fmla="val 50000" name="adj"/>
              </a:avLst>
            </a:prstGeom>
            <a:solidFill>
              <a:srgbClr val="D6315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36"/>
            <p:cNvSpPr txBox="1"/>
            <p:nvPr/>
          </p:nvSpPr>
          <p:spPr>
            <a:xfrm>
              <a:off x="95250" y="95250"/>
              <a:ext cx="1238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Montserrat"/>
                  <a:ea typeface="Montserrat"/>
                  <a:cs typeface="Montserrat"/>
                  <a:sym typeface="Montserrat"/>
                </a:rPr>
                <a:t>vc-renderer</a:t>
              </a:r>
              <a:endParaRPr b="1" sz="1150">
                <a:solidFill>
                  <a:srgbClr val="FFFFFF"/>
                </a:solidFill>
                <a:latin typeface="Montserrat"/>
                <a:ea typeface="Montserrat"/>
                <a:cs typeface="Montserrat"/>
                <a:sym typeface="Montserrat"/>
              </a:endParaRPr>
            </a:p>
            <a:p>
              <a:pPr indent="0" lvl="0" marL="0" rtl="0" algn="ctr">
                <a:spcBef>
                  <a:spcPts val="300"/>
                </a:spcBef>
                <a:spcAft>
                  <a:spcPts val="0"/>
                </a:spcAft>
                <a:buNone/>
              </a:pPr>
              <a:r>
                <a:rPr b="0" lang="en" sz="900">
                  <a:solidFill>
                    <a:srgbClr val="C7D0E8"/>
                  </a:solidFill>
                  <a:latin typeface="Montserrat"/>
                  <a:ea typeface="Montserrat"/>
                  <a:cs typeface="Montserrat"/>
                  <a:sym typeface="Montserrat"/>
                </a:rPr>
                <a:t>display</a:t>
              </a:r>
              <a:endParaRPr b="0" sz="900">
                <a:solidFill>
                  <a:srgbClr val="C7D0E8"/>
                </a:solidFill>
                <a:latin typeface="Montserrat"/>
                <a:ea typeface="Montserrat"/>
                <a:cs typeface="Montserrat"/>
                <a:sym typeface="Montserrat"/>
              </a:endParaRPr>
            </a:p>
          </p:txBody>
        </p:sp>
      </p:grpSp>
      <p:grpSp>
        <p:nvGrpSpPr>
          <p:cNvPr id="384" name="Google Shape;384;p36"/>
          <p:cNvGrpSpPr/>
          <p:nvPr/>
        </p:nvGrpSpPr>
        <p:grpSpPr>
          <a:xfrm>
            <a:off x="571500" y="3619500"/>
            <a:ext cx="1524000" cy="809700"/>
            <a:chOff x="0" y="0"/>
            <a:chExt cx="1524000" cy="809700"/>
          </a:xfrm>
        </p:grpSpPr>
        <p:sp>
          <p:nvSpPr>
            <p:cNvPr id="385" name="Google Shape;385;p36"/>
            <p:cNvSpPr/>
            <p:nvPr/>
          </p:nvSpPr>
          <p:spPr>
            <a:xfrm>
              <a:off x="0" y="0"/>
              <a:ext cx="1524000" cy="8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6" name="Google Shape;386;p36"/>
            <p:cNvSpPr txBox="1"/>
            <p:nvPr/>
          </p:nvSpPr>
          <p:spPr>
            <a:xfrm>
              <a:off x="0" y="0"/>
              <a:ext cx="1524000" cy="8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8F35D6"/>
                  </a:solidFill>
                  <a:latin typeface="Montserrat"/>
                  <a:ea typeface="Montserrat"/>
                  <a:cs typeface="Montserrat"/>
                  <a:sym typeface="Montserrat"/>
                </a:rPr>
                <a:t>Other Services</a:t>
              </a:r>
              <a:endParaRPr b="1" sz="1300">
                <a:solidFill>
                  <a:srgbClr val="8F35D6"/>
                </a:solidFill>
                <a:latin typeface="Montserrat"/>
                <a:ea typeface="Montserrat"/>
                <a:cs typeface="Montserrat"/>
                <a:sym typeface="Montserrat"/>
              </a:endParaRPr>
            </a:p>
          </p:txBody>
        </p:sp>
      </p:grpSp>
      <p:grpSp>
        <p:nvGrpSpPr>
          <p:cNvPr id="387" name="Google Shape;387;p36"/>
          <p:cNvGrpSpPr/>
          <p:nvPr/>
        </p:nvGrpSpPr>
        <p:grpSpPr>
          <a:xfrm>
            <a:off x="2286000" y="3619500"/>
            <a:ext cx="1281438" cy="809700"/>
            <a:chOff x="0" y="0"/>
            <a:chExt cx="1428900" cy="809700"/>
          </a:xfrm>
        </p:grpSpPr>
        <p:sp>
          <p:nvSpPr>
            <p:cNvPr id="388" name="Google Shape;388;p36"/>
            <p:cNvSpPr/>
            <p:nvPr/>
          </p:nvSpPr>
          <p:spPr>
            <a:xfrm>
              <a:off x="0" y="0"/>
              <a:ext cx="1428900" cy="809700"/>
            </a:xfrm>
            <a:prstGeom prst="roundRect">
              <a:avLst>
                <a:gd fmla="val 9411"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36"/>
            <p:cNvSpPr/>
            <p:nvPr/>
          </p:nvSpPr>
          <p:spPr>
            <a:xfrm>
              <a:off x="0" y="0"/>
              <a:ext cx="952500" cy="28500"/>
            </a:xfrm>
            <a:prstGeom prst="roundRect">
              <a:avLst>
                <a:gd fmla="val 50000" name="adj"/>
              </a:avLst>
            </a:prstGeom>
            <a:solidFill>
              <a:srgbClr val="8F35D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36"/>
            <p:cNvSpPr txBox="1"/>
            <p:nvPr/>
          </p:nvSpPr>
          <p:spPr>
            <a:xfrm>
              <a:off x="85650" y="95250"/>
              <a:ext cx="1238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Montserrat"/>
                  <a:ea typeface="Montserrat"/>
                  <a:cs typeface="Montserrat"/>
                  <a:sym typeface="Montserrat"/>
                </a:rPr>
                <a:t>Secure-</a:t>
              </a:r>
              <a:br>
                <a:rPr b="1" lang="en" sz="1150">
                  <a:solidFill>
                    <a:srgbClr val="FFFFFF"/>
                  </a:solidFill>
                  <a:latin typeface="Montserrat"/>
                  <a:ea typeface="Montserrat"/>
                  <a:cs typeface="Montserrat"/>
                  <a:sym typeface="Montserrat"/>
                </a:rPr>
              </a:br>
              <a:r>
                <a:rPr b="1" lang="en" sz="1150">
                  <a:solidFill>
                    <a:srgbClr val="FFFFFF"/>
                  </a:solidFill>
                  <a:latin typeface="Montserrat"/>
                  <a:ea typeface="Montserrat"/>
                  <a:cs typeface="Montserrat"/>
                  <a:sym typeface="Montserrat"/>
                </a:rPr>
                <a:t>keystore</a:t>
              </a:r>
              <a:endParaRPr b="1" sz="1150">
                <a:solidFill>
                  <a:srgbClr val="FFFFFF"/>
                </a:solidFill>
                <a:latin typeface="Montserrat"/>
                <a:ea typeface="Montserrat"/>
                <a:cs typeface="Montserrat"/>
                <a:sym typeface="Montserrat"/>
              </a:endParaRPr>
            </a:p>
          </p:txBody>
        </p:sp>
      </p:grpSp>
      <p:grpSp>
        <p:nvGrpSpPr>
          <p:cNvPr id="391" name="Google Shape;391;p36"/>
          <p:cNvGrpSpPr/>
          <p:nvPr/>
        </p:nvGrpSpPr>
        <p:grpSpPr>
          <a:xfrm>
            <a:off x="3886200" y="3619500"/>
            <a:ext cx="1333800" cy="809700"/>
            <a:chOff x="0" y="0"/>
            <a:chExt cx="1333800" cy="809700"/>
          </a:xfrm>
        </p:grpSpPr>
        <p:sp>
          <p:nvSpPr>
            <p:cNvPr id="392" name="Google Shape;392;p36"/>
            <p:cNvSpPr/>
            <p:nvPr/>
          </p:nvSpPr>
          <p:spPr>
            <a:xfrm>
              <a:off x="0" y="0"/>
              <a:ext cx="1333800" cy="809700"/>
            </a:xfrm>
            <a:prstGeom prst="roundRect">
              <a:avLst>
                <a:gd fmla="val 9411"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36"/>
            <p:cNvSpPr/>
            <p:nvPr/>
          </p:nvSpPr>
          <p:spPr>
            <a:xfrm>
              <a:off x="0" y="0"/>
              <a:ext cx="952500" cy="28500"/>
            </a:xfrm>
            <a:prstGeom prst="roundRect">
              <a:avLst>
                <a:gd fmla="val 50000" name="adj"/>
              </a:avLst>
            </a:prstGeom>
            <a:solidFill>
              <a:srgbClr val="8F35D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4" name="Google Shape;394;p36"/>
            <p:cNvSpPr txBox="1"/>
            <p:nvPr/>
          </p:nvSpPr>
          <p:spPr>
            <a:xfrm>
              <a:off x="124425" y="95250"/>
              <a:ext cx="10326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Montserrat"/>
                  <a:ea typeface="Montserrat"/>
                  <a:cs typeface="Montserrat"/>
                  <a:sym typeface="Montserrat"/>
                </a:rPr>
                <a:t>Pixelpass</a:t>
              </a:r>
              <a:br>
                <a:rPr b="1" lang="en" sz="1150">
                  <a:solidFill>
                    <a:srgbClr val="FFFFFF"/>
                  </a:solidFill>
                  <a:latin typeface="Montserrat"/>
                  <a:ea typeface="Montserrat"/>
                  <a:cs typeface="Montserrat"/>
                  <a:sym typeface="Montserrat"/>
                </a:rPr>
              </a:br>
              <a:r>
                <a:rPr b="1" lang="en" sz="1150">
                  <a:solidFill>
                    <a:srgbClr val="FFFFFF"/>
                  </a:solidFill>
                  <a:latin typeface="Montserrat"/>
                  <a:ea typeface="Montserrat"/>
                  <a:cs typeface="Montserrat"/>
                  <a:sym typeface="Montserrat"/>
                </a:rPr>
                <a:t>QR Code</a:t>
              </a:r>
              <a:endParaRPr b="1" sz="1150">
                <a:solidFill>
                  <a:srgbClr val="FFFFFF"/>
                </a:solidFill>
                <a:latin typeface="Montserrat"/>
                <a:ea typeface="Montserrat"/>
                <a:cs typeface="Montserrat"/>
                <a:sym typeface="Montserrat"/>
              </a:endParaRPr>
            </a:p>
          </p:txBody>
        </p:sp>
      </p:grpSp>
      <p:grpSp>
        <p:nvGrpSpPr>
          <p:cNvPr id="395" name="Google Shape;395;p36"/>
          <p:cNvGrpSpPr/>
          <p:nvPr/>
        </p:nvGrpSpPr>
        <p:grpSpPr>
          <a:xfrm>
            <a:off x="5486400" y="3619500"/>
            <a:ext cx="1333800" cy="809700"/>
            <a:chOff x="0" y="0"/>
            <a:chExt cx="1333800" cy="809700"/>
          </a:xfrm>
        </p:grpSpPr>
        <p:sp>
          <p:nvSpPr>
            <p:cNvPr id="396" name="Google Shape;396;p36"/>
            <p:cNvSpPr/>
            <p:nvPr/>
          </p:nvSpPr>
          <p:spPr>
            <a:xfrm>
              <a:off x="0" y="0"/>
              <a:ext cx="1333800" cy="809700"/>
            </a:xfrm>
            <a:prstGeom prst="roundRect">
              <a:avLst>
                <a:gd fmla="val 9411"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7" name="Google Shape;397;p36"/>
            <p:cNvSpPr/>
            <p:nvPr/>
          </p:nvSpPr>
          <p:spPr>
            <a:xfrm>
              <a:off x="0" y="0"/>
              <a:ext cx="952500" cy="28500"/>
            </a:xfrm>
            <a:prstGeom prst="roundRect">
              <a:avLst>
                <a:gd fmla="val 50000" name="adj"/>
              </a:avLst>
            </a:prstGeom>
            <a:solidFill>
              <a:srgbClr val="8F35D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36"/>
            <p:cNvSpPr txBox="1"/>
            <p:nvPr/>
          </p:nvSpPr>
          <p:spPr>
            <a:xfrm>
              <a:off x="163800" y="95250"/>
              <a:ext cx="10062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Montserrat"/>
                  <a:ea typeface="Montserrat"/>
                  <a:cs typeface="Montserrat"/>
                  <a:sym typeface="Montserrat"/>
                </a:rPr>
                <a:t>Bluetooth</a:t>
              </a:r>
              <a:br>
                <a:rPr b="1" lang="en" sz="1150">
                  <a:solidFill>
                    <a:srgbClr val="FFFFFF"/>
                  </a:solidFill>
                  <a:latin typeface="Montserrat"/>
                  <a:ea typeface="Montserrat"/>
                  <a:cs typeface="Montserrat"/>
                  <a:sym typeface="Montserrat"/>
                </a:rPr>
              </a:br>
              <a:r>
                <a:rPr b="1" lang="en" sz="1150">
                  <a:solidFill>
                    <a:srgbClr val="FFFFFF"/>
                  </a:solidFill>
                  <a:latin typeface="Montserrat"/>
                  <a:ea typeface="Montserrat"/>
                  <a:cs typeface="Montserrat"/>
                  <a:sym typeface="Montserrat"/>
                </a:rPr>
                <a:t>Tuvali</a:t>
              </a:r>
              <a:endParaRPr b="1" sz="1150">
                <a:solidFill>
                  <a:srgbClr val="FFFFFF"/>
                </a:solidFill>
                <a:latin typeface="Montserrat"/>
                <a:ea typeface="Montserrat"/>
                <a:cs typeface="Montserrat"/>
                <a:sym typeface="Montserrat"/>
              </a:endParaRPr>
            </a:p>
          </p:txBody>
        </p:sp>
      </p:grpSp>
      <p:grpSp>
        <p:nvGrpSpPr>
          <p:cNvPr id="399" name="Google Shape;399;p36"/>
          <p:cNvGrpSpPr/>
          <p:nvPr/>
        </p:nvGrpSpPr>
        <p:grpSpPr>
          <a:xfrm>
            <a:off x="7086600" y="3619500"/>
            <a:ext cx="1281515" cy="809700"/>
            <a:chOff x="0" y="0"/>
            <a:chExt cx="1333800" cy="809700"/>
          </a:xfrm>
        </p:grpSpPr>
        <p:sp>
          <p:nvSpPr>
            <p:cNvPr id="400" name="Google Shape;400;p36"/>
            <p:cNvSpPr/>
            <p:nvPr/>
          </p:nvSpPr>
          <p:spPr>
            <a:xfrm>
              <a:off x="0" y="0"/>
              <a:ext cx="1333800" cy="809700"/>
            </a:xfrm>
            <a:prstGeom prst="roundRect">
              <a:avLst>
                <a:gd fmla="val 9411"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36"/>
            <p:cNvSpPr/>
            <p:nvPr/>
          </p:nvSpPr>
          <p:spPr>
            <a:xfrm>
              <a:off x="0" y="0"/>
              <a:ext cx="952500" cy="28500"/>
            </a:xfrm>
            <a:prstGeom prst="roundRect">
              <a:avLst>
                <a:gd fmla="val 50000" name="adj"/>
              </a:avLst>
            </a:prstGeom>
            <a:solidFill>
              <a:srgbClr val="8F35D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36"/>
            <p:cNvSpPr txBox="1"/>
            <p:nvPr/>
          </p:nvSpPr>
          <p:spPr>
            <a:xfrm>
              <a:off x="102050" y="95250"/>
              <a:ext cx="9981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Montserrat"/>
                  <a:ea typeface="Montserrat"/>
                  <a:cs typeface="Montserrat"/>
                  <a:sym typeface="Montserrat"/>
                </a:rPr>
                <a:t>FaceMatch</a:t>
              </a:r>
              <a:endParaRPr b="1" sz="1150">
                <a:solidFill>
                  <a:srgbClr val="FFFFFF"/>
                </a:solidFill>
                <a:latin typeface="Montserrat"/>
                <a:ea typeface="Montserrat"/>
                <a:cs typeface="Montserrat"/>
                <a:sym typeface="Montserrat"/>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37"/>
          <p:cNvPicPr preferRelativeResize="0"/>
          <p:nvPr/>
        </p:nvPicPr>
        <p:blipFill rotWithShape="1">
          <a:blip r:embed="rId3">
            <a:alphaModFix/>
          </a:blip>
          <a:srcRect b="0" l="0" r="0" t="0"/>
          <a:stretch/>
        </p:blipFill>
        <p:spPr>
          <a:xfrm>
            <a:off x="0" y="0"/>
            <a:ext cx="9147362" cy="5144475"/>
          </a:xfrm>
          <a:prstGeom prst="rect">
            <a:avLst/>
          </a:prstGeom>
          <a:noFill/>
          <a:ln>
            <a:noFill/>
          </a:ln>
        </p:spPr>
      </p:pic>
      <p:sp>
        <p:nvSpPr>
          <p:cNvPr id="409" name="Google Shape;409;p37"/>
          <p:cNvSpPr/>
          <p:nvPr/>
        </p:nvSpPr>
        <p:spPr>
          <a:xfrm>
            <a:off x="4948238" y="2043113"/>
            <a:ext cx="3629100" cy="676200"/>
          </a:xfrm>
          <a:prstGeom prst="roundRect">
            <a:avLst>
              <a:gd fmla="val 16667" name="adj"/>
            </a:avLst>
          </a:prstGeom>
          <a:solidFill>
            <a:srgbClr val="6B71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37"/>
          <p:cNvSpPr/>
          <p:nvPr/>
        </p:nvSpPr>
        <p:spPr>
          <a:xfrm>
            <a:off x="4948238" y="1376363"/>
            <a:ext cx="3629100" cy="533400"/>
          </a:xfrm>
          <a:prstGeom prst="roundRect">
            <a:avLst>
              <a:gd fmla="val 16667" name="adj"/>
            </a:avLst>
          </a:prstGeom>
          <a:solidFill>
            <a:srgbClr val="8C2D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37"/>
          <p:cNvSpPr/>
          <p:nvPr/>
        </p:nvSpPr>
        <p:spPr>
          <a:xfrm>
            <a:off x="566738" y="1376363"/>
            <a:ext cx="3819600" cy="22956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37"/>
          <p:cNvSpPr/>
          <p:nvPr/>
        </p:nvSpPr>
        <p:spPr>
          <a:xfrm>
            <a:off x="571500" y="381000"/>
            <a:ext cx="80010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2 · MODULE 7 · WALLET INTEGRATION</a:t>
            </a:r>
            <a:endParaRPr/>
          </a:p>
        </p:txBody>
      </p:sp>
      <p:sp>
        <p:nvSpPr>
          <p:cNvPr id="413" name="Google Shape;413;p37"/>
          <p:cNvSpPr/>
          <p:nvPr/>
        </p:nvSpPr>
        <p:spPr>
          <a:xfrm>
            <a:off x="571500" y="619125"/>
            <a:ext cx="8001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Montserrat"/>
              <a:buNone/>
            </a:pPr>
            <a:r>
              <a:rPr b="1" i="1" lang="en" sz="2600">
                <a:solidFill>
                  <a:srgbClr val="FFFFFF"/>
                </a:solidFill>
                <a:latin typeface="Montserrat"/>
                <a:ea typeface="Montserrat"/>
                <a:cs typeface="Montserrat"/>
                <a:sym typeface="Montserrat"/>
              </a:rPr>
              <a:t>inji-vci-client </a:t>
            </a:r>
            <a:endParaRPr/>
          </a:p>
        </p:txBody>
      </p:sp>
      <p:sp>
        <p:nvSpPr>
          <p:cNvPr id="414" name="Google Shape;414;p37"/>
          <p:cNvSpPr/>
          <p:nvPr/>
        </p:nvSpPr>
        <p:spPr>
          <a:xfrm>
            <a:off x="571500" y="1123950"/>
            <a:ext cx="8001000" cy="9600"/>
          </a:xfrm>
          <a:prstGeom prst="rect">
            <a:avLst/>
          </a:prstGeom>
          <a:solidFill>
            <a:srgbClr val="FFFFFF">
              <a:alpha val="2000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415" name="Google Shape;415;p37"/>
          <p:cNvPicPr preferRelativeResize="0"/>
          <p:nvPr/>
        </p:nvPicPr>
        <p:blipFill rotWithShape="1">
          <a:blip r:embed="rId4">
            <a:alphaModFix/>
          </a:blip>
          <a:srcRect b="23826" l="19138" r="18502" t="22146"/>
          <a:stretch/>
        </p:blipFill>
        <p:spPr>
          <a:xfrm>
            <a:off x="7962900" y="428625"/>
            <a:ext cx="611102" cy="334500"/>
          </a:xfrm>
          <a:prstGeom prst="rect">
            <a:avLst/>
          </a:prstGeom>
          <a:noFill/>
          <a:ln>
            <a:noFill/>
          </a:ln>
        </p:spPr>
      </p:pic>
      <p:sp>
        <p:nvSpPr>
          <p:cNvPr id="416" name="Google Shape;416;p37"/>
          <p:cNvSpPr/>
          <p:nvPr/>
        </p:nvSpPr>
        <p:spPr>
          <a:xfrm>
            <a:off x="800100" y="1609725"/>
            <a:ext cx="335280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B8F"/>
              </a:buClr>
              <a:buSzPts val="1000"/>
              <a:buFont typeface="Montserrat"/>
              <a:buNone/>
            </a:pPr>
            <a:r>
              <a:rPr b="1" lang="en" sz="1000">
                <a:solidFill>
                  <a:srgbClr val="FF9B8F"/>
                </a:solidFill>
                <a:latin typeface="Montserrat"/>
                <a:ea typeface="Montserrat"/>
                <a:cs typeface="Montserrat"/>
                <a:sym typeface="Montserrat"/>
              </a:rPr>
              <a:t>CLIENT RESPONSIBILITIES</a:t>
            </a:r>
            <a:endParaRPr/>
          </a:p>
          <a:p>
            <a:pPr indent="0" lvl="0" marL="0" marR="0" rtl="0" algn="l">
              <a:spcBef>
                <a:spcPts val="900"/>
              </a:spcBef>
              <a:spcAft>
                <a:spcPts val="0"/>
              </a:spcAft>
              <a:buClr>
                <a:srgbClr val="FFFFFF"/>
              </a:buClr>
              <a:buSzPts val="1500"/>
              <a:buFont typeface="Montserrat"/>
              <a:buNone/>
            </a:pPr>
            <a:r>
              <a:rPr b="1" lang="en" sz="1500">
                <a:solidFill>
                  <a:srgbClr val="FFFFFF"/>
                </a:solidFill>
                <a:latin typeface="Montserrat"/>
                <a:ea typeface="Montserrat"/>
                <a:cs typeface="Montserrat"/>
                <a:sym typeface="Montserrat"/>
              </a:rPr>
              <a:t>Discover metadata + configs</a:t>
            </a:r>
            <a:endParaRPr/>
          </a:p>
          <a:p>
            <a:pPr indent="-301625" lvl="0" marL="457200" marR="0" rtl="0" algn="l">
              <a:spcBef>
                <a:spcPts val="1350"/>
              </a:spcBef>
              <a:spcAft>
                <a:spcPts val="0"/>
              </a:spcAft>
              <a:buClr>
                <a:srgbClr val="E3E8F5"/>
              </a:buClr>
              <a:buSzPts val="1150"/>
              <a:buFont typeface="Montserrat"/>
              <a:buChar char="●"/>
            </a:pPr>
            <a:r>
              <a:rPr b="0" lang="en" sz="1150">
                <a:solidFill>
                  <a:srgbClr val="E3E8F5"/>
                </a:solidFill>
                <a:latin typeface="Montserrat"/>
                <a:ea typeface="Montserrat"/>
                <a:cs typeface="Montserrat"/>
                <a:sym typeface="Montserrat"/>
              </a:rPr>
              <a:t>Parse credential offers</a:t>
            </a:r>
            <a:endParaRPr/>
          </a:p>
          <a:p>
            <a:pPr indent="-301625" lvl="0" marL="457200" marR="0" rtl="0" algn="l">
              <a:spcBef>
                <a:spcPts val="750"/>
              </a:spcBef>
              <a:spcAft>
                <a:spcPts val="0"/>
              </a:spcAft>
              <a:buClr>
                <a:srgbClr val="E3E8F5"/>
              </a:buClr>
              <a:buSzPts val="1150"/>
              <a:buFont typeface="Montserrat"/>
              <a:buChar char="●"/>
            </a:pPr>
            <a:r>
              <a:rPr b="0" lang="en" sz="1150">
                <a:solidFill>
                  <a:srgbClr val="E3E8F5"/>
                </a:solidFill>
                <a:latin typeface="Montserrat"/>
                <a:ea typeface="Montserrat"/>
                <a:cs typeface="Montserrat"/>
                <a:sym typeface="Montserrat"/>
              </a:rPr>
              <a:t>Coordinate grants + PKCE state</a:t>
            </a:r>
            <a:endParaRPr/>
          </a:p>
          <a:p>
            <a:pPr indent="-301625" lvl="0" marL="457200" marR="0" rtl="0" algn="l">
              <a:spcBef>
                <a:spcPts val="750"/>
              </a:spcBef>
              <a:spcAft>
                <a:spcPts val="0"/>
              </a:spcAft>
              <a:buClr>
                <a:srgbClr val="E3E8F5"/>
              </a:buClr>
              <a:buSzPts val="1150"/>
              <a:buFont typeface="Montserrat"/>
              <a:buChar char="●"/>
            </a:pPr>
            <a:r>
              <a:rPr b="0" lang="en" sz="1150">
                <a:solidFill>
                  <a:srgbClr val="E3E8F5"/>
                </a:solidFill>
                <a:latin typeface="Montserrat"/>
                <a:ea typeface="Montserrat"/>
                <a:cs typeface="Montserrat"/>
                <a:sym typeface="Montserrat"/>
              </a:rPr>
              <a:t>Request credentials</a:t>
            </a:r>
            <a:endParaRPr/>
          </a:p>
          <a:p>
            <a:pPr indent="-301625" lvl="0" marL="457200" marR="0" rtl="0" algn="l">
              <a:spcBef>
                <a:spcPts val="750"/>
              </a:spcBef>
              <a:spcAft>
                <a:spcPts val="0"/>
              </a:spcAft>
              <a:buClr>
                <a:srgbClr val="E3E8F5"/>
              </a:buClr>
              <a:buSzPts val="1150"/>
              <a:buFont typeface="Montserrat"/>
              <a:buChar char="●"/>
            </a:pPr>
            <a:r>
              <a:rPr b="0" lang="en" sz="1150">
                <a:solidFill>
                  <a:srgbClr val="E3E8F5"/>
                </a:solidFill>
                <a:latin typeface="Montserrat"/>
                <a:ea typeface="Montserrat"/>
                <a:cs typeface="Montserrat"/>
                <a:sym typeface="Montserrat"/>
              </a:rPr>
              <a:t>Coordinate host proof callback</a:t>
            </a:r>
            <a:endParaRPr/>
          </a:p>
          <a:p>
            <a:pPr indent="-301625" lvl="0" marL="457200" marR="0" rtl="0" algn="l">
              <a:spcBef>
                <a:spcPts val="750"/>
              </a:spcBef>
              <a:spcAft>
                <a:spcPts val="0"/>
              </a:spcAft>
              <a:buClr>
                <a:srgbClr val="E3E8F5"/>
              </a:buClr>
              <a:buSzPts val="1150"/>
              <a:buFont typeface="Montserrat"/>
              <a:buChar char="●"/>
            </a:pPr>
            <a:r>
              <a:rPr b="0" lang="en" sz="1150">
                <a:solidFill>
                  <a:srgbClr val="E3E8F5"/>
                </a:solidFill>
                <a:latin typeface="Montserrat"/>
                <a:ea typeface="Montserrat"/>
                <a:cs typeface="Montserrat"/>
                <a:sym typeface="Montserrat"/>
              </a:rPr>
              <a:t>Return credentials or errors</a:t>
            </a:r>
            <a:endParaRPr/>
          </a:p>
        </p:txBody>
      </p:sp>
      <p:sp>
        <p:nvSpPr>
          <p:cNvPr id="417" name="Google Shape;417;p37"/>
          <p:cNvSpPr/>
          <p:nvPr/>
        </p:nvSpPr>
        <p:spPr>
          <a:xfrm>
            <a:off x="571500" y="3810000"/>
            <a:ext cx="3810000" cy="400200"/>
          </a:xfrm>
          <a:prstGeom prst="roundRect">
            <a:avLst>
              <a:gd fmla="val 19047" name="adj"/>
            </a:avLst>
          </a:prstGeom>
          <a:solidFill>
            <a:srgbClr val="FFFFFF">
              <a:alpha val="510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18" name="Google Shape;418;p37"/>
          <p:cNvSpPr/>
          <p:nvPr/>
        </p:nvSpPr>
        <p:spPr>
          <a:xfrm>
            <a:off x="723900" y="3810000"/>
            <a:ext cx="3505200" cy="4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Kotlin + Swift v0.7.0 implement drafts 13 · Migrating to 1.0</a:t>
            </a:r>
            <a:endParaRPr/>
          </a:p>
        </p:txBody>
      </p:sp>
      <p:pic>
        <p:nvPicPr>
          <p:cNvPr id="419" name="Google Shape;419;p37"/>
          <p:cNvPicPr preferRelativeResize="0"/>
          <p:nvPr/>
        </p:nvPicPr>
        <p:blipFill rotWithShape="1">
          <a:blip r:embed="rId5">
            <a:alphaModFix/>
          </a:blip>
          <a:srcRect b="0" l="0" r="0" t="0"/>
          <a:stretch/>
        </p:blipFill>
        <p:spPr>
          <a:xfrm>
            <a:off x="6753225" y="1905000"/>
            <a:ext cx="19200" cy="142800"/>
          </a:xfrm>
          <a:prstGeom prst="rect">
            <a:avLst/>
          </a:prstGeom>
          <a:noFill/>
          <a:ln>
            <a:noFill/>
          </a:ln>
        </p:spPr>
      </p:pic>
      <p:pic>
        <p:nvPicPr>
          <p:cNvPr id="420" name="Google Shape;420;p37"/>
          <p:cNvPicPr preferRelativeResize="0"/>
          <p:nvPr/>
        </p:nvPicPr>
        <p:blipFill rotWithShape="1">
          <a:blip r:embed="rId5">
            <a:alphaModFix/>
          </a:blip>
          <a:srcRect b="0" l="0" r="0" t="0"/>
          <a:stretch/>
        </p:blipFill>
        <p:spPr>
          <a:xfrm>
            <a:off x="6753225" y="2714625"/>
            <a:ext cx="19200" cy="142800"/>
          </a:xfrm>
          <a:prstGeom prst="rect">
            <a:avLst/>
          </a:prstGeom>
          <a:noFill/>
          <a:ln>
            <a:noFill/>
          </a:ln>
        </p:spPr>
      </p:pic>
      <p:sp>
        <p:nvSpPr>
          <p:cNvPr id="421" name="Google Shape;421;p37"/>
          <p:cNvSpPr/>
          <p:nvPr/>
        </p:nvSpPr>
        <p:spPr>
          <a:xfrm>
            <a:off x="4953000" y="1381125"/>
            <a:ext cx="3619500" cy="52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Wallet app</a:t>
            </a:r>
            <a:endParaRPr/>
          </a:p>
          <a:p>
            <a:pPr indent="0" lvl="0" marL="0" marR="0" rtl="0" algn="ctr">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selects issuer + starts journey</a:t>
            </a:r>
            <a:endParaRPr/>
          </a:p>
        </p:txBody>
      </p:sp>
      <p:sp>
        <p:nvSpPr>
          <p:cNvPr id="422" name="Google Shape;422;p37"/>
          <p:cNvSpPr/>
          <p:nvPr/>
        </p:nvSpPr>
        <p:spPr>
          <a:xfrm>
            <a:off x="4953000" y="2047875"/>
            <a:ext cx="3619500" cy="66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VCI client</a:t>
            </a:r>
            <a:endParaRPr/>
          </a:p>
          <a:p>
            <a:pPr indent="0" lvl="0" marL="0" marR="0" rtl="0" algn="ctr">
              <a:spcBef>
                <a:spcPts val="225"/>
              </a:spcBef>
              <a:spcAft>
                <a:spcPts val="0"/>
              </a:spcAft>
              <a:buClr>
                <a:srgbClr val="C7D0E8"/>
              </a:buClr>
              <a:buSzPts val="1050"/>
              <a:buFont typeface="Montserrat Medium"/>
              <a:buNone/>
            </a:pPr>
            <a:r>
              <a:rPr b="0" lang="en" sz="1050">
                <a:solidFill>
                  <a:srgbClr val="C7D0E8"/>
                </a:solidFill>
                <a:latin typeface="Montserrat Medium"/>
                <a:ea typeface="Montserrat Medium"/>
                <a:cs typeface="Montserrat Medium"/>
                <a:sym typeface="Montserrat Medium"/>
              </a:rPr>
              <a:t>protocol state + endpoint calls</a:t>
            </a:r>
            <a:endParaRPr/>
          </a:p>
        </p:txBody>
      </p:sp>
      <p:sp>
        <p:nvSpPr>
          <p:cNvPr id="423" name="Google Shape;423;p37"/>
          <p:cNvSpPr/>
          <p:nvPr/>
        </p:nvSpPr>
        <p:spPr>
          <a:xfrm>
            <a:off x="4953000" y="2857500"/>
            <a:ext cx="3619500" cy="666900"/>
          </a:xfrm>
          <a:prstGeom prst="roundRect">
            <a:avLst>
              <a:gd fmla="val 11428" name="adj"/>
            </a:avLst>
          </a:prstGeom>
          <a:gradFill>
            <a:gsLst>
              <a:gs pos="0">
                <a:srgbClr val="E8362D"/>
              </a:gs>
              <a:gs pos="100000">
                <a:srgbClr val="7C3AED"/>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24" name="Google Shape;424;p37"/>
          <p:cNvSpPr/>
          <p:nvPr/>
        </p:nvSpPr>
        <p:spPr>
          <a:xfrm>
            <a:off x="4953000" y="2855013"/>
            <a:ext cx="3619500" cy="66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ontserrat"/>
              <a:buNone/>
            </a:pPr>
            <a:r>
              <a:rPr b="1" lang="en" sz="1300">
                <a:solidFill>
                  <a:schemeClr val="lt1"/>
                </a:solidFill>
                <a:latin typeface="Montserrat"/>
                <a:ea typeface="Montserrat"/>
                <a:cs typeface="Montserrat"/>
                <a:sym typeface="Montserrat"/>
              </a:rPr>
              <a:t>Host callbacks</a:t>
            </a:r>
            <a:endParaRPr>
              <a:solidFill>
                <a:schemeClr val="lt1"/>
              </a:solidFill>
            </a:endParaRPr>
          </a:p>
          <a:p>
            <a:pPr indent="0" lvl="0" marL="0" marR="0" rtl="0" algn="ctr">
              <a:spcBef>
                <a:spcPts val="225"/>
              </a:spcBef>
              <a:spcAft>
                <a:spcPts val="0"/>
              </a:spcAft>
              <a:buClr>
                <a:srgbClr val="F3E3F9"/>
              </a:buClr>
              <a:buSzPts val="1050"/>
              <a:buFont typeface="Montserrat Medium"/>
              <a:buNone/>
            </a:pPr>
            <a:r>
              <a:rPr b="0" lang="en" sz="1050">
                <a:solidFill>
                  <a:schemeClr val="lt1"/>
                </a:solidFill>
                <a:latin typeface="Montserrat Medium"/>
                <a:ea typeface="Montserrat Medium"/>
                <a:cs typeface="Montserrat Medium"/>
                <a:sym typeface="Montserrat Medium"/>
              </a:rPr>
              <a:t>authorization · token · proof</a:t>
            </a:r>
            <a:endParaRPr>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38"/>
          <p:cNvPicPr preferRelativeResize="0"/>
          <p:nvPr/>
        </p:nvPicPr>
        <p:blipFill rotWithShape="1">
          <a:blip r:embed="rId3">
            <a:alphaModFix/>
          </a:blip>
          <a:srcRect b="0" l="0" r="0" t="0"/>
          <a:stretch/>
        </p:blipFill>
        <p:spPr>
          <a:xfrm>
            <a:off x="0" y="0"/>
            <a:ext cx="9147362" cy="5144475"/>
          </a:xfrm>
          <a:prstGeom prst="rect">
            <a:avLst/>
          </a:prstGeom>
          <a:noFill/>
          <a:ln>
            <a:noFill/>
          </a:ln>
        </p:spPr>
      </p:pic>
      <p:sp>
        <p:nvSpPr>
          <p:cNvPr id="431" name="Google Shape;431;p38"/>
          <p:cNvSpPr/>
          <p:nvPr/>
        </p:nvSpPr>
        <p:spPr>
          <a:xfrm>
            <a:off x="7138988" y="1376363"/>
            <a:ext cx="1438200" cy="18192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p38"/>
          <p:cNvSpPr/>
          <p:nvPr/>
        </p:nvSpPr>
        <p:spPr>
          <a:xfrm>
            <a:off x="5491163" y="1376363"/>
            <a:ext cx="1438200" cy="1819200"/>
          </a:xfrm>
          <a:prstGeom prst="roundRect">
            <a:avLst>
              <a:gd fmla="val 16667" name="adj"/>
            </a:avLst>
          </a:prstGeom>
          <a:solidFill>
            <a:srgbClr val="E5E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38"/>
          <p:cNvSpPr/>
          <p:nvPr/>
        </p:nvSpPr>
        <p:spPr>
          <a:xfrm>
            <a:off x="3852863" y="1376363"/>
            <a:ext cx="1438200" cy="1819200"/>
          </a:xfrm>
          <a:prstGeom prst="roundRect">
            <a:avLst>
              <a:gd fmla="val 16667" name="adj"/>
            </a:avLst>
          </a:prstGeom>
          <a:solidFill>
            <a:srgbClr val="6B71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38"/>
          <p:cNvSpPr/>
          <p:nvPr/>
        </p:nvSpPr>
        <p:spPr>
          <a:xfrm>
            <a:off x="2205038" y="1376363"/>
            <a:ext cx="1438200" cy="1819200"/>
          </a:xfrm>
          <a:prstGeom prst="roundRect">
            <a:avLst>
              <a:gd fmla="val 16667" name="adj"/>
            </a:avLst>
          </a:prstGeom>
          <a:solidFill>
            <a:srgbClr val="8C2D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38"/>
          <p:cNvSpPr/>
          <p:nvPr/>
        </p:nvSpPr>
        <p:spPr>
          <a:xfrm>
            <a:off x="566738" y="1376363"/>
            <a:ext cx="1438200" cy="18192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6" name="Google Shape;436;p38"/>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sp>
        <p:nvSpPr>
          <p:cNvPr id="437" name="Google Shape;437;p38"/>
          <p:cNvSpPr/>
          <p:nvPr/>
        </p:nvSpPr>
        <p:spPr>
          <a:xfrm>
            <a:off x="571500" y="381000"/>
            <a:ext cx="800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2 · MODULE 7 · WALLET INTEGRATION</a:t>
            </a:r>
            <a:endParaRPr/>
          </a:p>
        </p:txBody>
      </p:sp>
      <p:sp>
        <p:nvSpPr>
          <p:cNvPr id="438" name="Google Shape;438;p38"/>
          <p:cNvSpPr/>
          <p:nvPr/>
        </p:nvSpPr>
        <p:spPr>
          <a:xfrm>
            <a:off x="571500" y="66675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60"/>
              <a:buFont typeface="Montserrat"/>
              <a:buNone/>
            </a:pPr>
            <a:r>
              <a:rPr b="1" i="1" lang="en" sz="2960">
                <a:solidFill>
                  <a:srgbClr val="FFFFFF"/>
                </a:solidFill>
                <a:latin typeface="Montserrat"/>
                <a:ea typeface="Montserrat"/>
                <a:cs typeface="Montserrat"/>
                <a:sym typeface="Montserrat"/>
              </a:rPr>
              <a:t>PixelPass</a:t>
            </a:r>
            <a:endParaRPr/>
          </a:p>
        </p:txBody>
      </p:sp>
      <p:pic>
        <p:nvPicPr>
          <p:cNvPr id="439" name="Google Shape;439;p38"/>
          <p:cNvPicPr preferRelativeResize="0"/>
          <p:nvPr/>
        </p:nvPicPr>
        <p:blipFill rotWithShape="1">
          <a:blip r:embed="rId5">
            <a:alphaModFix/>
          </a:blip>
          <a:srcRect b="0" l="0" r="0" t="0"/>
          <a:stretch/>
        </p:blipFill>
        <p:spPr>
          <a:xfrm>
            <a:off x="2047875" y="2219325"/>
            <a:ext cx="81000" cy="133500"/>
          </a:xfrm>
          <a:prstGeom prst="rect">
            <a:avLst/>
          </a:prstGeom>
          <a:noFill/>
          <a:ln>
            <a:noFill/>
          </a:ln>
        </p:spPr>
      </p:pic>
      <p:pic>
        <p:nvPicPr>
          <p:cNvPr id="440" name="Google Shape;440;p38"/>
          <p:cNvPicPr preferRelativeResize="0"/>
          <p:nvPr/>
        </p:nvPicPr>
        <p:blipFill rotWithShape="1">
          <a:blip r:embed="rId5">
            <a:alphaModFix/>
          </a:blip>
          <a:srcRect b="0" l="0" r="0" t="0"/>
          <a:stretch/>
        </p:blipFill>
        <p:spPr>
          <a:xfrm>
            <a:off x="3695700" y="2219325"/>
            <a:ext cx="81000" cy="133500"/>
          </a:xfrm>
          <a:prstGeom prst="rect">
            <a:avLst/>
          </a:prstGeom>
          <a:noFill/>
          <a:ln>
            <a:noFill/>
          </a:ln>
        </p:spPr>
      </p:pic>
      <p:pic>
        <p:nvPicPr>
          <p:cNvPr id="441" name="Google Shape;441;p38"/>
          <p:cNvPicPr preferRelativeResize="0"/>
          <p:nvPr/>
        </p:nvPicPr>
        <p:blipFill rotWithShape="1">
          <a:blip r:embed="rId5">
            <a:alphaModFix/>
          </a:blip>
          <a:srcRect b="0" l="0" r="0" t="0"/>
          <a:stretch/>
        </p:blipFill>
        <p:spPr>
          <a:xfrm>
            <a:off x="5334000" y="2219325"/>
            <a:ext cx="81000" cy="133500"/>
          </a:xfrm>
          <a:prstGeom prst="rect">
            <a:avLst/>
          </a:prstGeom>
          <a:noFill/>
          <a:ln>
            <a:noFill/>
          </a:ln>
        </p:spPr>
      </p:pic>
      <p:sp>
        <p:nvSpPr>
          <p:cNvPr id="442" name="Google Shape;442;p38"/>
          <p:cNvSpPr/>
          <p:nvPr/>
        </p:nvSpPr>
        <p:spPr>
          <a:xfrm>
            <a:off x="723900"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362D"/>
              </a:buClr>
              <a:buSzPts val="900"/>
              <a:buFont typeface="Montserrat"/>
              <a:buNone/>
            </a:pPr>
            <a:r>
              <a:rPr b="1" lang="en" sz="900">
                <a:solidFill>
                  <a:srgbClr val="F1752F"/>
                </a:solidFill>
                <a:latin typeface="Montserrat"/>
                <a:ea typeface="Montserrat"/>
                <a:cs typeface="Montserrat"/>
                <a:sym typeface="Montserrat"/>
              </a:rPr>
              <a:t>01 / MAP</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JSON + optional</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profile mapper</a:t>
            </a:r>
            <a:endParaRPr/>
          </a:p>
        </p:txBody>
      </p:sp>
      <p:sp>
        <p:nvSpPr>
          <p:cNvPr id="443" name="Google Shape;443;p38"/>
          <p:cNvSpPr/>
          <p:nvPr/>
        </p:nvSpPr>
        <p:spPr>
          <a:xfrm>
            <a:off x="2362200"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63156"/>
              </a:buClr>
              <a:buSzPts val="900"/>
              <a:buFont typeface="Montserrat"/>
              <a:buNone/>
            </a:pPr>
            <a:r>
              <a:rPr b="1" lang="en" sz="900">
                <a:solidFill>
                  <a:srgbClr val="F1752F"/>
                </a:solidFill>
                <a:latin typeface="Montserrat"/>
                <a:ea typeface="Montserrat"/>
                <a:cs typeface="Montserrat"/>
                <a:sym typeface="Montserrat"/>
              </a:rPr>
              <a:t>02 / COMPACT</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CBOR</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Binary form</a:t>
            </a:r>
            <a:endParaRPr/>
          </a:p>
        </p:txBody>
      </p:sp>
      <p:sp>
        <p:nvSpPr>
          <p:cNvPr id="444" name="Google Shape;444;p38"/>
          <p:cNvSpPr/>
          <p:nvPr/>
        </p:nvSpPr>
        <p:spPr>
          <a:xfrm>
            <a:off x="4010025"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2D80"/>
              </a:buClr>
              <a:buSzPts val="900"/>
              <a:buFont typeface="Montserrat"/>
              <a:buNone/>
            </a:pPr>
            <a:r>
              <a:rPr b="1" lang="en" sz="900">
                <a:solidFill>
                  <a:srgbClr val="F1752F"/>
                </a:solidFill>
                <a:latin typeface="Montserrat"/>
                <a:ea typeface="Montserrat"/>
                <a:cs typeface="Montserrat"/>
                <a:sym typeface="Montserrat"/>
              </a:rPr>
              <a:t>03 / COMPRESS</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zlib</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Fewer bytes</a:t>
            </a:r>
            <a:endParaRPr/>
          </a:p>
        </p:txBody>
      </p:sp>
      <p:sp>
        <p:nvSpPr>
          <p:cNvPr id="445" name="Google Shape;445;p38"/>
          <p:cNvSpPr/>
          <p:nvPr/>
        </p:nvSpPr>
        <p:spPr>
          <a:xfrm>
            <a:off x="5648325"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62DB0"/>
              </a:buClr>
              <a:buSzPts val="900"/>
              <a:buFont typeface="Montserrat"/>
              <a:buNone/>
            </a:pPr>
            <a:r>
              <a:rPr b="1" lang="en" sz="900">
                <a:solidFill>
                  <a:srgbClr val="F1752F"/>
                </a:solidFill>
                <a:latin typeface="Montserrat"/>
                <a:ea typeface="Montserrat"/>
                <a:cs typeface="Montserrat"/>
                <a:sym typeface="Montserrat"/>
              </a:rPr>
              <a:t>04 / ENCODE</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1D1E3A"/>
                </a:solidFill>
                <a:latin typeface="Montserrat"/>
                <a:ea typeface="Montserrat"/>
                <a:cs typeface="Montserrat"/>
                <a:sym typeface="Montserrat"/>
              </a:rPr>
              <a:t>Base45</a:t>
            </a:r>
            <a:endParaRPr>
              <a:solidFill>
                <a:srgbClr val="1D1E3A"/>
              </a:solidFill>
            </a:endParaRPr>
          </a:p>
          <a:p>
            <a:pPr indent="0" lvl="0" marL="0" marR="0" rtl="0" algn="l">
              <a:spcBef>
                <a:spcPts val="900"/>
              </a:spcBef>
              <a:spcAft>
                <a:spcPts val="0"/>
              </a:spcAft>
              <a:buClr>
                <a:srgbClr val="C7D0E8"/>
              </a:buClr>
              <a:buSzPts val="1050"/>
              <a:buFont typeface="Montserrat"/>
              <a:buNone/>
            </a:pPr>
            <a:r>
              <a:rPr b="0" lang="en" sz="1050">
                <a:solidFill>
                  <a:srgbClr val="1D1E3A"/>
                </a:solidFill>
                <a:latin typeface="Montserrat"/>
                <a:ea typeface="Montserrat"/>
                <a:cs typeface="Montserrat"/>
                <a:sym typeface="Montserrat"/>
              </a:rPr>
              <a:t>QR transport</a:t>
            </a:r>
            <a:endParaRPr>
              <a:solidFill>
                <a:srgbClr val="1D1E3A"/>
              </a:solidFill>
            </a:endParaRPr>
          </a:p>
        </p:txBody>
      </p:sp>
      <p:sp>
        <p:nvSpPr>
          <p:cNvPr id="446" name="Google Shape;446;p38"/>
          <p:cNvSpPr/>
          <p:nvPr/>
        </p:nvSpPr>
        <p:spPr>
          <a:xfrm>
            <a:off x="7296150" y="1571625"/>
            <a:ext cx="1124100" cy="142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F35D6"/>
              </a:buClr>
              <a:buSzPts val="900"/>
              <a:buFont typeface="Montserrat"/>
              <a:buNone/>
            </a:pPr>
            <a:r>
              <a:rPr b="1" lang="en" sz="900">
                <a:solidFill>
                  <a:srgbClr val="F1752F"/>
                </a:solidFill>
                <a:latin typeface="Montserrat"/>
                <a:ea typeface="Montserrat"/>
                <a:cs typeface="Montserrat"/>
                <a:sym typeface="Montserrat"/>
              </a:rPr>
              <a:t>05 / DECODE</a:t>
            </a:r>
            <a:endParaRPr>
              <a:solidFill>
                <a:srgbClr val="F1752F"/>
              </a:solidFill>
            </a:endParaRPr>
          </a:p>
          <a:p>
            <a:pPr indent="0" lvl="0" marL="0" marR="0" rtl="0" algn="l">
              <a:spcBef>
                <a:spcPts val="900"/>
              </a:spcBef>
              <a:spcAft>
                <a:spcPts val="0"/>
              </a:spcAft>
              <a:buClr>
                <a:srgbClr val="FFFFFF"/>
              </a:buClr>
              <a:buSzPts val="1800"/>
              <a:buFont typeface="Montserrat"/>
              <a:buNone/>
            </a:pPr>
            <a:r>
              <a:rPr b="1" lang="en" sz="1800">
                <a:solidFill>
                  <a:srgbClr val="FFFFFF"/>
                </a:solidFill>
                <a:latin typeface="Montserrat"/>
                <a:ea typeface="Montserrat"/>
                <a:cs typeface="Montserrat"/>
                <a:sym typeface="Montserrat"/>
              </a:rPr>
              <a:t>Reverse path</a:t>
            </a:r>
            <a:endParaRPr/>
          </a:p>
          <a:p>
            <a:pPr indent="0" lvl="0" marL="0" marR="0" rtl="0" algn="l">
              <a:spcBef>
                <a:spcPts val="900"/>
              </a:spcBef>
              <a:spcAft>
                <a:spcPts val="0"/>
              </a:spcAft>
              <a:buClr>
                <a:srgbClr val="C7D0E8"/>
              </a:buClr>
              <a:buSzPts val="1050"/>
              <a:buFont typeface="Montserrat"/>
              <a:buNone/>
            </a:pPr>
            <a:r>
              <a:rPr b="0" lang="en" sz="1050">
                <a:solidFill>
                  <a:srgbClr val="C7D0E8"/>
                </a:solidFill>
                <a:latin typeface="Montserrat"/>
                <a:ea typeface="Montserrat"/>
                <a:cs typeface="Montserrat"/>
                <a:sym typeface="Montserrat"/>
              </a:rPr>
              <a:t>Structured output</a:t>
            </a:r>
            <a:endParaRPr/>
          </a:p>
        </p:txBody>
      </p:sp>
      <p:pic>
        <p:nvPicPr>
          <p:cNvPr id="447" name="Google Shape;447;p38"/>
          <p:cNvPicPr preferRelativeResize="0"/>
          <p:nvPr/>
        </p:nvPicPr>
        <p:blipFill rotWithShape="1">
          <a:blip r:embed="rId6">
            <a:alphaModFix/>
          </a:blip>
          <a:srcRect b="23807" l="19146" r="18491" t="22148"/>
          <a:stretch/>
        </p:blipFill>
        <p:spPr>
          <a:xfrm>
            <a:off x="8058150" y="333375"/>
            <a:ext cx="611102" cy="334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2" name="Shape 452"/>
        <p:cNvGrpSpPr/>
        <p:nvPr/>
      </p:nvGrpSpPr>
      <p:grpSpPr>
        <a:xfrm>
          <a:off x="0" y="0"/>
          <a:ext cx="0" cy="0"/>
          <a:chOff x="0" y="0"/>
          <a:chExt cx="0" cy="0"/>
        </a:xfrm>
      </p:grpSpPr>
      <p:pic>
        <p:nvPicPr>
          <p:cNvPr id="453" name="Google Shape;453;p39"/>
          <p:cNvPicPr preferRelativeResize="0"/>
          <p:nvPr/>
        </p:nvPicPr>
        <p:blipFill rotWithShape="1">
          <a:blip r:embed="rId4">
            <a:alphaModFix/>
          </a:blip>
          <a:srcRect b="0" l="0" r="0" t="0"/>
          <a:stretch/>
        </p:blipFill>
        <p:spPr>
          <a:xfrm>
            <a:off x="0" y="0"/>
            <a:ext cx="9147362" cy="5144475"/>
          </a:xfrm>
          <a:prstGeom prst="rect">
            <a:avLst/>
          </a:prstGeom>
          <a:noFill/>
          <a:ln>
            <a:noFill/>
          </a:ln>
        </p:spPr>
      </p:pic>
      <p:pic>
        <p:nvPicPr>
          <p:cNvPr id="454" name="Google Shape;454;p39"/>
          <p:cNvPicPr preferRelativeResize="0"/>
          <p:nvPr/>
        </p:nvPicPr>
        <p:blipFill rotWithShape="1">
          <a:blip r:embed="rId4">
            <a:alphaModFix/>
          </a:blip>
          <a:srcRect b="0" l="20" r="20" t="0"/>
          <a:stretch/>
        </p:blipFill>
        <p:spPr>
          <a:xfrm>
            <a:off x="0" y="0"/>
            <a:ext cx="9144000" cy="5143500"/>
          </a:xfrm>
          <a:prstGeom prst="rect">
            <a:avLst/>
          </a:prstGeom>
          <a:noFill/>
          <a:ln>
            <a:noFill/>
          </a:ln>
        </p:spPr>
      </p:pic>
      <p:sp>
        <p:nvSpPr>
          <p:cNvPr id="455" name="Google Shape;455;p39"/>
          <p:cNvSpPr txBox="1"/>
          <p:nvPr/>
        </p:nvSpPr>
        <p:spPr>
          <a:xfrm>
            <a:off x="571500" y="428625"/>
            <a:ext cx="7620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C7D0E8"/>
                </a:solidFill>
                <a:latin typeface="Montserrat"/>
                <a:ea typeface="Montserrat"/>
                <a:cs typeface="Montserrat"/>
                <a:sym typeface="Montserrat"/>
              </a:rPr>
              <a:t>DAY 2 · MODULE 7 · WALLET INTEGRATION</a:t>
            </a:r>
            <a:endParaRPr b="1" sz="1100">
              <a:solidFill>
                <a:srgbClr val="C7D0E8"/>
              </a:solidFill>
              <a:latin typeface="Montserrat"/>
              <a:ea typeface="Montserrat"/>
              <a:cs typeface="Montserrat"/>
              <a:sym typeface="Montserrat"/>
            </a:endParaRPr>
          </a:p>
          <a:p>
            <a:pPr indent="0" lvl="0" marL="0" rtl="0" algn="l">
              <a:spcBef>
                <a:spcPts val="375"/>
              </a:spcBef>
              <a:spcAft>
                <a:spcPts val="0"/>
              </a:spcAft>
              <a:buNone/>
            </a:pPr>
            <a:r>
              <a:rPr b="1" i="1" lang="en" sz="3200">
                <a:solidFill>
                  <a:srgbClr val="FFFFFF"/>
                </a:solidFill>
                <a:latin typeface="Montserrat"/>
                <a:ea typeface="Montserrat"/>
                <a:cs typeface="Montserrat"/>
                <a:sym typeface="Montserrat"/>
              </a:rPr>
              <a:t>Secure Keystore</a:t>
            </a:r>
            <a:endParaRPr b="1" i="1" sz="3200">
              <a:solidFill>
                <a:srgbClr val="FFFFFF"/>
              </a:solidFill>
              <a:latin typeface="Montserrat"/>
              <a:ea typeface="Montserrat"/>
              <a:cs typeface="Montserrat"/>
              <a:sym typeface="Montserrat"/>
            </a:endParaRPr>
          </a:p>
        </p:txBody>
      </p:sp>
      <p:pic>
        <p:nvPicPr>
          <p:cNvPr id="456" name="Google Shape;456;p39"/>
          <p:cNvPicPr preferRelativeResize="0"/>
          <p:nvPr/>
        </p:nvPicPr>
        <p:blipFill rotWithShape="1">
          <a:blip r:embed="rId5">
            <a:alphaModFix/>
          </a:blip>
          <a:srcRect b="6680" l="0" r="0" t="6680"/>
          <a:stretch/>
        </p:blipFill>
        <p:spPr>
          <a:xfrm>
            <a:off x="8058150" y="333375"/>
            <a:ext cx="611100" cy="334500"/>
          </a:xfrm>
          <a:prstGeom prst="rect">
            <a:avLst/>
          </a:prstGeom>
          <a:noFill/>
          <a:ln>
            <a:noFill/>
          </a:ln>
        </p:spPr>
      </p:pic>
      <p:grpSp>
        <p:nvGrpSpPr>
          <p:cNvPr id="457" name="Google Shape;457;p39"/>
          <p:cNvGrpSpPr/>
          <p:nvPr/>
        </p:nvGrpSpPr>
        <p:grpSpPr>
          <a:xfrm>
            <a:off x="566738" y="1423988"/>
            <a:ext cx="3629100" cy="2962200"/>
            <a:chOff x="-4762" y="-4762"/>
            <a:chExt cx="3629100" cy="2962200"/>
          </a:xfrm>
        </p:grpSpPr>
        <p:pic>
          <p:nvPicPr>
            <p:cNvPr id="458" name="Google Shape;458;p39"/>
            <p:cNvPicPr preferRelativeResize="0"/>
            <p:nvPr/>
          </p:nvPicPr>
          <p:blipFill rotWithShape="1">
            <a:blip r:embed="rId6">
              <a:alphaModFix/>
            </a:blip>
            <a:srcRect b="0" l="0" r="0" t="0"/>
            <a:stretch/>
          </p:blipFill>
          <p:spPr>
            <a:xfrm>
              <a:off x="-4762" y="-4762"/>
              <a:ext cx="3629100" cy="2962200"/>
            </a:xfrm>
            <a:prstGeom prst="rect">
              <a:avLst/>
            </a:prstGeom>
            <a:noFill/>
            <a:ln>
              <a:noFill/>
            </a:ln>
          </p:spPr>
        </p:pic>
        <p:grpSp>
          <p:nvGrpSpPr>
            <p:cNvPr id="459" name="Google Shape;459;p39"/>
            <p:cNvGrpSpPr/>
            <p:nvPr/>
          </p:nvGrpSpPr>
          <p:grpSpPr>
            <a:xfrm>
              <a:off x="228600" y="285750"/>
              <a:ext cx="3162300" cy="952500"/>
              <a:chOff x="0" y="0"/>
              <a:chExt cx="3162300" cy="952500"/>
            </a:xfrm>
          </p:grpSpPr>
          <p:sp>
            <p:nvSpPr>
              <p:cNvPr id="460" name="Google Shape;460;p39"/>
              <p:cNvSpPr/>
              <p:nvPr/>
            </p:nvSpPr>
            <p:spPr>
              <a:xfrm>
                <a:off x="0" y="0"/>
                <a:ext cx="38100" cy="857400"/>
              </a:xfrm>
              <a:prstGeom prst="roundRect">
                <a:avLst>
                  <a:gd fmla="val 50000" name="adj"/>
                </a:avLst>
              </a:prstGeom>
              <a:solidFill>
                <a:srgbClr val="E8362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39"/>
              <p:cNvSpPr txBox="1"/>
              <p:nvPr/>
            </p:nvSpPr>
            <p:spPr>
              <a:xfrm>
                <a:off x="190500" y="0"/>
                <a:ext cx="29718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FF9B8F"/>
                    </a:solidFill>
                    <a:latin typeface="Montserrat"/>
                    <a:ea typeface="Montserrat"/>
                    <a:cs typeface="Montserrat"/>
                    <a:sym typeface="Montserrat"/>
                  </a:rPr>
                  <a:t>KEY GENERATION</a:t>
                </a:r>
                <a:endParaRPr b="1" sz="950">
                  <a:solidFill>
                    <a:srgbClr val="FF9B8F"/>
                  </a:solidFill>
                  <a:latin typeface="Montserrat"/>
                  <a:ea typeface="Montserrat"/>
                  <a:cs typeface="Montserrat"/>
                  <a:sym typeface="Montserrat"/>
                </a:endParaRPr>
              </a:p>
              <a:p>
                <a:pPr indent="0" lvl="0" marL="0" rtl="0" algn="l">
                  <a:spcBef>
                    <a:spcPts val="300"/>
                  </a:spcBef>
                  <a:spcAft>
                    <a:spcPts val="0"/>
                  </a:spcAft>
                  <a:buNone/>
                </a:pPr>
                <a:r>
                  <a:rPr b="0" lang="en" sz="1500">
                    <a:solidFill>
                      <a:srgbClr val="FFFFFF"/>
                    </a:solidFill>
                    <a:latin typeface="Montserrat SemiBold"/>
                    <a:ea typeface="Montserrat SemiBold"/>
                    <a:cs typeface="Montserrat SemiBold"/>
                    <a:sym typeface="Montserrat SemiBold"/>
                  </a:rPr>
                  <a:t>Platform Protection</a:t>
                </a:r>
                <a:endParaRPr b="0" sz="1500">
                  <a:solidFill>
                    <a:srgbClr val="FFFFFF"/>
                  </a:solidFill>
                  <a:latin typeface="Montserrat SemiBold"/>
                  <a:ea typeface="Montserrat SemiBold"/>
                  <a:cs typeface="Montserrat SemiBold"/>
                  <a:sym typeface="Montserrat SemiBold"/>
                </a:endParaRPr>
              </a:p>
              <a:p>
                <a:pPr indent="0" lvl="0" marL="0" rtl="0" algn="l">
                  <a:spcBef>
                    <a:spcPts val="450"/>
                  </a:spcBef>
                  <a:spcAft>
                    <a:spcPts val="0"/>
                  </a:spcAft>
                  <a:buNone/>
                </a:pPr>
                <a:r>
                  <a:rPr b="0" lang="en" sz="1100">
                    <a:solidFill>
                      <a:srgbClr val="C7D0E8"/>
                    </a:solidFill>
                    <a:latin typeface="Montserrat"/>
                    <a:ea typeface="Montserrat"/>
                    <a:cs typeface="Montserrat"/>
                    <a:sym typeface="Montserrat"/>
                  </a:rPr>
                  <a:t>Generate keys in platform protection and sign without exporting private material.</a:t>
                </a:r>
                <a:endParaRPr b="0" sz="1100">
                  <a:solidFill>
                    <a:srgbClr val="C7D0E8"/>
                  </a:solidFill>
                  <a:latin typeface="Montserrat"/>
                  <a:ea typeface="Montserrat"/>
                  <a:cs typeface="Montserrat"/>
                  <a:sym typeface="Montserrat"/>
                </a:endParaRPr>
              </a:p>
            </p:txBody>
          </p:sp>
        </p:grpSp>
        <p:grpSp>
          <p:nvGrpSpPr>
            <p:cNvPr id="462" name="Google Shape;462;p39"/>
            <p:cNvGrpSpPr/>
            <p:nvPr/>
          </p:nvGrpSpPr>
          <p:grpSpPr>
            <a:xfrm>
              <a:off x="228600" y="1524000"/>
              <a:ext cx="3162300" cy="952500"/>
              <a:chOff x="0" y="0"/>
              <a:chExt cx="3162300" cy="952500"/>
            </a:xfrm>
          </p:grpSpPr>
          <p:sp>
            <p:nvSpPr>
              <p:cNvPr id="463" name="Google Shape;463;p39"/>
              <p:cNvSpPr/>
              <p:nvPr/>
            </p:nvSpPr>
            <p:spPr>
              <a:xfrm>
                <a:off x="0" y="0"/>
                <a:ext cx="38100" cy="857400"/>
              </a:xfrm>
              <a:prstGeom prst="roundRect">
                <a:avLst>
                  <a:gd fmla="val 50000" name="adj"/>
                </a:avLst>
              </a:prstGeom>
              <a:solidFill>
                <a:srgbClr val="6B7FD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p39"/>
              <p:cNvSpPr txBox="1"/>
              <p:nvPr/>
            </p:nvSpPr>
            <p:spPr>
              <a:xfrm>
                <a:off x="190500" y="0"/>
                <a:ext cx="29718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9BE2FF"/>
                    </a:solidFill>
                    <a:latin typeface="Montserrat"/>
                    <a:ea typeface="Montserrat"/>
                    <a:cs typeface="Montserrat"/>
                    <a:sym typeface="Montserrat"/>
                  </a:rPr>
                  <a:t>STORAGE SECURITY</a:t>
                </a:r>
                <a:endParaRPr b="1" sz="950">
                  <a:solidFill>
                    <a:srgbClr val="9BE2FF"/>
                  </a:solidFill>
                  <a:latin typeface="Montserrat"/>
                  <a:ea typeface="Montserrat"/>
                  <a:cs typeface="Montserrat"/>
                  <a:sym typeface="Montserrat"/>
                </a:endParaRPr>
              </a:p>
              <a:p>
                <a:pPr indent="0" lvl="0" marL="0" rtl="0" algn="l">
                  <a:spcBef>
                    <a:spcPts val="300"/>
                  </a:spcBef>
                  <a:spcAft>
                    <a:spcPts val="0"/>
                  </a:spcAft>
                  <a:buNone/>
                </a:pPr>
                <a:r>
                  <a:rPr b="0" lang="en" sz="1500">
                    <a:solidFill>
                      <a:srgbClr val="FFFFFF"/>
                    </a:solidFill>
                    <a:latin typeface="Montserrat SemiBold"/>
                    <a:ea typeface="Montserrat SemiBold"/>
                    <a:cs typeface="Montserrat SemiBold"/>
                    <a:sym typeface="Montserrat SemiBold"/>
                  </a:rPr>
                  <a:t>Isolated Data</a:t>
                </a:r>
                <a:endParaRPr b="0" sz="1500">
                  <a:solidFill>
                    <a:srgbClr val="FFFFFF"/>
                  </a:solidFill>
                  <a:latin typeface="Montserrat SemiBold"/>
                  <a:ea typeface="Montserrat SemiBold"/>
                  <a:cs typeface="Montserrat SemiBold"/>
                  <a:sym typeface="Montserrat SemiBold"/>
                </a:endParaRPr>
              </a:p>
              <a:p>
                <a:pPr indent="0" lvl="0" marL="0" rtl="0" algn="l">
                  <a:spcBef>
                    <a:spcPts val="450"/>
                  </a:spcBef>
                  <a:spcAft>
                    <a:spcPts val="0"/>
                  </a:spcAft>
                  <a:buNone/>
                </a:pPr>
                <a:r>
                  <a:rPr b="0" lang="en" sz="1100">
                    <a:solidFill>
                      <a:srgbClr val="C7D0E8"/>
                    </a:solidFill>
                    <a:latin typeface="Montserrat"/>
                    <a:ea typeface="Montserrat"/>
                    <a:cs typeface="Montserrat"/>
                    <a:sym typeface="Montserrat"/>
                  </a:rPr>
                  <a:t>Data is stored separately in encrypted application storage.</a:t>
                </a:r>
                <a:endParaRPr b="0" sz="1100">
                  <a:solidFill>
                    <a:srgbClr val="C7D0E8"/>
                  </a:solidFill>
                  <a:latin typeface="Montserrat"/>
                  <a:ea typeface="Montserrat"/>
                  <a:cs typeface="Montserrat"/>
                  <a:sym typeface="Montserrat"/>
                </a:endParaRPr>
              </a:p>
            </p:txBody>
          </p:sp>
        </p:grpSp>
      </p:grpSp>
      <p:grpSp>
        <p:nvGrpSpPr>
          <p:cNvPr id="465" name="Google Shape;465;p39"/>
          <p:cNvGrpSpPr/>
          <p:nvPr/>
        </p:nvGrpSpPr>
        <p:grpSpPr>
          <a:xfrm>
            <a:off x="4572000" y="1519238"/>
            <a:ext cx="3619500" cy="2576438"/>
            <a:chOff x="0" y="90488"/>
            <a:chExt cx="3619500" cy="2576438"/>
          </a:xfrm>
        </p:grpSpPr>
        <p:pic>
          <p:nvPicPr>
            <p:cNvPr id="466" name="Google Shape;466;p39"/>
            <p:cNvPicPr preferRelativeResize="0"/>
            <p:nvPr/>
          </p:nvPicPr>
          <p:blipFill rotWithShape="1">
            <a:blip r:embed="rId7">
              <a:alphaModFix/>
            </a:blip>
            <a:srcRect b="0" l="0" r="0" t="0"/>
            <a:stretch/>
          </p:blipFill>
          <p:spPr>
            <a:xfrm>
              <a:off x="561975" y="609600"/>
              <a:ext cx="971700" cy="1157400"/>
            </a:xfrm>
            <a:prstGeom prst="rect">
              <a:avLst/>
            </a:prstGeom>
            <a:noFill/>
            <a:ln>
              <a:noFill/>
            </a:ln>
          </p:spPr>
        </p:pic>
        <p:pic>
          <p:nvPicPr>
            <p:cNvPr id="467" name="Google Shape;467;p39"/>
            <p:cNvPicPr preferRelativeResize="0"/>
            <p:nvPr/>
          </p:nvPicPr>
          <p:blipFill rotWithShape="1">
            <a:blip r:embed="rId8">
              <a:alphaModFix/>
            </a:blip>
            <a:srcRect b="0" l="0" r="0" t="0"/>
            <a:stretch/>
          </p:blipFill>
          <p:spPr>
            <a:xfrm>
              <a:off x="2085975" y="609600"/>
              <a:ext cx="971700" cy="1157400"/>
            </a:xfrm>
            <a:prstGeom prst="rect">
              <a:avLst/>
            </a:prstGeom>
            <a:noFill/>
            <a:ln>
              <a:noFill/>
            </a:ln>
          </p:spPr>
        </p:pic>
        <p:pic>
          <p:nvPicPr>
            <p:cNvPr id="468" name="Google Shape;468;p39"/>
            <p:cNvPicPr preferRelativeResize="0"/>
            <p:nvPr/>
          </p:nvPicPr>
          <p:blipFill rotWithShape="1">
            <a:blip r:embed="rId9">
              <a:alphaModFix/>
            </a:blip>
            <a:srcRect b="0" l="0" r="0" t="0"/>
            <a:stretch/>
          </p:blipFill>
          <p:spPr>
            <a:xfrm>
              <a:off x="1428750" y="2228850"/>
              <a:ext cx="723900" cy="19200"/>
            </a:xfrm>
            <a:prstGeom prst="rect">
              <a:avLst/>
            </a:prstGeom>
            <a:noFill/>
            <a:ln>
              <a:noFill/>
            </a:ln>
          </p:spPr>
        </p:pic>
        <p:grpSp>
          <p:nvGrpSpPr>
            <p:cNvPr id="469" name="Google Shape;469;p39"/>
            <p:cNvGrpSpPr/>
            <p:nvPr/>
          </p:nvGrpSpPr>
          <p:grpSpPr>
            <a:xfrm>
              <a:off x="852488" y="90488"/>
              <a:ext cx="1914600" cy="533400"/>
              <a:chOff x="-4762" y="-4762"/>
              <a:chExt cx="1914600" cy="533400"/>
            </a:xfrm>
          </p:grpSpPr>
          <p:pic>
            <p:nvPicPr>
              <p:cNvPr id="470" name="Google Shape;470;p39"/>
              <p:cNvPicPr preferRelativeResize="0"/>
              <p:nvPr/>
            </p:nvPicPr>
            <p:blipFill rotWithShape="1">
              <a:blip r:embed="rId10">
                <a:alphaModFix/>
              </a:blip>
              <a:srcRect b="0" l="0" r="0" t="0"/>
              <a:stretch/>
            </p:blipFill>
            <p:spPr>
              <a:xfrm>
                <a:off x="-4762" y="-4762"/>
                <a:ext cx="1914600" cy="533400"/>
              </a:xfrm>
              <a:prstGeom prst="rect">
                <a:avLst/>
              </a:prstGeom>
              <a:noFill/>
              <a:ln>
                <a:noFill/>
              </a:ln>
            </p:spPr>
          </p:pic>
          <p:sp>
            <p:nvSpPr>
              <p:cNvPr id="471" name="Google Shape;471;p39"/>
              <p:cNvSpPr txBox="1"/>
              <p:nvPr/>
            </p:nvSpPr>
            <p:spPr>
              <a:xfrm>
                <a:off x="0" y="0"/>
                <a:ext cx="1905000" cy="52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FFFFFF"/>
                    </a:solidFill>
                    <a:latin typeface="Montserrat"/>
                    <a:ea typeface="Montserrat"/>
                    <a:cs typeface="Montserrat"/>
                    <a:sym typeface="Montserrat"/>
                  </a:rPr>
                  <a:t>APP</a:t>
                </a:r>
                <a:endParaRPr b="1" sz="1400">
                  <a:solidFill>
                    <a:srgbClr val="FFFFFF"/>
                  </a:solidFill>
                  <a:latin typeface="Montserrat"/>
                  <a:ea typeface="Montserrat"/>
                  <a:cs typeface="Montserrat"/>
                  <a:sym typeface="Montserrat"/>
                </a:endParaRPr>
              </a:p>
            </p:txBody>
          </p:sp>
        </p:grpSp>
        <p:grpSp>
          <p:nvGrpSpPr>
            <p:cNvPr id="472" name="Google Shape;472;p39"/>
            <p:cNvGrpSpPr/>
            <p:nvPr/>
          </p:nvGrpSpPr>
          <p:grpSpPr>
            <a:xfrm>
              <a:off x="138113" y="1042988"/>
              <a:ext cx="1104900" cy="276300"/>
              <a:chOff x="-4762" y="-4762"/>
              <a:chExt cx="1104900" cy="276300"/>
            </a:xfrm>
          </p:grpSpPr>
          <p:pic>
            <p:nvPicPr>
              <p:cNvPr id="473" name="Google Shape;473;p39"/>
              <p:cNvPicPr preferRelativeResize="0"/>
              <p:nvPr/>
            </p:nvPicPr>
            <p:blipFill rotWithShape="1">
              <a:blip r:embed="rId11">
                <a:alphaModFix/>
              </a:blip>
              <a:srcRect b="0" l="0" r="0" t="0"/>
              <a:stretch/>
            </p:blipFill>
            <p:spPr>
              <a:xfrm>
                <a:off x="-4762" y="-4762"/>
                <a:ext cx="1104900" cy="276300"/>
              </a:xfrm>
              <a:prstGeom prst="rect">
                <a:avLst/>
              </a:prstGeom>
              <a:noFill/>
              <a:ln>
                <a:noFill/>
              </a:ln>
            </p:spPr>
          </p:pic>
          <p:sp>
            <p:nvSpPr>
              <p:cNvPr id="474" name="Google Shape;474;p39"/>
              <p:cNvSpPr txBox="1"/>
              <p:nvPr/>
            </p:nvSpPr>
            <p:spPr>
              <a:xfrm>
                <a:off x="0" y="0"/>
                <a:ext cx="10953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50">
                    <a:solidFill>
                      <a:srgbClr val="C7D0E8"/>
                    </a:solidFill>
                    <a:latin typeface="Montserrat SemiBold"/>
                    <a:ea typeface="Montserrat SemiBold"/>
                    <a:cs typeface="Montserrat SemiBold"/>
                    <a:sym typeface="Montserrat SemiBold"/>
                  </a:rPr>
                  <a:t>sign request</a:t>
                </a:r>
                <a:endParaRPr b="0" sz="950">
                  <a:solidFill>
                    <a:srgbClr val="C7D0E8"/>
                  </a:solidFill>
                  <a:latin typeface="Montserrat SemiBold"/>
                  <a:ea typeface="Montserrat SemiBold"/>
                  <a:cs typeface="Montserrat SemiBold"/>
                  <a:sym typeface="Montserrat SemiBold"/>
                </a:endParaRPr>
              </a:p>
            </p:txBody>
          </p:sp>
        </p:grpSp>
        <p:grpSp>
          <p:nvGrpSpPr>
            <p:cNvPr id="475" name="Google Shape;475;p39"/>
            <p:cNvGrpSpPr/>
            <p:nvPr/>
          </p:nvGrpSpPr>
          <p:grpSpPr>
            <a:xfrm>
              <a:off x="2376488" y="1042988"/>
              <a:ext cx="1104900" cy="276300"/>
              <a:chOff x="-4762" y="-4762"/>
              <a:chExt cx="1104900" cy="276300"/>
            </a:xfrm>
          </p:grpSpPr>
          <p:pic>
            <p:nvPicPr>
              <p:cNvPr id="476" name="Google Shape;476;p39"/>
              <p:cNvPicPr preferRelativeResize="0"/>
              <p:nvPr/>
            </p:nvPicPr>
            <p:blipFill rotWithShape="1">
              <a:blip r:embed="rId11">
                <a:alphaModFix/>
              </a:blip>
              <a:srcRect b="0" l="0" r="0" t="0"/>
              <a:stretch/>
            </p:blipFill>
            <p:spPr>
              <a:xfrm>
                <a:off x="-4762" y="-4762"/>
                <a:ext cx="1104900" cy="276300"/>
              </a:xfrm>
              <a:prstGeom prst="rect">
                <a:avLst/>
              </a:prstGeom>
              <a:noFill/>
              <a:ln>
                <a:noFill/>
              </a:ln>
            </p:spPr>
          </p:pic>
          <p:sp>
            <p:nvSpPr>
              <p:cNvPr id="477" name="Google Shape;477;p39"/>
              <p:cNvSpPr txBox="1"/>
              <p:nvPr/>
            </p:nvSpPr>
            <p:spPr>
              <a:xfrm>
                <a:off x="0" y="0"/>
                <a:ext cx="10953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50">
                    <a:solidFill>
                      <a:srgbClr val="C7D0E8"/>
                    </a:solidFill>
                    <a:latin typeface="Montserrat SemiBold"/>
                    <a:ea typeface="Montserrat SemiBold"/>
                    <a:cs typeface="Montserrat SemiBold"/>
                    <a:sym typeface="Montserrat SemiBold"/>
                  </a:rPr>
                  <a:t>Encrypt &amp; Store</a:t>
                </a:r>
                <a:endParaRPr b="0" sz="950">
                  <a:solidFill>
                    <a:srgbClr val="C7D0E8"/>
                  </a:solidFill>
                  <a:latin typeface="Montserrat SemiBold"/>
                  <a:ea typeface="Montserrat SemiBold"/>
                  <a:cs typeface="Montserrat SemiBold"/>
                  <a:sym typeface="Montserrat SemiBold"/>
                </a:endParaRPr>
              </a:p>
            </p:txBody>
          </p:sp>
        </p:grpSp>
        <p:grpSp>
          <p:nvGrpSpPr>
            <p:cNvPr id="478" name="Google Shape;478;p39"/>
            <p:cNvGrpSpPr/>
            <p:nvPr/>
          </p:nvGrpSpPr>
          <p:grpSpPr>
            <a:xfrm>
              <a:off x="0" y="1762125"/>
              <a:ext cx="1714500" cy="904800"/>
              <a:chOff x="0" y="0"/>
              <a:chExt cx="1714500" cy="904800"/>
            </a:xfrm>
          </p:grpSpPr>
          <p:sp>
            <p:nvSpPr>
              <p:cNvPr id="479" name="Google Shape;479;p39"/>
              <p:cNvSpPr/>
              <p:nvPr/>
            </p:nvSpPr>
            <p:spPr>
              <a:xfrm>
                <a:off x="0" y="0"/>
                <a:ext cx="1714500" cy="904800"/>
              </a:xfrm>
              <a:prstGeom prst="roundRect">
                <a:avLst>
                  <a:gd fmla="val 10526" name="adj"/>
                </a:avLst>
              </a:prstGeom>
              <a:solidFill>
                <a:srgbClr val="951F6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0" name="Google Shape;480;p39"/>
              <p:cNvSpPr txBox="1"/>
              <p:nvPr/>
            </p:nvSpPr>
            <p:spPr>
              <a:xfrm>
                <a:off x="0" y="0"/>
                <a:ext cx="1714500" cy="904800"/>
              </a:xfrm>
              <a:prstGeom prst="rect">
                <a:avLst/>
              </a:prstGeom>
              <a:noFill/>
              <a:ln>
                <a:noFill/>
              </a:ln>
            </p:spPr>
            <p:txBody>
              <a:bodyPr anchorCtr="0" anchor="ctr" bIns="114300" lIns="114300" spcFirstLastPara="1" rIns="114300" wrap="square" tIns="114300">
                <a:noAutofit/>
              </a:bodyPr>
              <a:lstStyle/>
              <a:p>
                <a:pPr indent="0" lvl="0" marL="0" rtl="0" algn="ctr">
                  <a:spcBef>
                    <a:spcPts val="0"/>
                  </a:spcBef>
                  <a:spcAft>
                    <a:spcPts val="0"/>
                  </a:spcAft>
                  <a:buNone/>
                </a:pPr>
                <a:r>
                  <a:rPr b="1" lang="en" sz="1064">
                    <a:solidFill>
                      <a:srgbClr val="FFFFFF"/>
                    </a:solidFill>
                    <a:latin typeface="Montserrat"/>
                    <a:ea typeface="Montserrat"/>
                    <a:cs typeface="Montserrat"/>
                    <a:sym typeface="Montserrat"/>
                  </a:rPr>
                  <a:t>PLATFORM KEY SERVICE</a:t>
                </a:r>
                <a:endParaRPr b="1" sz="1064">
                  <a:solidFill>
                    <a:srgbClr val="FFFFFF"/>
                  </a:solidFill>
                  <a:latin typeface="Montserrat"/>
                  <a:ea typeface="Montserrat"/>
                  <a:cs typeface="Montserrat"/>
                  <a:sym typeface="Montserrat"/>
                </a:endParaRPr>
              </a:p>
              <a:p>
                <a:pPr indent="0" lvl="0" marL="0" rtl="0" algn="ctr">
                  <a:spcBef>
                    <a:spcPts val="450"/>
                  </a:spcBef>
                  <a:spcAft>
                    <a:spcPts val="0"/>
                  </a:spcAft>
                  <a:buNone/>
                </a:pPr>
                <a:r>
                  <a:rPr b="0" lang="en" sz="879">
                    <a:solidFill>
                      <a:srgbClr val="FBD9DF"/>
                    </a:solidFill>
                    <a:latin typeface="Montserrat"/>
                    <a:ea typeface="Montserrat"/>
                    <a:cs typeface="Montserrat"/>
                    <a:sym typeface="Montserrat"/>
                  </a:rPr>
                  <a:t>Uses private asymmetric key non-exportable</a:t>
                </a:r>
                <a:endParaRPr b="0" sz="879">
                  <a:solidFill>
                    <a:srgbClr val="FBD9DF"/>
                  </a:solidFill>
                  <a:latin typeface="Montserrat"/>
                  <a:ea typeface="Montserrat"/>
                  <a:cs typeface="Montserrat"/>
                  <a:sym typeface="Montserrat"/>
                </a:endParaRPr>
              </a:p>
            </p:txBody>
          </p:sp>
        </p:grpSp>
        <p:grpSp>
          <p:nvGrpSpPr>
            <p:cNvPr id="481" name="Google Shape;481;p39"/>
            <p:cNvGrpSpPr/>
            <p:nvPr/>
          </p:nvGrpSpPr>
          <p:grpSpPr>
            <a:xfrm>
              <a:off x="1905000" y="1762125"/>
              <a:ext cx="1714500" cy="904800"/>
              <a:chOff x="0" y="0"/>
              <a:chExt cx="1714500" cy="904800"/>
            </a:xfrm>
          </p:grpSpPr>
          <p:sp>
            <p:nvSpPr>
              <p:cNvPr id="482" name="Google Shape;482;p39"/>
              <p:cNvSpPr/>
              <p:nvPr/>
            </p:nvSpPr>
            <p:spPr>
              <a:xfrm>
                <a:off x="0" y="0"/>
                <a:ext cx="1714500" cy="904800"/>
              </a:xfrm>
              <a:prstGeom prst="roundRect">
                <a:avLst>
                  <a:gd fmla="val 10526" name="adj"/>
                </a:avLst>
              </a:prstGeom>
              <a:solidFill>
                <a:srgbClr val="6B7FD7">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39"/>
              <p:cNvSpPr txBox="1"/>
              <p:nvPr/>
            </p:nvSpPr>
            <p:spPr>
              <a:xfrm>
                <a:off x="0" y="0"/>
                <a:ext cx="1714500" cy="904800"/>
              </a:xfrm>
              <a:prstGeom prst="rect">
                <a:avLst/>
              </a:prstGeom>
              <a:noFill/>
              <a:ln>
                <a:noFill/>
              </a:ln>
            </p:spPr>
            <p:txBody>
              <a:bodyPr anchorCtr="0" anchor="ctr" bIns="114300" lIns="114300" spcFirstLastPara="1" rIns="114300" wrap="square" tIns="114300">
                <a:noAutofit/>
              </a:bodyPr>
              <a:lstStyle/>
              <a:p>
                <a:pPr indent="0" lvl="0" marL="0" rtl="0" algn="ctr">
                  <a:spcBef>
                    <a:spcPts val="0"/>
                  </a:spcBef>
                  <a:spcAft>
                    <a:spcPts val="0"/>
                  </a:spcAft>
                  <a:buNone/>
                </a:pPr>
                <a:r>
                  <a:rPr b="1" lang="en" sz="1064">
                    <a:solidFill>
                      <a:srgbClr val="FFFFFF"/>
                    </a:solidFill>
                    <a:latin typeface="Montserrat"/>
                    <a:ea typeface="Montserrat"/>
                    <a:cs typeface="Montserrat"/>
                    <a:sym typeface="Montserrat"/>
                  </a:rPr>
                  <a:t>PROTOCOL LIBRARY</a:t>
                </a:r>
                <a:endParaRPr b="1" sz="1064">
                  <a:solidFill>
                    <a:srgbClr val="FFFFFF"/>
                  </a:solidFill>
                  <a:latin typeface="Montserrat"/>
                  <a:ea typeface="Montserrat"/>
                  <a:cs typeface="Montserrat"/>
                  <a:sym typeface="Montserrat"/>
                </a:endParaRPr>
              </a:p>
              <a:p>
                <a:pPr indent="0" lvl="0" marL="0" rtl="0" algn="ctr">
                  <a:spcBef>
                    <a:spcPts val="450"/>
                  </a:spcBef>
                  <a:spcAft>
                    <a:spcPts val="0"/>
                  </a:spcAft>
                  <a:buNone/>
                </a:pPr>
                <a:r>
                  <a:rPr b="0" lang="en" sz="879">
                    <a:solidFill>
                      <a:srgbClr val="DDD0F7"/>
                    </a:solidFill>
                    <a:latin typeface="Montserrat"/>
                    <a:ea typeface="Montserrat"/>
                    <a:cs typeface="Montserrat"/>
                    <a:sym typeface="Montserrat"/>
                  </a:rPr>
                  <a:t>uses AES symmetric key protection</a:t>
                </a:r>
                <a:endParaRPr b="0" sz="879">
                  <a:solidFill>
                    <a:srgbClr val="DDD0F7"/>
                  </a:solidFill>
                  <a:latin typeface="Montserrat"/>
                  <a:ea typeface="Montserrat"/>
                  <a:cs typeface="Montserrat"/>
                  <a:sym typeface="Montserrat"/>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pic>
        <p:nvPicPr>
          <p:cNvPr id="489" name="Google Shape;489;p40"/>
          <p:cNvPicPr preferRelativeResize="0"/>
          <p:nvPr/>
        </p:nvPicPr>
        <p:blipFill rotWithShape="1">
          <a:blip r:embed="rId3">
            <a:alphaModFix/>
          </a:blip>
          <a:srcRect b="0" l="0" r="0" t="0"/>
          <a:stretch/>
        </p:blipFill>
        <p:spPr>
          <a:xfrm>
            <a:off x="0" y="0"/>
            <a:ext cx="9147362" cy="5144475"/>
          </a:xfrm>
          <a:prstGeom prst="rect">
            <a:avLst/>
          </a:prstGeom>
          <a:noFill/>
          <a:ln>
            <a:noFill/>
          </a:ln>
        </p:spPr>
      </p:pic>
      <p:pic>
        <p:nvPicPr>
          <p:cNvPr id="490" name="Google Shape;490;p40"/>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sp>
        <p:nvSpPr>
          <p:cNvPr id="491" name="Google Shape;491;p40"/>
          <p:cNvSpPr/>
          <p:nvPr/>
        </p:nvSpPr>
        <p:spPr>
          <a:xfrm>
            <a:off x="571500" y="381000"/>
            <a:ext cx="800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2 · MODULE 7 · WALLET INTEGRATION</a:t>
            </a:r>
            <a:endParaRPr/>
          </a:p>
        </p:txBody>
      </p:sp>
      <p:sp>
        <p:nvSpPr>
          <p:cNvPr id="492" name="Google Shape;492;p40"/>
          <p:cNvSpPr/>
          <p:nvPr/>
        </p:nvSpPr>
        <p:spPr>
          <a:xfrm>
            <a:off x="571500" y="66675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60"/>
              <a:buFont typeface="Montserrat"/>
              <a:buNone/>
            </a:pPr>
            <a:r>
              <a:rPr b="1" i="1" lang="en" sz="2960">
                <a:solidFill>
                  <a:srgbClr val="FFFFFF"/>
                </a:solidFill>
                <a:latin typeface="Montserrat"/>
                <a:ea typeface="Montserrat"/>
                <a:cs typeface="Montserrat"/>
                <a:sym typeface="Montserrat"/>
              </a:rPr>
              <a:t>FaceMatch SDK</a:t>
            </a:r>
            <a:endParaRPr/>
          </a:p>
        </p:txBody>
      </p:sp>
      <p:grpSp>
        <p:nvGrpSpPr>
          <p:cNvPr id="493" name="Google Shape;493;p40"/>
          <p:cNvGrpSpPr/>
          <p:nvPr/>
        </p:nvGrpSpPr>
        <p:grpSpPr>
          <a:xfrm>
            <a:off x="566738" y="1614488"/>
            <a:ext cx="1724100" cy="2295600"/>
            <a:chOff x="-4762" y="-4762"/>
            <a:chExt cx="1724100" cy="2295600"/>
          </a:xfrm>
        </p:grpSpPr>
        <p:pic>
          <p:nvPicPr>
            <p:cNvPr id="494" name="Google Shape;494;p40"/>
            <p:cNvPicPr preferRelativeResize="0"/>
            <p:nvPr/>
          </p:nvPicPr>
          <p:blipFill rotWithShape="1">
            <a:blip r:embed="rId5">
              <a:alphaModFix/>
            </a:blip>
            <a:srcRect b="0" l="0" r="0" t="0"/>
            <a:stretch/>
          </p:blipFill>
          <p:spPr>
            <a:xfrm>
              <a:off x="-4762" y="-4762"/>
              <a:ext cx="1724100" cy="2295600"/>
            </a:xfrm>
            <a:prstGeom prst="rect">
              <a:avLst/>
            </a:prstGeom>
            <a:noFill/>
            <a:ln>
              <a:noFill/>
            </a:ln>
          </p:spPr>
        </p:pic>
        <p:sp>
          <p:nvSpPr>
            <p:cNvPr id="495" name="Google Shape;495;p40"/>
            <p:cNvSpPr/>
            <p:nvPr/>
          </p:nvSpPr>
          <p:spPr>
            <a:xfrm>
              <a:off x="0" y="0"/>
              <a:ext cx="1714500" cy="57300"/>
            </a:xfrm>
            <a:prstGeom prst="roundRect">
              <a:avLst>
                <a:gd fmla="val 50000" name="adj"/>
              </a:avLst>
            </a:prstGeom>
            <a:solidFill>
              <a:srgbClr val="E8362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40"/>
            <p:cNvSpPr txBox="1"/>
            <p:nvPr/>
          </p:nvSpPr>
          <p:spPr>
            <a:xfrm>
              <a:off x="152400" y="228600"/>
              <a:ext cx="1409700" cy="18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E8362D"/>
                  </a:solidFill>
                  <a:latin typeface="Montserrat"/>
                  <a:ea typeface="Montserrat"/>
                  <a:cs typeface="Montserrat"/>
                  <a:sym typeface="Montserrat"/>
                </a:rPr>
                <a:t>01 / CAPTURE</a:t>
              </a:r>
              <a:endParaRPr b="1" sz="950">
                <a:solidFill>
                  <a:srgbClr val="E8362D"/>
                </a:solidFill>
                <a:latin typeface="Montserrat"/>
                <a:ea typeface="Montserrat"/>
                <a:cs typeface="Montserrat"/>
                <a:sym typeface="Montserrat"/>
              </a:endParaRPr>
            </a:p>
            <a:p>
              <a:pPr indent="0" lvl="0" marL="0" rtl="0" algn="l">
                <a:spcBef>
                  <a:spcPts val="900"/>
                </a:spcBef>
                <a:spcAft>
                  <a:spcPts val="0"/>
                </a:spcAft>
                <a:buNone/>
              </a:pPr>
              <a:r>
                <a:rPr b="1" lang="en" sz="2000">
                  <a:solidFill>
                    <a:srgbClr val="FFFFFF"/>
                  </a:solidFill>
                  <a:latin typeface="Montserrat"/>
                  <a:ea typeface="Montserrat"/>
                  <a:cs typeface="Montserrat"/>
                  <a:sym typeface="Montserrat"/>
                </a:rPr>
                <a:t>Selfie</a:t>
              </a:r>
              <a:endParaRPr b="1" sz="2000">
                <a:solidFill>
                  <a:srgbClr val="FFFFFF"/>
                </a:solidFill>
                <a:latin typeface="Montserrat"/>
                <a:ea typeface="Montserrat"/>
                <a:cs typeface="Montserrat"/>
                <a:sym typeface="Montserrat"/>
              </a:endParaRPr>
            </a:p>
            <a:p>
              <a:pPr indent="0" lvl="0" marL="0" rtl="0" algn="l">
                <a:spcBef>
                  <a:spcPts val="600"/>
                </a:spcBef>
                <a:spcAft>
                  <a:spcPts val="0"/>
                </a:spcAft>
                <a:buNone/>
              </a:pPr>
              <a:r>
                <a:rPr b="0" lang="en" sz="1100">
                  <a:solidFill>
                    <a:srgbClr val="C7D0E8"/>
                  </a:solidFill>
                  <a:latin typeface="Montserrat"/>
                  <a:ea typeface="Montserrat"/>
                  <a:cs typeface="Montserrat"/>
                  <a:sym typeface="Montserrat"/>
                </a:rPr>
                <a:t>Camera</a:t>
              </a:r>
              <a:endParaRPr b="0" sz="1100">
                <a:solidFill>
                  <a:srgbClr val="C7D0E8"/>
                </a:solidFill>
                <a:latin typeface="Montserrat"/>
                <a:ea typeface="Montserrat"/>
                <a:cs typeface="Montserrat"/>
                <a:sym typeface="Montserrat"/>
              </a:endParaRPr>
            </a:p>
          </p:txBody>
        </p:sp>
      </p:grpSp>
      <p:pic>
        <p:nvPicPr>
          <p:cNvPr id="497" name="Google Shape;497;p40"/>
          <p:cNvPicPr preferRelativeResize="0"/>
          <p:nvPr/>
        </p:nvPicPr>
        <p:blipFill rotWithShape="1">
          <a:blip r:embed="rId6">
            <a:alphaModFix/>
          </a:blip>
          <a:srcRect b="0" l="0" r="0" t="0"/>
          <a:stretch/>
        </p:blipFill>
        <p:spPr>
          <a:xfrm>
            <a:off x="2405063" y="2700338"/>
            <a:ext cx="85800" cy="142800"/>
          </a:xfrm>
          <a:prstGeom prst="rect">
            <a:avLst/>
          </a:prstGeom>
          <a:noFill/>
          <a:ln>
            <a:noFill/>
          </a:ln>
        </p:spPr>
      </p:pic>
      <p:grpSp>
        <p:nvGrpSpPr>
          <p:cNvPr id="498" name="Google Shape;498;p40"/>
          <p:cNvGrpSpPr/>
          <p:nvPr/>
        </p:nvGrpSpPr>
        <p:grpSpPr>
          <a:xfrm>
            <a:off x="2662238" y="1614488"/>
            <a:ext cx="1724100" cy="2295600"/>
            <a:chOff x="-4762" y="-4762"/>
            <a:chExt cx="1724100" cy="2295600"/>
          </a:xfrm>
        </p:grpSpPr>
        <p:pic>
          <p:nvPicPr>
            <p:cNvPr id="499" name="Google Shape;499;p40"/>
            <p:cNvPicPr preferRelativeResize="0"/>
            <p:nvPr/>
          </p:nvPicPr>
          <p:blipFill rotWithShape="1">
            <a:blip r:embed="rId5">
              <a:alphaModFix/>
            </a:blip>
            <a:srcRect b="0" l="0" r="0" t="0"/>
            <a:stretch/>
          </p:blipFill>
          <p:spPr>
            <a:xfrm>
              <a:off x="-4762" y="-4762"/>
              <a:ext cx="1724100" cy="2295600"/>
            </a:xfrm>
            <a:prstGeom prst="rect">
              <a:avLst/>
            </a:prstGeom>
            <a:noFill/>
            <a:ln>
              <a:noFill/>
            </a:ln>
          </p:spPr>
        </p:pic>
        <p:sp>
          <p:nvSpPr>
            <p:cNvPr id="500" name="Google Shape;500;p40"/>
            <p:cNvSpPr/>
            <p:nvPr/>
          </p:nvSpPr>
          <p:spPr>
            <a:xfrm>
              <a:off x="0" y="0"/>
              <a:ext cx="1714500" cy="57300"/>
            </a:xfrm>
            <a:prstGeom prst="roundRect">
              <a:avLst>
                <a:gd fmla="val 50000" name="adj"/>
              </a:avLst>
            </a:prstGeom>
            <a:solidFill>
              <a:srgbClr val="D6315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40"/>
            <p:cNvSpPr txBox="1"/>
            <p:nvPr/>
          </p:nvSpPr>
          <p:spPr>
            <a:xfrm>
              <a:off x="152400" y="228600"/>
              <a:ext cx="1409700" cy="18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D63156"/>
                  </a:solidFill>
                  <a:latin typeface="Montserrat"/>
                  <a:ea typeface="Montserrat"/>
                  <a:cs typeface="Montserrat"/>
                  <a:sym typeface="Montserrat"/>
                </a:rPr>
                <a:t>02 / READ</a:t>
              </a:r>
              <a:endParaRPr b="1" sz="950">
                <a:solidFill>
                  <a:srgbClr val="D63156"/>
                </a:solidFill>
                <a:latin typeface="Montserrat"/>
                <a:ea typeface="Montserrat"/>
                <a:cs typeface="Montserrat"/>
                <a:sym typeface="Montserrat"/>
              </a:endParaRPr>
            </a:p>
            <a:p>
              <a:pPr indent="0" lvl="0" marL="0" rtl="0" algn="l">
                <a:spcBef>
                  <a:spcPts val="900"/>
                </a:spcBef>
                <a:spcAft>
                  <a:spcPts val="0"/>
                </a:spcAft>
                <a:buNone/>
              </a:pPr>
              <a:r>
                <a:rPr b="1" lang="en" sz="2000">
                  <a:solidFill>
                    <a:srgbClr val="FFFFFF"/>
                  </a:solidFill>
                  <a:latin typeface="Montserrat"/>
                  <a:ea typeface="Montserrat"/>
                  <a:cs typeface="Montserrat"/>
                  <a:sym typeface="Montserrat"/>
                </a:rPr>
                <a:t>Credential portrait</a:t>
              </a:r>
              <a:endParaRPr b="1" sz="2000">
                <a:solidFill>
                  <a:srgbClr val="FFFFFF"/>
                </a:solidFill>
                <a:latin typeface="Montserrat"/>
                <a:ea typeface="Montserrat"/>
                <a:cs typeface="Montserrat"/>
                <a:sym typeface="Montserrat"/>
              </a:endParaRPr>
            </a:p>
            <a:p>
              <a:pPr indent="0" lvl="0" marL="0" rtl="0" algn="l">
                <a:spcBef>
                  <a:spcPts val="600"/>
                </a:spcBef>
                <a:spcAft>
                  <a:spcPts val="0"/>
                </a:spcAft>
                <a:buNone/>
              </a:pPr>
              <a:r>
                <a:rPr b="0" lang="en" sz="1100">
                  <a:solidFill>
                    <a:srgbClr val="C7D0E8"/>
                  </a:solidFill>
                  <a:latin typeface="Montserrat"/>
                  <a:ea typeface="Montserrat"/>
                  <a:cs typeface="Montserrat"/>
                  <a:sym typeface="Montserrat"/>
                </a:rPr>
                <a:t>Reference</a:t>
              </a:r>
              <a:endParaRPr b="0" sz="1100">
                <a:solidFill>
                  <a:srgbClr val="C7D0E8"/>
                </a:solidFill>
                <a:latin typeface="Montserrat"/>
                <a:ea typeface="Montserrat"/>
                <a:cs typeface="Montserrat"/>
                <a:sym typeface="Montserrat"/>
              </a:endParaRPr>
            </a:p>
          </p:txBody>
        </p:sp>
      </p:grpSp>
      <p:pic>
        <p:nvPicPr>
          <p:cNvPr id="502" name="Google Shape;502;p40"/>
          <p:cNvPicPr preferRelativeResize="0"/>
          <p:nvPr/>
        </p:nvPicPr>
        <p:blipFill rotWithShape="1">
          <a:blip r:embed="rId6">
            <a:alphaModFix/>
          </a:blip>
          <a:srcRect b="0" l="0" r="0" t="0"/>
          <a:stretch/>
        </p:blipFill>
        <p:spPr>
          <a:xfrm>
            <a:off x="4500563" y="2700338"/>
            <a:ext cx="85800" cy="142800"/>
          </a:xfrm>
          <a:prstGeom prst="rect">
            <a:avLst/>
          </a:prstGeom>
          <a:noFill/>
          <a:ln>
            <a:noFill/>
          </a:ln>
        </p:spPr>
      </p:pic>
      <p:grpSp>
        <p:nvGrpSpPr>
          <p:cNvPr id="503" name="Google Shape;503;p40"/>
          <p:cNvGrpSpPr/>
          <p:nvPr/>
        </p:nvGrpSpPr>
        <p:grpSpPr>
          <a:xfrm>
            <a:off x="4757738" y="1614488"/>
            <a:ext cx="1724100" cy="2295600"/>
            <a:chOff x="-4762" y="-4762"/>
            <a:chExt cx="1724100" cy="2295600"/>
          </a:xfrm>
        </p:grpSpPr>
        <p:pic>
          <p:nvPicPr>
            <p:cNvPr id="504" name="Google Shape;504;p40"/>
            <p:cNvPicPr preferRelativeResize="0"/>
            <p:nvPr/>
          </p:nvPicPr>
          <p:blipFill rotWithShape="1">
            <a:blip r:embed="rId5">
              <a:alphaModFix/>
            </a:blip>
            <a:srcRect b="0" l="0" r="0" t="0"/>
            <a:stretch/>
          </p:blipFill>
          <p:spPr>
            <a:xfrm>
              <a:off x="-4762" y="-4762"/>
              <a:ext cx="1724100" cy="2295600"/>
            </a:xfrm>
            <a:prstGeom prst="rect">
              <a:avLst/>
            </a:prstGeom>
            <a:noFill/>
            <a:ln>
              <a:noFill/>
            </a:ln>
          </p:spPr>
        </p:pic>
        <p:sp>
          <p:nvSpPr>
            <p:cNvPr id="505" name="Google Shape;505;p40"/>
            <p:cNvSpPr/>
            <p:nvPr/>
          </p:nvSpPr>
          <p:spPr>
            <a:xfrm>
              <a:off x="0" y="0"/>
              <a:ext cx="1714500" cy="57300"/>
            </a:xfrm>
            <a:prstGeom prst="roundRect">
              <a:avLst>
                <a:gd fmla="val 50000" name="adj"/>
              </a:avLst>
            </a:prstGeom>
            <a:solidFill>
              <a:srgbClr val="C02D8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6" name="Google Shape;506;p40"/>
            <p:cNvSpPr txBox="1"/>
            <p:nvPr/>
          </p:nvSpPr>
          <p:spPr>
            <a:xfrm>
              <a:off x="152400" y="228600"/>
              <a:ext cx="1409700" cy="18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C02D80"/>
                  </a:solidFill>
                  <a:latin typeface="Montserrat"/>
                  <a:ea typeface="Montserrat"/>
                  <a:cs typeface="Montserrat"/>
                  <a:sym typeface="Montserrat"/>
                </a:rPr>
                <a:t>03 / PREPARE</a:t>
              </a:r>
              <a:endParaRPr b="1" sz="950">
                <a:solidFill>
                  <a:srgbClr val="C02D80"/>
                </a:solidFill>
                <a:latin typeface="Montserrat"/>
                <a:ea typeface="Montserrat"/>
                <a:cs typeface="Montserrat"/>
                <a:sym typeface="Montserrat"/>
              </a:endParaRPr>
            </a:p>
            <a:p>
              <a:pPr indent="0" lvl="0" marL="0" rtl="0" algn="l">
                <a:spcBef>
                  <a:spcPts val="900"/>
                </a:spcBef>
                <a:spcAft>
                  <a:spcPts val="0"/>
                </a:spcAft>
                <a:buNone/>
              </a:pPr>
              <a:r>
                <a:rPr b="1" lang="en" sz="2000">
                  <a:solidFill>
                    <a:srgbClr val="FFFFFF"/>
                  </a:solidFill>
                  <a:latin typeface="Montserrat"/>
                  <a:ea typeface="Montserrat"/>
                  <a:cs typeface="Montserrat"/>
                  <a:sym typeface="Montserrat"/>
                </a:rPr>
                <a:t>Local image</a:t>
              </a:r>
              <a:endParaRPr b="1" sz="2000">
                <a:solidFill>
                  <a:srgbClr val="FFFFFF"/>
                </a:solidFill>
                <a:latin typeface="Montserrat"/>
                <a:ea typeface="Montserrat"/>
                <a:cs typeface="Montserrat"/>
                <a:sym typeface="Montserrat"/>
              </a:endParaRPr>
            </a:p>
            <a:p>
              <a:pPr indent="0" lvl="0" marL="0" rtl="0" algn="l">
                <a:spcBef>
                  <a:spcPts val="600"/>
                </a:spcBef>
                <a:spcAft>
                  <a:spcPts val="0"/>
                </a:spcAft>
                <a:buNone/>
              </a:pPr>
              <a:r>
                <a:rPr b="0" lang="en" sz="1100">
                  <a:solidFill>
                    <a:srgbClr val="C7D0E8"/>
                  </a:solidFill>
                  <a:latin typeface="Montserrat"/>
                  <a:ea typeface="Montserrat"/>
                  <a:cs typeface="Montserrat"/>
                  <a:sym typeface="Montserrat"/>
                </a:rPr>
                <a:t>Inputs</a:t>
              </a:r>
              <a:endParaRPr b="0" sz="1100">
                <a:solidFill>
                  <a:srgbClr val="C7D0E8"/>
                </a:solidFill>
                <a:latin typeface="Montserrat"/>
                <a:ea typeface="Montserrat"/>
                <a:cs typeface="Montserrat"/>
                <a:sym typeface="Montserrat"/>
              </a:endParaRPr>
            </a:p>
          </p:txBody>
        </p:sp>
      </p:grpSp>
      <p:pic>
        <p:nvPicPr>
          <p:cNvPr id="507" name="Google Shape;507;p40"/>
          <p:cNvPicPr preferRelativeResize="0"/>
          <p:nvPr/>
        </p:nvPicPr>
        <p:blipFill rotWithShape="1">
          <a:blip r:embed="rId6">
            <a:alphaModFix/>
          </a:blip>
          <a:srcRect b="0" l="0" r="0" t="0"/>
          <a:stretch/>
        </p:blipFill>
        <p:spPr>
          <a:xfrm>
            <a:off x="6596063" y="2700338"/>
            <a:ext cx="85800" cy="142800"/>
          </a:xfrm>
          <a:prstGeom prst="rect">
            <a:avLst/>
          </a:prstGeom>
          <a:noFill/>
          <a:ln>
            <a:noFill/>
          </a:ln>
        </p:spPr>
      </p:pic>
      <p:grpSp>
        <p:nvGrpSpPr>
          <p:cNvPr id="508" name="Google Shape;508;p40"/>
          <p:cNvGrpSpPr/>
          <p:nvPr/>
        </p:nvGrpSpPr>
        <p:grpSpPr>
          <a:xfrm>
            <a:off x="6853238" y="1614488"/>
            <a:ext cx="1724100" cy="2295600"/>
            <a:chOff x="-4762" y="-4762"/>
            <a:chExt cx="1724100" cy="2295600"/>
          </a:xfrm>
        </p:grpSpPr>
        <p:pic>
          <p:nvPicPr>
            <p:cNvPr id="509" name="Google Shape;509;p40"/>
            <p:cNvPicPr preferRelativeResize="0"/>
            <p:nvPr/>
          </p:nvPicPr>
          <p:blipFill rotWithShape="1">
            <a:blip r:embed="rId5">
              <a:alphaModFix/>
            </a:blip>
            <a:srcRect b="0" l="0" r="0" t="0"/>
            <a:stretch/>
          </p:blipFill>
          <p:spPr>
            <a:xfrm>
              <a:off x="-4762" y="-4762"/>
              <a:ext cx="1724100" cy="2295600"/>
            </a:xfrm>
            <a:prstGeom prst="rect">
              <a:avLst/>
            </a:prstGeom>
            <a:noFill/>
            <a:ln>
              <a:noFill/>
            </a:ln>
          </p:spPr>
        </p:pic>
        <p:sp>
          <p:nvSpPr>
            <p:cNvPr id="510" name="Google Shape;510;p40"/>
            <p:cNvSpPr/>
            <p:nvPr/>
          </p:nvSpPr>
          <p:spPr>
            <a:xfrm>
              <a:off x="0" y="0"/>
              <a:ext cx="1714500" cy="57300"/>
            </a:xfrm>
            <a:prstGeom prst="roundRect">
              <a:avLst>
                <a:gd fmla="val 50000" name="adj"/>
              </a:avLst>
            </a:prstGeom>
            <a:solidFill>
              <a:srgbClr val="A62DB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p40"/>
            <p:cNvSpPr txBox="1"/>
            <p:nvPr/>
          </p:nvSpPr>
          <p:spPr>
            <a:xfrm>
              <a:off x="152400" y="228600"/>
              <a:ext cx="1409700" cy="182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A62DB0"/>
                  </a:solidFill>
                  <a:latin typeface="Montserrat"/>
                  <a:ea typeface="Montserrat"/>
                  <a:cs typeface="Montserrat"/>
                  <a:sym typeface="Montserrat"/>
                </a:rPr>
                <a:t>04 / COMPARE</a:t>
              </a:r>
              <a:endParaRPr b="1" sz="950">
                <a:solidFill>
                  <a:srgbClr val="A62DB0"/>
                </a:solidFill>
                <a:latin typeface="Montserrat"/>
                <a:ea typeface="Montserrat"/>
                <a:cs typeface="Montserrat"/>
                <a:sym typeface="Montserrat"/>
              </a:endParaRPr>
            </a:p>
            <a:p>
              <a:pPr indent="0" lvl="0" marL="0" rtl="0" algn="l">
                <a:spcBef>
                  <a:spcPts val="900"/>
                </a:spcBef>
                <a:spcAft>
                  <a:spcPts val="0"/>
                </a:spcAft>
                <a:buNone/>
              </a:pPr>
              <a:r>
                <a:rPr b="1" lang="en" sz="2000">
                  <a:solidFill>
                    <a:srgbClr val="FFFFFF"/>
                  </a:solidFill>
                  <a:latin typeface="Montserrat"/>
                  <a:ea typeface="Montserrat"/>
                  <a:cs typeface="Montserrat"/>
                  <a:sym typeface="Montserrat"/>
                </a:rPr>
                <a:t>On-device</a:t>
              </a:r>
              <a:endParaRPr b="1" sz="2000">
                <a:solidFill>
                  <a:srgbClr val="FFFFFF"/>
                </a:solidFill>
                <a:latin typeface="Montserrat"/>
                <a:ea typeface="Montserrat"/>
                <a:cs typeface="Montserrat"/>
                <a:sym typeface="Montserrat"/>
              </a:endParaRPr>
            </a:p>
            <a:p>
              <a:pPr indent="0" lvl="0" marL="0" rtl="0" algn="l">
                <a:spcBef>
                  <a:spcPts val="600"/>
                </a:spcBef>
                <a:spcAft>
                  <a:spcPts val="0"/>
                </a:spcAft>
                <a:buNone/>
              </a:pPr>
              <a:r>
                <a:rPr b="0" lang="en" sz="1100">
                  <a:solidFill>
                    <a:srgbClr val="C7D0E8"/>
                  </a:solidFill>
                  <a:latin typeface="Montserrat"/>
                  <a:ea typeface="Montserrat"/>
                  <a:cs typeface="Montserrat"/>
                  <a:sym typeface="Montserrat"/>
                </a:rPr>
                <a:t>Similarity score</a:t>
              </a:r>
              <a:endParaRPr b="0" sz="1100">
                <a:solidFill>
                  <a:srgbClr val="C7D0E8"/>
                </a:solidFill>
                <a:latin typeface="Montserrat"/>
                <a:ea typeface="Montserrat"/>
                <a:cs typeface="Montserrat"/>
                <a:sym typeface="Montserrat"/>
              </a:endParaRPr>
            </a:p>
          </p:txBody>
        </p:sp>
      </p:grpSp>
      <p:pic>
        <p:nvPicPr>
          <p:cNvPr id="512" name="Google Shape;512;p40"/>
          <p:cNvPicPr preferRelativeResize="0"/>
          <p:nvPr/>
        </p:nvPicPr>
        <p:blipFill rotWithShape="1">
          <a:blip r:embed="rId7">
            <a:alphaModFix/>
          </a:blip>
          <a:srcRect b="23807" l="19146" r="18491" t="22148"/>
          <a:stretch/>
        </p:blipFill>
        <p:spPr>
          <a:xfrm>
            <a:off x="8058150" y="333375"/>
            <a:ext cx="611102" cy="334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p41"/>
          <p:cNvPicPr preferRelativeResize="0"/>
          <p:nvPr/>
        </p:nvPicPr>
        <p:blipFill rotWithShape="1">
          <a:blip r:embed="rId3">
            <a:alphaModFix/>
          </a:blip>
          <a:srcRect b="0" l="0" r="0" t="0"/>
          <a:stretch/>
        </p:blipFill>
        <p:spPr>
          <a:xfrm>
            <a:off x="0" y="0"/>
            <a:ext cx="9147362" cy="5144475"/>
          </a:xfrm>
          <a:prstGeom prst="rect">
            <a:avLst/>
          </a:prstGeom>
          <a:noFill/>
          <a:ln>
            <a:noFill/>
          </a:ln>
        </p:spPr>
      </p:pic>
      <p:sp>
        <p:nvSpPr>
          <p:cNvPr id="519" name="Google Shape;519;p41"/>
          <p:cNvSpPr/>
          <p:nvPr/>
        </p:nvSpPr>
        <p:spPr>
          <a:xfrm>
            <a:off x="5424488" y="3186113"/>
            <a:ext cx="2247900" cy="1295400"/>
          </a:xfrm>
          <a:prstGeom prst="roundRect">
            <a:avLst>
              <a:gd fmla="val 16667" name="adj"/>
            </a:avLst>
          </a:prstGeom>
          <a:solidFill>
            <a:srgbClr val="6B71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41"/>
          <p:cNvSpPr/>
          <p:nvPr/>
        </p:nvSpPr>
        <p:spPr>
          <a:xfrm>
            <a:off x="2995613" y="3186113"/>
            <a:ext cx="2247900" cy="1295400"/>
          </a:xfrm>
          <a:prstGeom prst="roundRect">
            <a:avLst>
              <a:gd fmla="val 16667" name="adj"/>
            </a:avLst>
          </a:prstGeom>
          <a:solidFill>
            <a:srgbClr val="8C2D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41"/>
          <p:cNvSpPr/>
          <p:nvPr/>
        </p:nvSpPr>
        <p:spPr>
          <a:xfrm>
            <a:off x="566738" y="3186113"/>
            <a:ext cx="2247900" cy="12954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41"/>
          <p:cNvSpPr/>
          <p:nvPr/>
        </p:nvSpPr>
        <p:spPr>
          <a:xfrm>
            <a:off x="5424488" y="1709738"/>
            <a:ext cx="2247900" cy="1295400"/>
          </a:xfrm>
          <a:prstGeom prst="roundRect">
            <a:avLst>
              <a:gd fmla="val 16667" name="adj"/>
            </a:avLst>
          </a:prstGeom>
          <a:solidFill>
            <a:srgbClr val="6B71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41"/>
          <p:cNvSpPr/>
          <p:nvPr/>
        </p:nvSpPr>
        <p:spPr>
          <a:xfrm>
            <a:off x="2995613" y="1709738"/>
            <a:ext cx="2247900" cy="1295400"/>
          </a:xfrm>
          <a:prstGeom prst="roundRect">
            <a:avLst>
              <a:gd fmla="val 16667" name="adj"/>
            </a:avLst>
          </a:prstGeom>
          <a:solidFill>
            <a:srgbClr val="8C2D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4" name="Google Shape;524;p41"/>
          <p:cNvSpPr/>
          <p:nvPr/>
        </p:nvSpPr>
        <p:spPr>
          <a:xfrm>
            <a:off x="566738" y="1709738"/>
            <a:ext cx="2247900" cy="12954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25" name="Google Shape;525;p41"/>
          <p:cNvPicPr preferRelativeResize="0"/>
          <p:nvPr/>
        </p:nvPicPr>
        <p:blipFill rotWithShape="1">
          <a:blip r:embed="rId4">
            <a:alphaModFix/>
          </a:blip>
          <a:srcRect b="23953" l="19127" r="18510" t="22002"/>
          <a:stretch/>
        </p:blipFill>
        <p:spPr>
          <a:xfrm>
            <a:off x="8248650" y="238125"/>
            <a:ext cx="611102" cy="334500"/>
          </a:xfrm>
          <a:prstGeom prst="rect">
            <a:avLst/>
          </a:prstGeom>
          <a:noFill/>
          <a:ln>
            <a:noFill/>
          </a:ln>
        </p:spPr>
      </p:pic>
      <p:sp>
        <p:nvSpPr>
          <p:cNvPr id="526" name="Google Shape;526;p41"/>
          <p:cNvSpPr/>
          <p:nvPr/>
        </p:nvSpPr>
        <p:spPr>
          <a:xfrm>
            <a:off x="714375" y="1857375"/>
            <a:ext cx="1952700" cy="104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7D21"/>
              </a:buClr>
              <a:buSzPts val="2400"/>
              <a:buFont typeface="Montserrat"/>
              <a:buNone/>
            </a:pPr>
            <a:r>
              <a:rPr lang="en" sz="2400">
                <a:solidFill>
                  <a:srgbClr val="F27D21"/>
                </a:solidFill>
                <a:latin typeface="Montserrat"/>
                <a:ea typeface="Montserrat"/>
                <a:cs typeface="Montserrat"/>
                <a:sym typeface="Montserrat"/>
              </a:rPr>
              <a:t>OBTAIN</a:t>
            </a:r>
            <a:endParaRPr/>
          </a:p>
          <a:p>
            <a:pPr indent="0" lvl="0" marL="0" marR="0" rtl="0" algn="l">
              <a:spcBef>
                <a:spcPts val="600"/>
              </a:spcBef>
              <a:spcAft>
                <a:spcPts val="0"/>
              </a:spcAft>
              <a:buClr>
                <a:srgbClr val="FFFFFF"/>
              </a:buClr>
              <a:buSzPts val="1150"/>
              <a:buFont typeface="Montserrat"/>
              <a:buNone/>
            </a:pPr>
            <a:r>
              <a:rPr b="1" lang="en" sz="1150">
                <a:solidFill>
                  <a:srgbClr val="FFFFFF"/>
                </a:solidFill>
                <a:latin typeface="Montserrat"/>
                <a:ea typeface="Montserrat"/>
                <a:cs typeface="Montserrat"/>
                <a:sym typeface="Montserrat"/>
              </a:rPr>
              <a:t>inji-vci-client</a:t>
            </a:r>
            <a:endParaRPr/>
          </a:p>
          <a:p>
            <a:pPr indent="0" lvl="0" marL="0" marR="0" rtl="0" algn="l">
              <a:spcBef>
                <a:spcPts val="450"/>
              </a:spcBef>
              <a:spcAft>
                <a:spcPts val="0"/>
              </a:spcAft>
              <a:buClr>
                <a:srgbClr val="C7D0E8"/>
              </a:buClr>
              <a:buSzPts val="950"/>
              <a:buFont typeface="Montserrat"/>
              <a:buNone/>
            </a:pPr>
            <a:r>
              <a:rPr b="0" lang="en" sz="950">
                <a:solidFill>
                  <a:srgbClr val="C7D0E8"/>
                </a:solidFill>
                <a:latin typeface="Montserrat"/>
                <a:ea typeface="Montserrat"/>
                <a:cs typeface="Montserrat"/>
                <a:sym typeface="Montserrat"/>
              </a:rPr>
              <a:t>Discovers, authorizes, obtains credentials</a:t>
            </a:r>
            <a:endParaRPr/>
          </a:p>
        </p:txBody>
      </p:sp>
      <p:sp>
        <p:nvSpPr>
          <p:cNvPr id="527" name="Google Shape;527;p41"/>
          <p:cNvSpPr/>
          <p:nvPr/>
        </p:nvSpPr>
        <p:spPr>
          <a:xfrm>
            <a:off x="3143250" y="1857375"/>
            <a:ext cx="1952700" cy="104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7D21"/>
              </a:buClr>
              <a:buSzPts val="2400"/>
              <a:buFont typeface="Montserrat"/>
              <a:buNone/>
            </a:pPr>
            <a:r>
              <a:rPr lang="en" sz="2400">
                <a:solidFill>
                  <a:srgbClr val="F27D21"/>
                </a:solidFill>
                <a:latin typeface="Montserrat"/>
                <a:ea typeface="Montserrat"/>
                <a:cs typeface="Montserrat"/>
                <a:sym typeface="Montserrat"/>
              </a:rPr>
              <a:t>PROTECT</a:t>
            </a:r>
            <a:endParaRPr/>
          </a:p>
          <a:p>
            <a:pPr indent="0" lvl="0" marL="0" marR="0" rtl="0" algn="l">
              <a:spcBef>
                <a:spcPts val="600"/>
              </a:spcBef>
              <a:spcAft>
                <a:spcPts val="0"/>
              </a:spcAft>
              <a:buClr>
                <a:srgbClr val="FFFFFF"/>
              </a:buClr>
              <a:buSzPts val="1150"/>
              <a:buFont typeface="Montserrat"/>
              <a:buNone/>
            </a:pPr>
            <a:r>
              <a:rPr b="1" lang="en" sz="1150">
                <a:solidFill>
                  <a:srgbClr val="FFFFFF"/>
                </a:solidFill>
                <a:latin typeface="Montserrat"/>
                <a:ea typeface="Montserrat"/>
                <a:cs typeface="Montserrat"/>
                <a:sym typeface="Montserrat"/>
              </a:rPr>
              <a:t>Secure Keystore</a:t>
            </a:r>
            <a:endParaRPr/>
          </a:p>
          <a:p>
            <a:pPr indent="0" lvl="0" marL="0" marR="0" rtl="0" algn="l">
              <a:spcBef>
                <a:spcPts val="450"/>
              </a:spcBef>
              <a:spcAft>
                <a:spcPts val="0"/>
              </a:spcAft>
              <a:buClr>
                <a:srgbClr val="C7D0E8"/>
              </a:buClr>
              <a:buSzPts val="950"/>
              <a:buFont typeface="Montserrat"/>
              <a:buNone/>
            </a:pPr>
            <a:r>
              <a:rPr b="0" lang="en" sz="950">
                <a:solidFill>
                  <a:srgbClr val="C7D0E8"/>
                </a:solidFill>
                <a:latin typeface="Montserrat"/>
                <a:ea typeface="Montserrat"/>
                <a:cs typeface="Montserrat"/>
                <a:sym typeface="Montserrat"/>
              </a:rPr>
              <a:t>Protects holder keys and signs proofs</a:t>
            </a:r>
            <a:endParaRPr/>
          </a:p>
        </p:txBody>
      </p:sp>
      <p:sp>
        <p:nvSpPr>
          <p:cNvPr id="528" name="Google Shape;528;p41"/>
          <p:cNvSpPr/>
          <p:nvPr/>
        </p:nvSpPr>
        <p:spPr>
          <a:xfrm>
            <a:off x="5572125" y="1857375"/>
            <a:ext cx="1952700" cy="104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7D21"/>
              </a:buClr>
              <a:buSzPts val="2400"/>
              <a:buFont typeface="Montserrat"/>
              <a:buNone/>
            </a:pPr>
            <a:r>
              <a:rPr lang="en" sz="2400">
                <a:solidFill>
                  <a:srgbClr val="F27D21"/>
                </a:solidFill>
                <a:latin typeface="Montserrat"/>
                <a:ea typeface="Montserrat"/>
                <a:cs typeface="Montserrat"/>
                <a:sym typeface="Montserrat"/>
              </a:rPr>
              <a:t>DISPLAY</a:t>
            </a:r>
            <a:endParaRPr/>
          </a:p>
          <a:p>
            <a:pPr indent="0" lvl="0" marL="0" marR="0" rtl="0" algn="l">
              <a:spcBef>
                <a:spcPts val="600"/>
              </a:spcBef>
              <a:spcAft>
                <a:spcPts val="0"/>
              </a:spcAft>
              <a:buClr>
                <a:srgbClr val="FFFFFF"/>
              </a:buClr>
              <a:buSzPts val="1150"/>
              <a:buFont typeface="Montserrat"/>
              <a:buNone/>
            </a:pPr>
            <a:r>
              <a:rPr b="1" lang="en" sz="1150">
                <a:solidFill>
                  <a:srgbClr val="FFFFFF"/>
                </a:solidFill>
                <a:latin typeface="Montserrat"/>
                <a:ea typeface="Montserrat"/>
                <a:cs typeface="Montserrat"/>
                <a:sym typeface="Montserrat"/>
              </a:rPr>
              <a:t>vc-renderer</a:t>
            </a:r>
            <a:endParaRPr/>
          </a:p>
          <a:p>
            <a:pPr indent="0" lvl="0" marL="0" marR="0" rtl="0" algn="l">
              <a:spcBef>
                <a:spcPts val="450"/>
              </a:spcBef>
              <a:spcAft>
                <a:spcPts val="0"/>
              </a:spcAft>
              <a:buClr>
                <a:srgbClr val="C7D0E8"/>
              </a:buClr>
              <a:buSzPts val="950"/>
              <a:buFont typeface="Montserrat"/>
              <a:buNone/>
            </a:pPr>
            <a:r>
              <a:rPr lang="en" sz="950">
                <a:solidFill>
                  <a:srgbClr val="C7D0E8"/>
                </a:solidFill>
                <a:latin typeface="Montserrat"/>
                <a:ea typeface="Montserrat"/>
                <a:cs typeface="Montserrat"/>
                <a:sym typeface="Montserrat"/>
              </a:rPr>
              <a:t>SVG rendering</a:t>
            </a:r>
            <a:endParaRPr/>
          </a:p>
        </p:txBody>
      </p:sp>
      <p:sp>
        <p:nvSpPr>
          <p:cNvPr id="529" name="Google Shape;529;p41"/>
          <p:cNvSpPr/>
          <p:nvPr/>
        </p:nvSpPr>
        <p:spPr>
          <a:xfrm>
            <a:off x="714375" y="3333750"/>
            <a:ext cx="1952700" cy="104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7D21"/>
              </a:buClr>
              <a:buSzPts val="2400"/>
              <a:buFont typeface="Montserrat"/>
              <a:buNone/>
            </a:pPr>
            <a:r>
              <a:rPr lang="en" sz="2400">
                <a:solidFill>
                  <a:srgbClr val="F27D21"/>
                </a:solidFill>
                <a:latin typeface="Montserrat"/>
                <a:ea typeface="Montserrat"/>
                <a:cs typeface="Montserrat"/>
                <a:sym typeface="Montserrat"/>
              </a:rPr>
              <a:t>ENCODE</a:t>
            </a:r>
            <a:endParaRPr/>
          </a:p>
          <a:p>
            <a:pPr indent="0" lvl="0" marL="0" marR="0" rtl="0" algn="l">
              <a:spcBef>
                <a:spcPts val="600"/>
              </a:spcBef>
              <a:spcAft>
                <a:spcPts val="0"/>
              </a:spcAft>
              <a:buClr>
                <a:srgbClr val="FFFFFF"/>
              </a:buClr>
              <a:buSzPts val="1150"/>
              <a:buFont typeface="Montserrat"/>
              <a:buNone/>
            </a:pPr>
            <a:r>
              <a:rPr b="1" lang="en" sz="1150">
                <a:solidFill>
                  <a:srgbClr val="FFFFFF"/>
                </a:solidFill>
                <a:latin typeface="Montserrat"/>
                <a:ea typeface="Montserrat"/>
                <a:cs typeface="Montserrat"/>
                <a:sym typeface="Montserrat"/>
              </a:rPr>
              <a:t>PixelPass</a:t>
            </a:r>
            <a:endParaRPr/>
          </a:p>
          <a:p>
            <a:pPr indent="0" lvl="0" marL="0" marR="0" rtl="0" algn="l">
              <a:spcBef>
                <a:spcPts val="450"/>
              </a:spcBef>
              <a:spcAft>
                <a:spcPts val="0"/>
              </a:spcAft>
              <a:buClr>
                <a:srgbClr val="C7D0E8"/>
              </a:buClr>
              <a:buSzPts val="950"/>
              <a:buFont typeface="Montserrat"/>
              <a:buNone/>
            </a:pPr>
            <a:r>
              <a:rPr b="0" lang="en" sz="950">
                <a:solidFill>
                  <a:srgbClr val="C7D0E8"/>
                </a:solidFill>
                <a:latin typeface="Montserrat"/>
                <a:ea typeface="Montserrat"/>
                <a:cs typeface="Montserrat"/>
                <a:sym typeface="Montserrat"/>
              </a:rPr>
              <a:t>Compacts and encodes QR data</a:t>
            </a:r>
            <a:endParaRPr/>
          </a:p>
        </p:txBody>
      </p:sp>
      <p:sp>
        <p:nvSpPr>
          <p:cNvPr id="530" name="Google Shape;530;p41"/>
          <p:cNvSpPr/>
          <p:nvPr/>
        </p:nvSpPr>
        <p:spPr>
          <a:xfrm>
            <a:off x="3143250" y="3333750"/>
            <a:ext cx="1952700" cy="104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7D21"/>
              </a:buClr>
              <a:buSzPts val="2400"/>
              <a:buFont typeface="Montserrat"/>
              <a:buNone/>
            </a:pPr>
            <a:r>
              <a:rPr lang="en" sz="2400">
                <a:solidFill>
                  <a:srgbClr val="F27D21"/>
                </a:solidFill>
                <a:latin typeface="Montserrat"/>
                <a:ea typeface="Montserrat"/>
                <a:cs typeface="Montserrat"/>
                <a:sym typeface="Montserrat"/>
              </a:rPr>
              <a:t>TRANSFER</a:t>
            </a:r>
            <a:endParaRPr/>
          </a:p>
          <a:p>
            <a:pPr indent="0" lvl="0" marL="0" marR="0" rtl="0" algn="l">
              <a:spcBef>
                <a:spcPts val="600"/>
              </a:spcBef>
              <a:spcAft>
                <a:spcPts val="0"/>
              </a:spcAft>
              <a:buClr>
                <a:srgbClr val="FFFFFF"/>
              </a:buClr>
              <a:buSzPts val="1150"/>
              <a:buFont typeface="Montserrat"/>
              <a:buNone/>
            </a:pPr>
            <a:r>
              <a:rPr b="1" lang="en" sz="1150">
                <a:solidFill>
                  <a:srgbClr val="FFFFFF"/>
                </a:solidFill>
                <a:latin typeface="Montserrat"/>
                <a:ea typeface="Montserrat"/>
                <a:cs typeface="Montserrat"/>
                <a:sym typeface="Montserrat"/>
              </a:rPr>
              <a:t>Tuvali</a:t>
            </a:r>
            <a:endParaRPr/>
          </a:p>
          <a:p>
            <a:pPr indent="0" lvl="0" marL="0" marR="0" rtl="0" algn="l">
              <a:spcBef>
                <a:spcPts val="450"/>
              </a:spcBef>
              <a:spcAft>
                <a:spcPts val="0"/>
              </a:spcAft>
              <a:buClr>
                <a:srgbClr val="C7D0E8"/>
              </a:buClr>
              <a:buSzPts val="950"/>
              <a:buFont typeface="Montserrat"/>
              <a:buNone/>
            </a:pPr>
            <a:r>
              <a:rPr b="0" lang="en" sz="950">
                <a:solidFill>
                  <a:srgbClr val="C7D0E8"/>
                </a:solidFill>
                <a:latin typeface="Montserrat"/>
                <a:ea typeface="Montserrat"/>
                <a:cs typeface="Montserrat"/>
                <a:sym typeface="Montserrat"/>
              </a:rPr>
              <a:t>Transfers credential data over BLE</a:t>
            </a:r>
            <a:endParaRPr/>
          </a:p>
        </p:txBody>
      </p:sp>
      <p:sp>
        <p:nvSpPr>
          <p:cNvPr id="531" name="Google Shape;531;p41"/>
          <p:cNvSpPr/>
          <p:nvPr/>
        </p:nvSpPr>
        <p:spPr>
          <a:xfrm>
            <a:off x="5572125" y="3333750"/>
            <a:ext cx="1952700" cy="104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27D21"/>
              </a:buClr>
              <a:buSzPts val="2400"/>
              <a:buFont typeface="Montserrat"/>
              <a:buNone/>
            </a:pPr>
            <a:r>
              <a:rPr lang="en" sz="2400">
                <a:solidFill>
                  <a:srgbClr val="1D1E3A"/>
                </a:solidFill>
                <a:latin typeface="Montserrat"/>
                <a:ea typeface="Montserrat"/>
                <a:cs typeface="Montserrat"/>
                <a:sym typeface="Montserrat"/>
              </a:rPr>
              <a:t>SHARE</a:t>
            </a:r>
            <a:endParaRPr>
              <a:solidFill>
                <a:srgbClr val="1D1E3A"/>
              </a:solidFill>
            </a:endParaRPr>
          </a:p>
          <a:p>
            <a:pPr indent="0" lvl="0" marL="0" marR="0" rtl="0" algn="l">
              <a:spcBef>
                <a:spcPts val="600"/>
              </a:spcBef>
              <a:spcAft>
                <a:spcPts val="0"/>
              </a:spcAft>
              <a:buClr>
                <a:srgbClr val="FFFFFF"/>
              </a:buClr>
              <a:buSzPts val="1150"/>
              <a:buFont typeface="Montserrat"/>
              <a:buNone/>
            </a:pPr>
            <a:r>
              <a:rPr b="1" lang="en" sz="1150">
                <a:solidFill>
                  <a:srgbClr val="1D1E3A"/>
                </a:solidFill>
                <a:latin typeface="Montserrat"/>
                <a:ea typeface="Montserrat"/>
                <a:cs typeface="Montserrat"/>
                <a:sym typeface="Montserrat"/>
              </a:rPr>
              <a:t>OpenId4vp</a:t>
            </a:r>
            <a:endParaRPr>
              <a:solidFill>
                <a:srgbClr val="1D1E3A"/>
              </a:solidFill>
            </a:endParaRPr>
          </a:p>
          <a:p>
            <a:pPr indent="0" lvl="0" marL="0" marR="0" rtl="0" algn="l">
              <a:spcBef>
                <a:spcPts val="450"/>
              </a:spcBef>
              <a:spcAft>
                <a:spcPts val="0"/>
              </a:spcAft>
              <a:buClr>
                <a:srgbClr val="C7D0E8"/>
              </a:buClr>
              <a:buSzPts val="950"/>
              <a:buFont typeface="Montserrat"/>
              <a:buNone/>
            </a:pPr>
            <a:r>
              <a:rPr lang="en" sz="950">
                <a:solidFill>
                  <a:srgbClr val="1D1E3A"/>
                </a:solidFill>
                <a:latin typeface="Montserrat"/>
                <a:ea typeface="Montserrat"/>
                <a:cs typeface="Montserrat"/>
                <a:sym typeface="Montserrat"/>
              </a:rPr>
              <a:t>Shares verifiable presentation</a:t>
            </a:r>
            <a:endParaRPr>
              <a:solidFill>
                <a:srgbClr val="1D1E3A"/>
              </a:solidFill>
            </a:endParaRPr>
          </a:p>
        </p:txBody>
      </p:sp>
      <p:sp>
        <p:nvSpPr>
          <p:cNvPr id="532" name="Google Shape;532;p41"/>
          <p:cNvSpPr/>
          <p:nvPr/>
        </p:nvSpPr>
        <p:spPr>
          <a:xfrm>
            <a:off x="571500" y="381000"/>
            <a:ext cx="5715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2 · MODULE 7 · WALLET INTEGRATION</a:t>
            </a:r>
            <a:endParaRPr/>
          </a:p>
        </p:txBody>
      </p:sp>
      <p:sp>
        <p:nvSpPr>
          <p:cNvPr id="533" name="Google Shape;533;p41"/>
          <p:cNvSpPr/>
          <p:nvPr/>
        </p:nvSpPr>
        <p:spPr>
          <a:xfrm>
            <a:off x="571500" y="666750"/>
            <a:ext cx="6667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Montserrat"/>
              <a:buNone/>
            </a:pPr>
            <a:r>
              <a:rPr b="1" i="1" lang="en" sz="2800">
                <a:solidFill>
                  <a:srgbClr val="FFFFFF"/>
                </a:solidFill>
                <a:latin typeface="Montserrat"/>
                <a:ea typeface="Montserrat"/>
                <a:cs typeface="Montserrat"/>
                <a:sym typeface="Montserrat"/>
              </a:rPr>
              <a:t>Library responsibilities</a:t>
            </a:r>
            <a:endParaRPr/>
          </a:p>
        </p:txBody>
      </p:sp>
      <p:pic>
        <p:nvPicPr>
          <p:cNvPr id="534" name="Google Shape;534;p41"/>
          <p:cNvPicPr preferRelativeResize="0"/>
          <p:nvPr/>
        </p:nvPicPr>
        <p:blipFill rotWithShape="1">
          <a:blip r:embed="rId5">
            <a:alphaModFix/>
          </a:blip>
          <a:srcRect b="0" l="12388" r="0" t="0"/>
          <a:stretch/>
        </p:blipFill>
        <p:spPr>
          <a:xfrm>
            <a:off x="7783875" y="1564975"/>
            <a:ext cx="1917000" cy="2729700"/>
          </a:xfrm>
          <a:prstGeom prst="roundRect">
            <a:avLst>
              <a:gd fmla="val 16667" name="adj"/>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pic>
        <p:nvPicPr>
          <p:cNvPr descr="A blue and red gradient&#10;&#10;AI-generated content may be incorrect." id="539" name="Google Shape;539;p42"/>
          <p:cNvPicPr preferRelativeResize="0"/>
          <p:nvPr/>
        </p:nvPicPr>
        <p:blipFill rotWithShape="1">
          <a:blip r:embed="rId3">
            <a:alphaModFix/>
          </a:blip>
          <a:srcRect b="0" l="0" r="0" t="0"/>
          <a:stretch/>
        </p:blipFill>
        <p:spPr>
          <a:xfrm>
            <a:off x="0" y="0"/>
            <a:ext cx="9147362" cy="5144475"/>
          </a:xfrm>
          <a:prstGeom prst="rect">
            <a:avLst/>
          </a:prstGeom>
          <a:noFill/>
          <a:ln>
            <a:noFill/>
          </a:ln>
        </p:spPr>
      </p:pic>
      <p:pic>
        <p:nvPicPr>
          <p:cNvPr descr="A black and white logo&#10;&#10;AI-generated content may be incorrect." id="540" name="Google Shape;540;p42"/>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pic>
        <p:nvPicPr>
          <p:cNvPr id="541" name="Google Shape;541;p42"/>
          <p:cNvPicPr preferRelativeResize="0"/>
          <p:nvPr/>
        </p:nvPicPr>
        <p:blipFill rotWithShape="1">
          <a:blip r:embed="rId5">
            <a:alphaModFix/>
          </a:blip>
          <a:srcRect b="23953" l="19127" r="18510" t="22002"/>
          <a:stretch/>
        </p:blipFill>
        <p:spPr>
          <a:xfrm>
            <a:off x="3662498" y="1694375"/>
            <a:ext cx="1288325" cy="7051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pic>
        <p:nvPicPr>
          <p:cNvPr id="547" name="Google Shape;547;p43"/>
          <p:cNvPicPr preferRelativeResize="0"/>
          <p:nvPr/>
        </p:nvPicPr>
        <p:blipFill rotWithShape="1">
          <a:blip r:embed="rId3">
            <a:alphaModFix/>
          </a:blip>
          <a:srcRect b="0" l="0" r="0" t="0"/>
          <a:stretch/>
        </p:blipFill>
        <p:spPr>
          <a:xfrm>
            <a:off x="0" y="0"/>
            <a:ext cx="9147362" cy="5144475"/>
          </a:xfrm>
          <a:prstGeom prst="rect">
            <a:avLst/>
          </a:prstGeom>
          <a:noFill/>
          <a:ln>
            <a:noFill/>
          </a:ln>
        </p:spPr>
      </p:pic>
      <p:pic>
        <p:nvPicPr>
          <p:cNvPr id="548" name="Google Shape;548;p43"/>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pic>
        <p:nvPicPr>
          <p:cNvPr id="549" name="Google Shape;549;p43"/>
          <p:cNvPicPr preferRelativeResize="0"/>
          <p:nvPr/>
        </p:nvPicPr>
        <p:blipFill rotWithShape="1">
          <a:blip r:embed="rId5">
            <a:alphaModFix/>
          </a:blip>
          <a:srcRect b="0" l="0" r="0" t="0"/>
          <a:stretch/>
        </p:blipFill>
        <p:spPr>
          <a:xfrm>
            <a:off x="7905750" y="428625"/>
            <a:ext cx="476400" cy="476400"/>
          </a:xfrm>
          <a:prstGeom prst="rect">
            <a:avLst/>
          </a:prstGeom>
          <a:noFill/>
          <a:ln>
            <a:noFill/>
          </a:ln>
        </p:spPr>
      </p:pic>
      <p:pic>
        <p:nvPicPr>
          <p:cNvPr id="550" name="Google Shape;550;p43"/>
          <p:cNvPicPr preferRelativeResize="0"/>
          <p:nvPr/>
        </p:nvPicPr>
        <p:blipFill rotWithShape="1">
          <a:blip r:embed="rId6">
            <a:alphaModFix/>
          </a:blip>
          <a:srcRect b="0" l="10" r="10" t="0"/>
          <a:stretch/>
        </p:blipFill>
        <p:spPr>
          <a:xfrm>
            <a:off x="676500" y="242925"/>
            <a:ext cx="1047900" cy="662099"/>
          </a:xfrm>
          <a:prstGeom prst="rect">
            <a:avLst/>
          </a:prstGeom>
          <a:noFill/>
          <a:ln>
            <a:noFill/>
          </a:ln>
        </p:spPr>
      </p:pic>
      <p:pic>
        <p:nvPicPr>
          <p:cNvPr id="551" name="Google Shape;551;p43"/>
          <p:cNvPicPr preferRelativeResize="0"/>
          <p:nvPr/>
        </p:nvPicPr>
        <p:blipFill rotWithShape="1">
          <a:blip r:embed="rId7">
            <a:alphaModFix/>
          </a:blip>
          <a:srcRect b="0" l="0" r="0" t="0"/>
          <a:stretch/>
        </p:blipFill>
        <p:spPr>
          <a:xfrm>
            <a:off x="757238" y="2043113"/>
            <a:ext cx="1724100" cy="2486099"/>
          </a:xfrm>
          <a:prstGeom prst="rect">
            <a:avLst/>
          </a:prstGeom>
          <a:noFill/>
          <a:ln>
            <a:noFill/>
          </a:ln>
        </p:spPr>
      </p:pic>
      <p:sp>
        <p:nvSpPr>
          <p:cNvPr id="552" name="Google Shape;552;p43"/>
          <p:cNvSpPr/>
          <p:nvPr/>
        </p:nvSpPr>
        <p:spPr>
          <a:xfrm>
            <a:off x="766850" y="2047925"/>
            <a:ext cx="1714500" cy="2476500"/>
          </a:xfrm>
          <a:prstGeom prst="rect">
            <a:avLst/>
          </a:prstGeom>
          <a:noFill/>
          <a:ln>
            <a:noFill/>
          </a:ln>
        </p:spPr>
        <p:txBody>
          <a:bodyPr anchorCtr="0" anchor="ctr" bIns="228600" lIns="152400" spcFirstLastPara="1" rIns="152400" wrap="square" tIns="228600">
            <a:noAutofit/>
          </a:bodyPr>
          <a:lstStyle/>
          <a:p>
            <a:pPr indent="0" lvl="0" marL="0" marR="0" rtl="0" algn="l">
              <a:spcBef>
                <a:spcPts val="0"/>
              </a:spcBef>
              <a:spcAft>
                <a:spcPts val="0"/>
              </a:spcAft>
              <a:buClr>
                <a:srgbClr val="F27D21"/>
              </a:buClr>
              <a:buSzPts val="1000"/>
              <a:buFont typeface="Montserrat"/>
              <a:buNone/>
            </a:pPr>
            <a:r>
              <a:rPr b="1" lang="en" sz="1000">
                <a:solidFill>
                  <a:srgbClr val="F27D21"/>
                </a:solidFill>
                <a:latin typeface="Montserrat"/>
                <a:ea typeface="Montserrat"/>
                <a:cs typeface="Montserrat"/>
                <a:sym typeface="Montserrat"/>
              </a:rPr>
              <a:t>MODULE 8</a:t>
            </a:r>
            <a:endParaRPr/>
          </a:p>
          <a:p>
            <a:pPr indent="0" lvl="0" marL="0" marR="0" rtl="0" algn="l">
              <a:spcBef>
                <a:spcPts val="0"/>
              </a:spcBef>
              <a:spcAft>
                <a:spcPts val="0"/>
              </a:spcAft>
              <a:buClr>
                <a:srgbClr val="FFFFFF"/>
              </a:buClr>
              <a:buSzPts val="1600"/>
              <a:buFont typeface="Montserrat"/>
              <a:buNone/>
            </a:pPr>
            <a:r>
              <a:rPr b="1" lang="en" sz="1600">
                <a:solidFill>
                  <a:srgbClr val="FFFFFF"/>
                </a:solidFill>
                <a:latin typeface="Montserrat"/>
                <a:ea typeface="Montserrat"/>
                <a:cs typeface="Montserrat"/>
                <a:sym typeface="Montserrat"/>
              </a:rPr>
              <a:t>OpenID4VP Deep Dive</a:t>
            </a:r>
            <a:endParaRPr/>
          </a:p>
        </p:txBody>
      </p:sp>
      <p:pic>
        <p:nvPicPr>
          <p:cNvPr id="553" name="Google Shape;553;p43"/>
          <p:cNvPicPr preferRelativeResize="0"/>
          <p:nvPr/>
        </p:nvPicPr>
        <p:blipFill rotWithShape="1">
          <a:blip r:embed="rId8">
            <a:alphaModFix/>
          </a:blip>
          <a:srcRect b="0" l="0" r="0" t="0"/>
          <a:stretch/>
        </p:blipFill>
        <p:spPr>
          <a:xfrm>
            <a:off x="2719388" y="2043113"/>
            <a:ext cx="1724100" cy="2486099"/>
          </a:xfrm>
          <a:prstGeom prst="rect">
            <a:avLst/>
          </a:prstGeom>
          <a:noFill/>
          <a:ln>
            <a:noFill/>
          </a:ln>
        </p:spPr>
      </p:pic>
      <p:sp>
        <p:nvSpPr>
          <p:cNvPr id="554" name="Google Shape;554;p43"/>
          <p:cNvSpPr/>
          <p:nvPr/>
        </p:nvSpPr>
        <p:spPr>
          <a:xfrm>
            <a:off x="2724150" y="2047875"/>
            <a:ext cx="1714500" cy="2476500"/>
          </a:xfrm>
          <a:prstGeom prst="rect">
            <a:avLst/>
          </a:prstGeom>
          <a:noFill/>
          <a:ln>
            <a:noFill/>
          </a:ln>
        </p:spPr>
        <p:txBody>
          <a:bodyPr anchorCtr="0" anchor="ctr" bIns="228600" lIns="152400" spcFirstLastPara="1" rIns="152400" wrap="square" tIns="228600">
            <a:noAutofit/>
          </a:bodyPr>
          <a:lstStyle/>
          <a:p>
            <a:pPr indent="0" lvl="0" marL="0" marR="0" rtl="0" algn="l">
              <a:spcBef>
                <a:spcPts val="0"/>
              </a:spcBef>
              <a:spcAft>
                <a:spcPts val="0"/>
              </a:spcAft>
              <a:buClr>
                <a:srgbClr val="F27D21"/>
              </a:buClr>
              <a:buSzPts val="1000"/>
              <a:buFont typeface="Montserrat"/>
              <a:buNone/>
            </a:pPr>
            <a:r>
              <a:rPr b="1" lang="en" sz="1000">
                <a:solidFill>
                  <a:srgbClr val="F27D21"/>
                </a:solidFill>
                <a:latin typeface="Montserrat"/>
                <a:ea typeface="Montserrat"/>
                <a:cs typeface="Montserrat"/>
                <a:sym typeface="Montserrat"/>
              </a:rPr>
              <a:t>MODULE 9</a:t>
            </a:r>
            <a:endParaRPr/>
          </a:p>
          <a:p>
            <a:pPr indent="0" lvl="0" marL="0" marR="0" rtl="0" algn="l">
              <a:spcBef>
                <a:spcPts val="0"/>
              </a:spcBef>
              <a:spcAft>
                <a:spcPts val="0"/>
              </a:spcAft>
              <a:buClr>
                <a:srgbClr val="FFFFFF"/>
              </a:buClr>
              <a:buSzPts val="1600"/>
              <a:buFont typeface="Montserrat"/>
              <a:buNone/>
            </a:pPr>
            <a:r>
              <a:rPr b="1" lang="en" sz="1600">
                <a:solidFill>
                  <a:srgbClr val="FFFFFF"/>
                </a:solidFill>
                <a:latin typeface="Montserrat"/>
                <a:ea typeface="Montserrat"/>
                <a:cs typeface="Montserrat"/>
                <a:sym typeface="Montserrat"/>
              </a:rPr>
              <a:t>Wallet VP Library</a:t>
            </a:r>
            <a:endParaRPr/>
          </a:p>
        </p:txBody>
      </p:sp>
      <p:pic>
        <p:nvPicPr>
          <p:cNvPr id="555" name="Google Shape;555;p43"/>
          <p:cNvPicPr preferRelativeResize="0"/>
          <p:nvPr/>
        </p:nvPicPr>
        <p:blipFill rotWithShape="1">
          <a:blip r:embed="rId9">
            <a:alphaModFix/>
          </a:blip>
          <a:srcRect b="0" l="0" r="0" t="0"/>
          <a:stretch/>
        </p:blipFill>
        <p:spPr>
          <a:xfrm>
            <a:off x="4681538" y="2043113"/>
            <a:ext cx="1724100" cy="2486099"/>
          </a:xfrm>
          <a:prstGeom prst="rect">
            <a:avLst/>
          </a:prstGeom>
          <a:noFill/>
          <a:ln>
            <a:noFill/>
          </a:ln>
        </p:spPr>
      </p:pic>
      <p:sp>
        <p:nvSpPr>
          <p:cNvPr id="556" name="Google Shape;556;p43"/>
          <p:cNvSpPr/>
          <p:nvPr/>
        </p:nvSpPr>
        <p:spPr>
          <a:xfrm>
            <a:off x="4686300" y="2047875"/>
            <a:ext cx="1714500" cy="2476500"/>
          </a:xfrm>
          <a:prstGeom prst="rect">
            <a:avLst/>
          </a:prstGeom>
          <a:noFill/>
          <a:ln>
            <a:noFill/>
          </a:ln>
        </p:spPr>
        <p:txBody>
          <a:bodyPr anchorCtr="0" anchor="ctr" bIns="228600" lIns="152400" spcFirstLastPara="1" rIns="152400" wrap="square" tIns="228600">
            <a:noAutofit/>
          </a:bodyPr>
          <a:lstStyle/>
          <a:p>
            <a:pPr indent="0" lvl="0" marL="0" marR="0" rtl="0" algn="l">
              <a:spcBef>
                <a:spcPts val="0"/>
              </a:spcBef>
              <a:spcAft>
                <a:spcPts val="0"/>
              </a:spcAft>
              <a:buClr>
                <a:srgbClr val="FFFFFF"/>
              </a:buClr>
              <a:buSzPts val="1000"/>
              <a:buFont typeface="Montserrat"/>
              <a:buNone/>
            </a:pPr>
            <a:r>
              <a:rPr b="1" lang="en" sz="1000">
                <a:solidFill>
                  <a:srgbClr val="FFFFFF"/>
                </a:solidFill>
                <a:latin typeface="Montserrat"/>
                <a:ea typeface="Montserrat"/>
                <a:cs typeface="Montserrat"/>
                <a:sym typeface="Montserrat"/>
              </a:rPr>
              <a:t>MODULE 10</a:t>
            </a:r>
            <a:endParaRPr/>
          </a:p>
          <a:p>
            <a:pPr indent="0" lvl="0" marL="0" marR="0" rtl="0" algn="l">
              <a:spcBef>
                <a:spcPts val="0"/>
              </a:spcBef>
              <a:spcAft>
                <a:spcPts val="0"/>
              </a:spcAft>
              <a:buClr>
                <a:srgbClr val="FFFFFF"/>
              </a:buClr>
              <a:buSzPts val="1600"/>
              <a:buFont typeface="Montserrat"/>
              <a:buNone/>
            </a:pPr>
            <a:r>
              <a:rPr b="1" lang="en" sz="1600">
                <a:solidFill>
                  <a:srgbClr val="FFFFFF"/>
                </a:solidFill>
                <a:latin typeface="Montserrat"/>
                <a:ea typeface="Montserrat"/>
                <a:cs typeface="Montserrat"/>
                <a:sym typeface="Montserrat"/>
              </a:rPr>
              <a:t>Verify SDK + Backend</a:t>
            </a:r>
            <a:endParaRPr/>
          </a:p>
        </p:txBody>
      </p:sp>
      <p:pic>
        <p:nvPicPr>
          <p:cNvPr id="557" name="Google Shape;557;p43"/>
          <p:cNvPicPr preferRelativeResize="0"/>
          <p:nvPr/>
        </p:nvPicPr>
        <p:blipFill rotWithShape="1">
          <a:blip r:embed="rId10">
            <a:alphaModFix/>
          </a:blip>
          <a:srcRect b="0" l="0" r="0" t="0"/>
          <a:stretch/>
        </p:blipFill>
        <p:spPr>
          <a:xfrm>
            <a:off x="6643688" y="2043113"/>
            <a:ext cx="1724100" cy="2486099"/>
          </a:xfrm>
          <a:prstGeom prst="rect">
            <a:avLst/>
          </a:prstGeom>
          <a:noFill/>
          <a:ln>
            <a:noFill/>
          </a:ln>
        </p:spPr>
      </p:pic>
      <p:sp>
        <p:nvSpPr>
          <p:cNvPr id="558" name="Google Shape;558;p43"/>
          <p:cNvSpPr/>
          <p:nvPr/>
        </p:nvSpPr>
        <p:spPr>
          <a:xfrm>
            <a:off x="6648450" y="2047875"/>
            <a:ext cx="1714500" cy="2476500"/>
          </a:xfrm>
          <a:prstGeom prst="rect">
            <a:avLst/>
          </a:prstGeom>
          <a:noFill/>
          <a:ln>
            <a:noFill/>
          </a:ln>
        </p:spPr>
        <p:txBody>
          <a:bodyPr anchorCtr="0" anchor="ctr" bIns="228600" lIns="152400" spcFirstLastPara="1" rIns="152400" wrap="square" tIns="228600">
            <a:noAutofit/>
          </a:bodyPr>
          <a:lstStyle/>
          <a:p>
            <a:pPr indent="0" lvl="0" marL="0" marR="0" rtl="0" algn="l">
              <a:spcBef>
                <a:spcPts val="0"/>
              </a:spcBef>
              <a:spcAft>
                <a:spcPts val="0"/>
              </a:spcAft>
              <a:buClr>
                <a:srgbClr val="F2680C"/>
              </a:buClr>
              <a:buSzPts val="1000"/>
              <a:buFont typeface="Montserrat"/>
              <a:buNone/>
            </a:pPr>
            <a:r>
              <a:rPr b="1" lang="en" sz="1000">
                <a:solidFill>
                  <a:srgbClr val="F2680C"/>
                </a:solidFill>
                <a:latin typeface="Montserrat"/>
                <a:ea typeface="Montserrat"/>
                <a:cs typeface="Montserrat"/>
                <a:sym typeface="Montserrat"/>
              </a:rPr>
              <a:t>OUTCOME</a:t>
            </a:r>
            <a:endParaRPr/>
          </a:p>
          <a:p>
            <a:pPr indent="0" lvl="0" marL="0" marR="0" rtl="0" algn="l">
              <a:spcBef>
                <a:spcPts val="0"/>
              </a:spcBef>
              <a:spcAft>
                <a:spcPts val="0"/>
              </a:spcAft>
              <a:buClr>
                <a:srgbClr val="000000"/>
              </a:buClr>
              <a:buSzPts val="1600"/>
              <a:buFont typeface="Montserrat"/>
              <a:buNone/>
            </a:pPr>
            <a:r>
              <a:rPr b="1" lang="en" sz="1600">
                <a:solidFill>
                  <a:srgbClr val="000000"/>
                </a:solidFill>
                <a:latin typeface="Montserrat"/>
                <a:ea typeface="Montserrat"/>
                <a:cs typeface="Montserrat"/>
                <a:sym typeface="Montserrat"/>
              </a:rPr>
              <a:t>Present · Validate · Trust</a:t>
            </a:r>
            <a:endParaRPr/>
          </a:p>
        </p:txBody>
      </p:sp>
      <p:sp>
        <p:nvSpPr>
          <p:cNvPr id="559" name="Google Shape;559;p43"/>
          <p:cNvSpPr/>
          <p:nvPr/>
        </p:nvSpPr>
        <p:spPr>
          <a:xfrm>
            <a:off x="762000" y="714375"/>
            <a:ext cx="7620000" cy="571500"/>
          </a:xfrm>
          <a:prstGeom prst="rect">
            <a:avLst/>
          </a:prstGeom>
          <a:solidFill>
            <a:srgbClr val="000000">
              <a:alpha val="0"/>
            </a:srgbClr>
          </a:solidFill>
          <a:ln>
            <a:noFill/>
          </a:ln>
          <a:effectLst>
            <a:outerShdw blurRad="57150" rotWithShape="0" algn="bl" dir="5400000" dist="19050">
              <a:srgbClr val="000000">
                <a:alpha val="50200"/>
              </a:srgbClr>
            </a:outerShdw>
          </a:effectLst>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Montserrat"/>
              <a:buNone/>
            </a:pPr>
            <a:r>
              <a:rPr b="1" i="1" lang="en" sz="3200">
                <a:solidFill>
                  <a:srgbClr val="FFFFFF"/>
                </a:solidFill>
                <a:latin typeface="Montserrat"/>
                <a:ea typeface="Montserrat"/>
                <a:cs typeface="Montserrat"/>
                <a:sym typeface="Montserrat"/>
              </a:rPr>
              <a:t>Verification with Inji</a:t>
            </a:r>
            <a:endParaRPr/>
          </a:p>
        </p:txBody>
      </p:sp>
      <p:sp>
        <p:nvSpPr>
          <p:cNvPr id="560" name="Google Shape;560;p43"/>
          <p:cNvSpPr/>
          <p:nvPr/>
        </p:nvSpPr>
        <p:spPr>
          <a:xfrm>
            <a:off x="762000" y="1381125"/>
            <a:ext cx="7620000" cy="285900"/>
          </a:xfrm>
          <a:prstGeom prst="rect">
            <a:avLst/>
          </a:prstGeom>
          <a:solidFill>
            <a:srgbClr val="000000">
              <a:alpha val="0"/>
            </a:srgbClr>
          </a:solidFill>
          <a:ln>
            <a:noFill/>
          </a:ln>
          <a:effectLst>
            <a:outerShdw blurRad="57150" rotWithShape="0" algn="bl" dir="5400000" dist="19050">
              <a:srgbClr val="000000">
                <a:alpha val="50200"/>
              </a:srgbClr>
            </a:outerShdw>
          </a:effectLst>
        </p:spPr>
        <p:txBody>
          <a:bodyPr anchorCtr="0" anchor="ctr" bIns="0" lIns="0" spcFirstLastPara="1" rIns="0" wrap="square" tIns="0">
            <a:noAutofit/>
          </a:bodyPr>
          <a:lstStyle/>
          <a:p>
            <a:pPr indent="0" lvl="0" marL="0" marR="0" rtl="0" algn="l">
              <a:spcBef>
                <a:spcPts val="0"/>
              </a:spcBef>
              <a:spcAft>
                <a:spcPts val="0"/>
              </a:spcAft>
              <a:buClr>
                <a:srgbClr val="F27D21"/>
              </a:buClr>
              <a:buSzPts val="1400"/>
              <a:buFont typeface="Montserrat"/>
              <a:buNone/>
            </a:pPr>
            <a:r>
              <a:rPr b="1" lang="en" sz="1400">
                <a:solidFill>
                  <a:srgbClr val="F27D21"/>
                </a:solidFill>
                <a:latin typeface="Montserrat"/>
                <a:ea typeface="Montserrat"/>
                <a:cs typeface="Montserrat"/>
                <a:sym typeface="Montserrat"/>
              </a:rPr>
              <a:t>Day 3 · 1 hour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pic>
        <p:nvPicPr>
          <p:cNvPr id="566" name="Google Shape;566;p44"/>
          <p:cNvPicPr preferRelativeResize="0"/>
          <p:nvPr/>
        </p:nvPicPr>
        <p:blipFill rotWithShape="1">
          <a:blip r:embed="rId3">
            <a:alphaModFix/>
          </a:blip>
          <a:srcRect b="0" l="0" r="0" t="0"/>
          <a:stretch/>
        </p:blipFill>
        <p:spPr>
          <a:xfrm>
            <a:off x="0" y="0"/>
            <a:ext cx="9147362" cy="5144475"/>
          </a:xfrm>
          <a:prstGeom prst="rect">
            <a:avLst/>
          </a:prstGeom>
          <a:noFill/>
          <a:ln>
            <a:noFill/>
          </a:ln>
        </p:spPr>
      </p:pic>
      <p:pic>
        <p:nvPicPr>
          <p:cNvPr id="567" name="Google Shape;567;p44"/>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sp>
        <p:nvSpPr>
          <p:cNvPr id="568" name="Google Shape;568;p44"/>
          <p:cNvSpPr/>
          <p:nvPr/>
        </p:nvSpPr>
        <p:spPr>
          <a:xfrm>
            <a:off x="571500" y="381000"/>
            <a:ext cx="800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3 · VERIFICATION</a:t>
            </a:r>
            <a:endParaRPr/>
          </a:p>
        </p:txBody>
      </p:sp>
      <p:grpSp>
        <p:nvGrpSpPr>
          <p:cNvPr id="569" name="Google Shape;569;p44"/>
          <p:cNvGrpSpPr/>
          <p:nvPr/>
        </p:nvGrpSpPr>
        <p:grpSpPr>
          <a:xfrm>
            <a:off x="2038350" y="2714625"/>
            <a:ext cx="5052975" cy="95400"/>
            <a:chOff x="2038350" y="2714625"/>
            <a:chExt cx="5052975" cy="95400"/>
          </a:xfrm>
        </p:grpSpPr>
        <p:pic>
          <p:nvPicPr>
            <p:cNvPr id="570" name="Google Shape;570;p44"/>
            <p:cNvPicPr preferRelativeResize="0"/>
            <p:nvPr/>
          </p:nvPicPr>
          <p:blipFill rotWithShape="1">
            <a:blip r:embed="rId5">
              <a:alphaModFix/>
            </a:blip>
            <a:srcRect b="0" l="0" r="0" t="0"/>
            <a:stretch/>
          </p:blipFill>
          <p:spPr>
            <a:xfrm>
              <a:off x="2038350" y="2714625"/>
              <a:ext cx="109500" cy="95400"/>
            </a:xfrm>
            <a:prstGeom prst="rect">
              <a:avLst/>
            </a:prstGeom>
            <a:noFill/>
            <a:ln>
              <a:noFill/>
            </a:ln>
          </p:spPr>
        </p:pic>
        <p:pic>
          <p:nvPicPr>
            <p:cNvPr id="571" name="Google Shape;571;p44"/>
            <p:cNvPicPr preferRelativeResize="0"/>
            <p:nvPr/>
          </p:nvPicPr>
          <p:blipFill rotWithShape="1">
            <a:blip r:embed="rId5">
              <a:alphaModFix/>
            </a:blip>
            <a:srcRect b="0" l="0" r="0" t="0"/>
            <a:stretch/>
          </p:blipFill>
          <p:spPr>
            <a:xfrm>
              <a:off x="3686175" y="2714625"/>
              <a:ext cx="109500" cy="95400"/>
            </a:xfrm>
            <a:prstGeom prst="rect">
              <a:avLst/>
            </a:prstGeom>
            <a:noFill/>
            <a:ln>
              <a:noFill/>
            </a:ln>
          </p:spPr>
        </p:pic>
        <p:pic>
          <p:nvPicPr>
            <p:cNvPr id="572" name="Google Shape;572;p44"/>
            <p:cNvPicPr preferRelativeResize="0"/>
            <p:nvPr/>
          </p:nvPicPr>
          <p:blipFill rotWithShape="1">
            <a:blip r:embed="rId5">
              <a:alphaModFix/>
            </a:blip>
            <a:srcRect b="0" l="0" r="0" t="0"/>
            <a:stretch/>
          </p:blipFill>
          <p:spPr>
            <a:xfrm>
              <a:off x="5334000" y="2714625"/>
              <a:ext cx="109500" cy="95400"/>
            </a:xfrm>
            <a:prstGeom prst="rect">
              <a:avLst/>
            </a:prstGeom>
            <a:noFill/>
            <a:ln>
              <a:noFill/>
            </a:ln>
          </p:spPr>
        </p:pic>
        <p:pic>
          <p:nvPicPr>
            <p:cNvPr id="573" name="Google Shape;573;p44"/>
            <p:cNvPicPr preferRelativeResize="0"/>
            <p:nvPr/>
          </p:nvPicPr>
          <p:blipFill rotWithShape="1">
            <a:blip r:embed="rId5">
              <a:alphaModFix/>
            </a:blip>
            <a:srcRect b="0" l="0" r="0" t="0"/>
            <a:stretch/>
          </p:blipFill>
          <p:spPr>
            <a:xfrm>
              <a:off x="6981825" y="2714625"/>
              <a:ext cx="109500" cy="95400"/>
            </a:xfrm>
            <a:prstGeom prst="rect">
              <a:avLst/>
            </a:prstGeom>
            <a:noFill/>
            <a:ln>
              <a:noFill/>
            </a:ln>
          </p:spPr>
        </p:pic>
      </p:grpSp>
      <p:pic>
        <p:nvPicPr>
          <p:cNvPr id="574" name="Google Shape;574;p44"/>
          <p:cNvPicPr preferRelativeResize="0"/>
          <p:nvPr/>
        </p:nvPicPr>
        <p:blipFill rotWithShape="1">
          <a:blip r:embed="rId6">
            <a:alphaModFix/>
          </a:blip>
          <a:srcRect b="23807" l="19146" r="18491" t="22148"/>
          <a:stretch/>
        </p:blipFill>
        <p:spPr>
          <a:xfrm>
            <a:off x="8058150" y="333375"/>
            <a:ext cx="611102" cy="334500"/>
          </a:xfrm>
          <a:prstGeom prst="rect">
            <a:avLst/>
          </a:prstGeom>
          <a:noFill/>
          <a:ln>
            <a:noFill/>
          </a:ln>
        </p:spPr>
      </p:pic>
      <p:sp>
        <p:nvSpPr>
          <p:cNvPr id="575" name="Google Shape;575;p44"/>
          <p:cNvSpPr/>
          <p:nvPr/>
        </p:nvSpPr>
        <p:spPr>
          <a:xfrm>
            <a:off x="571500" y="666750"/>
            <a:ext cx="8001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1" lang="en" sz="2960">
                <a:solidFill>
                  <a:srgbClr val="FFFFFF"/>
                </a:solidFill>
                <a:latin typeface="Montserrat"/>
                <a:ea typeface="Montserrat"/>
                <a:cs typeface="Montserrat"/>
                <a:sym typeface="Montserrat"/>
              </a:rPr>
              <a:t>Verification journey</a:t>
            </a:r>
            <a:endParaRPr b="1" i="1" sz="2960">
              <a:solidFill>
                <a:srgbClr val="FFFFFF"/>
              </a:solidFill>
              <a:latin typeface="Montserrat"/>
              <a:ea typeface="Montserrat"/>
              <a:cs typeface="Montserrat"/>
              <a:sym typeface="Montserrat"/>
            </a:endParaRPr>
          </a:p>
        </p:txBody>
      </p:sp>
      <p:grpSp>
        <p:nvGrpSpPr>
          <p:cNvPr id="576" name="Google Shape;576;p44"/>
          <p:cNvGrpSpPr/>
          <p:nvPr/>
        </p:nvGrpSpPr>
        <p:grpSpPr>
          <a:xfrm>
            <a:off x="571500" y="1524000"/>
            <a:ext cx="1409700" cy="2571900"/>
            <a:chOff x="0" y="0"/>
            <a:chExt cx="1409700" cy="2571900"/>
          </a:xfrm>
        </p:grpSpPr>
        <p:sp>
          <p:nvSpPr>
            <p:cNvPr id="577" name="Google Shape;577;p44"/>
            <p:cNvSpPr/>
            <p:nvPr/>
          </p:nvSpPr>
          <p:spPr>
            <a:xfrm>
              <a:off x="0" y="0"/>
              <a:ext cx="1409700" cy="2571900"/>
            </a:xfrm>
            <a:prstGeom prst="roundRect">
              <a:avLst>
                <a:gd fmla="val 10810" name="adj"/>
              </a:avLst>
            </a:prstGeom>
            <a:solidFill>
              <a:srgbClr val="3D2585">
                <a:alpha val="9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8" name="Google Shape;578;p44"/>
            <p:cNvSpPr txBox="1"/>
            <p:nvPr/>
          </p:nvSpPr>
          <p:spPr>
            <a:xfrm>
              <a:off x="0" y="0"/>
              <a:ext cx="1409700" cy="2571900"/>
            </a:xfrm>
            <a:prstGeom prst="rect">
              <a:avLst/>
            </a:prstGeom>
            <a:solidFill>
              <a:srgbClr val="000000">
                <a:alpha val="0"/>
              </a:srgbClr>
            </a:solidFill>
            <a:ln>
              <a:noFill/>
            </a:ln>
          </p:spPr>
          <p:txBody>
            <a:bodyPr anchorCtr="0" anchor="t" bIns="228600" lIns="152400" spcFirstLastPara="1" rIns="152400" wrap="square" tIns="228600">
              <a:noAutofit/>
            </a:bodyPr>
            <a:lstStyle/>
            <a:p>
              <a:pPr indent="0" lvl="0" marL="0" rtl="0" algn="l">
                <a:spcBef>
                  <a:spcPts val="0"/>
                </a:spcBef>
                <a:spcAft>
                  <a:spcPts val="0"/>
                </a:spcAft>
                <a:buNone/>
              </a:pPr>
              <a:r>
                <a:rPr b="1" lang="en" sz="850">
                  <a:solidFill>
                    <a:srgbClr val="F1752F"/>
                  </a:solidFill>
                  <a:latin typeface="Montserrat"/>
                  <a:ea typeface="Montserrat"/>
                  <a:cs typeface="Montserrat"/>
                  <a:sym typeface="Montserrat"/>
                </a:rPr>
                <a:t>01 / REQUEST</a:t>
              </a:r>
              <a:endParaRPr b="1" sz="850">
                <a:solidFill>
                  <a:srgbClr val="F1752F"/>
                </a:solidFill>
                <a:latin typeface="Montserrat"/>
                <a:ea typeface="Montserrat"/>
                <a:cs typeface="Montserrat"/>
                <a:sym typeface="Montserrat"/>
              </a:endParaRPr>
            </a:p>
            <a:p>
              <a:pPr indent="0" lvl="0" marL="0" rtl="0" algn="l">
                <a:spcBef>
                  <a:spcPts val="1200"/>
                </a:spcBef>
                <a:spcAft>
                  <a:spcPts val="0"/>
                </a:spcAft>
                <a:buNone/>
              </a:pPr>
              <a:r>
                <a:rPr b="1" lang="en" sz="1600">
                  <a:solidFill>
                    <a:srgbClr val="FFFFFF"/>
                  </a:solidFill>
                  <a:latin typeface="Montserrat"/>
                  <a:ea typeface="Montserrat"/>
                  <a:cs typeface="Montserrat"/>
                  <a:sym typeface="Montserrat"/>
                </a:rPr>
                <a:t>Verifier</a:t>
              </a:r>
              <a:endParaRPr b="1" sz="1600">
                <a:solidFill>
                  <a:srgbClr val="FFFFFF"/>
                </a:solidFill>
                <a:latin typeface="Montserrat"/>
                <a:ea typeface="Montserrat"/>
                <a:cs typeface="Montserrat"/>
                <a:sym typeface="Montserrat"/>
              </a:endParaRPr>
            </a:p>
            <a:p>
              <a:pPr indent="0" lvl="0" marL="0" rtl="0" algn="l">
                <a:spcBef>
                  <a:spcPts val="300"/>
                </a:spcBef>
                <a:spcAft>
                  <a:spcPts val="0"/>
                </a:spcAft>
                <a:buNone/>
              </a:pPr>
              <a:r>
                <a:rPr b="0" lang="en" sz="1600">
                  <a:solidFill>
                    <a:srgbClr val="FFFFFF"/>
                  </a:solidFill>
                  <a:latin typeface="Montserrat"/>
                  <a:ea typeface="Montserrat"/>
                  <a:cs typeface="Montserrat"/>
                  <a:sym typeface="Montserrat"/>
                </a:rPr>
                <a:t>asks</a:t>
              </a:r>
              <a:endParaRPr b="0" sz="1600">
                <a:solidFill>
                  <a:srgbClr val="FFFFFF"/>
                </a:solidFill>
                <a:latin typeface="Montserrat"/>
                <a:ea typeface="Montserrat"/>
                <a:cs typeface="Montserrat"/>
                <a:sym typeface="Montserrat"/>
              </a:endParaRPr>
            </a:p>
            <a:p>
              <a:pPr indent="0" lvl="0" marL="0" rtl="0" algn="l">
                <a:spcBef>
                  <a:spcPts val="1200"/>
                </a:spcBef>
                <a:spcAft>
                  <a:spcPts val="0"/>
                </a:spcAft>
                <a:buNone/>
              </a:pPr>
              <a:r>
                <a:rPr b="0" lang="en" sz="1100">
                  <a:solidFill>
                    <a:srgbClr val="C7D0E8"/>
                  </a:solidFill>
                  <a:latin typeface="Montserrat"/>
                  <a:ea typeface="Montserrat"/>
                  <a:cs typeface="Montserrat"/>
                  <a:sym typeface="Montserrat"/>
                </a:rPr>
                <a:t>for </a:t>
              </a:r>
              <a:r>
                <a:rPr lang="en" sz="1100">
                  <a:solidFill>
                    <a:srgbClr val="C7D0E8"/>
                  </a:solidFill>
                  <a:latin typeface="Montserrat"/>
                  <a:ea typeface="Montserrat"/>
                  <a:cs typeface="Montserrat"/>
                  <a:sym typeface="Montserrat"/>
                </a:rPr>
                <a:t>information</a:t>
              </a:r>
              <a:endParaRPr b="0" sz="1100">
                <a:solidFill>
                  <a:srgbClr val="C7D0E8"/>
                </a:solidFill>
                <a:latin typeface="Montserrat"/>
                <a:ea typeface="Montserrat"/>
                <a:cs typeface="Montserrat"/>
                <a:sym typeface="Montserrat"/>
              </a:endParaRPr>
            </a:p>
          </p:txBody>
        </p:sp>
      </p:grpSp>
      <p:grpSp>
        <p:nvGrpSpPr>
          <p:cNvPr id="579" name="Google Shape;579;p44"/>
          <p:cNvGrpSpPr/>
          <p:nvPr/>
        </p:nvGrpSpPr>
        <p:grpSpPr>
          <a:xfrm>
            <a:off x="2219325" y="1524000"/>
            <a:ext cx="1409700" cy="2571900"/>
            <a:chOff x="0" y="0"/>
            <a:chExt cx="1409700" cy="2571900"/>
          </a:xfrm>
        </p:grpSpPr>
        <p:sp>
          <p:nvSpPr>
            <p:cNvPr id="580" name="Google Shape;580;p44"/>
            <p:cNvSpPr/>
            <p:nvPr/>
          </p:nvSpPr>
          <p:spPr>
            <a:xfrm>
              <a:off x="0" y="0"/>
              <a:ext cx="1409700" cy="2571900"/>
            </a:xfrm>
            <a:prstGeom prst="roundRect">
              <a:avLst>
                <a:gd fmla="val 10810" name="adj"/>
              </a:avLst>
            </a:prstGeom>
            <a:solidFill>
              <a:srgbClr val="8C2D69">
                <a:alpha val="9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p44"/>
            <p:cNvSpPr txBox="1"/>
            <p:nvPr/>
          </p:nvSpPr>
          <p:spPr>
            <a:xfrm>
              <a:off x="0" y="0"/>
              <a:ext cx="1409700" cy="2571900"/>
            </a:xfrm>
            <a:prstGeom prst="rect">
              <a:avLst/>
            </a:prstGeom>
            <a:solidFill>
              <a:srgbClr val="000000">
                <a:alpha val="0"/>
              </a:srgbClr>
            </a:solidFill>
            <a:ln>
              <a:noFill/>
            </a:ln>
          </p:spPr>
          <p:txBody>
            <a:bodyPr anchorCtr="0" anchor="t" bIns="228600" lIns="152400" spcFirstLastPara="1" rIns="152400" wrap="square" tIns="228600">
              <a:noAutofit/>
            </a:bodyPr>
            <a:lstStyle/>
            <a:p>
              <a:pPr indent="0" lvl="0" marL="0" rtl="0" algn="l">
                <a:spcBef>
                  <a:spcPts val="0"/>
                </a:spcBef>
                <a:spcAft>
                  <a:spcPts val="0"/>
                </a:spcAft>
                <a:buNone/>
              </a:pPr>
              <a:r>
                <a:rPr b="1" lang="en" sz="850">
                  <a:solidFill>
                    <a:srgbClr val="F1752F"/>
                  </a:solidFill>
                  <a:latin typeface="Montserrat"/>
                  <a:ea typeface="Montserrat"/>
                  <a:cs typeface="Montserrat"/>
                  <a:sym typeface="Montserrat"/>
                </a:rPr>
                <a:t>02 / CONSENT</a:t>
              </a:r>
              <a:endParaRPr b="1" sz="850">
                <a:solidFill>
                  <a:srgbClr val="F1752F"/>
                </a:solidFill>
                <a:latin typeface="Montserrat"/>
                <a:ea typeface="Montserrat"/>
                <a:cs typeface="Montserrat"/>
                <a:sym typeface="Montserrat"/>
              </a:endParaRPr>
            </a:p>
            <a:p>
              <a:pPr indent="0" lvl="0" marL="0" rtl="0" algn="l">
                <a:spcBef>
                  <a:spcPts val="1200"/>
                </a:spcBef>
                <a:spcAft>
                  <a:spcPts val="0"/>
                </a:spcAft>
                <a:buNone/>
              </a:pPr>
              <a:r>
                <a:rPr b="1" lang="en" sz="1600">
                  <a:solidFill>
                    <a:srgbClr val="FFFFFF"/>
                  </a:solidFill>
                  <a:latin typeface="Montserrat"/>
                  <a:ea typeface="Montserrat"/>
                  <a:cs typeface="Montserrat"/>
                  <a:sym typeface="Montserrat"/>
                </a:rPr>
                <a:t>Wallet</a:t>
              </a:r>
              <a:endParaRPr b="1" sz="1600">
                <a:solidFill>
                  <a:srgbClr val="FFFFFF"/>
                </a:solidFill>
                <a:latin typeface="Montserrat"/>
                <a:ea typeface="Montserrat"/>
                <a:cs typeface="Montserrat"/>
                <a:sym typeface="Montserrat"/>
              </a:endParaRPr>
            </a:p>
            <a:p>
              <a:pPr indent="0" lvl="0" marL="0" rtl="0" algn="l">
                <a:spcBef>
                  <a:spcPts val="300"/>
                </a:spcBef>
                <a:spcAft>
                  <a:spcPts val="0"/>
                </a:spcAft>
                <a:buNone/>
              </a:pPr>
              <a:r>
                <a:rPr b="0" lang="en" sz="1600">
                  <a:solidFill>
                    <a:srgbClr val="FFFFFF"/>
                  </a:solidFill>
                  <a:latin typeface="Montserrat"/>
                  <a:ea typeface="Montserrat"/>
                  <a:cs typeface="Montserrat"/>
                  <a:sym typeface="Montserrat"/>
                </a:rPr>
                <a:t>matches</a:t>
              </a:r>
              <a:endParaRPr b="0" sz="1600">
                <a:solidFill>
                  <a:srgbClr val="FFFFFF"/>
                </a:solidFill>
                <a:latin typeface="Montserrat"/>
                <a:ea typeface="Montserrat"/>
                <a:cs typeface="Montserrat"/>
                <a:sym typeface="Montserrat"/>
              </a:endParaRPr>
            </a:p>
            <a:p>
              <a:pPr indent="0" lvl="0" marL="0" rtl="0" algn="l">
                <a:spcBef>
                  <a:spcPts val="1200"/>
                </a:spcBef>
                <a:spcAft>
                  <a:spcPts val="0"/>
                </a:spcAft>
                <a:buNone/>
              </a:pPr>
              <a:r>
                <a:rPr b="0" lang="en" sz="1100">
                  <a:solidFill>
                    <a:srgbClr val="C7D0E8"/>
                  </a:solidFill>
                  <a:latin typeface="Montserrat"/>
                  <a:ea typeface="Montserrat"/>
                  <a:cs typeface="Montserrat"/>
                  <a:sym typeface="Montserrat"/>
                </a:rPr>
                <a:t>and explains</a:t>
              </a:r>
              <a:endParaRPr b="0" sz="1100">
                <a:solidFill>
                  <a:srgbClr val="C7D0E8"/>
                </a:solidFill>
                <a:latin typeface="Montserrat"/>
                <a:ea typeface="Montserrat"/>
                <a:cs typeface="Montserrat"/>
                <a:sym typeface="Montserrat"/>
              </a:endParaRPr>
            </a:p>
          </p:txBody>
        </p:sp>
      </p:grpSp>
      <p:grpSp>
        <p:nvGrpSpPr>
          <p:cNvPr id="582" name="Google Shape;582;p44"/>
          <p:cNvGrpSpPr/>
          <p:nvPr/>
        </p:nvGrpSpPr>
        <p:grpSpPr>
          <a:xfrm>
            <a:off x="3867150" y="1524000"/>
            <a:ext cx="1409700" cy="2571900"/>
            <a:chOff x="0" y="0"/>
            <a:chExt cx="1409700" cy="2571900"/>
          </a:xfrm>
        </p:grpSpPr>
        <p:sp>
          <p:nvSpPr>
            <p:cNvPr id="583" name="Google Shape;583;p44"/>
            <p:cNvSpPr/>
            <p:nvPr/>
          </p:nvSpPr>
          <p:spPr>
            <a:xfrm>
              <a:off x="0" y="0"/>
              <a:ext cx="1409700" cy="2571900"/>
            </a:xfrm>
            <a:prstGeom prst="roundRect">
              <a:avLst>
                <a:gd fmla="val 10810" name="adj"/>
              </a:avLst>
            </a:prstGeom>
            <a:solidFill>
              <a:srgbClr val="6B71C1">
                <a:alpha val="9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4" name="Google Shape;584;p44"/>
            <p:cNvSpPr txBox="1"/>
            <p:nvPr/>
          </p:nvSpPr>
          <p:spPr>
            <a:xfrm>
              <a:off x="0" y="0"/>
              <a:ext cx="1409700" cy="2571900"/>
            </a:xfrm>
            <a:prstGeom prst="rect">
              <a:avLst/>
            </a:prstGeom>
            <a:solidFill>
              <a:srgbClr val="000000">
                <a:alpha val="0"/>
              </a:srgbClr>
            </a:solidFill>
            <a:ln>
              <a:noFill/>
            </a:ln>
          </p:spPr>
          <p:txBody>
            <a:bodyPr anchorCtr="0" anchor="t" bIns="228600" lIns="152400" spcFirstLastPara="1" rIns="152400" wrap="square" tIns="228600">
              <a:noAutofit/>
            </a:bodyPr>
            <a:lstStyle/>
            <a:p>
              <a:pPr indent="0" lvl="0" marL="0" rtl="0" algn="l">
                <a:spcBef>
                  <a:spcPts val="0"/>
                </a:spcBef>
                <a:spcAft>
                  <a:spcPts val="0"/>
                </a:spcAft>
                <a:buNone/>
              </a:pPr>
              <a:r>
                <a:rPr b="1" lang="en" sz="850">
                  <a:solidFill>
                    <a:srgbClr val="F1752F"/>
                  </a:solidFill>
                  <a:latin typeface="Montserrat"/>
                  <a:ea typeface="Montserrat"/>
                  <a:cs typeface="Montserrat"/>
                  <a:sym typeface="Montserrat"/>
                </a:rPr>
                <a:t>03 / PRESENT</a:t>
              </a:r>
              <a:endParaRPr b="1" sz="850">
                <a:solidFill>
                  <a:srgbClr val="F1752F"/>
                </a:solidFill>
                <a:latin typeface="Montserrat"/>
                <a:ea typeface="Montserrat"/>
                <a:cs typeface="Montserrat"/>
                <a:sym typeface="Montserrat"/>
              </a:endParaRPr>
            </a:p>
            <a:p>
              <a:pPr indent="0" lvl="0" marL="0" rtl="0" algn="l">
                <a:spcBef>
                  <a:spcPts val="1200"/>
                </a:spcBef>
                <a:spcAft>
                  <a:spcPts val="0"/>
                </a:spcAft>
                <a:buNone/>
              </a:pPr>
              <a:r>
                <a:rPr b="1" lang="en" sz="1600">
                  <a:solidFill>
                    <a:srgbClr val="FFFFFF"/>
                  </a:solidFill>
                  <a:latin typeface="Montserrat"/>
                  <a:ea typeface="Montserrat"/>
                  <a:cs typeface="Montserrat"/>
                  <a:sym typeface="Montserrat"/>
                </a:rPr>
                <a:t>Holder</a:t>
              </a:r>
              <a:endParaRPr b="1" sz="1600">
                <a:solidFill>
                  <a:srgbClr val="FFFFFF"/>
                </a:solidFill>
                <a:latin typeface="Montserrat"/>
                <a:ea typeface="Montserrat"/>
                <a:cs typeface="Montserrat"/>
                <a:sym typeface="Montserrat"/>
              </a:endParaRPr>
            </a:p>
            <a:p>
              <a:pPr indent="0" lvl="0" marL="0" rtl="0" algn="l">
                <a:spcBef>
                  <a:spcPts val="300"/>
                </a:spcBef>
                <a:spcAft>
                  <a:spcPts val="0"/>
                </a:spcAft>
                <a:buNone/>
              </a:pPr>
              <a:r>
                <a:rPr b="0" lang="en" sz="1600">
                  <a:solidFill>
                    <a:srgbClr val="FFFFFF"/>
                  </a:solidFill>
                  <a:latin typeface="Montserrat"/>
                  <a:ea typeface="Montserrat"/>
                  <a:cs typeface="Montserrat"/>
                  <a:sym typeface="Montserrat"/>
                </a:rPr>
                <a:t>signs</a:t>
              </a:r>
              <a:endParaRPr b="0" sz="1600">
                <a:solidFill>
                  <a:srgbClr val="FFFFFF"/>
                </a:solidFill>
                <a:latin typeface="Montserrat"/>
                <a:ea typeface="Montserrat"/>
                <a:cs typeface="Montserrat"/>
                <a:sym typeface="Montserrat"/>
              </a:endParaRPr>
            </a:p>
            <a:p>
              <a:pPr indent="0" lvl="0" marL="0" rtl="0" algn="l">
                <a:spcBef>
                  <a:spcPts val="1200"/>
                </a:spcBef>
                <a:spcAft>
                  <a:spcPts val="0"/>
                </a:spcAft>
                <a:buNone/>
              </a:pPr>
              <a:r>
                <a:rPr b="0" lang="en" sz="1100">
                  <a:solidFill>
                    <a:srgbClr val="C7D0E8"/>
                  </a:solidFill>
                  <a:latin typeface="Montserrat"/>
                  <a:ea typeface="Montserrat"/>
                  <a:cs typeface="Montserrat"/>
                  <a:sym typeface="Montserrat"/>
                </a:rPr>
                <a:t>a fresh VP</a:t>
              </a:r>
              <a:endParaRPr b="0" sz="1100">
                <a:solidFill>
                  <a:srgbClr val="C7D0E8"/>
                </a:solidFill>
                <a:latin typeface="Montserrat"/>
                <a:ea typeface="Montserrat"/>
                <a:cs typeface="Montserrat"/>
                <a:sym typeface="Montserrat"/>
              </a:endParaRPr>
            </a:p>
          </p:txBody>
        </p:sp>
      </p:grpSp>
      <p:grpSp>
        <p:nvGrpSpPr>
          <p:cNvPr id="585" name="Google Shape;585;p44"/>
          <p:cNvGrpSpPr/>
          <p:nvPr/>
        </p:nvGrpSpPr>
        <p:grpSpPr>
          <a:xfrm>
            <a:off x="5514975" y="1524000"/>
            <a:ext cx="1409700" cy="2571900"/>
            <a:chOff x="0" y="0"/>
            <a:chExt cx="1409700" cy="2571900"/>
          </a:xfrm>
        </p:grpSpPr>
        <p:sp>
          <p:nvSpPr>
            <p:cNvPr id="586" name="Google Shape;586;p44"/>
            <p:cNvSpPr/>
            <p:nvPr/>
          </p:nvSpPr>
          <p:spPr>
            <a:xfrm>
              <a:off x="0" y="0"/>
              <a:ext cx="1409700" cy="2571900"/>
            </a:xfrm>
            <a:prstGeom prst="roundRect">
              <a:avLst>
                <a:gd fmla="val 10810" name="adj"/>
              </a:avLst>
            </a:prstGeom>
            <a:solidFill>
              <a:srgbClr val="E5E8E2">
                <a:alpha val="9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7" name="Google Shape;587;p44"/>
            <p:cNvSpPr txBox="1"/>
            <p:nvPr/>
          </p:nvSpPr>
          <p:spPr>
            <a:xfrm>
              <a:off x="0" y="0"/>
              <a:ext cx="1409700" cy="2571900"/>
            </a:xfrm>
            <a:prstGeom prst="rect">
              <a:avLst/>
            </a:prstGeom>
            <a:solidFill>
              <a:srgbClr val="000000">
                <a:alpha val="0"/>
              </a:srgbClr>
            </a:solidFill>
            <a:ln>
              <a:noFill/>
            </a:ln>
          </p:spPr>
          <p:txBody>
            <a:bodyPr anchorCtr="0" anchor="t" bIns="228600" lIns="152400" spcFirstLastPara="1" rIns="152400" wrap="square" tIns="228600">
              <a:noAutofit/>
            </a:bodyPr>
            <a:lstStyle/>
            <a:p>
              <a:pPr indent="0" lvl="0" marL="0" rtl="0" algn="l">
                <a:spcBef>
                  <a:spcPts val="0"/>
                </a:spcBef>
                <a:spcAft>
                  <a:spcPts val="0"/>
                </a:spcAft>
                <a:buNone/>
              </a:pPr>
              <a:r>
                <a:rPr b="1" lang="en" sz="850">
                  <a:solidFill>
                    <a:srgbClr val="F1752F"/>
                  </a:solidFill>
                  <a:latin typeface="Montserrat"/>
                  <a:ea typeface="Montserrat"/>
                  <a:cs typeface="Montserrat"/>
                  <a:sym typeface="Montserrat"/>
                </a:rPr>
                <a:t>04 / VALIDATE</a:t>
              </a:r>
              <a:endParaRPr b="1" sz="850">
                <a:solidFill>
                  <a:srgbClr val="F1752F"/>
                </a:solidFill>
                <a:latin typeface="Montserrat"/>
                <a:ea typeface="Montserrat"/>
                <a:cs typeface="Montserrat"/>
                <a:sym typeface="Montserrat"/>
              </a:endParaRPr>
            </a:p>
            <a:p>
              <a:pPr indent="0" lvl="0" marL="0" rtl="0" algn="l">
                <a:spcBef>
                  <a:spcPts val="1200"/>
                </a:spcBef>
                <a:spcAft>
                  <a:spcPts val="0"/>
                </a:spcAft>
                <a:buNone/>
              </a:pPr>
              <a:r>
                <a:rPr b="1" lang="en" sz="1600">
                  <a:solidFill>
                    <a:srgbClr val="1D1E3A"/>
                  </a:solidFill>
                  <a:latin typeface="Montserrat"/>
                  <a:ea typeface="Montserrat"/>
                  <a:cs typeface="Montserrat"/>
                  <a:sym typeface="Montserrat"/>
                </a:rPr>
                <a:t>Proof &amp;</a:t>
              </a:r>
              <a:endParaRPr b="1" sz="1600">
                <a:solidFill>
                  <a:srgbClr val="1D1E3A"/>
                </a:solidFill>
                <a:latin typeface="Montserrat"/>
                <a:ea typeface="Montserrat"/>
                <a:cs typeface="Montserrat"/>
                <a:sym typeface="Montserrat"/>
              </a:endParaRPr>
            </a:p>
            <a:p>
              <a:pPr indent="0" lvl="0" marL="0" rtl="0" algn="l">
                <a:spcBef>
                  <a:spcPts val="300"/>
                </a:spcBef>
                <a:spcAft>
                  <a:spcPts val="0"/>
                </a:spcAft>
                <a:buNone/>
              </a:pPr>
              <a:r>
                <a:rPr b="0" lang="en" sz="1600">
                  <a:solidFill>
                    <a:srgbClr val="1D1E3A"/>
                  </a:solidFill>
                  <a:latin typeface="Montserrat"/>
                  <a:ea typeface="Montserrat"/>
                  <a:cs typeface="Montserrat"/>
                  <a:sym typeface="Montserrat"/>
                </a:rPr>
                <a:t>expiry</a:t>
              </a:r>
              <a:endParaRPr b="0" sz="1600">
                <a:solidFill>
                  <a:srgbClr val="1D1E3A"/>
                </a:solidFill>
                <a:latin typeface="Montserrat"/>
                <a:ea typeface="Montserrat"/>
                <a:cs typeface="Montserrat"/>
                <a:sym typeface="Montserrat"/>
              </a:endParaRPr>
            </a:p>
            <a:p>
              <a:pPr indent="0" lvl="0" marL="0" rtl="0" algn="l">
                <a:spcBef>
                  <a:spcPts val="1200"/>
                </a:spcBef>
                <a:spcAft>
                  <a:spcPts val="0"/>
                </a:spcAft>
                <a:buNone/>
              </a:pPr>
              <a:r>
                <a:rPr lang="en" sz="1100">
                  <a:solidFill>
                    <a:srgbClr val="5D5E7A"/>
                  </a:solidFill>
                  <a:latin typeface="Montserrat"/>
                  <a:ea typeface="Montserrat"/>
                  <a:cs typeface="Montserrat"/>
                  <a:sym typeface="Montserrat"/>
                </a:rPr>
                <a:t>check </a:t>
              </a:r>
              <a:r>
                <a:rPr b="0" lang="en" sz="1100">
                  <a:solidFill>
                    <a:srgbClr val="5D5E7A"/>
                  </a:solidFill>
                  <a:latin typeface="Montserrat"/>
                  <a:ea typeface="Montserrat"/>
                  <a:cs typeface="Montserrat"/>
                  <a:sym typeface="Montserrat"/>
                </a:rPr>
                <a:t>status &amp; binding</a:t>
              </a:r>
              <a:endParaRPr b="0" sz="1100">
                <a:solidFill>
                  <a:srgbClr val="5D5E7A"/>
                </a:solidFill>
                <a:latin typeface="Montserrat"/>
                <a:ea typeface="Montserrat"/>
                <a:cs typeface="Montserrat"/>
                <a:sym typeface="Montserrat"/>
              </a:endParaRPr>
            </a:p>
          </p:txBody>
        </p:sp>
      </p:grpSp>
      <p:grpSp>
        <p:nvGrpSpPr>
          <p:cNvPr id="588" name="Google Shape;588;p44"/>
          <p:cNvGrpSpPr/>
          <p:nvPr/>
        </p:nvGrpSpPr>
        <p:grpSpPr>
          <a:xfrm>
            <a:off x="7162800" y="1524000"/>
            <a:ext cx="1409700" cy="2571900"/>
            <a:chOff x="0" y="0"/>
            <a:chExt cx="1409700" cy="2571900"/>
          </a:xfrm>
        </p:grpSpPr>
        <p:sp>
          <p:nvSpPr>
            <p:cNvPr id="589" name="Google Shape;589;p44"/>
            <p:cNvSpPr/>
            <p:nvPr/>
          </p:nvSpPr>
          <p:spPr>
            <a:xfrm>
              <a:off x="0" y="0"/>
              <a:ext cx="1409700" cy="2571900"/>
            </a:xfrm>
            <a:prstGeom prst="roundRect">
              <a:avLst>
                <a:gd fmla="val 10810" name="adj"/>
              </a:avLst>
            </a:prstGeom>
            <a:solidFill>
              <a:srgbClr val="3D2585">
                <a:alpha val="9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0" name="Google Shape;590;p44"/>
            <p:cNvSpPr txBox="1"/>
            <p:nvPr/>
          </p:nvSpPr>
          <p:spPr>
            <a:xfrm>
              <a:off x="0" y="0"/>
              <a:ext cx="1409700" cy="2571900"/>
            </a:xfrm>
            <a:prstGeom prst="rect">
              <a:avLst/>
            </a:prstGeom>
            <a:solidFill>
              <a:srgbClr val="000000">
                <a:alpha val="0"/>
              </a:srgbClr>
            </a:solidFill>
            <a:ln>
              <a:noFill/>
            </a:ln>
          </p:spPr>
          <p:txBody>
            <a:bodyPr anchorCtr="0" anchor="t" bIns="228600" lIns="152400" spcFirstLastPara="1" rIns="152400" wrap="square" tIns="228600">
              <a:noAutofit/>
            </a:bodyPr>
            <a:lstStyle/>
            <a:p>
              <a:pPr indent="0" lvl="0" marL="0" rtl="0" algn="l">
                <a:spcBef>
                  <a:spcPts val="0"/>
                </a:spcBef>
                <a:spcAft>
                  <a:spcPts val="0"/>
                </a:spcAft>
                <a:buNone/>
              </a:pPr>
              <a:r>
                <a:rPr b="1" lang="en" sz="850">
                  <a:solidFill>
                    <a:srgbClr val="F1752F"/>
                  </a:solidFill>
                  <a:latin typeface="Montserrat"/>
                  <a:ea typeface="Montserrat"/>
                  <a:cs typeface="Montserrat"/>
                  <a:sym typeface="Montserrat"/>
                </a:rPr>
                <a:t>05 / DECIDE</a:t>
              </a:r>
              <a:endParaRPr b="1" sz="850">
                <a:solidFill>
                  <a:srgbClr val="F1752F"/>
                </a:solidFill>
                <a:latin typeface="Montserrat"/>
                <a:ea typeface="Montserrat"/>
                <a:cs typeface="Montserrat"/>
                <a:sym typeface="Montserrat"/>
              </a:endParaRPr>
            </a:p>
            <a:p>
              <a:pPr indent="0" lvl="0" marL="0" rtl="0" algn="l">
                <a:spcBef>
                  <a:spcPts val="1200"/>
                </a:spcBef>
                <a:spcAft>
                  <a:spcPts val="0"/>
                </a:spcAft>
                <a:buNone/>
              </a:pPr>
              <a:r>
                <a:rPr b="1" lang="en" sz="1600">
                  <a:solidFill>
                    <a:srgbClr val="FFFFFF"/>
                  </a:solidFill>
                  <a:latin typeface="Montserrat"/>
                  <a:ea typeface="Montserrat"/>
                  <a:cs typeface="Montserrat"/>
                  <a:sym typeface="Montserrat"/>
                </a:rPr>
                <a:t>Relying</a:t>
              </a:r>
              <a:endParaRPr b="1" sz="1600">
                <a:solidFill>
                  <a:srgbClr val="FFFFFF"/>
                </a:solidFill>
                <a:latin typeface="Montserrat"/>
                <a:ea typeface="Montserrat"/>
                <a:cs typeface="Montserrat"/>
                <a:sym typeface="Montserrat"/>
              </a:endParaRPr>
            </a:p>
            <a:p>
              <a:pPr indent="0" lvl="0" marL="0" rtl="0" algn="l">
                <a:spcBef>
                  <a:spcPts val="300"/>
                </a:spcBef>
                <a:spcAft>
                  <a:spcPts val="0"/>
                </a:spcAft>
                <a:buNone/>
              </a:pPr>
              <a:r>
                <a:rPr b="0" lang="en" sz="1600">
                  <a:solidFill>
                    <a:srgbClr val="FFFFFF"/>
                  </a:solidFill>
                  <a:latin typeface="Montserrat"/>
                  <a:ea typeface="Montserrat"/>
                  <a:cs typeface="Montserrat"/>
                  <a:sym typeface="Montserrat"/>
                </a:rPr>
                <a:t>party</a:t>
              </a:r>
              <a:endParaRPr b="0" sz="1600">
                <a:solidFill>
                  <a:srgbClr val="FFFFFF"/>
                </a:solidFill>
                <a:latin typeface="Montserrat"/>
                <a:ea typeface="Montserrat"/>
                <a:cs typeface="Montserrat"/>
                <a:sym typeface="Montserrat"/>
              </a:endParaRPr>
            </a:p>
            <a:p>
              <a:pPr indent="0" lvl="0" marL="0" rtl="0" algn="l">
                <a:spcBef>
                  <a:spcPts val="1200"/>
                </a:spcBef>
                <a:spcAft>
                  <a:spcPts val="0"/>
                </a:spcAft>
                <a:buNone/>
              </a:pPr>
              <a:r>
                <a:rPr b="0" lang="en" sz="1100">
                  <a:solidFill>
                    <a:srgbClr val="C7D0E8"/>
                  </a:solidFill>
                  <a:latin typeface="Montserrat"/>
                  <a:ea typeface="Montserrat"/>
                  <a:cs typeface="Montserrat"/>
                  <a:sym typeface="Montserrat"/>
                </a:rPr>
                <a:t>applies policy</a:t>
              </a:r>
              <a:endParaRPr b="0" sz="1100">
                <a:solidFill>
                  <a:srgbClr val="C7D0E8"/>
                </a:solidFill>
                <a:latin typeface="Montserrat"/>
                <a:ea typeface="Montserrat"/>
                <a:cs typeface="Montserrat"/>
                <a:sym typeface="Montserrat"/>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pic>
        <p:nvPicPr>
          <p:cNvPr id="596" name="Google Shape;596;p45"/>
          <p:cNvPicPr preferRelativeResize="0"/>
          <p:nvPr/>
        </p:nvPicPr>
        <p:blipFill rotWithShape="1">
          <a:blip r:embed="rId3">
            <a:alphaModFix amt="10000"/>
          </a:blip>
          <a:srcRect b="0" l="0" r="0" t="0"/>
          <a:stretch/>
        </p:blipFill>
        <p:spPr>
          <a:xfrm>
            <a:off x="5073833" y="2853243"/>
            <a:ext cx="4207772" cy="2603598"/>
          </a:xfrm>
          <a:prstGeom prst="rect">
            <a:avLst/>
          </a:prstGeom>
          <a:noFill/>
          <a:ln>
            <a:noFill/>
          </a:ln>
        </p:spPr>
      </p:pic>
      <p:pic>
        <p:nvPicPr>
          <p:cNvPr id="597" name="Google Shape;597;p45"/>
          <p:cNvPicPr preferRelativeResize="0"/>
          <p:nvPr/>
        </p:nvPicPr>
        <p:blipFill>
          <a:blip r:embed="rId4">
            <a:alphaModFix/>
          </a:blip>
          <a:stretch>
            <a:fillRect/>
          </a:stretch>
        </p:blipFill>
        <p:spPr>
          <a:xfrm>
            <a:off x="2220004" y="0"/>
            <a:ext cx="4703993" cy="51435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pic>
        <p:nvPicPr>
          <p:cNvPr id="603" name="Google Shape;603;p46"/>
          <p:cNvPicPr preferRelativeResize="0"/>
          <p:nvPr/>
        </p:nvPicPr>
        <p:blipFill rotWithShape="1">
          <a:blip r:embed="rId3">
            <a:alphaModFix/>
          </a:blip>
          <a:srcRect b="0" l="0" r="0" t="0"/>
          <a:stretch/>
        </p:blipFill>
        <p:spPr>
          <a:xfrm>
            <a:off x="0" y="0"/>
            <a:ext cx="9147362" cy="5144475"/>
          </a:xfrm>
          <a:prstGeom prst="rect">
            <a:avLst/>
          </a:prstGeom>
          <a:noFill/>
          <a:ln>
            <a:noFill/>
          </a:ln>
        </p:spPr>
      </p:pic>
      <p:cxnSp>
        <p:nvCxnSpPr>
          <p:cNvPr id="604" name="Google Shape;604;p46"/>
          <p:cNvCxnSpPr/>
          <p:nvPr/>
        </p:nvCxnSpPr>
        <p:spPr>
          <a:xfrm>
            <a:off x="428625" y="381000"/>
            <a:ext cx="0" cy="4286400"/>
          </a:xfrm>
          <a:prstGeom prst="straightConnector1">
            <a:avLst/>
          </a:prstGeom>
          <a:noFill/>
          <a:ln cap="flat" cmpd="sng" w="28575">
            <a:solidFill>
              <a:srgbClr val="F2680C"/>
            </a:solidFill>
            <a:prstDash val="solid"/>
            <a:round/>
            <a:headEnd len="sm" w="sm" type="none"/>
            <a:tailEnd len="sm" w="sm" type="none"/>
          </a:ln>
        </p:spPr>
      </p:cxnSp>
      <p:sp>
        <p:nvSpPr>
          <p:cNvPr id="605" name="Google Shape;605;p46"/>
          <p:cNvSpPr/>
          <p:nvPr/>
        </p:nvSpPr>
        <p:spPr>
          <a:xfrm>
            <a:off x="571500" y="381000"/>
            <a:ext cx="80010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D0E8"/>
              </a:buClr>
              <a:buSzPts val="1200"/>
              <a:buFont typeface="Montserrat"/>
              <a:buNone/>
            </a:pPr>
            <a:r>
              <a:rPr b="1" lang="en" sz="1200">
                <a:solidFill>
                  <a:srgbClr val="C7D0E8"/>
                </a:solidFill>
                <a:latin typeface="Montserrat"/>
                <a:ea typeface="Montserrat"/>
                <a:cs typeface="Montserrat"/>
                <a:sym typeface="Montserrat"/>
              </a:rPr>
              <a:t>DAY 3 · MODULE 8 · OPENID4VP</a:t>
            </a:r>
            <a:endParaRPr/>
          </a:p>
        </p:txBody>
      </p:sp>
      <p:sp>
        <p:nvSpPr>
          <p:cNvPr id="606" name="Google Shape;606;p46"/>
          <p:cNvSpPr/>
          <p:nvPr/>
        </p:nvSpPr>
        <p:spPr>
          <a:xfrm>
            <a:off x="571500" y="609600"/>
            <a:ext cx="8001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600"/>
              <a:buFont typeface="Montserrat"/>
              <a:buNone/>
            </a:pPr>
            <a:r>
              <a:rPr b="1" i="1" lang="en" sz="2600">
                <a:solidFill>
                  <a:srgbClr val="FFFFFF"/>
                </a:solidFill>
                <a:latin typeface="Montserrat"/>
                <a:ea typeface="Montserrat"/>
                <a:cs typeface="Montserrat"/>
                <a:sym typeface="Montserrat"/>
              </a:rPr>
              <a:t>The authorization request </a:t>
            </a:r>
            <a:endParaRPr/>
          </a:p>
        </p:txBody>
      </p:sp>
      <p:pic>
        <p:nvPicPr>
          <p:cNvPr id="607" name="Google Shape;607;p46"/>
          <p:cNvPicPr preferRelativeResize="0"/>
          <p:nvPr/>
        </p:nvPicPr>
        <p:blipFill rotWithShape="1">
          <a:blip r:embed="rId4">
            <a:alphaModFix/>
          </a:blip>
          <a:srcRect b="24614" l="19065" r="18735" t="21539"/>
          <a:stretch/>
        </p:blipFill>
        <p:spPr>
          <a:xfrm>
            <a:off x="8248650" y="238125"/>
            <a:ext cx="609599" cy="333299"/>
          </a:xfrm>
          <a:prstGeom prst="rect">
            <a:avLst/>
          </a:prstGeom>
          <a:noFill/>
          <a:ln>
            <a:noFill/>
          </a:ln>
        </p:spPr>
      </p:pic>
      <p:sp>
        <p:nvSpPr>
          <p:cNvPr id="608" name="Google Shape;608;p46"/>
          <p:cNvSpPr/>
          <p:nvPr/>
        </p:nvSpPr>
        <p:spPr>
          <a:xfrm>
            <a:off x="2638425" y="1238250"/>
            <a:ext cx="2667000" cy="381000"/>
          </a:xfrm>
          <a:prstGeom prst="roundRect">
            <a:avLst>
              <a:gd fmla="val 20000" name="adj"/>
            </a:avLst>
          </a:prstGeom>
          <a:solidFill>
            <a:srgbClr val="FFFFFF">
              <a:alpha val="784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09" name="Google Shape;609;p46"/>
          <p:cNvSpPr/>
          <p:nvPr/>
        </p:nvSpPr>
        <p:spPr>
          <a:xfrm>
            <a:off x="2638425" y="1238250"/>
            <a:ext cx="2667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200"/>
              <a:buFont typeface="Montserrat"/>
              <a:buNone/>
            </a:pPr>
            <a:r>
              <a:rPr b="1" lang="en" sz="1200">
                <a:solidFill>
                  <a:srgbClr val="C7D0E8"/>
                </a:solidFill>
                <a:latin typeface="Montserrat"/>
                <a:ea typeface="Montserrat"/>
                <a:cs typeface="Montserrat"/>
                <a:sym typeface="Montserrat"/>
              </a:rPr>
              <a:t>REQUEST ELEMENT</a:t>
            </a:r>
            <a:endParaRPr/>
          </a:p>
        </p:txBody>
      </p:sp>
      <p:sp>
        <p:nvSpPr>
          <p:cNvPr id="610" name="Google Shape;610;p46"/>
          <p:cNvSpPr/>
          <p:nvPr/>
        </p:nvSpPr>
        <p:spPr>
          <a:xfrm>
            <a:off x="5495925" y="1238250"/>
            <a:ext cx="2952900" cy="381000"/>
          </a:xfrm>
          <a:prstGeom prst="roundRect">
            <a:avLst>
              <a:gd fmla="val 20000" name="adj"/>
            </a:avLst>
          </a:prstGeom>
          <a:solidFill>
            <a:srgbClr val="951F6F"/>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11" name="Google Shape;611;p46"/>
          <p:cNvSpPr/>
          <p:nvPr/>
        </p:nvSpPr>
        <p:spPr>
          <a:xfrm>
            <a:off x="5495925" y="1238250"/>
            <a:ext cx="29529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Montserrat"/>
              <a:buNone/>
            </a:pPr>
            <a:r>
              <a:rPr b="1" lang="en" sz="1200">
                <a:solidFill>
                  <a:srgbClr val="FFFFFF"/>
                </a:solidFill>
                <a:latin typeface="Montserrat"/>
                <a:ea typeface="Montserrat"/>
                <a:cs typeface="Montserrat"/>
                <a:sym typeface="Montserrat"/>
              </a:rPr>
              <a:t>WHY IT EXISTS</a:t>
            </a:r>
            <a:endParaRPr/>
          </a:p>
        </p:txBody>
      </p:sp>
      <p:sp>
        <p:nvSpPr>
          <p:cNvPr id="612" name="Google Shape;612;p46"/>
          <p:cNvSpPr/>
          <p:nvPr/>
        </p:nvSpPr>
        <p:spPr>
          <a:xfrm>
            <a:off x="733425" y="1762125"/>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Verifier</a:t>
            </a:r>
            <a:endParaRPr/>
          </a:p>
        </p:txBody>
      </p:sp>
      <p:sp>
        <p:nvSpPr>
          <p:cNvPr id="613" name="Google Shape;613;p46"/>
          <p:cNvSpPr/>
          <p:nvPr/>
        </p:nvSpPr>
        <p:spPr>
          <a:xfrm>
            <a:off x="2638425" y="1762125"/>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14" name="Google Shape;614;p46"/>
          <p:cNvSpPr/>
          <p:nvPr/>
        </p:nvSpPr>
        <p:spPr>
          <a:xfrm>
            <a:off x="2781300" y="1762125"/>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client_id + scheme</a:t>
            </a:r>
            <a:endParaRPr/>
          </a:p>
        </p:txBody>
      </p:sp>
      <p:sp>
        <p:nvSpPr>
          <p:cNvPr id="615" name="Google Shape;615;p46"/>
          <p:cNvSpPr/>
          <p:nvPr/>
        </p:nvSpPr>
        <p:spPr>
          <a:xfrm>
            <a:off x="5495925" y="1762125"/>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16" name="Google Shape;616;p46"/>
          <p:cNvSpPr/>
          <p:nvPr/>
        </p:nvSpPr>
        <p:spPr>
          <a:xfrm>
            <a:off x="5638800" y="1762125"/>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Identify and authenticate requester</a:t>
            </a:r>
            <a:endParaRPr/>
          </a:p>
        </p:txBody>
      </p:sp>
      <p:sp>
        <p:nvSpPr>
          <p:cNvPr id="617" name="Google Shape;617;p46"/>
          <p:cNvSpPr/>
          <p:nvPr/>
        </p:nvSpPr>
        <p:spPr>
          <a:xfrm>
            <a:off x="733425" y="2476500"/>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Evidence</a:t>
            </a:r>
            <a:endParaRPr/>
          </a:p>
        </p:txBody>
      </p:sp>
      <p:sp>
        <p:nvSpPr>
          <p:cNvPr id="618" name="Google Shape;618;p46"/>
          <p:cNvSpPr/>
          <p:nvPr/>
        </p:nvSpPr>
        <p:spPr>
          <a:xfrm>
            <a:off x="2638425" y="2476500"/>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19" name="Google Shape;619;p46"/>
          <p:cNvSpPr/>
          <p:nvPr/>
        </p:nvSpPr>
        <p:spPr>
          <a:xfrm>
            <a:off x="2781300" y="2476500"/>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vp_token + credential query</a:t>
            </a:r>
            <a:endParaRPr/>
          </a:p>
        </p:txBody>
      </p:sp>
      <p:sp>
        <p:nvSpPr>
          <p:cNvPr id="620" name="Google Shape;620;p46"/>
          <p:cNvSpPr/>
          <p:nvPr/>
        </p:nvSpPr>
        <p:spPr>
          <a:xfrm>
            <a:off x="5495925" y="2476500"/>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21" name="Google Shape;621;p46"/>
          <p:cNvSpPr/>
          <p:nvPr/>
        </p:nvSpPr>
        <p:spPr>
          <a:xfrm>
            <a:off x="5638800" y="2476500"/>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Describe required credential data</a:t>
            </a:r>
            <a:endParaRPr/>
          </a:p>
        </p:txBody>
      </p:sp>
      <p:sp>
        <p:nvSpPr>
          <p:cNvPr id="622" name="Google Shape;622;p46"/>
          <p:cNvSpPr/>
          <p:nvPr/>
        </p:nvSpPr>
        <p:spPr>
          <a:xfrm>
            <a:off x="733425" y="3190875"/>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Freshness</a:t>
            </a:r>
            <a:endParaRPr/>
          </a:p>
        </p:txBody>
      </p:sp>
      <p:sp>
        <p:nvSpPr>
          <p:cNvPr id="623" name="Google Shape;623;p46"/>
          <p:cNvSpPr/>
          <p:nvPr/>
        </p:nvSpPr>
        <p:spPr>
          <a:xfrm>
            <a:off x="2638425" y="3190875"/>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24" name="Google Shape;624;p46"/>
          <p:cNvSpPr/>
          <p:nvPr/>
        </p:nvSpPr>
        <p:spPr>
          <a:xfrm>
            <a:off x="2781300" y="3190875"/>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nonce + state</a:t>
            </a:r>
            <a:endParaRPr/>
          </a:p>
        </p:txBody>
      </p:sp>
      <p:sp>
        <p:nvSpPr>
          <p:cNvPr id="625" name="Google Shape;625;p46"/>
          <p:cNvSpPr/>
          <p:nvPr/>
        </p:nvSpPr>
        <p:spPr>
          <a:xfrm>
            <a:off x="5495925" y="3190875"/>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26" name="Google Shape;626;p46"/>
          <p:cNvSpPr/>
          <p:nvPr/>
        </p:nvSpPr>
        <p:spPr>
          <a:xfrm>
            <a:off x="5638800" y="3190875"/>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Bind response; prevent replay</a:t>
            </a:r>
            <a:endParaRPr/>
          </a:p>
        </p:txBody>
      </p:sp>
      <p:sp>
        <p:nvSpPr>
          <p:cNvPr id="627" name="Google Shape;627;p46"/>
          <p:cNvSpPr/>
          <p:nvPr/>
        </p:nvSpPr>
        <p:spPr>
          <a:xfrm>
            <a:off x="733425" y="3905250"/>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Delivery</a:t>
            </a:r>
            <a:endParaRPr/>
          </a:p>
        </p:txBody>
      </p:sp>
      <p:sp>
        <p:nvSpPr>
          <p:cNvPr id="628" name="Google Shape;628;p46"/>
          <p:cNvSpPr/>
          <p:nvPr/>
        </p:nvSpPr>
        <p:spPr>
          <a:xfrm>
            <a:off x="2638425" y="3905250"/>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29" name="Google Shape;629;p46"/>
          <p:cNvSpPr/>
          <p:nvPr/>
        </p:nvSpPr>
        <p:spPr>
          <a:xfrm>
            <a:off x="2781300" y="3905250"/>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response_mode + response_uri</a:t>
            </a:r>
            <a:endParaRPr/>
          </a:p>
        </p:txBody>
      </p:sp>
      <p:sp>
        <p:nvSpPr>
          <p:cNvPr id="630" name="Google Shape;630;p46"/>
          <p:cNvSpPr/>
          <p:nvPr/>
        </p:nvSpPr>
        <p:spPr>
          <a:xfrm>
            <a:off x="5495925" y="3905250"/>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31" name="Google Shape;631;p46"/>
          <p:cNvSpPr/>
          <p:nvPr/>
        </p:nvSpPr>
        <p:spPr>
          <a:xfrm>
            <a:off x="5638800" y="3905250"/>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Return the response safely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pic>
        <p:nvPicPr>
          <p:cNvPr id="637" name="Google Shape;637;p47"/>
          <p:cNvPicPr preferRelativeResize="0"/>
          <p:nvPr/>
        </p:nvPicPr>
        <p:blipFill rotWithShape="1">
          <a:blip r:embed="rId3">
            <a:alphaModFix/>
          </a:blip>
          <a:srcRect b="0" l="0" r="0" t="0"/>
          <a:stretch/>
        </p:blipFill>
        <p:spPr>
          <a:xfrm>
            <a:off x="0" y="0"/>
            <a:ext cx="9147362" cy="5144475"/>
          </a:xfrm>
          <a:prstGeom prst="rect">
            <a:avLst/>
          </a:prstGeom>
          <a:noFill/>
          <a:ln>
            <a:noFill/>
          </a:ln>
        </p:spPr>
      </p:pic>
      <p:cxnSp>
        <p:nvCxnSpPr>
          <p:cNvPr id="638" name="Google Shape;638;p47"/>
          <p:cNvCxnSpPr/>
          <p:nvPr/>
        </p:nvCxnSpPr>
        <p:spPr>
          <a:xfrm>
            <a:off x="428625" y="381000"/>
            <a:ext cx="0" cy="4286400"/>
          </a:xfrm>
          <a:prstGeom prst="straightConnector1">
            <a:avLst/>
          </a:prstGeom>
          <a:noFill/>
          <a:ln cap="flat" cmpd="sng" w="28575">
            <a:solidFill>
              <a:srgbClr val="F2680C"/>
            </a:solidFill>
            <a:prstDash val="solid"/>
            <a:round/>
            <a:headEnd len="sm" w="sm" type="none"/>
            <a:tailEnd len="sm" w="sm" type="none"/>
          </a:ln>
        </p:spPr>
      </p:cxnSp>
      <p:sp>
        <p:nvSpPr>
          <p:cNvPr id="639" name="Google Shape;639;p47"/>
          <p:cNvSpPr/>
          <p:nvPr/>
        </p:nvSpPr>
        <p:spPr>
          <a:xfrm>
            <a:off x="571500" y="381000"/>
            <a:ext cx="80010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D0E8"/>
              </a:buClr>
              <a:buSzPts val="1200"/>
              <a:buFont typeface="Montserrat"/>
              <a:buNone/>
            </a:pPr>
            <a:r>
              <a:rPr b="1" lang="en" sz="1200">
                <a:solidFill>
                  <a:srgbClr val="C7D0E8"/>
                </a:solidFill>
                <a:latin typeface="Montserrat"/>
                <a:ea typeface="Montserrat"/>
                <a:cs typeface="Montserrat"/>
                <a:sym typeface="Montserrat"/>
              </a:rPr>
              <a:t>DAY 3 · MODULE 8 · OPENID4VP</a:t>
            </a:r>
            <a:endParaRPr/>
          </a:p>
        </p:txBody>
      </p:sp>
      <p:sp>
        <p:nvSpPr>
          <p:cNvPr id="640" name="Google Shape;640;p47"/>
          <p:cNvSpPr/>
          <p:nvPr/>
        </p:nvSpPr>
        <p:spPr>
          <a:xfrm>
            <a:off x="571500" y="609600"/>
            <a:ext cx="8001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600"/>
              <a:buFont typeface="Montserrat"/>
              <a:buNone/>
            </a:pPr>
            <a:r>
              <a:rPr b="1" i="1" lang="en" sz="2600">
                <a:solidFill>
                  <a:srgbClr val="FFFFFF"/>
                </a:solidFill>
                <a:latin typeface="Montserrat"/>
                <a:ea typeface="Montserrat"/>
                <a:cs typeface="Montserrat"/>
                <a:sym typeface="Montserrat"/>
              </a:rPr>
              <a:t>Credential queries </a:t>
            </a:r>
            <a:endParaRPr/>
          </a:p>
        </p:txBody>
      </p:sp>
      <p:pic>
        <p:nvPicPr>
          <p:cNvPr id="641" name="Google Shape;641;p47"/>
          <p:cNvPicPr preferRelativeResize="0"/>
          <p:nvPr/>
        </p:nvPicPr>
        <p:blipFill rotWithShape="1">
          <a:blip r:embed="rId4">
            <a:alphaModFix/>
          </a:blip>
          <a:srcRect b="24614" l="19065" r="18735" t="21539"/>
          <a:stretch/>
        </p:blipFill>
        <p:spPr>
          <a:xfrm>
            <a:off x="8248650" y="238125"/>
            <a:ext cx="609599" cy="333299"/>
          </a:xfrm>
          <a:prstGeom prst="rect">
            <a:avLst/>
          </a:prstGeom>
          <a:noFill/>
          <a:ln>
            <a:noFill/>
          </a:ln>
        </p:spPr>
      </p:pic>
      <p:sp>
        <p:nvSpPr>
          <p:cNvPr id="642" name="Google Shape;642;p47"/>
          <p:cNvSpPr/>
          <p:nvPr/>
        </p:nvSpPr>
        <p:spPr>
          <a:xfrm>
            <a:off x="2638425" y="1238250"/>
            <a:ext cx="2667000" cy="381000"/>
          </a:xfrm>
          <a:prstGeom prst="roundRect">
            <a:avLst>
              <a:gd fmla="val 20000" name="adj"/>
            </a:avLst>
          </a:prstGeom>
          <a:solidFill>
            <a:srgbClr val="FFFFFF">
              <a:alpha val="784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43" name="Google Shape;643;p47"/>
          <p:cNvSpPr/>
          <p:nvPr/>
        </p:nvSpPr>
        <p:spPr>
          <a:xfrm>
            <a:off x="2638425" y="1238250"/>
            <a:ext cx="2667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200"/>
              <a:buFont typeface="Montserrat"/>
              <a:buNone/>
            </a:pPr>
            <a:r>
              <a:rPr b="1" lang="en" sz="1200">
                <a:solidFill>
                  <a:srgbClr val="C7D0E8"/>
                </a:solidFill>
                <a:latin typeface="Montserrat"/>
                <a:ea typeface="Montserrat"/>
                <a:cs typeface="Montserrat"/>
                <a:sym typeface="Montserrat"/>
              </a:rPr>
              <a:t>RELEASED INJI · DRAFT 23</a:t>
            </a:r>
            <a:endParaRPr/>
          </a:p>
        </p:txBody>
      </p:sp>
      <p:sp>
        <p:nvSpPr>
          <p:cNvPr id="644" name="Google Shape;644;p47"/>
          <p:cNvSpPr/>
          <p:nvPr/>
        </p:nvSpPr>
        <p:spPr>
          <a:xfrm>
            <a:off x="5495925" y="1238250"/>
            <a:ext cx="2952900" cy="381000"/>
          </a:xfrm>
          <a:prstGeom prst="roundRect">
            <a:avLst>
              <a:gd fmla="val 20000" name="adj"/>
            </a:avLst>
          </a:prstGeom>
          <a:solidFill>
            <a:srgbClr val="951F6F"/>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45" name="Google Shape;645;p47"/>
          <p:cNvSpPr/>
          <p:nvPr/>
        </p:nvSpPr>
        <p:spPr>
          <a:xfrm>
            <a:off x="5495925" y="1238250"/>
            <a:ext cx="29529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Montserrat"/>
              <a:buNone/>
            </a:pPr>
            <a:r>
              <a:rPr b="1" lang="en" sz="1200">
                <a:solidFill>
                  <a:srgbClr val="FFFFFF"/>
                </a:solidFill>
                <a:latin typeface="Montserrat"/>
                <a:ea typeface="Montserrat"/>
                <a:cs typeface="Montserrat"/>
                <a:sym typeface="Montserrat"/>
              </a:rPr>
              <a:t>OPENID4VP 1.0</a:t>
            </a:r>
            <a:endParaRPr/>
          </a:p>
        </p:txBody>
      </p:sp>
      <p:sp>
        <p:nvSpPr>
          <p:cNvPr id="646" name="Google Shape;646;p47"/>
          <p:cNvSpPr/>
          <p:nvPr/>
        </p:nvSpPr>
        <p:spPr>
          <a:xfrm>
            <a:off x="733425" y="1762125"/>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Request field</a:t>
            </a:r>
            <a:endParaRPr/>
          </a:p>
        </p:txBody>
      </p:sp>
      <p:sp>
        <p:nvSpPr>
          <p:cNvPr id="647" name="Google Shape;647;p47"/>
          <p:cNvSpPr/>
          <p:nvPr/>
        </p:nvSpPr>
        <p:spPr>
          <a:xfrm>
            <a:off x="2638425" y="1762125"/>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48" name="Google Shape;648;p47"/>
          <p:cNvSpPr/>
          <p:nvPr/>
        </p:nvSpPr>
        <p:spPr>
          <a:xfrm>
            <a:off x="2781300" y="1762125"/>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presentation_definition</a:t>
            </a:r>
            <a:endParaRPr/>
          </a:p>
        </p:txBody>
      </p:sp>
      <p:sp>
        <p:nvSpPr>
          <p:cNvPr id="649" name="Google Shape;649;p47"/>
          <p:cNvSpPr/>
          <p:nvPr/>
        </p:nvSpPr>
        <p:spPr>
          <a:xfrm>
            <a:off x="5495925" y="1762125"/>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50" name="Google Shape;650;p47"/>
          <p:cNvSpPr/>
          <p:nvPr/>
        </p:nvSpPr>
        <p:spPr>
          <a:xfrm>
            <a:off x="5638800" y="1762125"/>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dcql_query</a:t>
            </a:r>
            <a:endParaRPr/>
          </a:p>
        </p:txBody>
      </p:sp>
      <p:sp>
        <p:nvSpPr>
          <p:cNvPr id="651" name="Google Shape;651;p47"/>
          <p:cNvSpPr/>
          <p:nvPr/>
        </p:nvSpPr>
        <p:spPr>
          <a:xfrm>
            <a:off x="733425" y="2476500"/>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Query model</a:t>
            </a:r>
            <a:endParaRPr/>
          </a:p>
        </p:txBody>
      </p:sp>
      <p:sp>
        <p:nvSpPr>
          <p:cNvPr id="652" name="Google Shape;652;p47"/>
          <p:cNvSpPr/>
          <p:nvPr/>
        </p:nvSpPr>
        <p:spPr>
          <a:xfrm>
            <a:off x="2638425" y="2476500"/>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53" name="Google Shape;653;p47"/>
          <p:cNvSpPr/>
          <p:nvPr/>
        </p:nvSpPr>
        <p:spPr>
          <a:xfrm>
            <a:off x="2781300" y="2476500"/>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Presentation Exchange</a:t>
            </a:r>
            <a:endParaRPr/>
          </a:p>
        </p:txBody>
      </p:sp>
      <p:sp>
        <p:nvSpPr>
          <p:cNvPr id="654" name="Google Shape;654;p47"/>
          <p:cNvSpPr/>
          <p:nvPr/>
        </p:nvSpPr>
        <p:spPr>
          <a:xfrm>
            <a:off x="5495925" y="2476500"/>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55" name="Google Shape;655;p47"/>
          <p:cNvSpPr/>
          <p:nvPr/>
        </p:nvSpPr>
        <p:spPr>
          <a:xfrm>
            <a:off x="5638800" y="2476500"/>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Digital Credentials Query Language</a:t>
            </a:r>
            <a:endParaRPr/>
          </a:p>
        </p:txBody>
      </p:sp>
      <p:sp>
        <p:nvSpPr>
          <p:cNvPr id="656" name="Google Shape;656;p47"/>
          <p:cNvSpPr/>
          <p:nvPr/>
        </p:nvSpPr>
        <p:spPr>
          <a:xfrm>
            <a:off x="733425" y="3190875"/>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Response mapping</a:t>
            </a:r>
            <a:endParaRPr/>
          </a:p>
        </p:txBody>
      </p:sp>
      <p:sp>
        <p:nvSpPr>
          <p:cNvPr id="657" name="Google Shape;657;p47"/>
          <p:cNvSpPr/>
          <p:nvPr/>
        </p:nvSpPr>
        <p:spPr>
          <a:xfrm>
            <a:off x="2638425" y="3190875"/>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58" name="Google Shape;658;p47"/>
          <p:cNvSpPr/>
          <p:nvPr/>
        </p:nvSpPr>
        <p:spPr>
          <a:xfrm>
            <a:off x="2781300" y="3190875"/>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descriptor_map + vp_token</a:t>
            </a:r>
            <a:endParaRPr/>
          </a:p>
        </p:txBody>
      </p:sp>
      <p:sp>
        <p:nvSpPr>
          <p:cNvPr id="659" name="Google Shape;659;p47"/>
          <p:cNvSpPr/>
          <p:nvPr/>
        </p:nvSpPr>
        <p:spPr>
          <a:xfrm>
            <a:off x="5495925" y="3190875"/>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60" name="Google Shape;660;p47"/>
          <p:cNvSpPr/>
          <p:nvPr/>
        </p:nvSpPr>
        <p:spPr>
          <a:xfrm>
            <a:off x="5638800" y="3190875"/>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credential query identifiers</a:t>
            </a:r>
            <a:endParaRPr/>
          </a:p>
        </p:txBody>
      </p:sp>
      <p:sp>
        <p:nvSpPr>
          <p:cNvPr id="661" name="Google Shape;661;p47"/>
          <p:cNvSpPr/>
          <p:nvPr/>
        </p:nvSpPr>
        <p:spPr>
          <a:xfrm>
            <a:off x="733425" y="3905250"/>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Integration rule</a:t>
            </a:r>
            <a:endParaRPr/>
          </a:p>
        </p:txBody>
      </p:sp>
      <p:sp>
        <p:nvSpPr>
          <p:cNvPr id="662" name="Google Shape;662;p47"/>
          <p:cNvSpPr/>
          <p:nvPr/>
        </p:nvSpPr>
        <p:spPr>
          <a:xfrm>
            <a:off x="2638425" y="3905250"/>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63" name="Google Shape;663;p47"/>
          <p:cNvSpPr/>
          <p:nvPr/>
        </p:nvSpPr>
        <p:spPr>
          <a:xfrm>
            <a:off x="2781300" y="3905250"/>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Use exact release schema</a:t>
            </a:r>
            <a:endParaRPr/>
          </a:p>
        </p:txBody>
      </p:sp>
      <p:sp>
        <p:nvSpPr>
          <p:cNvPr id="664" name="Google Shape;664;p47"/>
          <p:cNvSpPr/>
          <p:nvPr/>
        </p:nvSpPr>
        <p:spPr>
          <a:xfrm>
            <a:off x="5495925" y="3905250"/>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65" name="Google Shape;665;p47"/>
          <p:cNvSpPr/>
          <p:nvPr/>
        </p:nvSpPr>
        <p:spPr>
          <a:xfrm>
            <a:off x="5638800" y="3905250"/>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Migrate and test explicitly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pic>
        <p:nvPicPr>
          <p:cNvPr id="671" name="Google Shape;671;p48"/>
          <p:cNvPicPr preferRelativeResize="0"/>
          <p:nvPr/>
        </p:nvPicPr>
        <p:blipFill rotWithShape="1">
          <a:blip r:embed="rId3">
            <a:alphaModFix/>
          </a:blip>
          <a:srcRect b="0" l="0" r="0" t="0"/>
          <a:stretch/>
        </p:blipFill>
        <p:spPr>
          <a:xfrm>
            <a:off x="0" y="0"/>
            <a:ext cx="9147362" cy="5144475"/>
          </a:xfrm>
          <a:prstGeom prst="rect">
            <a:avLst/>
          </a:prstGeom>
          <a:noFill/>
          <a:ln>
            <a:noFill/>
          </a:ln>
        </p:spPr>
      </p:pic>
      <p:cxnSp>
        <p:nvCxnSpPr>
          <p:cNvPr id="672" name="Google Shape;672;p48"/>
          <p:cNvCxnSpPr/>
          <p:nvPr/>
        </p:nvCxnSpPr>
        <p:spPr>
          <a:xfrm>
            <a:off x="428625" y="381000"/>
            <a:ext cx="0" cy="4286400"/>
          </a:xfrm>
          <a:prstGeom prst="straightConnector1">
            <a:avLst/>
          </a:prstGeom>
          <a:noFill/>
          <a:ln cap="flat" cmpd="sng" w="28575">
            <a:solidFill>
              <a:srgbClr val="F2680C"/>
            </a:solidFill>
            <a:prstDash val="solid"/>
            <a:round/>
            <a:headEnd len="sm" w="sm" type="none"/>
            <a:tailEnd len="sm" w="sm" type="none"/>
          </a:ln>
        </p:spPr>
      </p:cxnSp>
      <p:sp>
        <p:nvSpPr>
          <p:cNvPr id="673" name="Google Shape;673;p48"/>
          <p:cNvSpPr/>
          <p:nvPr/>
        </p:nvSpPr>
        <p:spPr>
          <a:xfrm>
            <a:off x="571500" y="381000"/>
            <a:ext cx="80010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7D0E8"/>
              </a:buClr>
              <a:buSzPts val="1200"/>
              <a:buFont typeface="Montserrat"/>
              <a:buNone/>
            </a:pPr>
            <a:r>
              <a:rPr b="1" lang="en" sz="1200">
                <a:solidFill>
                  <a:srgbClr val="C7D0E8"/>
                </a:solidFill>
                <a:latin typeface="Montserrat"/>
                <a:ea typeface="Montserrat"/>
                <a:cs typeface="Montserrat"/>
                <a:sym typeface="Montserrat"/>
              </a:rPr>
              <a:t>DAY 3 · MODULE 8 · OPENID4VP</a:t>
            </a:r>
            <a:endParaRPr/>
          </a:p>
        </p:txBody>
      </p:sp>
      <p:sp>
        <p:nvSpPr>
          <p:cNvPr id="674" name="Google Shape;674;p48"/>
          <p:cNvSpPr/>
          <p:nvPr/>
        </p:nvSpPr>
        <p:spPr>
          <a:xfrm>
            <a:off x="571500" y="609600"/>
            <a:ext cx="8001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600"/>
              <a:buFont typeface="Montserrat"/>
              <a:buNone/>
            </a:pPr>
            <a:r>
              <a:rPr b="1" i="1" lang="en" sz="2600">
                <a:solidFill>
                  <a:srgbClr val="FFFFFF"/>
                </a:solidFill>
                <a:latin typeface="Montserrat"/>
                <a:ea typeface="Montserrat"/>
                <a:cs typeface="Montserrat"/>
                <a:sym typeface="Montserrat"/>
              </a:rPr>
              <a:t>Verifiable Presentation</a:t>
            </a:r>
            <a:endParaRPr/>
          </a:p>
        </p:txBody>
      </p:sp>
      <p:pic>
        <p:nvPicPr>
          <p:cNvPr id="675" name="Google Shape;675;p48"/>
          <p:cNvPicPr preferRelativeResize="0"/>
          <p:nvPr/>
        </p:nvPicPr>
        <p:blipFill rotWithShape="1">
          <a:blip r:embed="rId4">
            <a:alphaModFix/>
          </a:blip>
          <a:srcRect b="24614" l="19065" r="18735" t="21539"/>
          <a:stretch/>
        </p:blipFill>
        <p:spPr>
          <a:xfrm>
            <a:off x="8248650" y="238125"/>
            <a:ext cx="609599" cy="333299"/>
          </a:xfrm>
          <a:prstGeom prst="rect">
            <a:avLst/>
          </a:prstGeom>
          <a:noFill/>
          <a:ln>
            <a:noFill/>
          </a:ln>
        </p:spPr>
      </p:pic>
      <p:sp>
        <p:nvSpPr>
          <p:cNvPr id="676" name="Google Shape;676;p48"/>
          <p:cNvSpPr/>
          <p:nvPr/>
        </p:nvSpPr>
        <p:spPr>
          <a:xfrm>
            <a:off x="2638425" y="1238250"/>
            <a:ext cx="2667000" cy="381000"/>
          </a:xfrm>
          <a:prstGeom prst="roundRect">
            <a:avLst>
              <a:gd fmla="val 20000" name="adj"/>
            </a:avLst>
          </a:prstGeom>
          <a:solidFill>
            <a:srgbClr val="FFFFFF">
              <a:alpha val="784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77" name="Google Shape;677;p48"/>
          <p:cNvSpPr/>
          <p:nvPr/>
        </p:nvSpPr>
        <p:spPr>
          <a:xfrm>
            <a:off x="2638425" y="1238250"/>
            <a:ext cx="26670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200"/>
              <a:buFont typeface="Montserrat"/>
              <a:buNone/>
            </a:pPr>
            <a:r>
              <a:rPr b="1" lang="en" sz="1200">
                <a:solidFill>
                  <a:srgbClr val="C7D0E8"/>
                </a:solidFill>
                <a:latin typeface="Montserrat"/>
                <a:ea typeface="Montserrat"/>
                <a:cs typeface="Montserrat"/>
                <a:sym typeface="Montserrat"/>
              </a:rPr>
              <a:t>VERIFIABLE CREDENTIAL</a:t>
            </a:r>
            <a:endParaRPr/>
          </a:p>
        </p:txBody>
      </p:sp>
      <p:sp>
        <p:nvSpPr>
          <p:cNvPr id="678" name="Google Shape;678;p48"/>
          <p:cNvSpPr/>
          <p:nvPr/>
        </p:nvSpPr>
        <p:spPr>
          <a:xfrm>
            <a:off x="5495925" y="1238250"/>
            <a:ext cx="2952900" cy="381000"/>
          </a:xfrm>
          <a:prstGeom prst="roundRect">
            <a:avLst>
              <a:gd fmla="val 20000" name="adj"/>
            </a:avLst>
          </a:prstGeom>
          <a:solidFill>
            <a:srgbClr val="951F6F"/>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79" name="Google Shape;679;p48"/>
          <p:cNvSpPr/>
          <p:nvPr/>
        </p:nvSpPr>
        <p:spPr>
          <a:xfrm>
            <a:off x="5495925" y="1238250"/>
            <a:ext cx="29529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Montserrat"/>
              <a:buNone/>
            </a:pPr>
            <a:r>
              <a:rPr b="1" lang="en" sz="1200">
                <a:solidFill>
                  <a:srgbClr val="FFFFFF"/>
                </a:solidFill>
                <a:latin typeface="Montserrat"/>
                <a:ea typeface="Montserrat"/>
                <a:cs typeface="Montserrat"/>
                <a:sym typeface="Montserrat"/>
              </a:rPr>
              <a:t>VERIFIABLE PRESENTATION</a:t>
            </a:r>
            <a:endParaRPr/>
          </a:p>
        </p:txBody>
      </p:sp>
      <p:sp>
        <p:nvSpPr>
          <p:cNvPr id="680" name="Google Shape;680;p48"/>
          <p:cNvSpPr/>
          <p:nvPr/>
        </p:nvSpPr>
        <p:spPr>
          <a:xfrm>
            <a:off x="733425" y="1762125"/>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Purpose</a:t>
            </a:r>
            <a:endParaRPr/>
          </a:p>
        </p:txBody>
      </p:sp>
      <p:sp>
        <p:nvSpPr>
          <p:cNvPr id="681" name="Google Shape;681;p48"/>
          <p:cNvSpPr/>
          <p:nvPr/>
        </p:nvSpPr>
        <p:spPr>
          <a:xfrm>
            <a:off x="2638425" y="1762125"/>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82" name="Google Shape;682;p48"/>
          <p:cNvSpPr/>
          <p:nvPr/>
        </p:nvSpPr>
        <p:spPr>
          <a:xfrm>
            <a:off x="2781300" y="1762125"/>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Issuer-signed claim set</a:t>
            </a:r>
            <a:endParaRPr/>
          </a:p>
        </p:txBody>
      </p:sp>
      <p:sp>
        <p:nvSpPr>
          <p:cNvPr id="683" name="Google Shape;683;p48"/>
          <p:cNvSpPr/>
          <p:nvPr/>
        </p:nvSpPr>
        <p:spPr>
          <a:xfrm>
            <a:off x="5495925" y="1762125"/>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84" name="Google Shape;684;p48"/>
          <p:cNvSpPr/>
          <p:nvPr/>
        </p:nvSpPr>
        <p:spPr>
          <a:xfrm>
            <a:off x="5638800" y="1762125"/>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Holder response to one request</a:t>
            </a:r>
            <a:endParaRPr/>
          </a:p>
        </p:txBody>
      </p:sp>
      <p:sp>
        <p:nvSpPr>
          <p:cNvPr id="685" name="Google Shape;685;p48"/>
          <p:cNvSpPr/>
          <p:nvPr/>
        </p:nvSpPr>
        <p:spPr>
          <a:xfrm>
            <a:off x="733425" y="2476500"/>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Binding</a:t>
            </a:r>
            <a:endParaRPr/>
          </a:p>
        </p:txBody>
      </p:sp>
      <p:sp>
        <p:nvSpPr>
          <p:cNvPr id="686" name="Google Shape;686;p48"/>
          <p:cNvSpPr/>
          <p:nvPr/>
        </p:nvSpPr>
        <p:spPr>
          <a:xfrm>
            <a:off x="2638425" y="2476500"/>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87" name="Google Shape;687;p48"/>
          <p:cNvSpPr/>
          <p:nvPr/>
        </p:nvSpPr>
        <p:spPr>
          <a:xfrm>
            <a:off x="2781300" y="2476500"/>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Issuer → subject</a:t>
            </a:r>
            <a:endParaRPr/>
          </a:p>
        </p:txBody>
      </p:sp>
      <p:sp>
        <p:nvSpPr>
          <p:cNvPr id="688" name="Google Shape;688;p48"/>
          <p:cNvSpPr/>
          <p:nvPr/>
        </p:nvSpPr>
        <p:spPr>
          <a:xfrm>
            <a:off x="5495925" y="2476500"/>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89" name="Google Shape;689;p48"/>
          <p:cNvSpPr/>
          <p:nvPr/>
        </p:nvSpPr>
        <p:spPr>
          <a:xfrm>
            <a:off x="5638800" y="2476500"/>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Holder → verifier + nonce</a:t>
            </a:r>
            <a:endParaRPr/>
          </a:p>
        </p:txBody>
      </p:sp>
      <p:sp>
        <p:nvSpPr>
          <p:cNvPr id="690" name="Google Shape;690;p48"/>
          <p:cNvSpPr/>
          <p:nvPr/>
        </p:nvSpPr>
        <p:spPr>
          <a:xfrm>
            <a:off x="733425" y="3190875"/>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Lifetime</a:t>
            </a:r>
            <a:endParaRPr/>
          </a:p>
        </p:txBody>
      </p:sp>
      <p:sp>
        <p:nvSpPr>
          <p:cNvPr id="691" name="Google Shape;691;p48"/>
          <p:cNvSpPr/>
          <p:nvPr/>
        </p:nvSpPr>
        <p:spPr>
          <a:xfrm>
            <a:off x="2638425" y="3190875"/>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92" name="Google Shape;692;p48"/>
          <p:cNvSpPr/>
          <p:nvPr/>
        </p:nvSpPr>
        <p:spPr>
          <a:xfrm>
            <a:off x="2781300" y="3190875"/>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Reusable until expiry / status</a:t>
            </a:r>
            <a:endParaRPr/>
          </a:p>
        </p:txBody>
      </p:sp>
      <p:sp>
        <p:nvSpPr>
          <p:cNvPr id="693" name="Google Shape;693;p48"/>
          <p:cNvSpPr/>
          <p:nvPr/>
        </p:nvSpPr>
        <p:spPr>
          <a:xfrm>
            <a:off x="5495925" y="3190875"/>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94" name="Google Shape;694;p48"/>
          <p:cNvSpPr/>
          <p:nvPr/>
        </p:nvSpPr>
        <p:spPr>
          <a:xfrm>
            <a:off x="5638800" y="3190875"/>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Fresh per transaction</a:t>
            </a:r>
            <a:endParaRPr/>
          </a:p>
        </p:txBody>
      </p:sp>
      <p:sp>
        <p:nvSpPr>
          <p:cNvPr id="695" name="Google Shape;695;p48"/>
          <p:cNvSpPr/>
          <p:nvPr/>
        </p:nvSpPr>
        <p:spPr>
          <a:xfrm>
            <a:off x="733425" y="3905250"/>
            <a:ext cx="17145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Verifier checks</a:t>
            </a:r>
            <a:endParaRPr/>
          </a:p>
        </p:txBody>
      </p:sp>
      <p:sp>
        <p:nvSpPr>
          <p:cNvPr id="696" name="Google Shape;696;p48"/>
          <p:cNvSpPr/>
          <p:nvPr/>
        </p:nvSpPr>
        <p:spPr>
          <a:xfrm>
            <a:off x="2638425" y="3905250"/>
            <a:ext cx="2667000" cy="571500"/>
          </a:xfrm>
          <a:prstGeom prst="roundRect">
            <a:avLst>
              <a:gd fmla="val 13333" name="adj"/>
            </a:avLst>
          </a:prstGeom>
          <a:solidFill>
            <a:srgbClr val="FFFFFF">
              <a:alpha val="392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97" name="Google Shape;697;p48"/>
          <p:cNvSpPr/>
          <p:nvPr/>
        </p:nvSpPr>
        <p:spPr>
          <a:xfrm>
            <a:off x="2781300" y="3905250"/>
            <a:ext cx="23814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D0E8"/>
              </a:buClr>
              <a:buSzPts val="1100"/>
              <a:buFont typeface="Montserrat"/>
              <a:buNone/>
            </a:pPr>
            <a:r>
              <a:rPr lang="en" sz="1100">
                <a:solidFill>
                  <a:srgbClr val="C7D0E8"/>
                </a:solidFill>
                <a:latin typeface="Montserrat"/>
                <a:ea typeface="Montserrat"/>
                <a:cs typeface="Montserrat"/>
                <a:sym typeface="Montserrat"/>
              </a:rPr>
              <a:t>Issuer proof + status</a:t>
            </a:r>
            <a:endParaRPr/>
          </a:p>
        </p:txBody>
      </p:sp>
      <p:sp>
        <p:nvSpPr>
          <p:cNvPr id="698" name="Google Shape;698;p48"/>
          <p:cNvSpPr/>
          <p:nvPr/>
        </p:nvSpPr>
        <p:spPr>
          <a:xfrm>
            <a:off x="5495925" y="3905250"/>
            <a:ext cx="2952900" cy="571500"/>
          </a:xfrm>
          <a:prstGeom prst="roundRect">
            <a:avLst>
              <a:gd fmla="val 13333" name="adj"/>
            </a:avLst>
          </a:prstGeom>
          <a:solidFill>
            <a:srgbClr val="FFFFFF">
              <a:alpha val="10200"/>
            </a:srgbClr>
          </a:solidFill>
          <a:ln cap="flat" cmpd="sng" w="14300">
            <a:solidFill>
              <a:srgbClr val="951F6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99" name="Google Shape;699;p48"/>
          <p:cNvSpPr/>
          <p:nvPr/>
        </p:nvSpPr>
        <p:spPr>
          <a:xfrm>
            <a:off x="5638800" y="3905250"/>
            <a:ext cx="26670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Montserrat Medium"/>
              <a:buNone/>
            </a:pPr>
            <a:r>
              <a:rPr b="0" lang="en" sz="1100">
                <a:solidFill>
                  <a:srgbClr val="FFFFFF"/>
                </a:solidFill>
                <a:latin typeface="Montserrat Medium"/>
                <a:ea typeface="Montserrat Medium"/>
                <a:cs typeface="Montserrat Medium"/>
                <a:sym typeface="Montserrat Medium"/>
              </a:rPr>
              <a:t>VP proof + embedded credentials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pic>
        <p:nvPicPr>
          <p:cNvPr id="705" name="Google Shape;705;p49"/>
          <p:cNvPicPr preferRelativeResize="0"/>
          <p:nvPr/>
        </p:nvPicPr>
        <p:blipFill rotWithShape="1">
          <a:blip r:embed="rId3">
            <a:alphaModFix/>
          </a:blip>
          <a:srcRect b="0" l="0" r="0" t="0"/>
          <a:stretch/>
        </p:blipFill>
        <p:spPr>
          <a:xfrm>
            <a:off x="0" y="0"/>
            <a:ext cx="9147362" cy="5144475"/>
          </a:xfrm>
          <a:prstGeom prst="rect">
            <a:avLst/>
          </a:prstGeom>
          <a:noFill/>
          <a:ln>
            <a:noFill/>
          </a:ln>
        </p:spPr>
      </p:pic>
      <p:sp>
        <p:nvSpPr>
          <p:cNvPr id="706" name="Google Shape;706;p49"/>
          <p:cNvSpPr/>
          <p:nvPr/>
        </p:nvSpPr>
        <p:spPr>
          <a:xfrm>
            <a:off x="4948238" y="2043113"/>
            <a:ext cx="3629100" cy="676200"/>
          </a:xfrm>
          <a:prstGeom prst="roundRect">
            <a:avLst>
              <a:gd fmla="val 16667" name="adj"/>
            </a:avLst>
          </a:prstGeom>
          <a:solidFill>
            <a:srgbClr val="6B71C1"/>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07" name="Google Shape;707;p49"/>
          <p:cNvSpPr/>
          <p:nvPr/>
        </p:nvSpPr>
        <p:spPr>
          <a:xfrm>
            <a:off x="4948238" y="1376363"/>
            <a:ext cx="3629100" cy="533400"/>
          </a:xfrm>
          <a:prstGeom prst="roundRect">
            <a:avLst>
              <a:gd fmla="val 16667" name="adj"/>
            </a:avLst>
          </a:prstGeom>
          <a:solidFill>
            <a:srgbClr val="8C2D69"/>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08" name="Google Shape;708;p49"/>
          <p:cNvSpPr/>
          <p:nvPr/>
        </p:nvSpPr>
        <p:spPr>
          <a:xfrm>
            <a:off x="566750" y="1376379"/>
            <a:ext cx="3888900" cy="3025500"/>
          </a:xfrm>
          <a:prstGeom prst="roundRect">
            <a:avLst>
              <a:gd fmla="val 16667" name="adj"/>
            </a:avLst>
          </a:prstGeom>
          <a:solidFill>
            <a:srgbClr val="3D2585"/>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09" name="Google Shape;709;p49"/>
          <p:cNvSpPr/>
          <p:nvPr/>
        </p:nvSpPr>
        <p:spPr>
          <a:xfrm>
            <a:off x="571500" y="381000"/>
            <a:ext cx="80010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3 · MODULE 8 · OPENID4VP</a:t>
            </a:r>
            <a:endParaRPr/>
          </a:p>
        </p:txBody>
      </p:sp>
      <p:sp>
        <p:nvSpPr>
          <p:cNvPr id="710" name="Google Shape;710;p49"/>
          <p:cNvSpPr/>
          <p:nvPr/>
        </p:nvSpPr>
        <p:spPr>
          <a:xfrm>
            <a:off x="571500" y="619125"/>
            <a:ext cx="8001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Montserrat"/>
              <a:buNone/>
            </a:pPr>
            <a:r>
              <a:rPr b="1" i="1" lang="en" sz="2600">
                <a:solidFill>
                  <a:srgbClr val="FFFFFF"/>
                </a:solidFill>
                <a:latin typeface="Montserrat"/>
                <a:ea typeface="Montserrat"/>
                <a:cs typeface="Montserrat"/>
                <a:sym typeface="Montserrat"/>
              </a:rPr>
              <a:t>OpenID4VP summary</a:t>
            </a:r>
            <a:endParaRPr/>
          </a:p>
        </p:txBody>
      </p:sp>
      <p:sp>
        <p:nvSpPr>
          <p:cNvPr id="711" name="Google Shape;711;p49"/>
          <p:cNvSpPr/>
          <p:nvPr/>
        </p:nvSpPr>
        <p:spPr>
          <a:xfrm>
            <a:off x="571500" y="1123950"/>
            <a:ext cx="8001000" cy="9600"/>
          </a:xfrm>
          <a:prstGeom prst="rect">
            <a:avLst/>
          </a:prstGeom>
          <a:solidFill>
            <a:srgbClr val="FFFFFF">
              <a:alpha val="2000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712" name="Google Shape;712;p49"/>
          <p:cNvPicPr preferRelativeResize="0"/>
          <p:nvPr/>
        </p:nvPicPr>
        <p:blipFill rotWithShape="1">
          <a:blip r:embed="rId4">
            <a:alphaModFix/>
          </a:blip>
          <a:srcRect b="23826" l="19138" r="18502" t="22146"/>
          <a:stretch/>
        </p:blipFill>
        <p:spPr>
          <a:xfrm>
            <a:off x="7962900" y="428625"/>
            <a:ext cx="611102" cy="334500"/>
          </a:xfrm>
          <a:prstGeom prst="rect">
            <a:avLst/>
          </a:prstGeom>
          <a:noFill/>
          <a:ln>
            <a:noFill/>
          </a:ln>
        </p:spPr>
      </p:pic>
      <p:sp>
        <p:nvSpPr>
          <p:cNvPr id="713" name="Google Shape;713;p49"/>
          <p:cNvSpPr/>
          <p:nvPr/>
        </p:nvSpPr>
        <p:spPr>
          <a:xfrm>
            <a:off x="800100" y="1609725"/>
            <a:ext cx="335280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9B8F"/>
              </a:buClr>
              <a:buSzPts val="1000"/>
              <a:buFont typeface="Montserrat"/>
              <a:buNone/>
            </a:pPr>
            <a:r>
              <a:rPr b="1" lang="en" sz="1000">
                <a:solidFill>
                  <a:srgbClr val="FF9B8F"/>
                </a:solidFill>
                <a:latin typeface="Montserrat"/>
                <a:ea typeface="Montserrat"/>
                <a:cs typeface="Montserrat"/>
                <a:sym typeface="Montserrat"/>
              </a:rPr>
              <a:t>RESPONSIBILITY BOUNDARY</a:t>
            </a:r>
            <a:endParaRPr/>
          </a:p>
          <a:p>
            <a:pPr indent="0" lvl="0" marL="0" marR="0" rtl="0" algn="l">
              <a:spcBef>
                <a:spcPts val="900"/>
              </a:spcBef>
              <a:spcAft>
                <a:spcPts val="0"/>
              </a:spcAft>
              <a:buClr>
                <a:srgbClr val="FFFFFF"/>
              </a:buClr>
              <a:buSzPts val="1500"/>
              <a:buFont typeface="Montserrat"/>
              <a:buNone/>
            </a:pPr>
            <a:r>
              <a:rPr b="1" lang="en" sz="1500">
                <a:solidFill>
                  <a:srgbClr val="FFFFFF"/>
                </a:solidFill>
                <a:latin typeface="Montserrat"/>
                <a:ea typeface="Montserrat"/>
                <a:cs typeface="Montserrat"/>
                <a:sym typeface="Montserrat"/>
              </a:rPr>
              <a:t>Verifier / relying party creates the request</a:t>
            </a:r>
            <a:endParaRPr/>
          </a:p>
          <a:p>
            <a:pPr indent="-301625" lvl="0" marL="457200" marR="0" rtl="0" algn="l">
              <a:spcBef>
                <a:spcPts val="1350"/>
              </a:spcBef>
              <a:spcAft>
                <a:spcPts val="0"/>
              </a:spcAft>
              <a:buClr>
                <a:srgbClr val="E3E8F5"/>
              </a:buClr>
              <a:buSzPts val="1150"/>
              <a:buFont typeface="Montserrat"/>
              <a:buChar char="●"/>
            </a:pPr>
            <a:r>
              <a:rPr b="0" lang="en" sz="1150">
                <a:solidFill>
                  <a:srgbClr val="E3E8F5"/>
                </a:solidFill>
                <a:latin typeface="Montserrat"/>
                <a:ea typeface="Montserrat"/>
                <a:cs typeface="Montserrat"/>
                <a:sym typeface="Montserrat"/>
              </a:rPr>
              <a:t>Wallet authenticates the request and asks consent</a:t>
            </a:r>
            <a:endParaRPr/>
          </a:p>
          <a:p>
            <a:pPr indent="-301625" lvl="0" marL="457200" marR="0" rtl="0" algn="l">
              <a:spcBef>
                <a:spcPts val="750"/>
              </a:spcBef>
              <a:spcAft>
                <a:spcPts val="0"/>
              </a:spcAft>
              <a:buClr>
                <a:srgbClr val="E3E8F5"/>
              </a:buClr>
              <a:buSzPts val="1150"/>
              <a:buFont typeface="Montserrat"/>
              <a:buChar char="●"/>
            </a:pPr>
            <a:r>
              <a:rPr b="0" lang="en" sz="1150">
                <a:solidFill>
                  <a:srgbClr val="E3E8F5"/>
                </a:solidFill>
                <a:latin typeface="Montserrat"/>
                <a:ea typeface="Montserrat"/>
                <a:cs typeface="Montserrat"/>
                <a:sym typeface="Montserrat"/>
              </a:rPr>
              <a:t>OpenID4VP library handles protocol objects + transport</a:t>
            </a:r>
            <a:endParaRPr/>
          </a:p>
          <a:p>
            <a:pPr indent="-301625" lvl="0" marL="457200" marR="0" rtl="0" algn="l">
              <a:spcBef>
                <a:spcPts val="750"/>
              </a:spcBef>
              <a:spcAft>
                <a:spcPts val="0"/>
              </a:spcAft>
              <a:buClr>
                <a:srgbClr val="E3E8F5"/>
              </a:buClr>
              <a:buSzPts val="1150"/>
              <a:buFont typeface="Montserrat"/>
              <a:buChar char="●"/>
            </a:pPr>
            <a:r>
              <a:rPr b="0" lang="en" sz="1150">
                <a:solidFill>
                  <a:srgbClr val="E3E8F5"/>
                </a:solidFill>
                <a:latin typeface="Montserrat"/>
                <a:ea typeface="Montserrat"/>
                <a:cs typeface="Montserrat"/>
                <a:sym typeface="Montserrat"/>
              </a:rPr>
              <a:t>Verify backend validates and stores the transaction</a:t>
            </a:r>
            <a:endParaRPr/>
          </a:p>
          <a:p>
            <a:pPr indent="-301625" lvl="0" marL="457200" marR="0" rtl="0" algn="l">
              <a:spcBef>
                <a:spcPts val="750"/>
              </a:spcBef>
              <a:spcAft>
                <a:spcPts val="0"/>
              </a:spcAft>
              <a:buClr>
                <a:srgbClr val="E3E8F5"/>
              </a:buClr>
              <a:buSzPts val="1150"/>
              <a:buFont typeface="Montserrat"/>
              <a:buChar char="●"/>
            </a:pPr>
            <a:r>
              <a:rPr b="0" lang="en" sz="1150">
                <a:solidFill>
                  <a:srgbClr val="E3E8F5"/>
                </a:solidFill>
                <a:latin typeface="Montserrat"/>
                <a:ea typeface="Montserrat"/>
                <a:cs typeface="Montserrat"/>
                <a:sym typeface="Montserrat"/>
              </a:rPr>
              <a:t>Relying party owns the final business decision</a:t>
            </a:r>
            <a:endParaRPr/>
          </a:p>
        </p:txBody>
      </p:sp>
      <p:pic>
        <p:nvPicPr>
          <p:cNvPr id="714" name="Google Shape;714;p49"/>
          <p:cNvPicPr preferRelativeResize="0"/>
          <p:nvPr/>
        </p:nvPicPr>
        <p:blipFill rotWithShape="1">
          <a:blip r:embed="rId5">
            <a:alphaModFix/>
          </a:blip>
          <a:srcRect b="0" l="0" r="0" t="0"/>
          <a:stretch/>
        </p:blipFill>
        <p:spPr>
          <a:xfrm>
            <a:off x="6753225" y="1905000"/>
            <a:ext cx="19200" cy="142800"/>
          </a:xfrm>
          <a:prstGeom prst="rect">
            <a:avLst/>
          </a:prstGeom>
          <a:noFill/>
          <a:ln>
            <a:noFill/>
          </a:ln>
        </p:spPr>
      </p:pic>
      <p:pic>
        <p:nvPicPr>
          <p:cNvPr id="715" name="Google Shape;715;p49"/>
          <p:cNvPicPr preferRelativeResize="0"/>
          <p:nvPr/>
        </p:nvPicPr>
        <p:blipFill rotWithShape="1">
          <a:blip r:embed="rId5">
            <a:alphaModFix/>
          </a:blip>
          <a:srcRect b="0" l="0" r="0" t="0"/>
          <a:stretch/>
        </p:blipFill>
        <p:spPr>
          <a:xfrm>
            <a:off x="6753225" y="2714625"/>
            <a:ext cx="19200" cy="142800"/>
          </a:xfrm>
          <a:prstGeom prst="rect">
            <a:avLst/>
          </a:prstGeom>
          <a:noFill/>
          <a:ln>
            <a:noFill/>
          </a:ln>
        </p:spPr>
      </p:pic>
      <p:sp>
        <p:nvSpPr>
          <p:cNvPr id="716" name="Google Shape;716;p49"/>
          <p:cNvSpPr/>
          <p:nvPr/>
        </p:nvSpPr>
        <p:spPr>
          <a:xfrm>
            <a:off x="4953000" y="1381125"/>
            <a:ext cx="3619500" cy="52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VERIFIER / RP</a:t>
            </a:r>
            <a:endParaRPr/>
          </a:p>
          <a:p>
            <a:pPr indent="0" lvl="0" marL="0" marR="0" rtl="0" algn="ctr">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request + policy</a:t>
            </a:r>
            <a:endParaRPr/>
          </a:p>
        </p:txBody>
      </p:sp>
      <p:sp>
        <p:nvSpPr>
          <p:cNvPr id="717" name="Google Shape;717;p49"/>
          <p:cNvSpPr/>
          <p:nvPr/>
        </p:nvSpPr>
        <p:spPr>
          <a:xfrm>
            <a:off x="4953000" y="2047875"/>
            <a:ext cx="3619500" cy="66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ontserrat"/>
              <a:buNone/>
            </a:pPr>
            <a:r>
              <a:rPr b="1" lang="en" sz="1300">
                <a:solidFill>
                  <a:srgbClr val="FFFFFF"/>
                </a:solidFill>
                <a:latin typeface="Montserrat"/>
                <a:ea typeface="Montserrat"/>
                <a:cs typeface="Montserrat"/>
                <a:sym typeface="Montserrat"/>
              </a:rPr>
              <a:t>WALLET + OID4VP</a:t>
            </a:r>
            <a:endParaRPr/>
          </a:p>
          <a:p>
            <a:pPr indent="0" lvl="0" marL="0" marR="0" rtl="0" algn="ctr">
              <a:spcBef>
                <a:spcPts val="225"/>
              </a:spcBef>
              <a:spcAft>
                <a:spcPts val="0"/>
              </a:spcAft>
              <a:buClr>
                <a:srgbClr val="C7D0E8"/>
              </a:buClr>
              <a:buSzPts val="1050"/>
              <a:buFont typeface="Montserrat Medium"/>
              <a:buNone/>
            </a:pPr>
            <a:r>
              <a:rPr b="0" lang="en" sz="1050">
                <a:solidFill>
                  <a:srgbClr val="C7D0E8"/>
                </a:solidFill>
                <a:latin typeface="Montserrat Medium"/>
                <a:ea typeface="Montserrat Medium"/>
                <a:cs typeface="Montserrat Medium"/>
                <a:sym typeface="Montserrat Medium"/>
              </a:rPr>
              <a:t>consent + presentation</a:t>
            </a:r>
            <a:endParaRPr/>
          </a:p>
        </p:txBody>
      </p:sp>
      <p:sp>
        <p:nvSpPr>
          <p:cNvPr id="718" name="Google Shape;718;p49"/>
          <p:cNvSpPr/>
          <p:nvPr/>
        </p:nvSpPr>
        <p:spPr>
          <a:xfrm>
            <a:off x="4953000" y="2857500"/>
            <a:ext cx="3619500" cy="666900"/>
          </a:xfrm>
          <a:prstGeom prst="roundRect">
            <a:avLst>
              <a:gd fmla="val 11428" name="adj"/>
            </a:avLst>
          </a:prstGeom>
          <a:gradFill>
            <a:gsLst>
              <a:gs pos="0">
                <a:srgbClr val="E8362D"/>
              </a:gs>
              <a:gs pos="100000">
                <a:srgbClr val="7C3AED"/>
              </a:gs>
            </a:gsLst>
            <a:lin ang="0" scaled="0"/>
          </a:gra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19" name="Google Shape;719;p49"/>
          <p:cNvSpPr/>
          <p:nvPr/>
        </p:nvSpPr>
        <p:spPr>
          <a:xfrm>
            <a:off x="4953000" y="2855013"/>
            <a:ext cx="3619500" cy="66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ontserrat"/>
              <a:buNone/>
            </a:pPr>
            <a:r>
              <a:rPr b="1" lang="en" sz="1300">
                <a:solidFill>
                  <a:schemeClr val="lt1"/>
                </a:solidFill>
                <a:latin typeface="Montserrat"/>
                <a:ea typeface="Montserrat"/>
                <a:cs typeface="Montserrat"/>
                <a:sym typeface="Montserrat"/>
              </a:rPr>
              <a:t>VERIFY + VC VERIFIER</a:t>
            </a:r>
            <a:endParaRPr/>
          </a:p>
          <a:p>
            <a:pPr indent="0" lvl="0" marL="0" marR="0" rtl="0" algn="ctr">
              <a:spcBef>
                <a:spcPts val="225"/>
              </a:spcBef>
              <a:spcAft>
                <a:spcPts val="0"/>
              </a:spcAft>
              <a:buClr>
                <a:srgbClr val="F3E3F9"/>
              </a:buClr>
              <a:buSzPts val="1050"/>
              <a:buFont typeface="Montserrat Medium"/>
              <a:buNone/>
            </a:pPr>
            <a:r>
              <a:rPr b="0" lang="en" sz="1050">
                <a:solidFill>
                  <a:schemeClr val="lt1"/>
                </a:solidFill>
                <a:latin typeface="Montserrat Medium"/>
                <a:ea typeface="Montserrat Medium"/>
                <a:cs typeface="Montserrat Medium"/>
                <a:sym typeface="Montserrat Medium"/>
              </a:rPr>
              <a:t>validation + result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4" name="Shape 724"/>
        <p:cNvGrpSpPr/>
        <p:nvPr/>
      </p:nvGrpSpPr>
      <p:grpSpPr>
        <a:xfrm>
          <a:off x="0" y="0"/>
          <a:ext cx="0" cy="0"/>
          <a:chOff x="0" y="0"/>
          <a:chExt cx="0" cy="0"/>
        </a:xfrm>
      </p:grpSpPr>
      <p:pic>
        <p:nvPicPr>
          <p:cNvPr id="725" name="Google Shape;725;p50"/>
          <p:cNvPicPr preferRelativeResize="0"/>
          <p:nvPr/>
        </p:nvPicPr>
        <p:blipFill rotWithShape="1">
          <a:blip r:embed="rId3">
            <a:alphaModFix/>
          </a:blip>
          <a:srcRect b="0" l="0" r="0" t="0"/>
          <a:stretch/>
        </p:blipFill>
        <p:spPr>
          <a:xfrm>
            <a:off x="0" y="0"/>
            <a:ext cx="9147362" cy="5144475"/>
          </a:xfrm>
          <a:prstGeom prst="rect">
            <a:avLst/>
          </a:prstGeom>
          <a:noFill/>
          <a:ln>
            <a:noFill/>
          </a:ln>
        </p:spPr>
      </p:pic>
      <p:sp>
        <p:nvSpPr>
          <p:cNvPr id="726" name="Google Shape;726;p50"/>
          <p:cNvSpPr/>
          <p:nvPr/>
        </p:nvSpPr>
        <p:spPr>
          <a:xfrm>
            <a:off x="571500" y="1333500"/>
            <a:ext cx="3905400" cy="3048000"/>
          </a:xfrm>
          <a:prstGeom prst="roundRect">
            <a:avLst>
              <a:gd fmla="val 5000" name="adj"/>
            </a:avLst>
          </a:prstGeom>
          <a:solidFill>
            <a:srgbClr val="3D258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7" name="Google Shape;727;p50"/>
          <p:cNvSpPr/>
          <p:nvPr/>
        </p:nvSpPr>
        <p:spPr>
          <a:xfrm>
            <a:off x="4762500" y="1333500"/>
            <a:ext cx="3905400" cy="3048000"/>
          </a:xfrm>
          <a:prstGeom prst="roundRect">
            <a:avLst>
              <a:gd fmla="val 5000" name="adj"/>
            </a:avLst>
          </a:prstGeom>
          <a:solidFill>
            <a:srgbClr val="8C2D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28" name="Google Shape;728;p50"/>
          <p:cNvPicPr preferRelativeResize="0"/>
          <p:nvPr/>
        </p:nvPicPr>
        <p:blipFill rotWithShape="1">
          <a:blip r:embed="rId4">
            <a:alphaModFix amt="10000"/>
          </a:blip>
          <a:srcRect b="0" l="0" r="0" t="0"/>
          <a:stretch/>
        </p:blipFill>
        <p:spPr>
          <a:xfrm>
            <a:off x="5073833" y="2853243"/>
            <a:ext cx="4207772" cy="2603598"/>
          </a:xfrm>
          <a:prstGeom prst="rect">
            <a:avLst/>
          </a:prstGeom>
          <a:noFill/>
          <a:ln>
            <a:noFill/>
          </a:ln>
        </p:spPr>
      </p:pic>
      <p:sp>
        <p:nvSpPr>
          <p:cNvPr id="729" name="Google Shape;729;p50"/>
          <p:cNvSpPr/>
          <p:nvPr/>
        </p:nvSpPr>
        <p:spPr>
          <a:xfrm>
            <a:off x="571500" y="381000"/>
            <a:ext cx="8001000" cy="23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0E8"/>
              </a:buClr>
              <a:buSzPts val="1100"/>
              <a:buFont typeface="Montserrat"/>
              <a:buNone/>
            </a:pPr>
            <a:r>
              <a:rPr b="1" lang="en" sz="1100">
                <a:solidFill>
                  <a:srgbClr val="C7D0E8"/>
                </a:solidFill>
                <a:latin typeface="Montserrat"/>
                <a:ea typeface="Montserrat"/>
                <a:cs typeface="Montserrat"/>
                <a:sym typeface="Montserrat"/>
              </a:rPr>
              <a:t>DAY 3 · MODULE 8 · OPENID4VP</a:t>
            </a:r>
            <a:endParaRPr/>
          </a:p>
        </p:txBody>
      </p:sp>
      <p:sp>
        <p:nvSpPr>
          <p:cNvPr id="730" name="Google Shape;730;p50"/>
          <p:cNvSpPr/>
          <p:nvPr/>
        </p:nvSpPr>
        <p:spPr>
          <a:xfrm>
            <a:off x="857250" y="1666875"/>
            <a:ext cx="3333900" cy="2381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9B8F"/>
                </a:solidFill>
                <a:latin typeface="Montserrat"/>
                <a:ea typeface="Montserrat"/>
                <a:cs typeface="Montserrat"/>
                <a:sym typeface="Montserrat"/>
              </a:rPr>
              <a:t>OPENID4VP 1.0</a:t>
            </a:r>
            <a:endParaRPr b="1" sz="1100">
              <a:solidFill>
                <a:srgbClr val="FF9B8F"/>
              </a:solidFill>
              <a:latin typeface="Montserrat"/>
              <a:ea typeface="Montserrat"/>
              <a:cs typeface="Montserrat"/>
              <a:sym typeface="Montserrat"/>
            </a:endParaRPr>
          </a:p>
          <a:p>
            <a:pPr indent="0" lvl="0" marL="0" rtl="0" algn="l">
              <a:spcBef>
                <a:spcPts val="1800"/>
              </a:spcBef>
              <a:spcAft>
                <a:spcPts val="0"/>
              </a:spcAft>
              <a:buNone/>
            </a:pPr>
            <a:r>
              <a:rPr b="0" lang="en" sz="1350">
                <a:solidFill>
                  <a:srgbClr val="E3E8F5"/>
                </a:solidFill>
                <a:latin typeface="Montserrat Medium"/>
                <a:ea typeface="Montserrat Medium"/>
                <a:cs typeface="Montserrat Medium"/>
                <a:sym typeface="Montserrat Medium"/>
              </a:rPr>
              <a:t>• Authorization request / response</a:t>
            </a:r>
            <a:endParaRPr b="0" sz="1350">
              <a:solidFill>
                <a:srgbClr val="E3E8F5"/>
              </a:solidFill>
              <a:latin typeface="Montserrat Medium"/>
              <a:ea typeface="Montserrat Medium"/>
              <a:cs typeface="Montserrat Medium"/>
              <a:sym typeface="Montserrat Medium"/>
            </a:endParaRPr>
          </a:p>
          <a:p>
            <a:pPr indent="0" lvl="0" marL="0" rtl="0" algn="l">
              <a:spcBef>
                <a:spcPts val="1200"/>
              </a:spcBef>
              <a:spcAft>
                <a:spcPts val="0"/>
              </a:spcAft>
              <a:buNone/>
            </a:pPr>
            <a:r>
              <a:rPr b="0" lang="en" sz="1350">
                <a:solidFill>
                  <a:srgbClr val="E3E8F5"/>
                </a:solidFill>
                <a:latin typeface="Montserrat Medium"/>
                <a:ea typeface="Montserrat Medium"/>
                <a:cs typeface="Montserrat Medium"/>
                <a:sym typeface="Montserrat Medium"/>
              </a:rPr>
              <a:t>• vp_token + DCQL</a:t>
            </a:r>
            <a:endParaRPr b="0" sz="1350">
              <a:solidFill>
                <a:srgbClr val="E3E8F5"/>
              </a:solidFill>
              <a:latin typeface="Montserrat Medium"/>
              <a:ea typeface="Montserrat Medium"/>
              <a:cs typeface="Montserrat Medium"/>
              <a:sym typeface="Montserrat Medium"/>
            </a:endParaRPr>
          </a:p>
          <a:p>
            <a:pPr indent="0" lvl="0" marL="0" rtl="0" algn="l">
              <a:spcBef>
                <a:spcPts val="1200"/>
              </a:spcBef>
              <a:spcAft>
                <a:spcPts val="0"/>
              </a:spcAft>
              <a:buNone/>
            </a:pPr>
            <a:r>
              <a:rPr b="0" lang="en" sz="1350">
                <a:solidFill>
                  <a:srgbClr val="E3E8F5"/>
                </a:solidFill>
                <a:latin typeface="Montserrat Medium"/>
                <a:ea typeface="Montserrat Medium"/>
                <a:cs typeface="Montserrat Medium"/>
                <a:sym typeface="Montserrat Medium"/>
              </a:rPr>
              <a:t>• Same-device + cross-device</a:t>
            </a:r>
            <a:endParaRPr b="0" sz="1350">
              <a:solidFill>
                <a:srgbClr val="E3E8F5"/>
              </a:solidFill>
              <a:latin typeface="Montserrat Medium"/>
              <a:ea typeface="Montserrat Medium"/>
              <a:cs typeface="Montserrat Medium"/>
              <a:sym typeface="Montserrat Medium"/>
            </a:endParaRPr>
          </a:p>
        </p:txBody>
      </p:sp>
      <p:sp>
        <p:nvSpPr>
          <p:cNvPr id="731" name="Google Shape;731;p50"/>
          <p:cNvSpPr/>
          <p:nvPr/>
        </p:nvSpPr>
        <p:spPr>
          <a:xfrm>
            <a:off x="5048250" y="1666875"/>
            <a:ext cx="3333900" cy="2381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E3A9F0"/>
                </a:solidFill>
                <a:latin typeface="Montserrat"/>
                <a:ea typeface="Montserrat"/>
                <a:cs typeface="Montserrat"/>
                <a:sym typeface="Montserrat"/>
              </a:rPr>
              <a:t>RELEASED INJI LIBRARIES</a:t>
            </a:r>
            <a:endParaRPr b="1" sz="1100">
              <a:solidFill>
                <a:srgbClr val="E3A9F0"/>
              </a:solidFill>
              <a:latin typeface="Montserrat"/>
              <a:ea typeface="Montserrat"/>
              <a:cs typeface="Montserrat"/>
              <a:sym typeface="Montserrat"/>
            </a:endParaRPr>
          </a:p>
          <a:p>
            <a:pPr indent="0" lvl="0" marL="0" rtl="0" algn="l">
              <a:spcBef>
                <a:spcPts val="1800"/>
              </a:spcBef>
              <a:spcAft>
                <a:spcPts val="0"/>
              </a:spcAft>
              <a:buNone/>
            </a:pPr>
            <a:r>
              <a:rPr b="0" lang="en" sz="1350">
                <a:solidFill>
                  <a:srgbClr val="E3E8F5"/>
                </a:solidFill>
                <a:latin typeface="Montserrat Medium"/>
                <a:ea typeface="Montserrat Medium"/>
                <a:cs typeface="Montserrat Medium"/>
                <a:sym typeface="Montserrat Medium"/>
              </a:rPr>
              <a:t>• Kotlin v0.7.0</a:t>
            </a:r>
            <a:endParaRPr b="0" sz="1350">
              <a:solidFill>
                <a:srgbClr val="E3E8F5"/>
              </a:solidFill>
              <a:latin typeface="Montserrat Medium"/>
              <a:ea typeface="Montserrat Medium"/>
              <a:cs typeface="Montserrat Medium"/>
              <a:sym typeface="Montserrat Medium"/>
            </a:endParaRPr>
          </a:p>
          <a:p>
            <a:pPr indent="0" lvl="0" marL="0" rtl="0" algn="l">
              <a:spcBef>
                <a:spcPts val="1200"/>
              </a:spcBef>
              <a:spcAft>
                <a:spcPts val="0"/>
              </a:spcAft>
              <a:buNone/>
            </a:pPr>
            <a:r>
              <a:rPr b="0" lang="en" sz="1350">
                <a:solidFill>
                  <a:srgbClr val="E3E8F5"/>
                </a:solidFill>
                <a:latin typeface="Montserrat Medium"/>
                <a:ea typeface="Montserrat Medium"/>
                <a:cs typeface="Montserrat Medium"/>
                <a:sym typeface="Montserrat Medium"/>
              </a:rPr>
              <a:t>• Swift v0.7.1</a:t>
            </a:r>
            <a:endParaRPr b="0" sz="1350">
              <a:solidFill>
                <a:srgbClr val="E3E8F5"/>
              </a:solidFill>
              <a:latin typeface="Montserrat Medium"/>
              <a:ea typeface="Montserrat Medium"/>
              <a:cs typeface="Montserrat Medium"/>
              <a:sym typeface="Montserrat Medium"/>
            </a:endParaRPr>
          </a:p>
          <a:p>
            <a:pPr indent="0" lvl="0" marL="0" rtl="0" algn="l">
              <a:spcBef>
                <a:spcPts val="1200"/>
              </a:spcBef>
              <a:spcAft>
                <a:spcPts val="0"/>
              </a:spcAft>
              <a:buNone/>
            </a:pPr>
            <a:r>
              <a:rPr b="0" lang="en" sz="1350">
                <a:solidFill>
                  <a:srgbClr val="E3E8F5"/>
                </a:solidFill>
                <a:latin typeface="Montserrat Medium"/>
                <a:ea typeface="Montserrat Medium"/>
                <a:cs typeface="Montserrat Medium"/>
                <a:sym typeface="Montserrat Medium"/>
              </a:rPr>
              <a:t>• Draft 21 / 23</a:t>
            </a:r>
            <a:endParaRPr b="0" sz="1350">
              <a:solidFill>
                <a:srgbClr val="E3E8F5"/>
              </a:solidFill>
              <a:latin typeface="Montserrat Medium"/>
              <a:ea typeface="Montserrat Medium"/>
              <a:cs typeface="Montserrat Medium"/>
              <a:sym typeface="Montserrat Medium"/>
            </a:endParaRPr>
          </a:p>
          <a:p>
            <a:pPr indent="0" lvl="0" marL="0" rtl="0" algn="l">
              <a:spcBef>
                <a:spcPts val="1200"/>
              </a:spcBef>
              <a:spcAft>
                <a:spcPts val="0"/>
              </a:spcAft>
              <a:buNone/>
            </a:pPr>
            <a:r>
              <a:rPr b="0" lang="en" sz="1350">
                <a:solidFill>
                  <a:srgbClr val="E3E8F5"/>
                </a:solidFill>
                <a:latin typeface="Montserrat Medium"/>
                <a:ea typeface="Montserrat Medium"/>
                <a:cs typeface="Montserrat Medium"/>
                <a:sym typeface="Montserrat Medium"/>
              </a:rPr>
              <a:t>• Presentation Definition flow</a:t>
            </a:r>
            <a:endParaRPr b="0" sz="1350">
              <a:solidFill>
                <a:srgbClr val="E3E8F5"/>
              </a:solidFill>
              <a:latin typeface="Montserrat Medium"/>
              <a:ea typeface="Montserrat Medium"/>
              <a:cs typeface="Montserrat Medium"/>
              <a:sym typeface="Montserrat Medium"/>
            </a:endParaRPr>
          </a:p>
        </p:txBody>
      </p:sp>
      <p:sp>
        <p:nvSpPr>
          <p:cNvPr id="732" name="Google Shape;732;p50"/>
          <p:cNvSpPr/>
          <p:nvPr/>
        </p:nvSpPr>
        <p:spPr>
          <a:xfrm>
            <a:off x="571500" y="619125"/>
            <a:ext cx="8001000" cy="4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Montserrat"/>
              <a:buNone/>
            </a:pPr>
            <a:r>
              <a:rPr b="1" i="1" lang="en" sz="2600">
                <a:solidFill>
                  <a:srgbClr val="FFFFFF"/>
                </a:solidFill>
                <a:latin typeface="Montserrat"/>
                <a:ea typeface="Montserrat"/>
                <a:cs typeface="Montserrat"/>
                <a:sym typeface="Montserrat"/>
              </a:rPr>
              <a:t>Inji status</a:t>
            </a:r>
            <a:endParaRPr/>
          </a:p>
        </p:txBody>
      </p:sp>
      <p:sp>
        <p:nvSpPr>
          <p:cNvPr id="733" name="Google Shape;733;p50"/>
          <p:cNvSpPr/>
          <p:nvPr/>
        </p:nvSpPr>
        <p:spPr>
          <a:xfrm>
            <a:off x="571500" y="1123950"/>
            <a:ext cx="8001000" cy="9600"/>
          </a:xfrm>
          <a:prstGeom prst="rect">
            <a:avLst/>
          </a:prstGeom>
          <a:solidFill>
            <a:srgbClr val="FFFFFF">
              <a:alpha val="20000"/>
            </a:srgbClr>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734" name="Google Shape;734;p50"/>
          <p:cNvPicPr preferRelativeResize="0"/>
          <p:nvPr/>
        </p:nvPicPr>
        <p:blipFill rotWithShape="1">
          <a:blip r:embed="rId5">
            <a:alphaModFix/>
          </a:blip>
          <a:srcRect b="23808" l="19146" r="18491" t="22155"/>
          <a:stretch/>
        </p:blipFill>
        <p:spPr>
          <a:xfrm>
            <a:off x="8058150" y="333375"/>
            <a:ext cx="611102" cy="334500"/>
          </a:xfrm>
          <a:prstGeom prst="rect">
            <a:avLst/>
          </a:prstGeom>
          <a:noFill/>
          <a:ln>
            <a:noFill/>
          </a:ln>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cxnSp>
        <p:nvCxnSpPr>
          <p:cNvPr id="3" name="Connector 2"/>
          <p:cNvCxnSpPr/>
          <p:nvPr/>
        </p:nvCxnSpPr>
        <p:spPr>
          <a:xfrm>
            <a:off x="429768" y="384048"/>
            <a:ext cx="0" cy="4288536"/>
          </a:xfrm>
          <a:prstGeom prst="line">
            <a:avLst/>
          </a:prstGeom>
          <a:ln w="28575">
            <a:solidFill>
              <a:srgbClr val="F2680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384048"/>
            <a:ext cx="8010144" cy="283464"/>
          </a:xfrm>
          <a:prstGeom prst="rect">
            <a:avLst/>
          </a:prstGeom>
          <a:noFill/>
        </p:spPr>
        <p:txBody>
          <a:bodyPr wrap="square" lIns="0" rIns="0" tIns="0" bIns="0" anchor="t">
            <a:spAutoFit/>
          </a:bodyPr>
          <a:lstStyle/>
          <a:p>
            <a:pPr algn="l">
              <a:lnSpc>
                <a:spcPct val="120000"/>
              </a:lnSpc>
            </a:pPr>
            <a:r>
              <a:rPr sz="1000" b="1" i="0">
                <a:solidFill>
                  <a:srgbClr val="C7D0E8"/>
                </a:solidFill>
                <a:latin typeface="Montserrat"/>
              </a:rPr>
              <a:t>DAY 3 · MODULE 8 · SELECTIVE DISCLOSURE</a:t>
            </a:r>
          </a:p>
        </p:txBody>
      </p:sp>
      <p:sp>
        <p:nvSpPr>
          <p:cNvPr id="5" name="TextBox 4"/>
          <p:cNvSpPr txBox="1"/>
          <p:nvPr/>
        </p:nvSpPr>
        <p:spPr>
          <a:xfrm>
            <a:off x="566928" y="612648"/>
            <a:ext cx="8010144" cy="475488"/>
          </a:xfrm>
          <a:prstGeom prst="rect">
            <a:avLst/>
          </a:prstGeom>
          <a:noFill/>
        </p:spPr>
        <p:txBody>
          <a:bodyPr wrap="square" lIns="0" rIns="0" tIns="0" bIns="0" anchor="t">
            <a:spAutoFit/>
          </a:bodyPr>
          <a:lstStyle/>
          <a:p>
            <a:pPr algn="l">
              <a:lnSpc>
                <a:spcPct val="120000"/>
              </a:lnSpc>
            </a:pPr>
            <a:r>
              <a:rPr sz="2300" b="1" i="1">
                <a:solidFill>
                  <a:srgbClr val="FFFFFF"/>
                </a:solidFill>
                <a:latin typeface="Montserrat"/>
              </a:rPr>
              <a:t>What the holder actually sends</a:t>
            </a:r>
          </a:p>
        </p:txBody>
      </p:sp>
      <p:pic>
        <p:nvPicPr>
          <p:cNvPr id="6" name="Picture 5" descr="image.png"/>
          <p:cNvPicPr>
            <a:picLocks noChangeAspect="1"/>
          </p:cNvPicPr>
          <p:nvPr/>
        </p:nvPicPr>
        <p:blipFill>
          <a:blip r:embed="rId3"/>
          <a:stretch>
            <a:fillRect/>
          </a:stretch>
        </p:blipFill>
        <p:spPr>
          <a:xfrm>
            <a:off x="8247888" y="237744"/>
            <a:ext cx="612648" cy="329184"/>
          </a:xfrm>
          <a:prstGeom prst="rect">
            <a:avLst/>
          </a:prstGeom>
        </p:spPr>
      </p:pic>
      <p:sp>
        <p:nvSpPr>
          <p:cNvPr id="7" name="TextBox 6"/>
          <p:cNvSpPr txBox="1"/>
          <p:nvPr/>
        </p:nvSpPr>
        <p:spPr>
          <a:xfrm>
            <a:off x="566928" y="1188720"/>
            <a:ext cx="8010144" cy="164592"/>
          </a:xfrm>
          <a:prstGeom prst="rect">
            <a:avLst/>
          </a:prstGeom>
          <a:noFill/>
        </p:spPr>
        <p:txBody>
          <a:bodyPr wrap="square" lIns="0" rIns="0" tIns="0" bIns="0" anchor="t">
            <a:spAutoFit/>
          </a:bodyPr>
          <a:lstStyle/>
          <a:p>
            <a:pPr algn="l">
              <a:lnSpc>
                <a:spcPct val="120000"/>
              </a:lnSpc>
            </a:pPr>
            <a:r>
              <a:rPr sz="780" b="1" i="0">
                <a:solidFill>
                  <a:srgbClr val="8D98B8"/>
                </a:solidFill>
                <a:latin typeface="Montserrat"/>
              </a:rPr>
              <a:t>AS ISSUED — every disclosure travels with the credential</a:t>
            </a:r>
          </a:p>
        </p:txBody>
      </p:sp>
      <p:sp>
        <p:nvSpPr>
          <p:cNvPr id="8" name="Rounded Rectangle 7"/>
          <p:cNvSpPr/>
          <p:nvPr/>
        </p:nvSpPr>
        <p:spPr>
          <a:xfrm>
            <a:off x="566928" y="1353312"/>
            <a:ext cx="1060704" cy="420624"/>
          </a:xfrm>
          <a:prstGeom prst="roundRect">
            <a:avLst>
              <a:gd name="adj" fmla="val 6000"/>
            </a:avLst>
          </a:prstGeom>
          <a:solidFill>
            <a:srgbClr val="FFFFFF">
              <a:alpha val="9000"/>
            </a:srgbClr>
          </a:solidFill>
          <a:ln w="12700">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12648" y="1353312"/>
            <a:ext cx="969263" cy="420624"/>
          </a:xfrm>
          <a:prstGeom prst="rect">
            <a:avLst/>
          </a:prstGeom>
          <a:noFill/>
        </p:spPr>
        <p:txBody>
          <a:bodyPr wrap="square" lIns="0" rIns="0" tIns="0" bIns="0" anchor="ctr">
            <a:spAutoFit/>
          </a:bodyPr>
          <a:lstStyle/>
          <a:p>
            <a:pPr algn="ctr">
              <a:lnSpc>
                <a:spcPct val="108000"/>
              </a:lnSpc>
            </a:pPr>
            <a:r>
              <a:rPr sz="740" b="1" i="0">
                <a:solidFill>
                  <a:srgbClr val="FFFFFF"/>
                </a:solidFill>
                <a:latin typeface="Roboto Mono"/>
              </a:rPr>
              <a:t>Issuer-signed
JWT</a:t>
            </a:r>
          </a:p>
        </p:txBody>
      </p:sp>
      <p:sp>
        <p:nvSpPr>
          <p:cNvPr id="10" name="TextBox 9"/>
          <p:cNvSpPr txBox="1"/>
          <p:nvPr/>
        </p:nvSpPr>
        <p:spPr>
          <a:xfrm>
            <a:off x="1627631" y="1353312"/>
            <a:ext cx="105156" cy="420624"/>
          </a:xfrm>
          <a:prstGeom prst="rect">
            <a:avLst/>
          </a:prstGeom>
          <a:noFill/>
        </p:spPr>
        <p:txBody>
          <a:bodyPr wrap="none" lIns="0" rIns="0" tIns="0" bIns="0" anchor="ctr">
            <a:spAutoFit/>
          </a:bodyPr>
          <a:lstStyle/>
          <a:p>
            <a:pPr algn="ctr">
              <a:lnSpc>
                <a:spcPct val="120000"/>
              </a:lnSpc>
            </a:pPr>
            <a:r>
              <a:rPr sz="1100" b="1" i="0">
                <a:solidFill>
                  <a:srgbClr val="F1752F"/>
                </a:solidFill>
                <a:latin typeface="Roboto Mono"/>
              </a:rPr>
              <a:t>~</a:t>
            </a:r>
          </a:p>
        </p:txBody>
      </p:sp>
      <p:sp>
        <p:nvSpPr>
          <p:cNvPr id="11" name="Rounded Rectangle 10"/>
          <p:cNvSpPr/>
          <p:nvPr/>
        </p:nvSpPr>
        <p:spPr>
          <a:xfrm>
            <a:off x="1732788" y="1353312"/>
            <a:ext cx="1060704" cy="420624"/>
          </a:xfrm>
          <a:prstGeom prst="roundRect">
            <a:avLst>
              <a:gd name="adj" fmla="val 6000"/>
            </a:avLst>
          </a:prstGeom>
          <a:solidFill>
            <a:srgbClr val="FFFFFF">
              <a:alpha val="9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778508" y="1353312"/>
            <a:ext cx="969263" cy="420624"/>
          </a:xfrm>
          <a:prstGeom prst="rect">
            <a:avLst/>
          </a:prstGeom>
          <a:noFill/>
        </p:spPr>
        <p:txBody>
          <a:bodyPr wrap="square" lIns="0" rIns="0" tIns="0" bIns="0" anchor="ctr">
            <a:spAutoFit/>
          </a:bodyPr>
          <a:lstStyle/>
          <a:p>
            <a:pPr algn="ctr">
              <a:lnSpc>
                <a:spcPct val="108000"/>
              </a:lnSpc>
            </a:pPr>
            <a:r>
              <a:rPr sz="740" b="1" i="0">
                <a:solidFill>
                  <a:srgbClr val="FFFFFF"/>
                </a:solidFill>
                <a:latin typeface="Roboto Mono"/>
              </a:rPr>
              <a:t>given_name</a:t>
            </a:r>
          </a:p>
        </p:txBody>
      </p:sp>
      <p:sp>
        <p:nvSpPr>
          <p:cNvPr id="13" name="TextBox 12"/>
          <p:cNvSpPr txBox="1"/>
          <p:nvPr/>
        </p:nvSpPr>
        <p:spPr>
          <a:xfrm>
            <a:off x="2793491" y="1353312"/>
            <a:ext cx="105156" cy="420624"/>
          </a:xfrm>
          <a:prstGeom prst="rect">
            <a:avLst/>
          </a:prstGeom>
          <a:noFill/>
        </p:spPr>
        <p:txBody>
          <a:bodyPr wrap="none" lIns="0" rIns="0" tIns="0" bIns="0" anchor="ctr">
            <a:spAutoFit/>
          </a:bodyPr>
          <a:lstStyle/>
          <a:p>
            <a:pPr algn="ctr">
              <a:lnSpc>
                <a:spcPct val="120000"/>
              </a:lnSpc>
            </a:pPr>
            <a:r>
              <a:rPr sz="1100" b="1" i="0">
                <a:solidFill>
                  <a:srgbClr val="F1752F"/>
                </a:solidFill>
                <a:latin typeface="Roboto Mono"/>
              </a:rPr>
              <a:t>~</a:t>
            </a:r>
          </a:p>
        </p:txBody>
      </p:sp>
      <p:sp>
        <p:nvSpPr>
          <p:cNvPr id="14" name="Rounded Rectangle 13"/>
          <p:cNvSpPr/>
          <p:nvPr/>
        </p:nvSpPr>
        <p:spPr>
          <a:xfrm>
            <a:off x="2898648" y="1353312"/>
            <a:ext cx="1060704" cy="420624"/>
          </a:xfrm>
          <a:prstGeom prst="roundRect">
            <a:avLst>
              <a:gd name="adj" fmla="val 6000"/>
            </a:avLst>
          </a:prstGeom>
          <a:solidFill>
            <a:srgbClr val="FFFFFF">
              <a:alpha val="9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44368" y="1353312"/>
            <a:ext cx="969263" cy="420624"/>
          </a:xfrm>
          <a:prstGeom prst="rect">
            <a:avLst/>
          </a:prstGeom>
          <a:noFill/>
        </p:spPr>
        <p:txBody>
          <a:bodyPr wrap="square" lIns="0" rIns="0" tIns="0" bIns="0" anchor="ctr">
            <a:spAutoFit/>
          </a:bodyPr>
          <a:lstStyle/>
          <a:p>
            <a:pPr algn="ctr">
              <a:lnSpc>
                <a:spcPct val="108000"/>
              </a:lnSpc>
            </a:pPr>
            <a:r>
              <a:rPr sz="740" b="1" i="0">
                <a:solidFill>
                  <a:srgbClr val="FFFFFF"/>
                </a:solidFill>
                <a:latin typeface="Roboto Mono"/>
              </a:rPr>
              <a:t>family_name</a:t>
            </a:r>
          </a:p>
        </p:txBody>
      </p:sp>
      <p:sp>
        <p:nvSpPr>
          <p:cNvPr id="16" name="TextBox 15"/>
          <p:cNvSpPr txBox="1"/>
          <p:nvPr/>
        </p:nvSpPr>
        <p:spPr>
          <a:xfrm>
            <a:off x="3959352" y="1353312"/>
            <a:ext cx="105156" cy="420624"/>
          </a:xfrm>
          <a:prstGeom prst="rect">
            <a:avLst/>
          </a:prstGeom>
          <a:noFill/>
        </p:spPr>
        <p:txBody>
          <a:bodyPr wrap="none" lIns="0" rIns="0" tIns="0" bIns="0" anchor="ctr">
            <a:spAutoFit/>
          </a:bodyPr>
          <a:lstStyle/>
          <a:p>
            <a:pPr algn="ctr">
              <a:lnSpc>
                <a:spcPct val="120000"/>
              </a:lnSpc>
            </a:pPr>
            <a:r>
              <a:rPr sz="1100" b="1" i="0">
                <a:solidFill>
                  <a:srgbClr val="F1752F"/>
                </a:solidFill>
                <a:latin typeface="Roboto Mono"/>
              </a:rPr>
              <a:t>~</a:t>
            </a:r>
          </a:p>
        </p:txBody>
      </p:sp>
      <p:sp>
        <p:nvSpPr>
          <p:cNvPr id="17" name="Rounded Rectangle 16"/>
          <p:cNvSpPr/>
          <p:nvPr/>
        </p:nvSpPr>
        <p:spPr>
          <a:xfrm>
            <a:off x="4064507" y="1353312"/>
            <a:ext cx="1060704" cy="420624"/>
          </a:xfrm>
          <a:prstGeom prst="roundRect">
            <a:avLst>
              <a:gd name="adj" fmla="val 6000"/>
            </a:avLst>
          </a:prstGeom>
          <a:solidFill>
            <a:srgbClr val="FFFFFF">
              <a:alpha val="9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110227" y="1353312"/>
            <a:ext cx="969263" cy="420624"/>
          </a:xfrm>
          <a:prstGeom prst="rect">
            <a:avLst/>
          </a:prstGeom>
          <a:noFill/>
        </p:spPr>
        <p:txBody>
          <a:bodyPr wrap="square" lIns="0" rIns="0" tIns="0" bIns="0" anchor="ctr">
            <a:spAutoFit/>
          </a:bodyPr>
          <a:lstStyle/>
          <a:p>
            <a:pPr algn="ctr">
              <a:lnSpc>
                <a:spcPct val="108000"/>
              </a:lnSpc>
            </a:pPr>
            <a:r>
              <a:rPr sz="740" b="1" i="0">
                <a:solidFill>
                  <a:srgbClr val="FFFFFF"/>
                </a:solidFill>
                <a:latin typeface="Roboto Mono"/>
              </a:rPr>
              <a:t>birthdate</a:t>
            </a:r>
          </a:p>
        </p:txBody>
      </p:sp>
      <p:sp>
        <p:nvSpPr>
          <p:cNvPr id="19" name="TextBox 18"/>
          <p:cNvSpPr txBox="1"/>
          <p:nvPr/>
        </p:nvSpPr>
        <p:spPr>
          <a:xfrm>
            <a:off x="5125212" y="1353312"/>
            <a:ext cx="105156" cy="420624"/>
          </a:xfrm>
          <a:prstGeom prst="rect">
            <a:avLst/>
          </a:prstGeom>
          <a:noFill/>
        </p:spPr>
        <p:txBody>
          <a:bodyPr wrap="none" lIns="0" rIns="0" tIns="0" bIns="0" anchor="ctr">
            <a:spAutoFit/>
          </a:bodyPr>
          <a:lstStyle/>
          <a:p>
            <a:pPr algn="ctr">
              <a:lnSpc>
                <a:spcPct val="120000"/>
              </a:lnSpc>
            </a:pPr>
            <a:r>
              <a:rPr sz="1100" b="1" i="0">
                <a:solidFill>
                  <a:srgbClr val="F1752F"/>
                </a:solidFill>
                <a:latin typeface="Roboto Mono"/>
              </a:rPr>
              <a:t>~</a:t>
            </a:r>
          </a:p>
        </p:txBody>
      </p:sp>
      <p:sp>
        <p:nvSpPr>
          <p:cNvPr id="20" name="Rounded Rectangle 19"/>
          <p:cNvSpPr/>
          <p:nvPr/>
        </p:nvSpPr>
        <p:spPr>
          <a:xfrm>
            <a:off x="5230368" y="1353312"/>
            <a:ext cx="1060704" cy="420624"/>
          </a:xfrm>
          <a:prstGeom prst="roundRect">
            <a:avLst>
              <a:gd name="adj" fmla="val 6000"/>
            </a:avLst>
          </a:prstGeom>
          <a:solidFill>
            <a:srgbClr val="FFFFFF">
              <a:alpha val="9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76088" y="1353312"/>
            <a:ext cx="969263" cy="420624"/>
          </a:xfrm>
          <a:prstGeom prst="rect">
            <a:avLst/>
          </a:prstGeom>
          <a:noFill/>
        </p:spPr>
        <p:txBody>
          <a:bodyPr wrap="square" lIns="0" rIns="0" tIns="0" bIns="0" anchor="ctr">
            <a:spAutoFit/>
          </a:bodyPr>
          <a:lstStyle/>
          <a:p>
            <a:pPr algn="ctr">
              <a:lnSpc>
                <a:spcPct val="108000"/>
              </a:lnSpc>
            </a:pPr>
            <a:r>
              <a:rPr sz="740" b="1" i="0">
                <a:solidFill>
                  <a:srgbClr val="FFFFFF"/>
                </a:solidFill>
                <a:latin typeface="Roboto Mono"/>
              </a:rPr>
              <a:t>nationality</a:t>
            </a:r>
          </a:p>
        </p:txBody>
      </p:sp>
      <p:sp>
        <p:nvSpPr>
          <p:cNvPr id="22" name="TextBox 21"/>
          <p:cNvSpPr txBox="1"/>
          <p:nvPr/>
        </p:nvSpPr>
        <p:spPr>
          <a:xfrm>
            <a:off x="6291072" y="1353312"/>
            <a:ext cx="105156" cy="420624"/>
          </a:xfrm>
          <a:prstGeom prst="rect">
            <a:avLst/>
          </a:prstGeom>
          <a:noFill/>
        </p:spPr>
        <p:txBody>
          <a:bodyPr wrap="none" lIns="0" rIns="0" tIns="0" bIns="0" anchor="ctr">
            <a:spAutoFit/>
          </a:bodyPr>
          <a:lstStyle/>
          <a:p>
            <a:pPr algn="ctr">
              <a:lnSpc>
                <a:spcPct val="120000"/>
              </a:lnSpc>
            </a:pPr>
            <a:r>
              <a:rPr sz="1100" b="1" i="0">
                <a:solidFill>
                  <a:srgbClr val="F1752F"/>
                </a:solidFill>
                <a:latin typeface="Roboto Mono"/>
              </a:rPr>
              <a:t>~</a:t>
            </a:r>
          </a:p>
        </p:txBody>
      </p:sp>
      <p:sp>
        <p:nvSpPr>
          <p:cNvPr id="23" name="Rounded Rectangle 22"/>
          <p:cNvSpPr/>
          <p:nvPr/>
        </p:nvSpPr>
        <p:spPr>
          <a:xfrm>
            <a:off x="6396228" y="1353312"/>
            <a:ext cx="1060704" cy="420624"/>
          </a:xfrm>
          <a:prstGeom prst="roundRect">
            <a:avLst>
              <a:gd name="adj" fmla="val 6000"/>
            </a:avLst>
          </a:prstGeom>
          <a:solidFill>
            <a:srgbClr val="FFFFFF">
              <a:alpha val="9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1948" y="1353312"/>
            <a:ext cx="969263" cy="420624"/>
          </a:xfrm>
          <a:prstGeom prst="rect">
            <a:avLst/>
          </a:prstGeom>
          <a:noFill/>
        </p:spPr>
        <p:txBody>
          <a:bodyPr wrap="square" lIns="0" rIns="0" tIns="0" bIns="0" anchor="ctr">
            <a:spAutoFit/>
          </a:bodyPr>
          <a:lstStyle/>
          <a:p>
            <a:pPr algn="ctr">
              <a:lnSpc>
                <a:spcPct val="108000"/>
              </a:lnSpc>
            </a:pPr>
            <a:r>
              <a:rPr sz="740" b="1" i="0">
                <a:solidFill>
                  <a:srgbClr val="FFFFFF"/>
                </a:solidFill>
                <a:latin typeface="Roboto Mono"/>
              </a:rPr>
              <a:t>portrait</a:t>
            </a:r>
          </a:p>
        </p:txBody>
      </p:sp>
      <p:sp>
        <p:nvSpPr>
          <p:cNvPr id="25" name="TextBox 24"/>
          <p:cNvSpPr txBox="1"/>
          <p:nvPr/>
        </p:nvSpPr>
        <p:spPr>
          <a:xfrm>
            <a:off x="566928" y="1847088"/>
            <a:ext cx="8010144" cy="164592"/>
          </a:xfrm>
          <a:prstGeom prst="rect">
            <a:avLst/>
          </a:prstGeom>
          <a:noFill/>
        </p:spPr>
        <p:txBody>
          <a:bodyPr wrap="square" lIns="0" rIns="0" tIns="0" bIns="0" anchor="t">
            <a:spAutoFit/>
          </a:bodyPr>
          <a:lstStyle/>
          <a:p>
            <a:pPr algn="l">
              <a:lnSpc>
                <a:spcPct val="120000"/>
              </a:lnSpc>
            </a:pPr>
            <a:r>
              <a:rPr sz="780" b="1" i="0">
                <a:solidFill>
                  <a:srgbClr val="8D98B8"/>
                </a:solidFill>
                <a:latin typeface="Montserrat"/>
              </a:rPr>
              <a:t>AS PRESENTED — the wallet drops the disclosures the verifier did not ask for</a:t>
            </a:r>
          </a:p>
        </p:txBody>
      </p:sp>
      <p:sp>
        <p:nvSpPr>
          <p:cNvPr id="26" name="Rounded Rectangle 25"/>
          <p:cNvSpPr/>
          <p:nvPr/>
        </p:nvSpPr>
        <p:spPr>
          <a:xfrm>
            <a:off x="566928" y="2011680"/>
            <a:ext cx="1060704" cy="420624"/>
          </a:xfrm>
          <a:prstGeom prst="roundRect">
            <a:avLst>
              <a:gd name="adj" fmla="val 6000"/>
            </a:avLst>
          </a:prstGeom>
          <a:solidFill>
            <a:srgbClr val="FFFFFF">
              <a:alpha val="9000"/>
            </a:srgbClr>
          </a:solidFill>
          <a:ln w="12700">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12648" y="2011680"/>
            <a:ext cx="969263" cy="420624"/>
          </a:xfrm>
          <a:prstGeom prst="rect">
            <a:avLst/>
          </a:prstGeom>
          <a:noFill/>
        </p:spPr>
        <p:txBody>
          <a:bodyPr wrap="square" lIns="0" rIns="0" tIns="0" bIns="0" anchor="ctr">
            <a:spAutoFit/>
          </a:bodyPr>
          <a:lstStyle/>
          <a:p>
            <a:pPr algn="ctr">
              <a:lnSpc>
                <a:spcPct val="108000"/>
              </a:lnSpc>
            </a:pPr>
            <a:r>
              <a:rPr sz="740" b="1" i="0">
                <a:solidFill>
                  <a:srgbClr val="FFFFFF"/>
                </a:solidFill>
                <a:latin typeface="Roboto Mono"/>
              </a:rPr>
              <a:t>Issuer-signed
JWT</a:t>
            </a:r>
          </a:p>
        </p:txBody>
      </p:sp>
      <p:sp>
        <p:nvSpPr>
          <p:cNvPr id="28" name="TextBox 27"/>
          <p:cNvSpPr txBox="1"/>
          <p:nvPr/>
        </p:nvSpPr>
        <p:spPr>
          <a:xfrm>
            <a:off x="1627631" y="2011680"/>
            <a:ext cx="105156" cy="420624"/>
          </a:xfrm>
          <a:prstGeom prst="rect">
            <a:avLst/>
          </a:prstGeom>
          <a:noFill/>
        </p:spPr>
        <p:txBody>
          <a:bodyPr wrap="none" lIns="0" rIns="0" tIns="0" bIns="0" anchor="ctr">
            <a:spAutoFit/>
          </a:bodyPr>
          <a:lstStyle/>
          <a:p>
            <a:pPr algn="ctr">
              <a:lnSpc>
                <a:spcPct val="120000"/>
              </a:lnSpc>
            </a:pPr>
            <a:r>
              <a:rPr sz="1100" b="1" i="0">
                <a:solidFill>
                  <a:srgbClr val="F1752F"/>
                </a:solidFill>
                <a:latin typeface="Roboto Mono"/>
              </a:rPr>
              <a:t>~</a:t>
            </a:r>
          </a:p>
        </p:txBody>
      </p:sp>
      <p:sp>
        <p:nvSpPr>
          <p:cNvPr id="29" name="Rounded Rectangle 28"/>
          <p:cNvSpPr/>
          <p:nvPr/>
        </p:nvSpPr>
        <p:spPr>
          <a:xfrm>
            <a:off x="1732788" y="2011680"/>
            <a:ext cx="1060704" cy="420624"/>
          </a:xfrm>
          <a:prstGeom prst="roundRect">
            <a:avLst>
              <a:gd name="adj" fmla="val 6000"/>
            </a:avLst>
          </a:prstGeom>
          <a:noFill/>
          <a:ln w="9525">
            <a:solidFill>
              <a:srgbClr val="8D98B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778508" y="2011680"/>
            <a:ext cx="969263" cy="420624"/>
          </a:xfrm>
          <a:prstGeom prst="rect">
            <a:avLst/>
          </a:prstGeom>
          <a:noFill/>
        </p:spPr>
        <p:txBody>
          <a:bodyPr wrap="square" lIns="0" rIns="0" tIns="0" bIns="0" anchor="ctr">
            <a:spAutoFit/>
          </a:bodyPr>
          <a:lstStyle/>
          <a:p>
            <a:pPr algn="ctr">
              <a:lnSpc>
                <a:spcPct val="108000"/>
              </a:lnSpc>
            </a:pPr>
            <a:r>
              <a:rPr sz="740" b="0" i="0">
                <a:solidFill>
                  <a:srgbClr val="8D98B8"/>
                </a:solidFill>
                <a:latin typeface="Roboto Mono"/>
              </a:rPr>
              <a:t>given_name</a:t>
            </a:r>
          </a:p>
        </p:txBody>
      </p:sp>
      <p:sp>
        <p:nvSpPr>
          <p:cNvPr id="31" name="TextBox 30"/>
          <p:cNvSpPr txBox="1"/>
          <p:nvPr/>
        </p:nvSpPr>
        <p:spPr>
          <a:xfrm>
            <a:off x="2793491" y="2011680"/>
            <a:ext cx="105156" cy="420624"/>
          </a:xfrm>
          <a:prstGeom prst="rect">
            <a:avLst/>
          </a:prstGeom>
          <a:noFill/>
        </p:spPr>
        <p:txBody>
          <a:bodyPr wrap="none" lIns="0" rIns="0" tIns="0" bIns="0" anchor="ctr">
            <a:spAutoFit/>
          </a:bodyPr>
          <a:lstStyle/>
          <a:p>
            <a:pPr algn="ctr">
              <a:lnSpc>
                <a:spcPct val="120000"/>
              </a:lnSpc>
            </a:pPr>
            <a:r>
              <a:rPr sz="1100" b="1" i="0">
                <a:solidFill>
                  <a:srgbClr val="F1752F"/>
                </a:solidFill>
                <a:latin typeface="Roboto Mono"/>
              </a:rPr>
              <a:t>~</a:t>
            </a:r>
          </a:p>
        </p:txBody>
      </p:sp>
      <p:sp>
        <p:nvSpPr>
          <p:cNvPr id="32" name="Rounded Rectangle 31"/>
          <p:cNvSpPr/>
          <p:nvPr/>
        </p:nvSpPr>
        <p:spPr>
          <a:xfrm>
            <a:off x="2898648" y="2011680"/>
            <a:ext cx="1060704" cy="420624"/>
          </a:xfrm>
          <a:prstGeom prst="roundRect">
            <a:avLst>
              <a:gd name="adj" fmla="val 6000"/>
            </a:avLst>
          </a:prstGeom>
          <a:noFill/>
          <a:ln w="9525">
            <a:solidFill>
              <a:srgbClr val="8D98B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2944368" y="2011680"/>
            <a:ext cx="969263" cy="420624"/>
          </a:xfrm>
          <a:prstGeom prst="rect">
            <a:avLst/>
          </a:prstGeom>
          <a:noFill/>
        </p:spPr>
        <p:txBody>
          <a:bodyPr wrap="square" lIns="0" rIns="0" tIns="0" bIns="0" anchor="ctr">
            <a:spAutoFit/>
          </a:bodyPr>
          <a:lstStyle/>
          <a:p>
            <a:pPr algn="ctr">
              <a:lnSpc>
                <a:spcPct val="108000"/>
              </a:lnSpc>
            </a:pPr>
            <a:r>
              <a:rPr sz="740" b="0" i="0">
                <a:solidFill>
                  <a:srgbClr val="8D98B8"/>
                </a:solidFill>
                <a:latin typeface="Roboto Mono"/>
              </a:rPr>
              <a:t>family_name</a:t>
            </a:r>
          </a:p>
        </p:txBody>
      </p:sp>
      <p:sp>
        <p:nvSpPr>
          <p:cNvPr id="34" name="TextBox 33"/>
          <p:cNvSpPr txBox="1"/>
          <p:nvPr/>
        </p:nvSpPr>
        <p:spPr>
          <a:xfrm>
            <a:off x="3959352" y="2011680"/>
            <a:ext cx="105156" cy="420624"/>
          </a:xfrm>
          <a:prstGeom prst="rect">
            <a:avLst/>
          </a:prstGeom>
          <a:noFill/>
        </p:spPr>
        <p:txBody>
          <a:bodyPr wrap="none" lIns="0" rIns="0" tIns="0" bIns="0" anchor="ctr">
            <a:spAutoFit/>
          </a:bodyPr>
          <a:lstStyle/>
          <a:p>
            <a:pPr algn="ctr">
              <a:lnSpc>
                <a:spcPct val="120000"/>
              </a:lnSpc>
            </a:pPr>
            <a:r>
              <a:rPr sz="1100" b="1" i="0">
                <a:solidFill>
                  <a:srgbClr val="F1752F"/>
                </a:solidFill>
                <a:latin typeface="Roboto Mono"/>
              </a:rPr>
              <a:t>~</a:t>
            </a:r>
          </a:p>
        </p:txBody>
      </p:sp>
      <p:sp>
        <p:nvSpPr>
          <p:cNvPr id="35" name="Rounded Rectangle 34"/>
          <p:cNvSpPr/>
          <p:nvPr/>
        </p:nvSpPr>
        <p:spPr>
          <a:xfrm>
            <a:off x="4064507" y="2011680"/>
            <a:ext cx="1060704" cy="420624"/>
          </a:xfrm>
          <a:prstGeom prst="roundRect">
            <a:avLst>
              <a:gd name="adj" fmla="val 6000"/>
            </a:avLst>
          </a:prstGeom>
          <a:solidFill>
            <a:srgbClr val="FFFFFF">
              <a:alpha val="9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110227" y="2011680"/>
            <a:ext cx="969263" cy="420624"/>
          </a:xfrm>
          <a:prstGeom prst="rect">
            <a:avLst/>
          </a:prstGeom>
          <a:noFill/>
        </p:spPr>
        <p:txBody>
          <a:bodyPr wrap="square" lIns="0" rIns="0" tIns="0" bIns="0" anchor="ctr">
            <a:spAutoFit/>
          </a:bodyPr>
          <a:lstStyle/>
          <a:p>
            <a:pPr algn="ctr">
              <a:lnSpc>
                <a:spcPct val="108000"/>
              </a:lnSpc>
            </a:pPr>
            <a:r>
              <a:rPr sz="740" b="1" i="0">
                <a:solidFill>
                  <a:srgbClr val="FFFFFF"/>
                </a:solidFill>
                <a:latin typeface="Roboto Mono"/>
              </a:rPr>
              <a:t>birthdate</a:t>
            </a:r>
          </a:p>
        </p:txBody>
      </p:sp>
      <p:sp>
        <p:nvSpPr>
          <p:cNvPr id="37" name="TextBox 36"/>
          <p:cNvSpPr txBox="1"/>
          <p:nvPr/>
        </p:nvSpPr>
        <p:spPr>
          <a:xfrm>
            <a:off x="5125212" y="2011680"/>
            <a:ext cx="105156" cy="420624"/>
          </a:xfrm>
          <a:prstGeom prst="rect">
            <a:avLst/>
          </a:prstGeom>
          <a:noFill/>
        </p:spPr>
        <p:txBody>
          <a:bodyPr wrap="none" lIns="0" rIns="0" tIns="0" bIns="0" anchor="ctr">
            <a:spAutoFit/>
          </a:bodyPr>
          <a:lstStyle/>
          <a:p>
            <a:pPr algn="ctr">
              <a:lnSpc>
                <a:spcPct val="120000"/>
              </a:lnSpc>
            </a:pPr>
            <a:r>
              <a:rPr sz="1100" b="1" i="0">
                <a:solidFill>
                  <a:srgbClr val="F1752F"/>
                </a:solidFill>
                <a:latin typeface="Roboto Mono"/>
              </a:rPr>
              <a:t>~</a:t>
            </a:r>
          </a:p>
        </p:txBody>
      </p:sp>
      <p:sp>
        <p:nvSpPr>
          <p:cNvPr id="38" name="Rounded Rectangle 37"/>
          <p:cNvSpPr/>
          <p:nvPr/>
        </p:nvSpPr>
        <p:spPr>
          <a:xfrm>
            <a:off x="5230368" y="2011680"/>
            <a:ext cx="1060704" cy="420624"/>
          </a:xfrm>
          <a:prstGeom prst="roundRect">
            <a:avLst>
              <a:gd name="adj" fmla="val 6000"/>
            </a:avLst>
          </a:prstGeom>
          <a:noFill/>
          <a:ln w="9525">
            <a:solidFill>
              <a:srgbClr val="8D98B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276088" y="2011680"/>
            <a:ext cx="969263" cy="420624"/>
          </a:xfrm>
          <a:prstGeom prst="rect">
            <a:avLst/>
          </a:prstGeom>
          <a:noFill/>
        </p:spPr>
        <p:txBody>
          <a:bodyPr wrap="square" lIns="0" rIns="0" tIns="0" bIns="0" anchor="ctr">
            <a:spAutoFit/>
          </a:bodyPr>
          <a:lstStyle/>
          <a:p>
            <a:pPr algn="ctr">
              <a:lnSpc>
                <a:spcPct val="108000"/>
              </a:lnSpc>
            </a:pPr>
            <a:r>
              <a:rPr sz="740" b="0" i="0">
                <a:solidFill>
                  <a:srgbClr val="8D98B8"/>
                </a:solidFill>
                <a:latin typeface="Roboto Mono"/>
              </a:rPr>
              <a:t>nationality</a:t>
            </a:r>
          </a:p>
        </p:txBody>
      </p:sp>
      <p:sp>
        <p:nvSpPr>
          <p:cNvPr id="40" name="TextBox 39"/>
          <p:cNvSpPr txBox="1"/>
          <p:nvPr/>
        </p:nvSpPr>
        <p:spPr>
          <a:xfrm>
            <a:off x="6291072" y="2011680"/>
            <a:ext cx="105156" cy="420624"/>
          </a:xfrm>
          <a:prstGeom prst="rect">
            <a:avLst/>
          </a:prstGeom>
          <a:noFill/>
        </p:spPr>
        <p:txBody>
          <a:bodyPr wrap="none" lIns="0" rIns="0" tIns="0" bIns="0" anchor="ctr">
            <a:spAutoFit/>
          </a:bodyPr>
          <a:lstStyle/>
          <a:p>
            <a:pPr algn="ctr">
              <a:lnSpc>
                <a:spcPct val="120000"/>
              </a:lnSpc>
            </a:pPr>
            <a:r>
              <a:rPr sz="1100" b="1" i="0">
                <a:solidFill>
                  <a:srgbClr val="F1752F"/>
                </a:solidFill>
                <a:latin typeface="Roboto Mono"/>
              </a:rPr>
              <a:t>~</a:t>
            </a:r>
          </a:p>
        </p:txBody>
      </p:sp>
      <p:sp>
        <p:nvSpPr>
          <p:cNvPr id="41" name="Rounded Rectangle 40"/>
          <p:cNvSpPr/>
          <p:nvPr/>
        </p:nvSpPr>
        <p:spPr>
          <a:xfrm>
            <a:off x="6396228" y="2011680"/>
            <a:ext cx="1060704" cy="420624"/>
          </a:xfrm>
          <a:prstGeom prst="roundRect">
            <a:avLst>
              <a:gd name="adj" fmla="val 6000"/>
            </a:avLst>
          </a:prstGeom>
          <a:noFill/>
          <a:ln w="9525">
            <a:solidFill>
              <a:srgbClr val="8D98B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41948" y="2011680"/>
            <a:ext cx="969263" cy="420624"/>
          </a:xfrm>
          <a:prstGeom prst="rect">
            <a:avLst/>
          </a:prstGeom>
          <a:noFill/>
        </p:spPr>
        <p:txBody>
          <a:bodyPr wrap="square" lIns="0" rIns="0" tIns="0" bIns="0" anchor="ctr">
            <a:spAutoFit/>
          </a:bodyPr>
          <a:lstStyle/>
          <a:p>
            <a:pPr algn="ctr">
              <a:lnSpc>
                <a:spcPct val="108000"/>
              </a:lnSpc>
            </a:pPr>
            <a:r>
              <a:rPr sz="740" b="0" i="0">
                <a:solidFill>
                  <a:srgbClr val="8D98B8"/>
                </a:solidFill>
                <a:latin typeface="Roboto Mono"/>
              </a:rPr>
              <a:t>portrait</a:t>
            </a:r>
          </a:p>
        </p:txBody>
      </p:sp>
      <p:sp>
        <p:nvSpPr>
          <p:cNvPr id="43" name="Rounded Rectangle 42"/>
          <p:cNvSpPr/>
          <p:nvPr/>
        </p:nvSpPr>
        <p:spPr>
          <a:xfrm>
            <a:off x="7562088" y="2011680"/>
            <a:ext cx="969264" cy="420624"/>
          </a:xfrm>
          <a:prstGeom prst="roundRect">
            <a:avLst>
              <a:gd name="adj" fmla="val 6000"/>
            </a:avLst>
          </a:prstGeom>
          <a:solidFill>
            <a:srgbClr val="F1752F">
              <a:alpha val="22000"/>
            </a:srgbClr>
          </a:solidFill>
          <a:ln w="12700">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598663" y="2011680"/>
            <a:ext cx="896112" cy="420624"/>
          </a:xfrm>
          <a:prstGeom prst="rect">
            <a:avLst/>
          </a:prstGeom>
          <a:noFill/>
        </p:spPr>
        <p:txBody>
          <a:bodyPr wrap="square" lIns="0" rIns="0" tIns="0" bIns="0" anchor="ctr">
            <a:spAutoFit/>
          </a:bodyPr>
          <a:lstStyle/>
          <a:p>
            <a:pPr algn="ctr">
              <a:lnSpc>
                <a:spcPct val="120000"/>
              </a:lnSpc>
            </a:pPr>
            <a:r>
              <a:rPr sz="740" b="1" i="0">
                <a:solidFill>
                  <a:srgbClr val="F1752F"/>
                </a:solidFill>
                <a:latin typeface="Roboto Mono"/>
              </a:rPr>
              <a:t>KB-JWT</a:t>
            </a:r>
          </a:p>
        </p:txBody>
      </p:sp>
      <p:sp>
        <p:nvSpPr>
          <p:cNvPr id="45" name="TextBox 44"/>
          <p:cNvSpPr txBox="1"/>
          <p:nvPr/>
        </p:nvSpPr>
        <p:spPr>
          <a:xfrm>
            <a:off x="566928" y="2587752"/>
            <a:ext cx="4133087" cy="182880"/>
          </a:xfrm>
          <a:prstGeom prst="rect">
            <a:avLst/>
          </a:prstGeom>
          <a:noFill/>
        </p:spPr>
        <p:txBody>
          <a:bodyPr wrap="square" lIns="0" rIns="0" tIns="0" bIns="0" anchor="t">
            <a:spAutoFit/>
          </a:bodyPr>
          <a:lstStyle/>
          <a:p>
            <a:pPr algn="l">
              <a:lnSpc>
                <a:spcPct val="120000"/>
              </a:lnSpc>
            </a:pPr>
            <a:r>
              <a:rPr sz="760" b="1" i="0">
                <a:solidFill>
                  <a:srgbClr val="8D98B8"/>
                </a:solidFill>
                <a:latin typeface="Montserrat"/>
              </a:rPr>
              <a:t>THE ISSUER SIGNS THIS — and only this</a:t>
            </a:r>
          </a:p>
        </p:txBody>
      </p:sp>
      <p:sp>
        <p:nvSpPr>
          <p:cNvPr id="46" name="Rounded Rectangle 45"/>
          <p:cNvSpPr/>
          <p:nvPr/>
        </p:nvSpPr>
        <p:spPr>
          <a:xfrm>
            <a:off x="566928" y="2779776"/>
            <a:ext cx="4133087" cy="1298448"/>
          </a:xfrm>
          <a:prstGeom prst="roundRect">
            <a:avLst>
              <a:gd name="adj" fmla="val 4000"/>
            </a:avLst>
          </a:prstGeom>
          <a:solidFill>
            <a:srgbClr val="1D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76656" y="2871216"/>
            <a:ext cx="3913631" cy="1115568"/>
          </a:xfrm>
          <a:prstGeom prst="rect">
            <a:avLst/>
          </a:prstGeom>
          <a:noFill/>
        </p:spPr>
        <p:txBody>
          <a:bodyPr wrap="square" lIns="0" rIns="0" tIns="0" bIns="0" anchor="t">
            <a:spAutoFit/>
          </a:bodyPr>
          <a:lstStyle/>
          <a:p>
            <a:pPr algn="l">
              <a:lnSpc>
                <a:spcPct val="122000"/>
              </a:lnSpc>
            </a:pPr>
            <a:r>
              <a:rPr sz="700" b="0" i="0">
                <a:solidFill>
                  <a:srgbClr val="C7D0E8"/>
                </a:solidFill>
                <a:latin typeface="Roboto Mono"/>
              </a:rPr>
              <a:t>{                                     // issuer-signed JWT payload</a:t>
            </a:r>
          </a:p>
          <a:p>
            <a:pPr algn="l">
              <a:lnSpc>
                <a:spcPct val="122000"/>
              </a:lnSpc>
            </a:pPr>
            <a:r>
              <a:rPr sz="700" b="0" i="0">
                <a:solidFill>
                  <a:srgbClr val="C7D0E8"/>
                </a:solidFill>
                <a:latin typeface="Roboto Mono"/>
              </a:rPr>
              <a:t>  "iss": "https://issuer.example",</a:t>
            </a:r>
          </a:p>
          <a:p>
            <a:pPr algn="l">
              <a:lnSpc>
                <a:spcPct val="122000"/>
              </a:lnSpc>
            </a:pPr>
            <a:r>
              <a:rPr sz="700" b="0" i="0">
                <a:solidFill>
                  <a:srgbClr val="C7D0E8"/>
                </a:solidFill>
                <a:latin typeface="Roboto Mono"/>
              </a:rPr>
              <a:t>  "vct": "IdentityCredential",</a:t>
            </a:r>
          </a:p>
          <a:p>
            <a:pPr algn="l">
              <a:lnSpc>
                <a:spcPct val="122000"/>
              </a:lnSpc>
            </a:pPr>
            <a:r>
              <a:rPr sz="700" b="0" i="0">
                <a:solidFill>
                  <a:srgbClr val="C7D0E8"/>
                </a:solidFill>
                <a:latin typeface="Roboto Mono"/>
              </a:rPr>
              <a:t>  "_sd_alg": "sha-256",</a:t>
            </a:r>
          </a:p>
          <a:p>
            <a:pPr algn="l">
              <a:lnSpc>
                <a:spcPct val="122000"/>
              </a:lnSpc>
            </a:pPr>
            <a:r>
              <a:rPr sz="700" b="0" i="0">
                <a:solidFill>
                  <a:srgbClr val="F1752F"/>
                </a:solidFill>
                <a:latin typeface="Roboto Mono"/>
              </a:rPr>
              <a:t>  "_sd": [ "X9Hk2...", "pQ7mZ...", "Lr3Nv...",</a:t>
            </a:r>
          </a:p>
          <a:p>
            <a:pPr algn="l">
              <a:lnSpc>
                <a:spcPct val="122000"/>
              </a:lnSpc>
            </a:pPr>
            <a:r>
              <a:rPr sz="700" b="0" i="0">
                <a:solidFill>
                  <a:srgbClr val="F1752F"/>
                </a:solidFill>
                <a:latin typeface="Roboto Mono"/>
              </a:rPr>
              <a:t>           "Ty8Wc...", "Bd4Qs..." ],   // one digest per claim</a:t>
            </a:r>
          </a:p>
          <a:p>
            <a:pPr algn="l">
              <a:lnSpc>
                <a:spcPct val="122000"/>
              </a:lnSpc>
            </a:pPr>
            <a:r>
              <a:rPr sz="700" b="0" i="0">
                <a:solidFill>
                  <a:srgbClr val="F1752F"/>
                </a:solidFill>
                <a:latin typeface="Roboto Mono"/>
              </a:rPr>
              <a:t>  "cnf": { "kid": "did:jwk:eyJrdHki..." }</a:t>
            </a:r>
          </a:p>
          <a:p>
            <a:pPr algn="l">
              <a:lnSpc>
                <a:spcPct val="122000"/>
              </a:lnSpc>
            </a:pPr>
            <a:r>
              <a:rPr sz="700" b="0" i="0">
                <a:solidFill>
                  <a:srgbClr val="C7D0E8"/>
                </a:solidFill>
                <a:latin typeface="Roboto Mono"/>
              </a:rPr>
              <a:t>}</a:t>
            </a:r>
          </a:p>
        </p:txBody>
      </p:sp>
      <p:sp>
        <p:nvSpPr>
          <p:cNvPr id="48" name="Rounded Rectangle 47"/>
          <p:cNvSpPr/>
          <p:nvPr/>
        </p:nvSpPr>
        <p:spPr>
          <a:xfrm>
            <a:off x="4846320" y="2779776"/>
            <a:ext cx="3730752" cy="1298448"/>
          </a:xfrm>
          <a:prstGeom prst="roundRect">
            <a:avLst>
              <a:gd name="adj" fmla="val 6000"/>
            </a:avLst>
          </a:prstGeom>
          <a:solidFill>
            <a:srgbClr val="FFFFFF">
              <a:alpha val="5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4846320" y="2779776"/>
            <a:ext cx="3730752" cy="41148"/>
          </a:xfrm>
          <a:prstGeom prst="rect">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4974336" y="2926080"/>
            <a:ext cx="3474720" cy="237744"/>
          </a:xfrm>
          <a:prstGeom prst="rect">
            <a:avLst/>
          </a:prstGeom>
          <a:noFill/>
        </p:spPr>
        <p:txBody>
          <a:bodyPr wrap="square" lIns="0" rIns="0" tIns="0" bIns="0" anchor="t">
            <a:spAutoFit/>
          </a:bodyPr>
          <a:lstStyle/>
          <a:p>
            <a:pPr algn="l">
              <a:lnSpc>
                <a:spcPct val="120000"/>
              </a:lnSpc>
            </a:pPr>
            <a:r>
              <a:rPr sz="960" b="1" i="0">
                <a:solidFill>
                  <a:srgbClr val="8F35D6"/>
                </a:solidFill>
                <a:latin typeface="Montserrat"/>
              </a:rPr>
              <a:t>Three parts, three jobs</a:t>
            </a:r>
          </a:p>
        </p:txBody>
      </p:sp>
      <p:sp>
        <p:nvSpPr>
          <p:cNvPr id="51" name="Oval 50"/>
          <p:cNvSpPr/>
          <p:nvPr/>
        </p:nvSpPr>
        <p:spPr>
          <a:xfrm>
            <a:off x="4992624" y="3250692"/>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5120640" y="3200400"/>
            <a:ext cx="3310128" cy="457200"/>
          </a:xfrm>
          <a:prstGeom prst="rect">
            <a:avLst/>
          </a:prstGeom>
          <a:noFill/>
        </p:spPr>
        <p:txBody>
          <a:bodyPr wrap="square" lIns="0" rIns="0" tIns="0" bIns="0" anchor="t">
            <a:spAutoFit/>
          </a:bodyPr>
          <a:lstStyle/>
          <a:p>
            <a:pPr algn="l">
              <a:lnSpc>
                <a:spcPct val="120000"/>
              </a:lnSpc>
            </a:pPr>
            <a:r>
              <a:rPr sz="800" b="1" i="0">
                <a:solidFill>
                  <a:srgbClr val="FFFFFF"/>
                </a:solidFill>
                <a:latin typeface="Montserrat"/>
              </a:rPr>
              <a:t>Issuer-signed JWT</a:t>
            </a:r>
            <a:r>
              <a:rPr sz="800" b="0" i="0">
                <a:solidFill>
                  <a:srgbClr val="C7D0E8"/>
                </a:solidFill>
                <a:latin typeface="Montserrat"/>
              </a:rPr>
              <a:t> — carries </a:t>
            </a:r>
            <a:r>
              <a:rPr sz="800" b="0" i="0">
                <a:solidFill>
                  <a:srgbClr val="F1752F"/>
                </a:solidFill>
                <a:latin typeface="Roboto Mono"/>
              </a:rPr>
              <a:t>_sd</a:t>
            </a:r>
            <a:r>
              <a:rPr sz="800" b="0" i="0">
                <a:solidFill>
                  <a:srgbClr val="C7D0E8"/>
                </a:solidFill>
                <a:latin typeface="Montserrat"/>
              </a:rPr>
              <a:t> digests, never the values</a:t>
            </a:r>
          </a:p>
        </p:txBody>
      </p:sp>
      <p:sp>
        <p:nvSpPr>
          <p:cNvPr id="53" name="Oval 52"/>
          <p:cNvSpPr/>
          <p:nvPr/>
        </p:nvSpPr>
        <p:spPr>
          <a:xfrm>
            <a:off x="4992624" y="3455416"/>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120640" y="3405124"/>
            <a:ext cx="3310128" cy="457200"/>
          </a:xfrm>
          <a:prstGeom prst="rect">
            <a:avLst/>
          </a:prstGeom>
          <a:noFill/>
        </p:spPr>
        <p:txBody>
          <a:bodyPr wrap="square" lIns="0" rIns="0" tIns="0" bIns="0" anchor="t">
            <a:spAutoFit/>
          </a:bodyPr>
          <a:lstStyle/>
          <a:p>
            <a:pPr algn="l">
              <a:lnSpc>
                <a:spcPct val="120000"/>
              </a:lnSpc>
            </a:pPr>
            <a:r>
              <a:rPr sz="800" b="1" i="0">
                <a:solidFill>
                  <a:srgbClr val="FFFFFF"/>
                </a:solidFill>
                <a:latin typeface="Montserrat"/>
              </a:rPr>
              <a:t>Disclosure</a:t>
            </a:r>
            <a:r>
              <a:rPr sz="800" b="0" i="0">
                <a:solidFill>
                  <a:srgbClr val="C7D0E8"/>
                </a:solidFill>
                <a:latin typeface="Montserrat"/>
              </a:rPr>
              <a:t> — </a:t>
            </a:r>
            <a:r>
              <a:rPr sz="800" b="0" i="0">
                <a:solidFill>
                  <a:srgbClr val="F1752F"/>
                </a:solidFill>
                <a:latin typeface="Roboto Mono"/>
              </a:rPr>
              <a:t>[salt, name, value]</a:t>
            </a:r>
            <a:r>
              <a:rPr sz="800" b="0" i="0">
                <a:solidFill>
                  <a:srgbClr val="C7D0E8"/>
                </a:solidFill>
                <a:latin typeface="Montserrat"/>
              </a:rPr>
              <a:t>, base64url, one per digest</a:t>
            </a:r>
          </a:p>
        </p:txBody>
      </p:sp>
      <p:sp>
        <p:nvSpPr>
          <p:cNvPr id="55" name="Oval 54"/>
          <p:cNvSpPr/>
          <p:nvPr/>
        </p:nvSpPr>
        <p:spPr>
          <a:xfrm>
            <a:off x="4992624" y="3660139"/>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120640" y="3609848"/>
            <a:ext cx="3310128" cy="457200"/>
          </a:xfrm>
          <a:prstGeom prst="rect">
            <a:avLst/>
          </a:prstGeom>
          <a:noFill/>
        </p:spPr>
        <p:txBody>
          <a:bodyPr wrap="square" lIns="0" rIns="0" tIns="0" bIns="0" anchor="t">
            <a:spAutoFit/>
          </a:bodyPr>
          <a:lstStyle/>
          <a:p>
            <a:pPr algn="l">
              <a:lnSpc>
                <a:spcPct val="120000"/>
              </a:lnSpc>
            </a:pPr>
            <a:r>
              <a:rPr sz="800" b="1" i="0">
                <a:solidFill>
                  <a:srgbClr val="FFFFFF"/>
                </a:solidFill>
                <a:latin typeface="Montserrat"/>
              </a:rPr>
              <a:t>KB-JWT</a:t>
            </a:r>
            <a:r>
              <a:rPr sz="800" b="0" i="0">
                <a:solidFill>
                  <a:srgbClr val="C7D0E8"/>
                </a:solidFill>
                <a:latin typeface="Montserrat"/>
              </a:rPr>
              <a:t> — the holder's signature over this presentation</a:t>
            </a:r>
          </a:p>
        </p:txBody>
      </p:sp>
      <p:sp>
        <p:nvSpPr>
          <p:cNvPr id="57" name="Rounded Rectangle 56"/>
          <p:cNvSpPr/>
          <p:nvPr/>
        </p:nvSpPr>
        <p:spPr>
          <a:xfrm>
            <a:off x="566928" y="4206240"/>
            <a:ext cx="8010144" cy="464108"/>
          </a:xfrm>
          <a:prstGeom prst="roundRect">
            <a:avLst>
              <a:gd name="adj" fmla="val 10000"/>
            </a:avLst>
          </a:prstGeom>
          <a:solidFill>
            <a:srgbClr val="F1752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566928" y="4206240"/>
            <a:ext cx="36576" cy="464108"/>
          </a:xfrm>
          <a:prstGeom prst="rect">
            <a:avLst/>
          </a:prstGeom>
          <a:solidFill>
            <a:srgbClr val="F17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31520" y="4283964"/>
            <a:ext cx="7717536" cy="326948"/>
          </a:xfrm>
          <a:prstGeom prst="rect">
            <a:avLst/>
          </a:prstGeom>
          <a:noFill/>
        </p:spPr>
        <p:txBody>
          <a:bodyPr wrap="square" lIns="0" rIns="0" tIns="0" bIns="0" anchor="t">
            <a:spAutoFit/>
          </a:bodyPr>
          <a:lstStyle/>
          <a:p>
            <a:pPr algn="l">
              <a:lnSpc>
                <a:spcPct val="128000"/>
              </a:lnSpc>
            </a:pPr>
            <a:r>
              <a:rPr sz="880" b="0" i="0">
                <a:solidFill>
                  <a:srgbClr val="C7D0E8"/>
                </a:solidFill>
                <a:latin typeface="Montserrat"/>
              </a:rPr>
              <a:t>Withholding is </a:t>
            </a:r>
            <a:r>
              <a:rPr sz="880" b="1" i="0">
                <a:solidFill>
                  <a:srgbClr val="FFFFFF"/>
                </a:solidFill>
                <a:latin typeface="Montserrat"/>
              </a:rPr>
              <a:t>deletion, not redaction</a:t>
            </a:r>
            <a:r>
              <a:rPr sz="880" b="0" i="0">
                <a:solidFill>
                  <a:srgbClr val="C7D0E8"/>
                </a:solidFill>
                <a:latin typeface="Montserrat"/>
              </a:rPr>
              <a:t>. The wallet simply does not append that disclosure. Nothing is rewritten, nothing is re-signed, and the issuer's signature still verifies over exactly the bytes it signed.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cxnSp>
        <p:nvCxnSpPr>
          <p:cNvPr id="3" name="Connector 2"/>
          <p:cNvCxnSpPr/>
          <p:nvPr/>
        </p:nvCxnSpPr>
        <p:spPr>
          <a:xfrm>
            <a:off x="429768" y="384048"/>
            <a:ext cx="0" cy="4288536"/>
          </a:xfrm>
          <a:prstGeom prst="line">
            <a:avLst/>
          </a:prstGeom>
          <a:ln w="28575">
            <a:solidFill>
              <a:srgbClr val="F2680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384048"/>
            <a:ext cx="8010144" cy="283464"/>
          </a:xfrm>
          <a:prstGeom prst="rect">
            <a:avLst/>
          </a:prstGeom>
          <a:noFill/>
        </p:spPr>
        <p:txBody>
          <a:bodyPr wrap="square" lIns="0" rIns="0" tIns="0" bIns="0" anchor="t">
            <a:spAutoFit/>
          </a:bodyPr>
          <a:lstStyle/>
          <a:p>
            <a:pPr algn="l">
              <a:lnSpc>
                <a:spcPct val="120000"/>
              </a:lnSpc>
            </a:pPr>
            <a:r>
              <a:rPr sz="1000" b="1" i="0">
                <a:solidFill>
                  <a:srgbClr val="C7D0E8"/>
                </a:solidFill>
                <a:latin typeface="Montserrat"/>
              </a:rPr>
              <a:t>DAY 3 · MODULE 8 · SELECTIVE DISCLOSURE</a:t>
            </a:r>
          </a:p>
        </p:txBody>
      </p:sp>
      <p:sp>
        <p:nvSpPr>
          <p:cNvPr id="5" name="TextBox 4"/>
          <p:cNvSpPr txBox="1"/>
          <p:nvPr/>
        </p:nvSpPr>
        <p:spPr>
          <a:xfrm>
            <a:off x="566928" y="612648"/>
            <a:ext cx="8010144" cy="475488"/>
          </a:xfrm>
          <a:prstGeom prst="rect">
            <a:avLst/>
          </a:prstGeom>
          <a:noFill/>
        </p:spPr>
        <p:txBody>
          <a:bodyPr wrap="square" lIns="0" rIns="0" tIns="0" bIns="0" anchor="t">
            <a:spAutoFit/>
          </a:bodyPr>
          <a:lstStyle/>
          <a:p>
            <a:pPr algn="l">
              <a:lnSpc>
                <a:spcPct val="120000"/>
              </a:lnSpc>
            </a:pPr>
            <a:r>
              <a:rPr sz="2300" b="1" i="1">
                <a:solidFill>
                  <a:srgbClr val="FFFFFF"/>
                </a:solidFill>
                <a:latin typeface="Montserrat"/>
              </a:rPr>
              <a:t>Why the verifier still trusts what is shown</a:t>
            </a:r>
          </a:p>
        </p:txBody>
      </p:sp>
      <p:pic>
        <p:nvPicPr>
          <p:cNvPr id="6" name="Picture 5" descr="image.png"/>
          <p:cNvPicPr>
            <a:picLocks noChangeAspect="1"/>
          </p:cNvPicPr>
          <p:nvPr/>
        </p:nvPicPr>
        <p:blipFill>
          <a:blip r:embed="rId3"/>
          <a:stretch>
            <a:fillRect/>
          </a:stretch>
        </p:blipFill>
        <p:spPr>
          <a:xfrm>
            <a:off x="8247888" y="237744"/>
            <a:ext cx="612648" cy="329184"/>
          </a:xfrm>
          <a:prstGeom prst="rect">
            <a:avLst/>
          </a:prstGeom>
        </p:spPr>
      </p:pic>
      <p:sp>
        <p:nvSpPr>
          <p:cNvPr id="7" name="Rounded Rectangle 6"/>
          <p:cNvSpPr/>
          <p:nvPr/>
        </p:nvSpPr>
        <p:spPr>
          <a:xfrm>
            <a:off x="566928" y="1207008"/>
            <a:ext cx="1514246" cy="896112"/>
          </a:xfrm>
          <a:prstGeom prst="roundRect">
            <a:avLst>
              <a:gd name="adj" fmla="val 6000"/>
            </a:avLst>
          </a:prstGeom>
          <a:solidFill>
            <a:srgbClr val="FFFFFF">
              <a:alpha val="6000"/>
            </a:srgbClr>
          </a:solidFill>
          <a:ln w="12700">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7512" y="1280160"/>
            <a:ext cx="1313078" cy="146304"/>
          </a:xfrm>
          <a:prstGeom prst="rect">
            <a:avLst/>
          </a:prstGeom>
          <a:noFill/>
        </p:spPr>
        <p:txBody>
          <a:bodyPr wrap="square" lIns="0" rIns="0" tIns="0" bIns="0" anchor="t">
            <a:spAutoFit/>
          </a:bodyPr>
          <a:lstStyle/>
          <a:p>
            <a:pPr algn="l">
              <a:lnSpc>
                <a:spcPct val="120000"/>
              </a:lnSpc>
            </a:pPr>
            <a:r>
              <a:rPr sz="720" b="1" i="0">
                <a:solidFill>
                  <a:srgbClr val="F1752F"/>
                </a:solidFill>
                <a:latin typeface="Montserrat"/>
              </a:rPr>
              <a:t>01 / RECEIVE</a:t>
            </a:r>
          </a:p>
        </p:txBody>
      </p:sp>
      <p:sp>
        <p:nvSpPr>
          <p:cNvPr id="9" name="TextBox 8"/>
          <p:cNvSpPr txBox="1"/>
          <p:nvPr/>
        </p:nvSpPr>
        <p:spPr>
          <a:xfrm>
            <a:off x="667512"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Split on ~</a:t>
            </a:r>
          </a:p>
        </p:txBody>
      </p:sp>
      <p:sp>
        <p:nvSpPr>
          <p:cNvPr id="10" name="TextBox 9"/>
          <p:cNvSpPr txBox="1"/>
          <p:nvPr/>
        </p:nvSpPr>
        <p:spPr>
          <a:xfrm>
            <a:off x="667512"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JWT · disclosures · KB-JWT</a:t>
            </a:r>
          </a:p>
        </p:txBody>
      </p:sp>
      <p:cxnSp>
        <p:nvCxnSpPr>
          <p:cNvPr id="11" name="Connector 10"/>
          <p:cNvCxnSpPr/>
          <p:nvPr/>
        </p:nvCxnSpPr>
        <p:spPr>
          <a:xfrm>
            <a:off x="2092147" y="1655064"/>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90902" y="1207008"/>
            <a:ext cx="1514246" cy="896112"/>
          </a:xfrm>
          <a:prstGeom prst="roundRect">
            <a:avLst>
              <a:gd name="adj" fmla="val 6000"/>
            </a:avLst>
          </a:prstGeom>
          <a:solidFill>
            <a:srgbClr val="FFFFFF">
              <a:alpha val="6000"/>
            </a:srgbClr>
          </a:solidFill>
          <a:ln w="12700">
            <a:solidFill>
              <a:srgbClr val="C02D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291486" y="1280160"/>
            <a:ext cx="1313078" cy="146304"/>
          </a:xfrm>
          <a:prstGeom prst="rect">
            <a:avLst/>
          </a:prstGeom>
          <a:noFill/>
        </p:spPr>
        <p:txBody>
          <a:bodyPr wrap="square" lIns="0" rIns="0" tIns="0" bIns="0" anchor="t">
            <a:spAutoFit/>
          </a:bodyPr>
          <a:lstStyle/>
          <a:p>
            <a:pPr algn="l">
              <a:lnSpc>
                <a:spcPct val="120000"/>
              </a:lnSpc>
            </a:pPr>
            <a:r>
              <a:rPr sz="720" b="1" i="0">
                <a:solidFill>
                  <a:srgbClr val="C02D80"/>
                </a:solidFill>
                <a:latin typeface="Montserrat"/>
              </a:rPr>
              <a:t>02 / VERIFY</a:t>
            </a:r>
          </a:p>
        </p:txBody>
      </p:sp>
      <p:sp>
        <p:nvSpPr>
          <p:cNvPr id="14" name="TextBox 13"/>
          <p:cNvSpPr txBox="1"/>
          <p:nvPr/>
        </p:nvSpPr>
        <p:spPr>
          <a:xfrm>
            <a:off x="2291486"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Issuer signature</a:t>
            </a:r>
          </a:p>
        </p:txBody>
      </p:sp>
      <p:sp>
        <p:nvSpPr>
          <p:cNvPr id="15" name="TextBox 14"/>
          <p:cNvSpPr txBox="1"/>
          <p:nvPr/>
        </p:nvSpPr>
        <p:spPr>
          <a:xfrm>
            <a:off x="2291486"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Covers </a:t>
            </a:r>
            <a:r>
              <a:rPr sz="740" b="0" i="0">
                <a:solidFill>
                  <a:srgbClr val="C02D80"/>
                </a:solidFill>
                <a:latin typeface="Roboto Mono"/>
              </a:rPr>
              <a:t>_sd</a:t>
            </a:r>
          </a:p>
        </p:txBody>
      </p:sp>
      <p:cxnSp>
        <p:nvCxnSpPr>
          <p:cNvPr id="16" name="Connector 15"/>
          <p:cNvCxnSpPr/>
          <p:nvPr/>
        </p:nvCxnSpPr>
        <p:spPr>
          <a:xfrm>
            <a:off x="3716121" y="1655064"/>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814876" y="1207008"/>
            <a:ext cx="1514246" cy="896112"/>
          </a:xfrm>
          <a:prstGeom prst="roundRect">
            <a:avLst>
              <a:gd name="adj" fmla="val 6000"/>
            </a:avLst>
          </a:prstGeom>
          <a:solidFill>
            <a:srgbClr val="FFFFFF">
              <a:alpha val="6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915460" y="1280160"/>
            <a:ext cx="1313078" cy="146304"/>
          </a:xfrm>
          <a:prstGeom prst="rect">
            <a:avLst/>
          </a:prstGeom>
          <a:noFill/>
        </p:spPr>
        <p:txBody>
          <a:bodyPr wrap="square" lIns="0" rIns="0" tIns="0" bIns="0" anchor="t">
            <a:spAutoFit/>
          </a:bodyPr>
          <a:lstStyle/>
          <a:p>
            <a:pPr algn="l">
              <a:lnSpc>
                <a:spcPct val="120000"/>
              </a:lnSpc>
            </a:pPr>
            <a:r>
              <a:rPr sz="720" b="1" i="0">
                <a:solidFill>
                  <a:srgbClr val="8F35D6"/>
                </a:solidFill>
                <a:latin typeface="Montserrat"/>
              </a:rPr>
              <a:t>03 / HASH</a:t>
            </a:r>
          </a:p>
        </p:txBody>
      </p:sp>
      <p:sp>
        <p:nvSpPr>
          <p:cNvPr id="19" name="TextBox 18"/>
          <p:cNvSpPr txBox="1"/>
          <p:nvPr/>
        </p:nvSpPr>
        <p:spPr>
          <a:xfrm>
            <a:off x="3915460"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Each disclosure</a:t>
            </a:r>
          </a:p>
        </p:txBody>
      </p:sp>
      <p:sp>
        <p:nvSpPr>
          <p:cNvPr id="20" name="TextBox 19"/>
          <p:cNvSpPr txBox="1"/>
          <p:nvPr/>
        </p:nvSpPr>
        <p:spPr>
          <a:xfrm>
            <a:off x="3915460"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Using </a:t>
            </a:r>
            <a:r>
              <a:rPr sz="740" b="0" i="0">
                <a:solidFill>
                  <a:srgbClr val="8F35D6"/>
                </a:solidFill>
                <a:latin typeface="Roboto Mono"/>
              </a:rPr>
              <a:t>_sd_alg</a:t>
            </a:r>
          </a:p>
        </p:txBody>
      </p:sp>
      <p:cxnSp>
        <p:nvCxnSpPr>
          <p:cNvPr id="21" name="Connector 20"/>
          <p:cNvCxnSpPr/>
          <p:nvPr/>
        </p:nvCxnSpPr>
        <p:spPr>
          <a:xfrm>
            <a:off x="5340096" y="1655064"/>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38851" y="1207008"/>
            <a:ext cx="1514246" cy="896112"/>
          </a:xfrm>
          <a:prstGeom prst="roundRect">
            <a:avLst>
              <a:gd name="adj" fmla="val 6000"/>
            </a:avLst>
          </a:prstGeom>
          <a:solidFill>
            <a:srgbClr val="FFFFFF">
              <a:alpha val="6000"/>
            </a:srgbClr>
          </a:solidFill>
          <a:ln w="12700">
            <a:solidFill>
              <a:srgbClr val="6B71C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539435" y="1280160"/>
            <a:ext cx="1313078" cy="146304"/>
          </a:xfrm>
          <a:prstGeom prst="rect">
            <a:avLst/>
          </a:prstGeom>
          <a:noFill/>
        </p:spPr>
        <p:txBody>
          <a:bodyPr wrap="square" lIns="0" rIns="0" tIns="0" bIns="0" anchor="t">
            <a:spAutoFit/>
          </a:bodyPr>
          <a:lstStyle/>
          <a:p>
            <a:pPr algn="l">
              <a:lnSpc>
                <a:spcPct val="120000"/>
              </a:lnSpc>
            </a:pPr>
            <a:r>
              <a:rPr sz="720" b="1" i="0">
                <a:solidFill>
                  <a:srgbClr val="6B71C1"/>
                </a:solidFill>
                <a:latin typeface="Montserrat"/>
              </a:rPr>
              <a:t>04 / MATCH</a:t>
            </a:r>
          </a:p>
        </p:txBody>
      </p:sp>
      <p:sp>
        <p:nvSpPr>
          <p:cNvPr id="24" name="TextBox 23"/>
          <p:cNvSpPr txBox="1"/>
          <p:nvPr/>
        </p:nvSpPr>
        <p:spPr>
          <a:xfrm>
            <a:off x="5539435"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Digest in </a:t>
            </a:r>
            <a:r>
              <a:rPr sz="940" b="1" i="0">
                <a:solidFill>
                  <a:srgbClr val="6B71C1"/>
                </a:solidFill>
                <a:latin typeface="Roboto Mono"/>
              </a:rPr>
              <a:t>_sd</a:t>
            </a:r>
          </a:p>
        </p:txBody>
      </p:sp>
      <p:sp>
        <p:nvSpPr>
          <p:cNvPr id="25" name="TextBox 24"/>
          <p:cNvSpPr txBox="1"/>
          <p:nvPr/>
        </p:nvSpPr>
        <p:spPr>
          <a:xfrm>
            <a:off x="5539435"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No match → reject</a:t>
            </a:r>
          </a:p>
        </p:txBody>
      </p:sp>
      <p:cxnSp>
        <p:nvCxnSpPr>
          <p:cNvPr id="26" name="Connector 25"/>
          <p:cNvCxnSpPr/>
          <p:nvPr/>
        </p:nvCxnSpPr>
        <p:spPr>
          <a:xfrm>
            <a:off x="6964070" y="1655064"/>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062825" y="1207008"/>
            <a:ext cx="1514246" cy="896112"/>
          </a:xfrm>
          <a:prstGeom prst="roundRect">
            <a:avLst>
              <a:gd name="adj" fmla="val 6000"/>
            </a:avLst>
          </a:prstGeom>
          <a:solidFill>
            <a:srgbClr val="FFFFFF">
              <a:alpha val="6000"/>
            </a:srgbClr>
          </a:solidFill>
          <a:ln w="1270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63409" y="1280160"/>
            <a:ext cx="1313078" cy="146304"/>
          </a:xfrm>
          <a:prstGeom prst="rect">
            <a:avLst/>
          </a:prstGeom>
          <a:noFill/>
        </p:spPr>
        <p:txBody>
          <a:bodyPr wrap="square" lIns="0" rIns="0" tIns="0" bIns="0" anchor="t">
            <a:spAutoFit/>
          </a:bodyPr>
          <a:lstStyle/>
          <a:p>
            <a:pPr algn="l">
              <a:lnSpc>
                <a:spcPct val="120000"/>
              </a:lnSpc>
            </a:pPr>
            <a:r>
              <a:rPr sz="720" b="1" i="0">
                <a:solidFill>
                  <a:srgbClr val="F27D21"/>
                </a:solidFill>
                <a:latin typeface="Montserrat"/>
              </a:rPr>
              <a:t>05 / ACCEPT</a:t>
            </a:r>
          </a:p>
        </p:txBody>
      </p:sp>
      <p:sp>
        <p:nvSpPr>
          <p:cNvPr id="29" name="TextBox 28"/>
          <p:cNvSpPr txBox="1"/>
          <p:nvPr/>
        </p:nvSpPr>
        <p:spPr>
          <a:xfrm>
            <a:off x="7163409"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Claim is genuine</a:t>
            </a:r>
          </a:p>
        </p:txBody>
      </p:sp>
      <p:sp>
        <p:nvSpPr>
          <p:cNvPr id="30" name="TextBox 29"/>
          <p:cNvSpPr txBox="1"/>
          <p:nvPr/>
        </p:nvSpPr>
        <p:spPr>
          <a:xfrm>
            <a:off x="7163409"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Only what arrived</a:t>
            </a:r>
          </a:p>
        </p:txBody>
      </p:sp>
      <p:sp>
        <p:nvSpPr>
          <p:cNvPr id="31" name="TextBox 30"/>
          <p:cNvSpPr txBox="1"/>
          <p:nvPr/>
        </p:nvSpPr>
        <p:spPr>
          <a:xfrm>
            <a:off x="566928" y="2221992"/>
            <a:ext cx="4133087" cy="182880"/>
          </a:xfrm>
          <a:prstGeom prst="rect">
            <a:avLst/>
          </a:prstGeom>
          <a:noFill/>
        </p:spPr>
        <p:txBody>
          <a:bodyPr wrap="square" lIns="0" rIns="0" tIns="0" bIns="0" anchor="t">
            <a:spAutoFit/>
          </a:bodyPr>
          <a:lstStyle/>
          <a:p>
            <a:pPr algn="l">
              <a:lnSpc>
                <a:spcPct val="120000"/>
              </a:lnSpc>
            </a:pPr>
            <a:r>
              <a:rPr sz="760" b="1" i="0">
                <a:solidFill>
                  <a:srgbClr val="8D98B8"/>
                </a:solidFill>
                <a:latin typeface="Montserrat"/>
              </a:rPr>
              <a:t>THE CHECK, IN FULL</a:t>
            </a:r>
          </a:p>
        </p:txBody>
      </p:sp>
      <p:sp>
        <p:nvSpPr>
          <p:cNvPr id="32" name="Rounded Rectangle 31"/>
          <p:cNvSpPr/>
          <p:nvPr/>
        </p:nvSpPr>
        <p:spPr>
          <a:xfrm>
            <a:off x="566928" y="2414016"/>
            <a:ext cx="4133087" cy="1371600"/>
          </a:xfrm>
          <a:prstGeom prst="roundRect">
            <a:avLst>
              <a:gd name="adj" fmla="val 4000"/>
            </a:avLst>
          </a:prstGeom>
          <a:solidFill>
            <a:srgbClr val="1D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76656" y="2505456"/>
            <a:ext cx="3913631" cy="1188720"/>
          </a:xfrm>
          <a:prstGeom prst="rect">
            <a:avLst/>
          </a:prstGeom>
          <a:noFill/>
        </p:spPr>
        <p:txBody>
          <a:bodyPr wrap="square" lIns="0" rIns="0" tIns="0" bIns="0" anchor="t">
            <a:spAutoFit/>
          </a:bodyPr>
          <a:lstStyle/>
          <a:p>
            <a:pPr algn="l">
              <a:lnSpc>
                <a:spcPct val="122000"/>
              </a:lnSpc>
            </a:pPr>
            <a:r>
              <a:rPr sz="700" b="0" i="0">
                <a:solidFill>
                  <a:srgbClr val="C7D0E8"/>
                </a:solidFill>
                <a:latin typeface="Roboto Mono"/>
              </a:rPr>
              <a:t>disclosure  = ["s4lT_x9", "birthdate", "1987-04-12"]</a:t>
            </a:r>
          </a:p>
          <a:p>
            <a:pPr algn="l">
              <a:lnSpc>
                <a:spcPct val="122000"/>
              </a:lnSpc>
            </a:pPr>
            <a:r>
              <a:rPr sz="700" b="0" i="0">
                <a:solidFill>
                  <a:srgbClr val="C7D0E8"/>
                </a:solidFill>
                <a:latin typeface="Roboto Mono"/>
              </a:rPr>
              <a:t> </a:t>
            </a:r>
          </a:p>
          <a:p>
            <a:pPr algn="l">
              <a:lnSpc>
                <a:spcPct val="122000"/>
              </a:lnSpc>
            </a:pPr>
            <a:r>
              <a:rPr sz="700" b="0" i="0">
                <a:solidFill>
                  <a:srgbClr val="C7D0E8"/>
                </a:solidFill>
                <a:latin typeface="Roboto Mono"/>
              </a:rPr>
              <a:t>base64url(disclosure)  -&gt;  "WyJzNGxUX3g5Iiw..."</a:t>
            </a:r>
          </a:p>
          <a:p>
            <a:pPr algn="l">
              <a:lnSpc>
                <a:spcPct val="122000"/>
              </a:lnSpc>
            </a:pPr>
            <a:r>
              <a:rPr sz="700" b="0" i="0">
                <a:solidFill>
                  <a:srgbClr val="C7D0E8"/>
                </a:solidFill>
                <a:latin typeface="Roboto Mono"/>
              </a:rPr>
              <a:t>sha-256( that string ) -&gt;  "Ty8Wc..."</a:t>
            </a:r>
          </a:p>
          <a:p>
            <a:pPr algn="l">
              <a:lnSpc>
                <a:spcPct val="122000"/>
              </a:lnSpc>
            </a:pPr>
            <a:r>
              <a:rPr sz="700" b="0" i="0">
                <a:solidFill>
                  <a:srgbClr val="C7D0E8"/>
                </a:solidFill>
                <a:latin typeface="Roboto Mono"/>
              </a:rPr>
              <a:t> </a:t>
            </a:r>
          </a:p>
          <a:p>
            <a:pPr algn="l">
              <a:lnSpc>
                <a:spcPct val="122000"/>
              </a:lnSpc>
            </a:pPr>
            <a:r>
              <a:rPr sz="700" b="0" i="0">
                <a:solidFill>
                  <a:srgbClr val="F1752F"/>
                </a:solidFill>
                <a:latin typeface="Roboto Mono"/>
              </a:rPr>
              <a:t>"Ty8Wc..."  IS IN  _sd  -&gt;  claim accepted</a:t>
            </a:r>
          </a:p>
          <a:p>
            <a:pPr algn="l">
              <a:lnSpc>
                <a:spcPct val="122000"/>
              </a:lnSpc>
            </a:pPr>
            <a:r>
              <a:rPr sz="700" b="0" i="0">
                <a:solidFill>
                  <a:srgbClr val="F1752F"/>
                </a:solidFill>
                <a:latin typeface="Roboto Mono"/>
              </a:rPr>
              <a:t>"Zz0Qq..."  NOT IN _sd  -&gt;  presentation rejected</a:t>
            </a:r>
          </a:p>
        </p:txBody>
      </p:sp>
      <p:sp>
        <p:nvSpPr>
          <p:cNvPr id="34" name="Rounded Rectangle 33"/>
          <p:cNvSpPr/>
          <p:nvPr/>
        </p:nvSpPr>
        <p:spPr>
          <a:xfrm>
            <a:off x="4846320" y="2414016"/>
            <a:ext cx="3730752" cy="1371600"/>
          </a:xfrm>
          <a:prstGeom prst="roundRect">
            <a:avLst>
              <a:gd name="adj" fmla="val 6000"/>
            </a:avLst>
          </a:prstGeom>
          <a:solidFill>
            <a:srgbClr val="FFFFFF">
              <a:alpha val="5000"/>
            </a:srgbClr>
          </a:solidFill>
          <a:ln w="12700">
            <a:solidFill>
              <a:srgbClr val="D6315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846320" y="2414016"/>
            <a:ext cx="3730752" cy="41148"/>
          </a:xfrm>
          <a:prstGeom prst="rect">
            <a:avLst/>
          </a:prstGeom>
          <a:solidFill>
            <a:srgbClr val="D63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974336" y="2560320"/>
            <a:ext cx="3474720" cy="237744"/>
          </a:xfrm>
          <a:prstGeom prst="rect">
            <a:avLst/>
          </a:prstGeom>
          <a:noFill/>
        </p:spPr>
        <p:txBody>
          <a:bodyPr wrap="square" lIns="0" rIns="0" tIns="0" bIns="0" anchor="t">
            <a:spAutoFit/>
          </a:bodyPr>
          <a:lstStyle/>
          <a:p>
            <a:pPr algn="l">
              <a:lnSpc>
                <a:spcPct val="120000"/>
              </a:lnSpc>
            </a:pPr>
            <a:r>
              <a:rPr sz="960" b="1" i="0">
                <a:solidFill>
                  <a:srgbClr val="D63156"/>
                </a:solidFill>
                <a:latin typeface="Montserrat"/>
              </a:rPr>
              <a:t>What an attacker cannot do</a:t>
            </a:r>
          </a:p>
        </p:txBody>
      </p:sp>
      <p:sp>
        <p:nvSpPr>
          <p:cNvPr id="37" name="Oval 36"/>
          <p:cNvSpPr/>
          <p:nvPr/>
        </p:nvSpPr>
        <p:spPr>
          <a:xfrm>
            <a:off x="4992624" y="2884932"/>
            <a:ext cx="45720" cy="45720"/>
          </a:xfrm>
          <a:prstGeom prst="ellipse">
            <a:avLst/>
          </a:prstGeom>
          <a:solidFill>
            <a:srgbClr val="D63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120640" y="2834640"/>
            <a:ext cx="3310128" cy="457200"/>
          </a:xfrm>
          <a:prstGeom prst="rect">
            <a:avLst/>
          </a:prstGeom>
          <a:noFill/>
        </p:spPr>
        <p:txBody>
          <a:bodyPr wrap="square" lIns="0" rIns="0" tIns="0" bIns="0" anchor="t">
            <a:spAutoFit/>
          </a:bodyPr>
          <a:lstStyle/>
          <a:p>
            <a:pPr algn="l">
              <a:lnSpc>
                <a:spcPct val="120000"/>
              </a:lnSpc>
            </a:pPr>
            <a:r>
              <a:rPr sz="800" b="1" i="0">
                <a:solidFill>
                  <a:srgbClr val="FFFFFF"/>
                </a:solidFill>
                <a:latin typeface="Montserrat"/>
              </a:rPr>
              <a:t>Add a claim</a:t>
            </a:r>
            <a:r>
              <a:rPr sz="800" b="0" i="0">
                <a:solidFill>
                  <a:srgbClr val="C7D0E8"/>
                </a:solidFill>
                <a:latin typeface="Montserrat"/>
              </a:rPr>
              <a:t> — its digest is not in </a:t>
            </a:r>
            <a:r>
              <a:rPr sz="800" b="0" i="0">
                <a:solidFill>
                  <a:srgbClr val="F1752F"/>
                </a:solidFill>
                <a:latin typeface="Roboto Mono"/>
              </a:rPr>
              <a:t>_sd</a:t>
            </a:r>
            <a:r>
              <a:rPr sz="800" b="0" i="0">
                <a:solidFill>
                  <a:srgbClr val="C7D0E8"/>
                </a:solidFill>
                <a:latin typeface="Montserrat"/>
              </a:rPr>
              <a:t>, and </a:t>
            </a:r>
            <a:r>
              <a:rPr sz="800" b="0" i="0">
                <a:solidFill>
                  <a:srgbClr val="F1752F"/>
                </a:solidFill>
                <a:latin typeface="Roboto Mono"/>
              </a:rPr>
              <a:t>_sd</a:t>
            </a:r>
            <a:r>
              <a:rPr sz="800" b="0" i="0">
                <a:solidFill>
                  <a:srgbClr val="C7D0E8"/>
                </a:solidFill>
                <a:latin typeface="Montserrat"/>
              </a:rPr>
              <a:t> is inside the signature</a:t>
            </a:r>
          </a:p>
        </p:txBody>
      </p:sp>
      <p:sp>
        <p:nvSpPr>
          <p:cNvPr id="39" name="Oval 38"/>
          <p:cNvSpPr/>
          <p:nvPr/>
        </p:nvSpPr>
        <p:spPr>
          <a:xfrm>
            <a:off x="4992624" y="3216656"/>
            <a:ext cx="45720" cy="45720"/>
          </a:xfrm>
          <a:prstGeom prst="ellipse">
            <a:avLst/>
          </a:prstGeom>
          <a:solidFill>
            <a:srgbClr val="D63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0" y="3166364"/>
            <a:ext cx="3310128" cy="457200"/>
          </a:xfrm>
          <a:prstGeom prst="rect">
            <a:avLst/>
          </a:prstGeom>
          <a:noFill/>
        </p:spPr>
        <p:txBody>
          <a:bodyPr wrap="square" lIns="0" rIns="0" tIns="0" bIns="0" anchor="t">
            <a:spAutoFit/>
          </a:bodyPr>
          <a:lstStyle/>
          <a:p>
            <a:pPr algn="l">
              <a:lnSpc>
                <a:spcPct val="120000"/>
              </a:lnSpc>
            </a:pPr>
            <a:r>
              <a:rPr sz="800" b="1" i="0">
                <a:solidFill>
                  <a:srgbClr val="FFFFFF"/>
                </a:solidFill>
                <a:latin typeface="Montserrat"/>
              </a:rPr>
              <a:t>Change a value</a:t>
            </a:r>
            <a:r>
              <a:rPr sz="800" b="0" i="0">
                <a:solidFill>
                  <a:srgbClr val="C7D0E8"/>
                </a:solidFill>
                <a:latin typeface="Montserrat"/>
              </a:rPr>
              <a:t> — the digest changes and stops matching</a:t>
            </a:r>
          </a:p>
        </p:txBody>
      </p:sp>
      <p:sp>
        <p:nvSpPr>
          <p:cNvPr id="41" name="Oval 40"/>
          <p:cNvSpPr/>
          <p:nvPr/>
        </p:nvSpPr>
        <p:spPr>
          <a:xfrm>
            <a:off x="4992624" y="3421380"/>
            <a:ext cx="45720" cy="45720"/>
          </a:xfrm>
          <a:prstGeom prst="ellipse">
            <a:avLst/>
          </a:prstGeom>
          <a:solidFill>
            <a:srgbClr val="D63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120640" y="3371088"/>
            <a:ext cx="3310128" cy="457200"/>
          </a:xfrm>
          <a:prstGeom prst="rect">
            <a:avLst/>
          </a:prstGeom>
          <a:noFill/>
        </p:spPr>
        <p:txBody>
          <a:bodyPr wrap="square" lIns="0" rIns="0" tIns="0" bIns="0" anchor="t">
            <a:spAutoFit/>
          </a:bodyPr>
          <a:lstStyle/>
          <a:p>
            <a:pPr algn="l">
              <a:lnSpc>
                <a:spcPct val="120000"/>
              </a:lnSpc>
            </a:pPr>
            <a:r>
              <a:rPr sz="800" b="1" i="0">
                <a:solidFill>
                  <a:srgbClr val="FFFFFF"/>
                </a:solidFill>
                <a:latin typeface="Montserrat"/>
              </a:rPr>
              <a:t>Forge the omission</a:t>
            </a:r>
            <a:r>
              <a:rPr sz="800" b="0" i="0">
                <a:solidFill>
                  <a:srgbClr val="C7D0E8"/>
                </a:solidFill>
                <a:latin typeface="Montserrat"/>
              </a:rPr>
              <a:t> — a missing digest is unrevealed, never absent</a:t>
            </a:r>
          </a:p>
        </p:txBody>
      </p:sp>
      <p:sp>
        <p:nvSpPr>
          <p:cNvPr id="43" name="Rounded Rectangle 42"/>
          <p:cNvSpPr/>
          <p:nvPr/>
        </p:nvSpPr>
        <p:spPr>
          <a:xfrm>
            <a:off x="566928" y="3895344"/>
            <a:ext cx="8010144" cy="640181"/>
          </a:xfrm>
          <a:prstGeom prst="roundRect">
            <a:avLst>
              <a:gd name="adj" fmla="val 10000"/>
            </a:avLst>
          </a:prstGeom>
          <a:solidFill>
            <a:srgbClr val="F1752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566928" y="3895344"/>
            <a:ext cx="36576" cy="640181"/>
          </a:xfrm>
          <a:prstGeom prst="rect">
            <a:avLst/>
          </a:prstGeom>
          <a:solidFill>
            <a:srgbClr val="F17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31520" y="3973068"/>
            <a:ext cx="7717536" cy="503021"/>
          </a:xfrm>
          <a:prstGeom prst="rect">
            <a:avLst/>
          </a:prstGeom>
          <a:noFill/>
        </p:spPr>
        <p:txBody>
          <a:bodyPr wrap="square" lIns="0" rIns="0" tIns="0" bIns="0" anchor="t">
            <a:spAutoFit/>
          </a:bodyPr>
          <a:lstStyle/>
          <a:p>
            <a:pPr algn="l">
              <a:lnSpc>
                <a:spcPct val="120000"/>
              </a:lnSpc>
            </a:pPr>
            <a:r>
              <a:rPr sz="800" b="1" i="0">
                <a:solidFill>
                  <a:srgbClr val="F1752F"/>
                </a:solidFill>
                <a:latin typeface="Montserrat"/>
              </a:rPr>
              <a:t>INTEGRATION NOTE — VERIFIED IN THE RELEASED LIBRARY</a:t>
            </a:r>
          </a:p>
          <a:p>
            <a:pPr algn="l">
              <a:lnSpc>
                <a:spcPct val="128000"/>
              </a:lnSpc>
            </a:pPr>
            <a:r>
              <a:rPr sz="860" b="0" i="0">
                <a:solidFill>
                  <a:srgbClr val="F1752F"/>
                </a:solidFill>
                <a:latin typeface="Roboto Mono"/>
              </a:rPr>
              <a:t>inji-openid4vp</a:t>
            </a:r>
            <a:r>
              <a:rPr sz="860" b="0" i="0">
                <a:solidFill>
                  <a:srgbClr val="C7D0E8"/>
                </a:solidFill>
                <a:latin typeface="Montserrat"/>
              </a:rPr>
              <a:t> does </a:t>
            </a:r>
            <a:r>
              <a:rPr sz="860" b="1" i="0">
                <a:solidFill>
                  <a:srgbClr val="FFFFFF"/>
                </a:solidFill>
                <a:latin typeface="Montserrat"/>
              </a:rPr>
              <a:t>not</a:t>
            </a:r>
            <a:r>
              <a:rPr sz="860" b="0" i="0">
                <a:solidFill>
                  <a:srgbClr val="C7D0E8"/>
                </a:solidFill>
                <a:latin typeface="Montserrat"/>
              </a:rPr>
              <a:t> trim disclosures for you. </a:t>
            </a:r>
            <a:r>
              <a:rPr sz="860" b="0" i="0">
                <a:solidFill>
                  <a:srgbClr val="F1752F"/>
                </a:solidFill>
                <a:latin typeface="Roboto Mono"/>
              </a:rPr>
              <a:t>SdJwtVPTokenBuilder</a:t>
            </a:r>
            <a:r>
              <a:rPr sz="860" b="0" i="0">
                <a:solidFill>
                  <a:srgbClr val="C7D0E8"/>
                </a:solidFill>
                <a:latin typeface="Montserrat"/>
              </a:rPr>
              <a:t> passes the credential string through verbatim, and </a:t>
            </a:r>
            <a:r>
              <a:rPr sz="860" b="0" i="0">
                <a:solidFill>
                  <a:srgbClr val="F1752F"/>
                </a:solidFill>
                <a:latin typeface="Roboto Mono"/>
              </a:rPr>
              <a:t>limit_disclosure</a:t>
            </a:r>
            <a:r>
              <a:rPr sz="860" b="0" i="0">
                <a:solidFill>
                  <a:srgbClr val="C7D0E8"/>
                </a:solidFill>
                <a:latin typeface="Montserrat"/>
              </a:rPr>
              <a:t> from the presentation definition is parsed but never applied. Selecting which disclosures to send is the wallet app's job.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cxnSp>
        <p:nvCxnSpPr>
          <p:cNvPr id="3" name="Connector 2"/>
          <p:cNvCxnSpPr/>
          <p:nvPr/>
        </p:nvCxnSpPr>
        <p:spPr>
          <a:xfrm>
            <a:off x="429768" y="384048"/>
            <a:ext cx="0" cy="4288536"/>
          </a:xfrm>
          <a:prstGeom prst="line">
            <a:avLst/>
          </a:prstGeom>
          <a:ln w="28575">
            <a:solidFill>
              <a:srgbClr val="F2680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384048"/>
            <a:ext cx="8010144" cy="283464"/>
          </a:xfrm>
          <a:prstGeom prst="rect">
            <a:avLst/>
          </a:prstGeom>
          <a:noFill/>
        </p:spPr>
        <p:txBody>
          <a:bodyPr wrap="square" lIns="0" rIns="0" tIns="0" bIns="0" anchor="t">
            <a:spAutoFit/>
          </a:bodyPr>
          <a:lstStyle/>
          <a:p>
            <a:pPr algn="l">
              <a:lnSpc>
                <a:spcPct val="120000"/>
              </a:lnSpc>
            </a:pPr>
            <a:r>
              <a:rPr sz="1000" b="1" i="0">
                <a:solidFill>
                  <a:srgbClr val="C7D0E8"/>
                </a:solidFill>
                <a:latin typeface="Montserrat"/>
              </a:rPr>
              <a:t>DAY 3 · MODULE 8 · OPENID4VP</a:t>
            </a:r>
          </a:p>
        </p:txBody>
      </p:sp>
      <p:sp>
        <p:nvSpPr>
          <p:cNvPr id="5" name="TextBox 4"/>
          <p:cNvSpPr txBox="1"/>
          <p:nvPr/>
        </p:nvSpPr>
        <p:spPr>
          <a:xfrm>
            <a:off x="566928" y="612648"/>
            <a:ext cx="8010144" cy="475488"/>
          </a:xfrm>
          <a:prstGeom prst="rect">
            <a:avLst/>
          </a:prstGeom>
          <a:noFill/>
        </p:spPr>
        <p:txBody>
          <a:bodyPr wrap="square" lIns="0" rIns="0" tIns="0" bIns="0" anchor="t">
            <a:spAutoFit/>
          </a:bodyPr>
          <a:lstStyle/>
          <a:p>
            <a:pPr algn="l">
              <a:lnSpc>
                <a:spcPct val="120000"/>
              </a:lnSpc>
            </a:pPr>
            <a:r>
              <a:rPr sz="2300" b="1" i="1">
                <a:solidFill>
                  <a:srgbClr val="FFFFFF"/>
                </a:solidFill>
                <a:latin typeface="Montserrat"/>
              </a:rPr>
              <a:t>Same-device and cross-device presentation</a:t>
            </a:r>
          </a:p>
        </p:txBody>
      </p:sp>
      <p:pic>
        <p:nvPicPr>
          <p:cNvPr id="6" name="Picture 5" descr="image.png"/>
          <p:cNvPicPr>
            <a:picLocks noChangeAspect="1"/>
          </p:cNvPicPr>
          <p:nvPr/>
        </p:nvPicPr>
        <p:blipFill>
          <a:blip r:embed="rId3"/>
          <a:stretch>
            <a:fillRect/>
          </a:stretch>
        </p:blipFill>
        <p:spPr>
          <a:xfrm>
            <a:off x="8247888" y="237744"/>
            <a:ext cx="612648" cy="329184"/>
          </a:xfrm>
          <a:prstGeom prst="rect">
            <a:avLst/>
          </a:prstGeom>
        </p:spPr>
      </p:pic>
      <p:sp>
        <p:nvSpPr>
          <p:cNvPr id="7" name="Rounded Rectangle 6"/>
          <p:cNvSpPr/>
          <p:nvPr/>
        </p:nvSpPr>
        <p:spPr>
          <a:xfrm>
            <a:off x="566928" y="1207008"/>
            <a:ext cx="3922776" cy="1883664"/>
          </a:xfrm>
          <a:prstGeom prst="roundRect">
            <a:avLst>
              <a:gd name="adj" fmla="val 6000"/>
            </a:avLst>
          </a:prstGeom>
          <a:solidFill>
            <a:srgbClr val="FFFFFF">
              <a:alpha val="5000"/>
            </a:srgbClr>
          </a:solidFill>
          <a:ln w="12700">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676656" y="1115568"/>
            <a:ext cx="1060704" cy="201168"/>
          </a:xfrm>
          <a:prstGeom prst="roundRect">
            <a:avLst>
              <a:gd name="adj" fmla="val 35000"/>
            </a:avLst>
          </a:prstGeom>
          <a:solidFill>
            <a:srgbClr val="F1752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740" b="1">
                <a:solidFill>
                  <a:srgbClr val="FFFFFF"/>
                </a:solidFill>
                <a:latin typeface="Montserrat"/>
              </a:rPr>
              <a:t>SAME-DEVICE</a:t>
            </a:r>
          </a:p>
        </p:txBody>
      </p:sp>
      <p:sp>
        <p:nvSpPr>
          <p:cNvPr id="9" name="TextBox 8"/>
          <p:cNvSpPr txBox="1"/>
          <p:nvPr/>
        </p:nvSpPr>
        <p:spPr>
          <a:xfrm>
            <a:off x="694944" y="1408176"/>
            <a:ext cx="237744" cy="201168"/>
          </a:xfrm>
          <a:prstGeom prst="rect">
            <a:avLst/>
          </a:prstGeom>
          <a:noFill/>
        </p:spPr>
        <p:txBody>
          <a:bodyPr wrap="square" lIns="0" rIns="0" tIns="0" bIns="0" anchor="t">
            <a:spAutoFit/>
          </a:bodyPr>
          <a:lstStyle/>
          <a:p>
            <a:pPr algn="l">
              <a:lnSpc>
                <a:spcPct val="120000"/>
              </a:lnSpc>
            </a:pPr>
            <a:r>
              <a:rPr sz="760" b="1" i="0">
                <a:solidFill>
                  <a:srgbClr val="F1752F"/>
                </a:solidFill>
                <a:latin typeface="Roboto Mono"/>
              </a:rPr>
              <a:t>01</a:t>
            </a:r>
          </a:p>
        </p:txBody>
      </p:sp>
      <p:sp>
        <p:nvSpPr>
          <p:cNvPr id="10" name="TextBox 9"/>
          <p:cNvSpPr txBox="1"/>
          <p:nvPr/>
        </p:nvSpPr>
        <p:spPr>
          <a:xfrm>
            <a:off x="969264" y="1389888"/>
            <a:ext cx="3374136" cy="201168"/>
          </a:xfrm>
          <a:prstGeom prst="rect">
            <a:avLst/>
          </a:prstGeom>
          <a:noFill/>
        </p:spPr>
        <p:txBody>
          <a:bodyPr wrap="square" lIns="0" rIns="0" tIns="0" bIns="0" anchor="t">
            <a:spAutoFit/>
          </a:bodyPr>
          <a:lstStyle/>
          <a:p>
            <a:pPr algn="l">
              <a:lnSpc>
                <a:spcPct val="120000"/>
              </a:lnSpc>
            </a:pPr>
            <a:r>
              <a:rPr sz="900" b="1" i="0">
                <a:solidFill>
                  <a:srgbClr val="FFFFFF"/>
                </a:solidFill>
                <a:latin typeface="Montserrat"/>
              </a:rPr>
              <a:t>Browser hands off</a:t>
            </a:r>
          </a:p>
        </p:txBody>
      </p:sp>
      <p:sp>
        <p:nvSpPr>
          <p:cNvPr id="11" name="TextBox 10"/>
          <p:cNvSpPr txBox="1"/>
          <p:nvPr/>
        </p:nvSpPr>
        <p:spPr>
          <a:xfrm>
            <a:off x="969264" y="1581912"/>
            <a:ext cx="3374136" cy="201168"/>
          </a:xfrm>
          <a:prstGeom prst="rect">
            <a:avLst/>
          </a:prstGeom>
          <a:noFill/>
        </p:spPr>
        <p:txBody>
          <a:bodyPr wrap="square" lIns="0" rIns="0" tIns="0" bIns="0" anchor="t">
            <a:spAutoFit/>
          </a:bodyPr>
          <a:lstStyle/>
          <a:p>
            <a:pPr algn="l">
              <a:lnSpc>
                <a:spcPct val="120000"/>
              </a:lnSpc>
            </a:pPr>
            <a:r>
              <a:rPr sz="760" b="0" i="0">
                <a:solidFill>
                  <a:srgbClr val="C7D0E8"/>
                </a:solidFill>
                <a:latin typeface="Montserrat"/>
              </a:rPr>
              <a:t>Verifier page opens </a:t>
            </a:r>
            <a:r>
              <a:rPr sz="760" b="0" i="0">
                <a:solidFill>
                  <a:srgbClr val="F1752F"/>
                </a:solidFill>
                <a:latin typeface="Roboto Mono"/>
              </a:rPr>
              <a:t>openid4vp://authorize?...</a:t>
            </a:r>
          </a:p>
        </p:txBody>
      </p:sp>
      <p:sp>
        <p:nvSpPr>
          <p:cNvPr id="12" name="TextBox 11"/>
          <p:cNvSpPr txBox="1"/>
          <p:nvPr/>
        </p:nvSpPr>
        <p:spPr>
          <a:xfrm>
            <a:off x="694944" y="1828800"/>
            <a:ext cx="237744" cy="201168"/>
          </a:xfrm>
          <a:prstGeom prst="rect">
            <a:avLst/>
          </a:prstGeom>
          <a:noFill/>
        </p:spPr>
        <p:txBody>
          <a:bodyPr wrap="square" lIns="0" rIns="0" tIns="0" bIns="0" anchor="t">
            <a:spAutoFit/>
          </a:bodyPr>
          <a:lstStyle/>
          <a:p>
            <a:pPr algn="l">
              <a:lnSpc>
                <a:spcPct val="120000"/>
              </a:lnSpc>
            </a:pPr>
            <a:r>
              <a:rPr sz="760" b="1" i="0">
                <a:solidFill>
                  <a:srgbClr val="F1752F"/>
                </a:solidFill>
                <a:latin typeface="Roboto Mono"/>
              </a:rPr>
              <a:t>02</a:t>
            </a:r>
          </a:p>
        </p:txBody>
      </p:sp>
      <p:sp>
        <p:nvSpPr>
          <p:cNvPr id="13" name="TextBox 12"/>
          <p:cNvSpPr txBox="1"/>
          <p:nvPr/>
        </p:nvSpPr>
        <p:spPr>
          <a:xfrm>
            <a:off x="969264" y="1810512"/>
            <a:ext cx="3374136" cy="201168"/>
          </a:xfrm>
          <a:prstGeom prst="rect">
            <a:avLst/>
          </a:prstGeom>
          <a:noFill/>
        </p:spPr>
        <p:txBody>
          <a:bodyPr wrap="square" lIns="0" rIns="0" tIns="0" bIns="0" anchor="t">
            <a:spAutoFit/>
          </a:bodyPr>
          <a:lstStyle/>
          <a:p>
            <a:pPr algn="l">
              <a:lnSpc>
                <a:spcPct val="120000"/>
              </a:lnSpc>
            </a:pPr>
            <a:r>
              <a:rPr sz="900" b="1" i="0">
                <a:solidFill>
                  <a:srgbClr val="FFFFFF"/>
                </a:solidFill>
                <a:latin typeface="Montserrat"/>
              </a:rPr>
              <a:t>OS routes the link</a:t>
            </a:r>
          </a:p>
        </p:txBody>
      </p:sp>
      <p:sp>
        <p:nvSpPr>
          <p:cNvPr id="14" name="TextBox 13"/>
          <p:cNvSpPr txBox="1"/>
          <p:nvPr/>
        </p:nvSpPr>
        <p:spPr>
          <a:xfrm>
            <a:off x="969264" y="2002536"/>
            <a:ext cx="3374136" cy="201168"/>
          </a:xfrm>
          <a:prstGeom prst="rect">
            <a:avLst/>
          </a:prstGeom>
          <a:noFill/>
        </p:spPr>
        <p:txBody>
          <a:bodyPr wrap="square" lIns="0" rIns="0" tIns="0" bIns="0" anchor="t">
            <a:spAutoFit/>
          </a:bodyPr>
          <a:lstStyle/>
          <a:p>
            <a:pPr algn="l">
              <a:lnSpc>
                <a:spcPct val="120000"/>
              </a:lnSpc>
            </a:pPr>
            <a:r>
              <a:rPr sz="760" b="0" i="0">
                <a:solidFill>
                  <a:srgbClr val="C7D0E8"/>
                </a:solidFill>
                <a:latin typeface="Montserrat"/>
              </a:rPr>
              <a:t>Deep link / app link wakes the wallet</a:t>
            </a:r>
          </a:p>
        </p:txBody>
      </p:sp>
      <p:sp>
        <p:nvSpPr>
          <p:cNvPr id="15" name="TextBox 14"/>
          <p:cNvSpPr txBox="1"/>
          <p:nvPr/>
        </p:nvSpPr>
        <p:spPr>
          <a:xfrm>
            <a:off x="694944" y="2249424"/>
            <a:ext cx="237744" cy="201168"/>
          </a:xfrm>
          <a:prstGeom prst="rect">
            <a:avLst/>
          </a:prstGeom>
          <a:noFill/>
        </p:spPr>
        <p:txBody>
          <a:bodyPr wrap="square" lIns="0" rIns="0" tIns="0" bIns="0" anchor="t">
            <a:spAutoFit/>
          </a:bodyPr>
          <a:lstStyle/>
          <a:p>
            <a:pPr algn="l">
              <a:lnSpc>
                <a:spcPct val="120000"/>
              </a:lnSpc>
            </a:pPr>
            <a:r>
              <a:rPr sz="760" b="1" i="0">
                <a:solidFill>
                  <a:srgbClr val="F1752F"/>
                </a:solidFill>
                <a:latin typeface="Roboto Mono"/>
              </a:rPr>
              <a:t>03</a:t>
            </a:r>
          </a:p>
        </p:txBody>
      </p:sp>
      <p:sp>
        <p:nvSpPr>
          <p:cNvPr id="16" name="TextBox 15"/>
          <p:cNvSpPr txBox="1"/>
          <p:nvPr/>
        </p:nvSpPr>
        <p:spPr>
          <a:xfrm>
            <a:off x="969264" y="2231136"/>
            <a:ext cx="3374136" cy="201168"/>
          </a:xfrm>
          <a:prstGeom prst="rect">
            <a:avLst/>
          </a:prstGeom>
          <a:noFill/>
        </p:spPr>
        <p:txBody>
          <a:bodyPr wrap="square" lIns="0" rIns="0" tIns="0" bIns="0" anchor="t">
            <a:spAutoFit/>
          </a:bodyPr>
          <a:lstStyle/>
          <a:p>
            <a:pPr algn="l">
              <a:lnSpc>
                <a:spcPct val="120000"/>
              </a:lnSpc>
            </a:pPr>
            <a:r>
              <a:rPr sz="900" b="1" i="0">
                <a:solidFill>
                  <a:srgbClr val="FFFFFF"/>
                </a:solidFill>
                <a:latin typeface="Montserrat"/>
              </a:rPr>
              <a:t>Wallet presents</a:t>
            </a:r>
          </a:p>
        </p:txBody>
      </p:sp>
      <p:sp>
        <p:nvSpPr>
          <p:cNvPr id="17" name="TextBox 16"/>
          <p:cNvSpPr txBox="1"/>
          <p:nvPr/>
        </p:nvSpPr>
        <p:spPr>
          <a:xfrm>
            <a:off x="969264" y="2423160"/>
            <a:ext cx="3374136" cy="201168"/>
          </a:xfrm>
          <a:prstGeom prst="rect">
            <a:avLst/>
          </a:prstGeom>
          <a:noFill/>
        </p:spPr>
        <p:txBody>
          <a:bodyPr wrap="square" lIns="0" rIns="0" tIns="0" bIns="0" anchor="t">
            <a:spAutoFit/>
          </a:bodyPr>
          <a:lstStyle/>
          <a:p>
            <a:pPr algn="l">
              <a:lnSpc>
                <a:spcPct val="120000"/>
              </a:lnSpc>
            </a:pPr>
            <a:r>
              <a:rPr sz="760" b="0" i="0">
                <a:solidFill>
                  <a:srgbClr val="C7D0E8"/>
                </a:solidFill>
                <a:latin typeface="Montserrat"/>
              </a:rPr>
              <a:t>Consent, then POST to </a:t>
            </a:r>
            <a:r>
              <a:rPr sz="760" b="0" i="0">
                <a:solidFill>
                  <a:srgbClr val="F1752F"/>
                </a:solidFill>
                <a:latin typeface="Roboto Mono"/>
              </a:rPr>
              <a:t>response_uri</a:t>
            </a:r>
          </a:p>
        </p:txBody>
      </p:sp>
      <p:sp>
        <p:nvSpPr>
          <p:cNvPr id="18" name="TextBox 17"/>
          <p:cNvSpPr txBox="1"/>
          <p:nvPr/>
        </p:nvSpPr>
        <p:spPr>
          <a:xfrm>
            <a:off x="694944" y="2670048"/>
            <a:ext cx="237744" cy="201168"/>
          </a:xfrm>
          <a:prstGeom prst="rect">
            <a:avLst/>
          </a:prstGeom>
          <a:noFill/>
        </p:spPr>
        <p:txBody>
          <a:bodyPr wrap="square" lIns="0" rIns="0" tIns="0" bIns="0" anchor="t">
            <a:spAutoFit/>
          </a:bodyPr>
          <a:lstStyle/>
          <a:p>
            <a:pPr algn="l">
              <a:lnSpc>
                <a:spcPct val="120000"/>
              </a:lnSpc>
            </a:pPr>
            <a:r>
              <a:rPr sz="760" b="1" i="0">
                <a:solidFill>
                  <a:srgbClr val="F1752F"/>
                </a:solidFill>
                <a:latin typeface="Roboto Mono"/>
              </a:rPr>
              <a:t>04</a:t>
            </a:r>
          </a:p>
        </p:txBody>
      </p:sp>
      <p:sp>
        <p:nvSpPr>
          <p:cNvPr id="19" name="TextBox 18"/>
          <p:cNvSpPr txBox="1"/>
          <p:nvPr/>
        </p:nvSpPr>
        <p:spPr>
          <a:xfrm>
            <a:off x="969264" y="2651760"/>
            <a:ext cx="3374136" cy="201168"/>
          </a:xfrm>
          <a:prstGeom prst="rect">
            <a:avLst/>
          </a:prstGeom>
          <a:noFill/>
        </p:spPr>
        <p:txBody>
          <a:bodyPr wrap="square" lIns="0" rIns="0" tIns="0" bIns="0" anchor="t">
            <a:spAutoFit/>
          </a:bodyPr>
          <a:lstStyle/>
          <a:p>
            <a:pPr algn="l">
              <a:lnSpc>
                <a:spcPct val="120000"/>
              </a:lnSpc>
            </a:pPr>
            <a:r>
              <a:rPr sz="900" b="1" i="0">
                <a:solidFill>
                  <a:srgbClr val="FFFFFF"/>
                </a:solidFill>
                <a:latin typeface="Montserrat"/>
              </a:rPr>
              <a:t>Browser resumes</a:t>
            </a:r>
          </a:p>
        </p:txBody>
      </p:sp>
      <p:sp>
        <p:nvSpPr>
          <p:cNvPr id="20" name="TextBox 19"/>
          <p:cNvSpPr txBox="1"/>
          <p:nvPr/>
        </p:nvSpPr>
        <p:spPr>
          <a:xfrm>
            <a:off x="969264" y="2843784"/>
            <a:ext cx="3374136" cy="201168"/>
          </a:xfrm>
          <a:prstGeom prst="rect">
            <a:avLst/>
          </a:prstGeom>
          <a:noFill/>
        </p:spPr>
        <p:txBody>
          <a:bodyPr wrap="square" lIns="0" rIns="0" tIns="0" bIns="0" anchor="t">
            <a:spAutoFit/>
          </a:bodyPr>
          <a:lstStyle/>
          <a:p>
            <a:pPr algn="l">
              <a:lnSpc>
                <a:spcPct val="120000"/>
              </a:lnSpc>
            </a:pPr>
            <a:r>
              <a:rPr sz="760" b="0" i="0">
                <a:solidFill>
                  <a:srgbClr val="C7D0E8"/>
                </a:solidFill>
                <a:latin typeface="Montserrat"/>
              </a:rPr>
              <a:t>Verifier polls or is pushed the result</a:t>
            </a:r>
          </a:p>
        </p:txBody>
      </p:sp>
      <p:sp>
        <p:nvSpPr>
          <p:cNvPr id="21" name="Rounded Rectangle 20"/>
          <p:cNvSpPr/>
          <p:nvPr/>
        </p:nvSpPr>
        <p:spPr>
          <a:xfrm>
            <a:off x="4654296" y="1207008"/>
            <a:ext cx="3922776" cy="1883664"/>
          </a:xfrm>
          <a:prstGeom prst="roundRect">
            <a:avLst>
              <a:gd name="adj" fmla="val 6000"/>
            </a:avLst>
          </a:prstGeom>
          <a:solidFill>
            <a:srgbClr val="FFFFFF">
              <a:alpha val="5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4764024" y="1115568"/>
            <a:ext cx="1060704" cy="201168"/>
          </a:xfrm>
          <a:prstGeom prst="roundRect">
            <a:avLst>
              <a:gd name="adj" fmla="val 35000"/>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lstStyle/>
          <a:p>
            <a:pPr algn="ctr"/>
            <a:r>
              <a:rPr sz="740" b="1">
                <a:solidFill>
                  <a:srgbClr val="FFFFFF"/>
                </a:solidFill>
                <a:latin typeface="Montserrat"/>
              </a:rPr>
              <a:t>CROSS-DEVICE</a:t>
            </a:r>
          </a:p>
        </p:txBody>
      </p:sp>
      <p:sp>
        <p:nvSpPr>
          <p:cNvPr id="23" name="TextBox 22"/>
          <p:cNvSpPr txBox="1"/>
          <p:nvPr/>
        </p:nvSpPr>
        <p:spPr>
          <a:xfrm>
            <a:off x="4782312" y="1408176"/>
            <a:ext cx="237744" cy="201168"/>
          </a:xfrm>
          <a:prstGeom prst="rect">
            <a:avLst/>
          </a:prstGeom>
          <a:noFill/>
        </p:spPr>
        <p:txBody>
          <a:bodyPr wrap="square" lIns="0" rIns="0" tIns="0" bIns="0" anchor="t">
            <a:spAutoFit/>
          </a:bodyPr>
          <a:lstStyle/>
          <a:p>
            <a:pPr algn="l">
              <a:lnSpc>
                <a:spcPct val="120000"/>
              </a:lnSpc>
            </a:pPr>
            <a:r>
              <a:rPr sz="760" b="1" i="0">
                <a:solidFill>
                  <a:srgbClr val="8F35D6"/>
                </a:solidFill>
                <a:latin typeface="Roboto Mono"/>
              </a:rPr>
              <a:t>01</a:t>
            </a:r>
          </a:p>
        </p:txBody>
      </p:sp>
      <p:sp>
        <p:nvSpPr>
          <p:cNvPr id="24" name="TextBox 23"/>
          <p:cNvSpPr txBox="1"/>
          <p:nvPr/>
        </p:nvSpPr>
        <p:spPr>
          <a:xfrm>
            <a:off x="5056632" y="1389888"/>
            <a:ext cx="3374136" cy="201168"/>
          </a:xfrm>
          <a:prstGeom prst="rect">
            <a:avLst/>
          </a:prstGeom>
          <a:noFill/>
        </p:spPr>
        <p:txBody>
          <a:bodyPr wrap="square" lIns="0" rIns="0" tIns="0" bIns="0" anchor="t">
            <a:spAutoFit/>
          </a:bodyPr>
          <a:lstStyle/>
          <a:p>
            <a:pPr algn="l">
              <a:lnSpc>
                <a:spcPct val="120000"/>
              </a:lnSpc>
            </a:pPr>
            <a:r>
              <a:rPr sz="900" b="1" i="0">
                <a:solidFill>
                  <a:srgbClr val="FFFFFF"/>
                </a:solidFill>
                <a:latin typeface="Montserrat"/>
              </a:rPr>
              <a:t>Verifier renders a QR</a:t>
            </a:r>
          </a:p>
        </p:txBody>
      </p:sp>
      <p:sp>
        <p:nvSpPr>
          <p:cNvPr id="25" name="TextBox 24"/>
          <p:cNvSpPr txBox="1"/>
          <p:nvPr/>
        </p:nvSpPr>
        <p:spPr>
          <a:xfrm>
            <a:off x="5056632" y="1581912"/>
            <a:ext cx="3374136" cy="201168"/>
          </a:xfrm>
          <a:prstGeom prst="rect">
            <a:avLst/>
          </a:prstGeom>
          <a:noFill/>
        </p:spPr>
        <p:txBody>
          <a:bodyPr wrap="square" lIns="0" rIns="0" tIns="0" bIns="0" anchor="t">
            <a:spAutoFit/>
          </a:bodyPr>
          <a:lstStyle/>
          <a:p>
            <a:pPr algn="l">
              <a:lnSpc>
                <a:spcPct val="120000"/>
              </a:lnSpc>
            </a:pPr>
            <a:r>
              <a:rPr sz="760" b="0" i="0">
                <a:solidFill>
                  <a:srgbClr val="C7D0E8"/>
                </a:solidFill>
                <a:latin typeface="Montserrat"/>
              </a:rPr>
              <a:t>Request by value, or a </a:t>
            </a:r>
            <a:r>
              <a:rPr sz="760" b="0" i="0">
                <a:solidFill>
                  <a:srgbClr val="F1752F"/>
                </a:solidFill>
                <a:latin typeface="Roboto Mono"/>
              </a:rPr>
              <a:t>request_uri</a:t>
            </a:r>
          </a:p>
        </p:txBody>
      </p:sp>
      <p:sp>
        <p:nvSpPr>
          <p:cNvPr id="26" name="TextBox 25"/>
          <p:cNvSpPr txBox="1"/>
          <p:nvPr/>
        </p:nvSpPr>
        <p:spPr>
          <a:xfrm>
            <a:off x="4782312" y="1828800"/>
            <a:ext cx="237744" cy="201168"/>
          </a:xfrm>
          <a:prstGeom prst="rect">
            <a:avLst/>
          </a:prstGeom>
          <a:noFill/>
        </p:spPr>
        <p:txBody>
          <a:bodyPr wrap="square" lIns="0" rIns="0" tIns="0" bIns="0" anchor="t">
            <a:spAutoFit/>
          </a:bodyPr>
          <a:lstStyle/>
          <a:p>
            <a:pPr algn="l">
              <a:lnSpc>
                <a:spcPct val="120000"/>
              </a:lnSpc>
            </a:pPr>
            <a:r>
              <a:rPr sz="760" b="1" i="0">
                <a:solidFill>
                  <a:srgbClr val="8F35D6"/>
                </a:solidFill>
                <a:latin typeface="Roboto Mono"/>
              </a:rPr>
              <a:t>02</a:t>
            </a:r>
          </a:p>
        </p:txBody>
      </p:sp>
      <p:sp>
        <p:nvSpPr>
          <p:cNvPr id="27" name="TextBox 26"/>
          <p:cNvSpPr txBox="1"/>
          <p:nvPr/>
        </p:nvSpPr>
        <p:spPr>
          <a:xfrm>
            <a:off x="5056632" y="1810512"/>
            <a:ext cx="3374136" cy="201168"/>
          </a:xfrm>
          <a:prstGeom prst="rect">
            <a:avLst/>
          </a:prstGeom>
          <a:noFill/>
        </p:spPr>
        <p:txBody>
          <a:bodyPr wrap="square" lIns="0" rIns="0" tIns="0" bIns="0" anchor="t">
            <a:spAutoFit/>
          </a:bodyPr>
          <a:lstStyle/>
          <a:p>
            <a:pPr algn="l">
              <a:lnSpc>
                <a:spcPct val="120000"/>
              </a:lnSpc>
            </a:pPr>
            <a:r>
              <a:rPr sz="900" b="1" i="0">
                <a:solidFill>
                  <a:srgbClr val="FFFFFF"/>
                </a:solidFill>
                <a:latin typeface="Montserrat"/>
              </a:rPr>
              <a:t>Phone scans it</a:t>
            </a:r>
          </a:p>
        </p:txBody>
      </p:sp>
      <p:sp>
        <p:nvSpPr>
          <p:cNvPr id="28" name="TextBox 27"/>
          <p:cNvSpPr txBox="1"/>
          <p:nvPr/>
        </p:nvSpPr>
        <p:spPr>
          <a:xfrm>
            <a:off x="5056632" y="2002536"/>
            <a:ext cx="3374136" cy="201168"/>
          </a:xfrm>
          <a:prstGeom prst="rect">
            <a:avLst/>
          </a:prstGeom>
          <a:noFill/>
        </p:spPr>
        <p:txBody>
          <a:bodyPr wrap="square" lIns="0" rIns="0" tIns="0" bIns="0" anchor="t">
            <a:spAutoFit/>
          </a:bodyPr>
          <a:lstStyle/>
          <a:p>
            <a:pPr algn="l">
              <a:lnSpc>
                <a:spcPct val="120000"/>
              </a:lnSpc>
            </a:pPr>
            <a:r>
              <a:rPr sz="760" b="0" i="0">
                <a:solidFill>
                  <a:srgbClr val="C7D0E8"/>
                </a:solidFill>
                <a:latin typeface="Montserrat"/>
              </a:rPr>
              <a:t>Wallet parses and authenticates the verifier</a:t>
            </a:r>
          </a:p>
        </p:txBody>
      </p:sp>
      <p:sp>
        <p:nvSpPr>
          <p:cNvPr id="29" name="TextBox 28"/>
          <p:cNvSpPr txBox="1"/>
          <p:nvPr/>
        </p:nvSpPr>
        <p:spPr>
          <a:xfrm>
            <a:off x="4782312" y="2249424"/>
            <a:ext cx="237744" cy="201168"/>
          </a:xfrm>
          <a:prstGeom prst="rect">
            <a:avLst/>
          </a:prstGeom>
          <a:noFill/>
        </p:spPr>
        <p:txBody>
          <a:bodyPr wrap="square" lIns="0" rIns="0" tIns="0" bIns="0" anchor="t">
            <a:spAutoFit/>
          </a:bodyPr>
          <a:lstStyle/>
          <a:p>
            <a:pPr algn="l">
              <a:lnSpc>
                <a:spcPct val="120000"/>
              </a:lnSpc>
            </a:pPr>
            <a:r>
              <a:rPr sz="760" b="1" i="0">
                <a:solidFill>
                  <a:srgbClr val="8F35D6"/>
                </a:solidFill>
                <a:latin typeface="Roboto Mono"/>
              </a:rPr>
              <a:t>03</a:t>
            </a:r>
          </a:p>
        </p:txBody>
      </p:sp>
      <p:sp>
        <p:nvSpPr>
          <p:cNvPr id="30" name="TextBox 29"/>
          <p:cNvSpPr txBox="1"/>
          <p:nvPr/>
        </p:nvSpPr>
        <p:spPr>
          <a:xfrm>
            <a:off x="5056632" y="2231136"/>
            <a:ext cx="3374136" cy="201168"/>
          </a:xfrm>
          <a:prstGeom prst="rect">
            <a:avLst/>
          </a:prstGeom>
          <a:noFill/>
        </p:spPr>
        <p:txBody>
          <a:bodyPr wrap="square" lIns="0" rIns="0" tIns="0" bIns="0" anchor="t">
            <a:spAutoFit/>
          </a:bodyPr>
          <a:lstStyle/>
          <a:p>
            <a:pPr algn="l">
              <a:lnSpc>
                <a:spcPct val="120000"/>
              </a:lnSpc>
            </a:pPr>
            <a:r>
              <a:rPr sz="900" b="1" i="0">
                <a:solidFill>
                  <a:srgbClr val="FFFFFF"/>
                </a:solidFill>
                <a:latin typeface="Montserrat"/>
              </a:rPr>
              <a:t>Wallet presents</a:t>
            </a:r>
          </a:p>
        </p:txBody>
      </p:sp>
      <p:sp>
        <p:nvSpPr>
          <p:cNvPr id="31" name="TextBox 30"/>
          <p:cNvSpPr txBox="1"/>
          <p:nvPr/>
        </p:nvSpPr>
        <p:spPr>
          <a:xfrm>
            <a:off x="5056632" y="2423160"/>
            <a:ext cx="3374136" cy="201168"/>
          </a:xfrm>
          <a:prstGeom prst="rect">
            <a:avLst/>
          </a:prstGeom>
          <a:noFill/>
        </p:spPr>
        <p:txBody>
          <a:bodyPr wrap="square" lIns="0" rIns="0" tIns="0" bIns="0" anchor="t">
            <a:spAutoFit/>
          </a:bodyPr>
          <a:lstStyle/>
          <a:p>
            <a:pPr algn="l">
              <a:lnSpc>
                <a:spcPct val="120000"/>
              </a:lnSpc>
            </a:pPr>
            <a:r>
              <a:rPr sz="760" b="0" i="0">
                <a:solidFill>
                  <a:srgbClr val="C7D0E8"/>
                </a:solidFill>
                <a:latin typeface="Montserrat"/>
              </a:rPr>
              <a:t>Consent, then POST to </a:t>
            </a:r>
            <a:r>
              <a:rPr sz="760" b="0" i="0">
                <a:solidFill>
                  <a:srgbClr val="F1752F"/>
                </a:solidFill>
                <a:latin typeface="Roboto Mono"/>
              </a:rPr>
              <a:t>response_uri</a:t>
            </a:r>
          </a:p>
        </p:txBody>
      </p:sp>
      <p:sp>
        <p:nvSpPr>
          <p:cNvPr id="32" name="TextBox 31"/>
          <p:cNvSpPr txBox="1"/>
          <p:nvPr/>
        </p:nvSpPr>
        <p:spPr>
          <a:xfrm>
            <a:off x="4782312" y="2670048"/>
            <a:ext cx="237744" cy="201168"/>
          </a:xfrm>
          <a:prstGeom prst="rect">
            <a:avLst/>
          </a:prstGeom>
          <a:noFill/>
        </p:spPr>
        <p:txBody>
          <a:bodyPr wrap="square" lIns="0" rIns="0" tIns="0" bIns="0" anchor="t">
            <a:spAutoFit/>
          </a:bodyPr>
          <a:lstStyle/>
          <a:p>
            <a:pPr algn="l">
              <a:lnSpc>
                <a:spcPct val="120000"/>
              </a:lnSpc>
            </a:pPr>
            <a:r>
              <a:rPr sz="760" b="1" i="0">
                <a:solidFill>
                  <a:srgbClr val="8F35D6"/>
                </a:solidFill>
                <a:latin typeface="Roboto Mono"/>
              </a:rPr>
              <a:t>04</a:t>
            </a:r>
          </a:p>
        </p:txBody>
      </p:sp>
      <p:sp>
        <p:nvSpPr>
          <p:cNvPr id="33" name="TextBox 32"/>
          <p:cNvSpPr txBox="1"/>
          <p:nvPr/>
        </p:nvSpPr>
        <p:spPr>
          <a:xfrm>
            <a:off x="5056632" y="2651760"/>
            <a:ext cx="3374136" cy="201168"/>
          </a:xfrm>
          <a:prstGeom prst="rect">
            <a:avLst/>
          </a:prstGeom>
          <a:noFill/>
        </p:spPr>
        <p:txBody>
          <a:bodyPr wrap="square" lIns="0" rIns="0" tIns="0" bIns="0" anchor="t">
            <a:spAutoFit/>
          </a:bodyPr>
          <a:lstStyle/>
          <a:p>
            <a:pPr algn="l">
              <a:lnSpc>
                <a:spcPct val="120000"/>
              </a:lnSpc>
            </a:pPr>
            <a:r>
              <a:rPr sz="900" b="1" i="0">
                <a:solidFill>
                  <a:srgbClr val="FFFFFF"/>
                </a:solidFill>
                <a:latin typeface="Montserrat"/>
              </a:rPr>
              <a:t>Screen updates</a:t>
            </a:r>
          </a:p>
        </p:txBody>
      </p:sp>
      <p:sp>
        <p:nvSpPr>
          <p:cNvPr id="34" name="TextBox 33"/>
          <p:cNvSpPr txBox="1"/>
          <p:nvPr/>
        </p:nvSpPr>
        <p:spPr>
          <a:xfrm>
            <a:off x="5056632" y="2843784"/>
            <a:ext cx="3374136" cy="201168"/>
          </a:xfrm>
          <a:prstGeom prst="rect">
            <a:avLst/>
          </a:prstGeom>
          <a:noFill/>
        </p:spPr>
        <p:txBody>
          <a:bodyPr wrap="square" lIns="0" rIns="0" tIns="0" bIns="0" anchor="t">
            <a:spAutoFit/>
          </a:bodyPr>
          <a:lstStyle/>
          <a:p>
            <a:pPr algn="l">
              <a:lnSpc>
                <a:spcPct val="120000"/>
              </a:lnSpc>
            </a:pPr>
            <a:r>
              <a:rPr sz="760" b="0" i="0">
                <a:solidFill>
                  <a:srgbClr val="C7D0E8"/>
                </a:solidFill>
                <a:latin typeface="Montserrat"/>
              </a:rPr>
              <a:t>Verifier correlates on </a:t>
            </a:r>
            <a:r>
              <a:rPr sz="760" b="0" i="0">
                <a:solidFill>
                  <a:srgbClr val="F1752F"/>
                </a:solidFill>
                <a:latin typeface="Roboto Mono"/>
              </a:rPr>
              <a:t>state</a:t>
            </a:r>
          </a:p>
        </p:txBody>
      </p:sp>
      <p:sp>
        <p:nvSpPr>
          <p:cNvPr id="35" name="Rounded Rectangle 34"/>
          <p:cNvSpPr/>
          <p:nvPr/>
        </p:nvSpPr>
        <p:spPr>
          <a:xfrm>
            <a:off x="2441448" y="3236976"/>
            <a:ext cx="2962656" cy="274320"/>
          </a:xfrm>
          <a:prstGeom prst="roundRect">
            <a:avLst>
              <a:gd name="adj" fmla="val 14000"/>
            </a:avLst>
          </a:prstGeom>
          <a:solidFill>
            <a:srgbClr val="FFFFFF">
              <a:alpha val="7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2514600" y="3236976"/>
            <a:ext cx="2816352" cy="274320"/>
          </a:xfrm>
          <a:prstGeom prst="rect">
            <a:avLst/>
          </a:prstGeom>
          <a:noFill/>
        </p:spPr>
        <p:txBody>
          <a:bodyPr wrap="square" lIns="0" rIns="0" tIns="0" bIns="0" anchor="ctr">
            <a:spAutoFit/>
          </a:bodyPr>
          <a:lstStyle/>
          <a:p>
            <a:pPr algn="ctr">
              <a:lnSpc>
                <a:spcPct val="120000"/>
              </a:lnSpc>
            </a:pPr>
            <a:r>
              <a:rPr sz="860" b="1" i="0">
                <a:solidFill>
                  <a:srgbClr val="C7D0E8"/>
                </a:solidFill>
                <a:latin typeface="Montserrat"/>
              </a:rPr>
              <a:t>SAME-DEVICE</a:t>
            </a:r>
          </a:p>
        </p:txBody>
      </p:sp>
      <p:sp>
        <p:nvSpPr>
          <p:cNvPr id="37" name="Rounded Rectangle 36"/>
          <p:cNvSpPr/>
          <p:nvPr/>
        </p:nvSpPr>
        <p:spPr>
          <a:xfrm>
            <a:off x="5458968" y="3236976"/>
            <a:ext cx="3063240" cy="274320"/>
          </a:xfrm>
          <a:prstGeom prst="roundRect">
            <a:avLst>
              <a:gd name="adj" fmla="val 14000"/>
            </a:avLst>
          </a:prstGeom>
          <a:solidFill>
            <a:srgbClr val="951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532120" y="3236976"/>
            <a:ext cx="2916936" cy="274320"/>
          </a:xfrm>
          <a:prstGeom prst="rect">
            <a:avLst/>
          </a:prstGeom>
          <a:noFill/>
        </p:spPr>
        <p:txBody>
          <a:bodyPr wrap="square" lIns="0" rIns="0" tIns="0" bIns="0" anchor="ctr">
            <a:spAutoFit/>
          </a:bodyPr>
          <a:lstStyle/>
          <a:p>
            <a:pPr algn="ctr">
              <a:lnSpc>
                <a:spcPct val="120000"/>
              </a:lnSpc>
            </a:pPr>
            <a:r>
              <a:rPr sz="860" b="1" i="0">
                <a:solidFill>
                  <a:srgbClr val="FFFFFF"/>
                </a:solidFill>
                <a:latin typeface="Montserrat"/>
              </a:rPr>
              <a:t>CROSS-DEVICE</a:t>
            </a:r>
          </a:p>
        </p:txBody>
      </p:sp>
      <p:sp>
        <p:nvSpPr>
          <p:cNvPr id="39" name="TextBox 38"/>
          <p:cNvSpPr txBox="1"/>
          <p:nvPr/>
        </p:nvSpPr>
        <p:spPr>
          <a:xfrm>
            <a:off x="566928" y="3584448"/>
            <a:ext cx="1783080" cy="310896"/>
          </a:xfrm>
          <a:prstGeom prst="rect">
            <a:avLst/>
          </a:prstGeom>
          <a:noFill/>
        </p:spPr>
        <p:txBody>
          <a:bodyPr wrap="square" lIns="0" rIns="0" tIns="0" bIns="0" anchor="ctr">
            <a:spAutoFit/>
          </a:bodyPr>
          <a:lstStyle/>
          <a:p>
            <a:pPr algn="l">
              <a:lnSpc>
                <a:spcPct val="120000"/>
              </a:lnSpc>
            </a:pPr>
            <a:r>
              <a:rPr sz="850" b="0" i="0">
                <a:solidFill>
                  <a:srgbClr val="FFFFFF"/>
                </a:solidFill>
                <a:latin typeface="Montserrat"/>
              </a:rPr>
              <a:t>What carries the request</a:t>
            </a:r>
          </a:p>
        </p:txBody>
      </p:sp>
      <p:sp>
        <p:nvSpPr>
          <p:cNvPr id="40" name="Rounded Rectangle 39"/>
          <p:cNvSpPr/>
          <p:nvPr/>
        </p:nvSpPr>
        <p:spPr>
          <a:xfrm>
            <a:off x="2441448" y="3584448"/>
            <a:ext cx="2962656" cy="310896"/>
          </a:xfrm>
          <a:prstGeom prst="roundRect">
            <a:avLst>
              <a:gd name="adj" fmla="val 10000"/>
            </a:avLst>
          </a:prstGeom>
          <a:solidFill>
            <a:srgbClr val="FFFFFF">
              <a:alpha val="4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2542032" y="3639312"/>
            <a:ext cx="2761488" cy="201168"/>
          </a:xfrm>
          <a:prstGeom prst="rect">
            <a:avLst/>
          </a:prstGeom>
          <a:noFill/>
        </p:spPr>
        <p:txBody>
          <a:bodyPr wrap="square" lIns="0" rIns="0" tIns="0" bIns="0" anchor="t">
            <a:spAutoFit/>
          </a:bodyPr>
          <a:lstStyle/>
          <a:p>
            <a:pPr algn="l">
              <a:lnSpc>
                <a:spcPct val="124000"/>
              </a:lnSpc>
            </a:pPr>
            <a:r>
              <a:rPr sz="800" b="0" i="0">
                <a:solidFill>
                  <a:srgbClr val="C7D0E8"/>
                </a:solidFill>
                <a:latin typeface="Montserrat"/>
              </a:rPr>
              <a:t>A URL the OS resolves to the wallet</a:t>
            </a:r>
          </a:p>
        </p:txBody>
      </p:sp>
      <p:sp>
        <p:nvSpPr>
          <p:cNvPr id="42" name="Rounded Rectangle 41"/>
          <p:cNvSpPr/>
          <p:nvPr/>
        </p:nvSpPr>
        <p:spPr>
          <a:xfrm>
            <a:off x="5458968" y="3584448"/>
            <a:ext cx="3063240" cy="310896"/>
          </a:xfrm>
          <a:prstGeom prst="roundRect">
            <a:avLst>
              <a:gd name="adj" fmla="val 10000"/>
            </a:avLst>
          </a:prstGeom>
          <a:solidFill>
            <a:srgbClr val="FFFFFF">
              <a:alpha val="9000"/>
            </a:srgbClr>
          </a:solidFill>
          <a:ln w="9525">
            <a:solidFill>
              <a:srgbClr val="951F6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559552" y="3639312"/>
            <a:ext cx="2862072" cy="201168"/>
          </a:xfrm>
          <a:prstGeom prst="rect">
            <a:avLst/>
          </a:prstGeom>
          <a:noFill/>
        </p:spPr>
        <p:txBody>
          <a:bodyPr wrap="square" lIns="0" rIns="0" tIns="0" bIns="0" anchor="t">
            <a:spAutoFit/>
          </a:bodyPr>
          <a:lstStyle/>
          <a:p>
            <a:pPr algn="l">
              <a:lnSpc>
                <a:spcPct val="124000"/>
              </a:lnSpc>
            </a:pPr>
            <a:r>
              <a:rPr sz="800" b="0" i="0">
                <a:solidFill>
                  <a:srgbClr val="FFFFFF"/>
                </a:solidFill>
                <a:latin typeface="Montserrat"/>
              </a:rPr>
              <a:t>A QR code the camera resolves</a:t>
            </a:r>
          </a:p>
        </p:txBody>
      </p:sp>
      <p:sp>
        <p:nvSpPr>
          <p:cNvPr id="44" name="TextBox 43"/>
          <p:cNvSpPr txBox="1"/>
          <p:nvPr/>
        </p:nvSpPr>
        <p:spPr>
          <a:xfrm>
            <a:off x="566928" y="3968496"/>
            <a:ext cx="1783080" cy="392176"/>
          </a:xfrm>
          <a:prstGeom prst="rect">
            <a:avLst/>
          </a:prstGeom>
          <a:noFill/>
        </p:spPr>
        <p:txBody>
          <a:bodyPr wrap="square" lIns="0" rIns="0" tIns="0" bIns="0" anchor="ctr">
            <a:spAutoFit/>
          </a:bodyPr>
          <a:lstStyle/>
          <a:p>
            <a:pPr algn="l">
              <a:lnSpc>
                <a:spcPct val="120000"/>
              </a:lnSpc>
            </a:pPr>
            <a:r>
              <a:rPr sz="850" b="0" i="0">
                <a:solidFill>
                  <a:srgbClr val="FFFFFF"/>
                </a:solidFill>
                <a:latin typeface="Montserrat"/>
              </a:rPr>
              <a:t>Why the response is separate</a:t>
            </a:r>
          </a:p>
        </p:txBody>
      </p:sp>
      <p:sp>
        <p:nvSpPr>
          <p:cNvPr id="45" name="Rounded Rectangle 44"/>
          <p:cNvSpPr/>
          <p:nvPr/>
        </p:nvSpPr>
        <p:spPr>
          <a:xfrm>
            <a:off x="2441448" y="3968496"/>
            <a:ext cx="2962656" cy="392176"/>
          </a:xfrm>
          <a:prstGeom prst="roundRect">
            <a:avLst>
              <a:gd name="adj" fmla="val 10000"/>
            </a:avLst>
          </a:prstGeom>
          <a:solidFill>
            <a:srgbClr val="FFFFFF">
              <a:alpha val="4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2542032" y="4023359"/>
            <a:ext cx="2761488" cy="282448"/>
          </a:xfrm>
          <a:prstGeom prst="rect">
            <a:avLst/>
          </a:prstGeom>
          <a:noFill/>
        </p:spPr>
        <p:txBody>
          <a:bodyPr wrap="square" lIns="0" rIns="0" tIns="0" bIns="0" anchor="t">
            <a:spAutoFit/>
          </a:bodyPr>
          <a:lstStyle/>
          <a:p>
            <a:pPr algn="l">
              <a:lnSpc>
                <a:spcPct val="124000"/>
              </a:lnSpc>
            </a:pPr>
            <a:r>
              <a:rPr sz="800" b="0" i="0">
                <a:solidFill>
                  <a:srgbClr val="C7D0E8"/>
                </a:solidFill>
                <a:latin typeface="Montserrat"/>
              </a:rPr>
              <a:t>The browser is not the wallet — it cannot receive </a:t>
            </a:r>
            <a:r>
              <a:rPr sz="800" b="0" i="0">
                <a:solidFill>
                  <a:srgbClr val="F1752F"/>
                </a:solidFill>
                <a:latin typeface="Roboto Mono"/>
              </a:rPr>
              <a:t>vp_token</a:t>
            </a:r>
          </a:p>
        </p:txBody>
      </p:sp>
      <p:sp>
        <p:nvSpPr>
          <p:cNvPr id="47" name="Rounded Rectangle 46"/>
          <p:cNvSpPr/>
          <p:nvPr/>
        </p:nvSpPr>
        <p:spPr>
          <a:xfrm>
            <a:off x="5458968" y="3968496"/>
            <a:ext cx="3063240" cy="392176"/>
          </a:xfrm>
          <a:prstGeom prst="roundRect">
            <a:avLst>
              <a:gd name="adj" fmla="val 10000"/>
            </a:avLst>
          </a:prstGeom>
          <a:solidFill>
            <a:srgbClr val="FFFFFF">
              <a:alpha val="9000"/>
            </a:srgbClr>
          </a:solidFill>
          <a:ln w="9525">
            <a:solidFill>
              <a:srgbClr val="951F6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559552" y="4023359"/>
            <a:ext cx="2862072" cy="282448"/>
          </a:xfrm>
          <a:prstGeom prst="rect">
            <a:avLst/>
          </a:prstGeom>
          <a:noFill/>
        </p:spPr>
        <p:txBody>
          <a:bodyPr wrap="square" lIns="0" rIns="0" tIns="0" bIns="0" anchor="t">
            <a:spAutoFit/>
          </a:bodyPr>
          <a:lstStyle/>
          <a:p>
            <a:pPr algn="l">
              <a:lnSpc>
                <a:spcPct val="124000"/>
              </a:lnSpc>
            </a:pPr>
            <a:r>
              <a:rPr sz="800" b="0" i="0">
                <a:solidFill>
                  <a:srgbClr val="FFFFFF"/>
                </a:solidFill>
                <a:latin typeface="Montserrat"/>
              </a:rPr>
              <a:t>The two devices share no session at all</a:t>
            </a:r>
          </a:p>
        </p:txBody>
      </p:sp>
      <p:sp>
        <p:nvSpPr>
          <p:cNvPr id="49" name="TextBox 48"/>
          <p:cNvSpPr txBox="1"/>
          <p:nvPr/>
        </p:nvSpPr>
        <p:spPr>
          <a:xfrm>
            <a:off x="566928" y="4433823"/>
            <a:ext cx="1783080" cy="310896"/>
          </a:xfrm>
          <a:prstGeom prst="rect">
            <a:avLst/>
          </a:prstGeom>
          <a:noFill/>
        </p:spPr>
        <p:txBody>
          <a:bodyPr wrap="square" lIns="0" rIns="0" tIns="0" bIns="0" anchor="ctr">
            <a:spAutoFit/>
          </a:bodyPr>
          <a:lstStyle/>
          <a:p>
            <a:pPr algn="l">
              <a:lnSpc>
                <a:spcPct val="120000"/>
              </a:lnSpc>
            </a:pPr>
            <a:r>
              <a:rPr sz="850" b="0" i="0">
                <a:solidFill>
                  <a:srgbClr val="FFFFFF"/>
                </a:solidFill>
                <a:latin typeface="Montserrat"/>
              </a:rPr>
              <a:t>What ties it back together</a:t>
            </a:r>
          </a:p>
        </p:txBody>
      </p:sp>
      <p:sp>
        <p:nvSpPr>
          <p:cNvPr id="50" name="Rounded Rectangle 49"/>
          <p:cNvSpPr/>
          <p:nvPr/>
        </p:nvSpPr>
        <p:spPr>
          <a:xfrm>
            <a:off x="2441448" y="4433823"/>
            <a:ext cx="2962656" cy="310896"/>
          </a:xfrm>
          <a:prstGeom prst="roundRect">
            <a:avLst>
              <a:gd name="adj" fmla="val 10000"/>
            </a:avLst>
          </a:prstGeom>
          <a:solidFill>
            <a:srgbClr val="FFFFFF">
              <a:alpha val="4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2542032" y="4488687"/>
            <a:ext cx="2761488" cy="201168"/>
          </a:xfrm>
          <a:prstGeom prst="rect">
            <a:avLst/>
          </a:prstGeom>
          <a:noFill/>
        </p:spPr>
        <p:txBody>
          <a:bodyPr wrap="square" lIns="0" rIns="0" tIns="0" bIns="0" anchor="t">
            <a:spAutoFit/>
          </a:bodyPr>
          <a:lstStyle/>
          <a:p>
            <a:pPr algn="l">
              <a:lnSpc>
                <a:spcPct val="124000"/>
              </a:lnSpc>
            </a:pPr>
            <a:r>
              <a:rPr sz="800" b="0" i="0">
                <a:solidFill>
                  <a:srgbClr val="F1752F"/>
                </a:solidFill>
                <a:latin typeface="Roboto Mono"/>
              </a:rPr>
              <a:t>state</a:t>
            </a:r>
            <a:r>
              <a:rPr sz="800" b="0" i="0">
                <a:solidFill>
                  <a:srgbClr val="C7D0E8"/>
                </a:solidFill>
                <a:latin typeface="Montserrat"/>
              </a:rPr>
              <a:t>, plus </a:t>
            </a:r>
            <a:r>
              <a:rPr sz="800" b="0" i="0">
                <a:solidFill>
                  <a:srgbClr val="F1752F"/>
                </a:solidFill>
                <a:latin typeface="Roboto Mono"/>
              </a:rPr>
              <a:t>nonce</a:t>
            </a:r>
            <a:r>
              <a:rPr sz="800" b="0" i="0">
                <a:solidFill>
                  <a:srgbClr val="C7D0E8"/>
                </a:solidFill>
                <a:latin typeface="Montserrat"/>
              </a:rPr>
              <a:t> inside the signed presentation</a:t>
            </a:r>
          </a:p>
        </p:txBody>
      </p:sp>
      <p:sp>
        <p:nvSpPr>
          <p:cNvPr id="52" name="Rounded Rectangle 51"/>
          <p:cNvSpPr/>
          <p:nvPr/>
        </p:nvSpPr>
        <p:spPr>
          <a:xfrm>
            <a:off x="5458968" y="4433823"/>
            <a:ext cx="3063240" cy="310896"/>
          </a:xfrm>
          <a:prstGeom prst="roundRect">
            <a:avLst>
              <a:gd name="adj" fmla="val 10000"/>
            </a:avLst>
          </a:prstGeom>
          <a:solidFill>
            <a:srgbClr val="FFFFFF">
              <a:alpha val="9000"/>
            </a:srgbClr>
          </a:solidFill>
          <a:ln w="9525">
            <a:solidFill>
              <a:srgbClr val="951F6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5559552" y="4488687"/>
            <a:ext cx="2862072" cy="201168"/>
          </a:xfrm>
          <a:prstGeom prst="rect">
            <a:avLst/>
          </a:prstGeom>
          <a:noFill/>
        </p:spPr>
        <p:txBody>
          <a:bodyPr wrap="square" lIns="0" rIns="0" tIns="0" bIns="0" anchor="t">
            <a:spAutoFit/>
          </a:bodyPr>
          <a:lstStyle/>
          <a:p>
            <a:pPr algn="l">
              <a:lnSpc>
                <a:spcPct val="124000"/>
              </a:lnSpc>
            </a:pPr>
            <a:r>
              <a:rPr sz="800" b="0" i="0">
                <a:solidFill>
                  <a:srgbClr val="FFFFFF"/>
                </a:solidFill>
                <a:latin typeface="Montserrat"/>
              </a:rPr>
              <a:t>Identical — the protocol does not change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cxnSp>
        <p:nvCxnSpPr>
          <p:cNvPr id="3" name="Connector 2"/>
          <p:cNvCxnSpPr/>
          <p:nvPr/>
        </p:nvCxnSpPr>
        <p:spPr>
          <a:xfrm>
            <a:off x="429768" y="384048"/>
            <a:ext cx="0" cy="4288536"/>
          </a:xfrm>
          <a:prstGeom prst="line">
            <a:avLst/>
          </a:prstGeom>
          <a:ln w="28575">
            <a:solidFill>
              <a:srgbClr val="F2680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384048"/>
            <a:ext cx="8010144" cy="283464"/>
          </a:xfrm>
          <a:prstGeom prst="rect">
            <a:avLst/>
          </a:prstGeom>
          <a:noFill/>
        </p:spPr>
        <p:txBody>
          <a:bodyPr wrap="square" lIns="0" rIns="0" tIns="0" bIns="0" anchor="t">
            <a:spAutoFit/>
          </a:bodyPr>
          <a:lstStyle/>
          <a:p>
            <a:pPr algn="l">
              <a:lnSpc>
                <a:spcPct val="120000"/>
              </a:lnSpc>
            </a:pPr>
            <a:r>
              <a:rPr sz="1000" b="1" i="0">
                <a:solidFill>
                  <a:srgbClr val="C7D0E8"/>
                </a:solidFill>
                <a:latin typeface="Montserrat"/>
              </a:rPr>
              <a:t>DAY 3 · MODULE 8 · OPENID4VP</a:t>
            </a:r>
          </a:p>
        </p:txBody>
      </p:sp>
      <p:sp>
        <p:nvSpPr>
          <p:cNvPr id="5" name="TextBox 4"/>
          <p:cNvSpPr txBox="1"/>
          <p:nvPr/>
        </p:nvSpPr>
        <p:spPr>
          <a:xfrm>
            <a:off x="566928" y="612648"/>
            <a:ext cx="8010144" cy="475488"/>
          </a:xfrm>
          <a:prstGeom prst="rect">
            <a:avLst/>
          </a:prstGeom>
          <a:noFill/>
        </p:spPr>
        <p:txBody>
          <a:bodyPr wrap="square" lIns="0" rIns="0" tIns="0" bIns="0" anchor="t">
            <a:spAutoFit/>
          </a:bodyPr>
          <a:lstStyle/>
          <a:p>
            <a:pPr algn="l">
              <a:lnSpc>
                <a:spcPct val="120000"/>
              </a:lnSpc>
            </a:pPr>
            <a:r>
              <a:rPr sz="2300" b="1" i="1">
                <a:solidFill>
                  <a:srgbClr val="FFFFFF"/>
                </a:solidFill>
                <a:latin typeface="Montserrat"/>
              </a:rPr>
              <a:t>The request and the response, annotated</a:t>
            </a:r>
          </a:p>
        </p:txBody>
      </p:sp>
      <p:pic>
        <p:nvPicPr>
          <p:cNvPr id="6" name="Picture 5" descr="image.png"/>
          <p:cNvPicPr>
            <a:picLocks noChangeAspect="1"/>
          </p:cNvPicPr>
          <p:nvPr/>
        </p:nvPicPr>
        <p:blipFill>
          <a:blip r:embed="rId3"/>
          <a:stretch>
            <a:fillRect/>
          </a:stretch>
        </p:blipFill>
        <p:spPr>
          <a:xfrm>
            <a:off x="8247888" y="237744"/>
            <a:ext cx="612648" cy="329184"/>
          </a:xfrm>
          <a:prstGeom prst="rect">
            <a:avLst/>
          </a:prstGeom>
        </p:spPr>
      </p:pic>
      <p:sp>
        <p:nvSpPr>
          <p:cNvPr id="7" name="TextBox 6"/>
          <p:cNvSpPr txBox="1"/>
          <p:nvPr/>
        </p:nvSpPr>
        <p:spPr>
          <a:xfrm>
            <a:off x="566928" y="1106424"/>
            <a:ext cx="3931920" cy="182880"/>
          </a:xfrm>
          <a:prstGeom prst="rect">
            <a:avLst/>
          </a:prstGeom>
          <a:noFill/>
        </p:spPr>
        <p:txBody>
          <a:bodyPr wrap="square" lIns="0" rIns="0" tIns="0" bIns="0" anchor="t">
            <a:spAutoFit/>
          </a:bodyPr>
          <a:lstStyle/>
          <a:p>
            <a:pPr algn="l">
              <a:lnSpc>
                <a:spcPct val="120000"/>
              </a:lnSpc>
            </a:pPr>
            <a:r>
              <a:rPr sz="760" b="1" i="0">
                <a:solidFill>
                  <a:srgbClr val="8D98B8"/>
                </a:solidFill>
                <a:latin typeface="Montserrat"/>
              </a:rPr>
              <a:t>AUTHORIZATION REQUEST</a:t>
            </a:r>
          </a:p>
        </p:txBody>
      </p:sp>
      <p:sp>
        <p:nvSpPr>
          <p:cNvPr id="8" name="Rounded Rectangle 7"/>
          <p:cNvSpPr/>
          <p:nvPr/>
        </p:nvSpPr>
        <p:spPr>
          <a:xfrm>
            <a:off x="566928" y="1298448"/>
            <a:ext cx="3931920" cy="2761488"/>
          </a:xfrm>
          <a:prstGeom prst="roundRect">
            <a:avLst>
              <a:gd name="adj" fmla="val 4000"/>
            </a:avLst>
          </a:prstGeom>
          <a:solidFill>
            <a:srgbClr val="1D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76656" y="1389888"/>
            <a:ext cx="3712463" cy="2578608"/>
          </a:xfrm>
          <a:prstGeom prst="rect">
            <a:avLst/>
          </a:prstGeom>
          <a:noFill/>
        </p:spPr>
        <p:txBody>
          <a:bodyPr wrap="square" lIns="0" rIns="0" tIns="0" bIns="0" anchor="t">
            <a:spAutoFit/>
          </a:bodyPr>
          <a:lstStyle/>
          <a:p>
            <a:pPr algn="l">
              <a:lnSpc>
                <a:spcPct val="122000"/>
              </a:lnSpc>
            </a:pPr>
            <a:r>
              <a:rPr sz="680" b="0" i="0">
                <a:solidFill>
                  <a:srgbClr val="C7D0E8"/>
                </a:solidFill>
                <a:latin typeface="Roboto Mono"/>
              </a:rPr>
              <a:t>GET  /authorize?</a:t>
            </a:r>
          </a:p>
          <a:p>
            <a:pPr algn="l">
              <a:lnSpc>
                <a:spcPct val="122000"/>
              </a:lnSpc>
            </a:pPr>
            <a:r>
              <a:rPr sz="680" b="0" i="0">
                <a:solidFill>
                  <a:srgbClr val="C7D0E8"/>
                </a:solidFill>
                <a:latin typeface="Roboto Mono"/>
              </a:rPr>
              <a:t>  client_id            = did:web:verifier.example</a:t>
            </a:r>
          </a:p>
          <a:p>
            <a:pPr algn="l">
              <a:lnSpc>
                <a:spcPct val="122000"/>
              </a:lnSpc>
            </a:pPr>
            <a:r>
              <a:rPr sz="680" b="0" i="0">
                <a:solidFill>
                  <a:srgbClr val="F1752F"/>
                </a:solidFill>
                <a:latin typeface="Roboto Mono"/>
              </a:rPr>
              <a:t>  client_id_scheme     = did</a:t>
            </a:r>
          </a:p>
          <a:p>
            <a:pPr algn="l">
              <a:lnSpc>
                <a:spcPct val="122000"/>
              </a:lnSpc>
            </a:pPr>
            <a:r>
              <a:rPr sz="680" b="0" i="0">
                <a:solidFill>
                  <a:srgbClr val="C7D0E8"/>
                </a:solidFill>
                <a:latin typeface="Roboto Mono"/>
              </a:rPr>
              <a:t>  response_type        = vp_token</a:t>
            </a:r>
          </a:p>
          <a:p>
            <a:pPr algn="l">
              <a:lnSpc>
                <a:spcPct val="122000"/>
              </a:lnSpc>
            </a:pPr>
            <a:r>
              <a:rPr sz="680" b="0" i="0">
                <a:solidFill>
                  <a:srgbClr val="F1752F"/>
                </a:solidFill>
                <a:latin typeface="Roboto Mono"/>
              </a:rPr>
              <a:t>  response_mode        = direct_post</a:t>
            </a:r>
          </a:p>
          <a:p>
            <a:pPr algn="l">
              <a:lnSpc>
                <a:spcPct val="122000"/>
              </a:lnSpc>
            </a:pPr>
            <a:r>
              <a:rPr sz="680" b="0" i="0">
                <a:solidFill>
                  <a:srgbClr val="C7D0E8"/>
                </a:solidFill>
                <a:latin typeface="Roboto Mono"/>
              </a:rPr>
              <a:t>  response_uri         = https://verifier.example/cb</a:t>
            </a:r>
          </a:p>
          <a:p>
            <a:pPr algn="l">
              <a:lnSpc>
                <a:spcPct val="122000"/>
              </a:lnSpc>
            </a:pPr>
            <a:r>
              <a:rPr sz="680" b="0" i="0">
                <a:solidFill>
                  <a:srgbClr val="F1752F"/>
                </a:solidFill>
                <a:latin typeface="Roboto Mono"/>
              </a:rPr>
              <a:t>  nonce                = n-0S6_WzA2Mj</a:t>
            </a:r>
          </a:p>
          <a:p>
            <a:pPr algn="l">
              <a:lnSpc>
                <a:spcPct val="122000"/>
              </a:lnSpc>
            </a:pPr>
            <a:r>
              <a:rPr sz="680" b="0" i="0">
                <a:solidFill>
                  <a:srgbClr val="F1752F"/>
                </a:solidFill>
                <a:latin typeface="Roboto Mono"/>
              </a:rPr>
              <a:t>  state                = af0ifjsldkj</a:t>
            </a:r>
          </a:p>
          <a:p>
            <a:pPr algn="l">
              <a:lnSpc>
                <a:spcPct val="122000"/>
              </a:lnSpc>
            </a:pPr>
            <a:r>
              <a:rPr sz="680" b="0" i="0">
                <a:solidFill>
                  <a:srgbClr val="C7D0E8"/>
                </a:solidFill>
                <a:latin typeface="Roboto Mono"/>
              </a:rPr>
              <a:t>  presentation_definition = { ... }</a:t>
            </a:r>
          </a:p>
          <a:p>
            <a:pPr algn="l">
              <a:lnSpc>
                <a:spcPct val="122000"/>
              </a:lnSpc>
            </a:pPr>
            <a:r>
              <a:rPr sz="680" b="0" i="0">
                <a:solidFill>
                  <a:srgbClr val="C7D0E8"/>
                </a:solidFill>
                <a:latin typeface="Roboto Mono"/>
              </a:rPr>
              <a:t> </a:t>
            </a:r>
          </a:p>
          <a:p>
            <a:pPr algn="l">
              <a:lnSpc>
                <a:spcPct val="122000"/>
              </a:lnSpc>
            </a:pPr>
            <a:r>
              <a:rPr sz="680" b="0" i="0">
                <a:solidFill>
                  <a:srgbClr val="8D98B8"/>
                </a:solidFill>
                <a:latin typeface="Roboto Mono"/>
              </a:rPr>
              <a:t>// presentation_definition, trimmed:</a:t>
            </a:r>
          </a:p>
          <a:p>
            <a:pPr algn="l">
              <a:lnSpc>
                <a:spcPct val="122000"/>
              </a:lnSpc>
            </a:pPr>
            <a:r>
              <a:rPr sz="680" b="0" i="0">
                <a:solidFill>
                  <a:srgbClr val="C7D0E8"/>
                </a:solidFill>
                <a:latin typeface="Roboto Mono"/>
              </a:rPr>
              <a:t>{ "id": "pd-1", "input_descriptors": [{</a:t>
            </a:r>
          </a:p>
          <a:p>
            <a:pPr algn="l">
              <a:lnSpc>
                <a:spcPct val="122000"/>
              </a:lnSpc>
            </a:pPr>
            <a:r>
              <a:rPr sz="680" b="0" i="0">
                <a:solidFill>
                  <a:srgbClr val="C7D0E8"/>
                </a:solidFill>
                <a:latin typeface="Roboto Mono"/>
              </a:rPr>
              <a:t>    "id": "dob-only",</a:t>
            </a:r>
          </a:p>
          <a:p>
            <a:pPr algn="l">
              <a:lnSpc>
                <a:spcPct val="122000"/>
              </a:lnSpc>
            </a:pPr>
            <a:r>
              <a:rPr sz="680" b="0" i="0">
                <a:solidFill>
                  <a:srgbClr val="C7D0E8"/>
                </a:solidFill>
                <a:latin typeface="Roboto Mono"/>
              </a:rPr>
              <a:t>    "format": { "vc+sd-jwt": { ... } },</a:t>
            </a:r>
          </a:p>
          <a:p>
            <a:pPr algn="l">
              <a:lnSpc>
                <a:spcPct val="122000"/>
              </a:lnSpc>
            </a:pPr>
            <a:r>
              <a:rPr sz="680" b="0" i="0">
                <a:solidFill>
                  <a:srgbClr val="C7D0E8"/>
                </a:solidFill>
                <a:latin typeface="Roboto Mono"/>
              </a:rPr>
              <a:t>    "constraints": { "fields": [</a:t>
            </a:r>
          </a:p>
          <a:p>
            <a:pPr algn="l">
              <a:lnSpc>
                <a:spcPct val="122000"/>
              </a:lnSpc>
            </a:pPr>
            <a:r>
              <a:rPr sz="680" b="0" i="0">
                <a:solidFill>
                  <a:srgbClr val="C7D0E8"/>
                </a:solidFill>
                <a:latin typeface="Roboto Mono"/>
              </a:rPr>
              <a:t>      { "path": ["$.birthdate"] } ] } }] }</a:t>
            </a:r>
          </a:p>
        </p:txBody>
      </p:sp>
      <p:sp>
        <p:nvSpPr>
          <p:cNvPr id="10" name="TextBox 9"/>
          <p:cNvSpPr txBox="1"/>
          <p:nvPr/>
        </p:nvSpPr>
        <p:spPr>
          <a:xfrm>
            <a:off x="4645152" y="1106424"/>
            <a:ext cx="3931920" cy="182880"/>
          </a:xfrm>
          <a:prstGeom prst="rect">
            <a:avLst/>
          </a:prstGeom>
          <a:noFill/>
        </p:spPr>
        <p:txBody>
          <a:bodyPr wrap="square" lIns="0" rIns="0" tIns="0" bIns="0" anchor="t">
            <a:spAutoFit/>
          </a:bodyPr>
          <a:lstStyle/>
          <a:p>
            <a:pPr algn="l">
              <a:lnSpc>
                <a:spcPct val="120000"/>
              </a:lnSpc>
            </a:pPr>
            <a:r>
              <a:rPr sz="760" b="1" i="0">
                <a:solidFill>
                  <a:srgbClr val="8D98B8"/>
                </a:solidFill>
                <a:latin typeface="Montserrat"/>
              </a:rPr>
              <a:t>AUTHORIZATION RESPONSE</a:t>
            </a:r>
          </a:p>
        </p:txBody>
      </p:sp>
      <p:sp>
        <p:nvSpPr>
          <p:cNvPr id="11" name="Rounded Rectangle 10"/>
          <p:cNvSpPr/>
          <p:nvPr/>
        </p:nvSpPr>
        <p:spPr>
          <a:xfrm>
            <a:off x="4645152" y="1298448"/>
            <a:ext cx="3931920" cy="2761488"/>
          </a:xfrm>
          <a:prstGeom prst="roundRect">
            <a:avLst>
              <a:gd name="adj" fmla="val 4000"/>
            </a:avLst>
          </a:prstGeom>
          <a:solidFill>
            <a:srgbClr val="1D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754880" y="1389888"/>
            <a:ext cx="3712463" cy="2578608"/>
          </a:xfrm>
          <a:prstGeom prst="rect">
            <a:avLst/>
          </a:prstGeom>
          <a:noFill/>
        </p:spPr>
        <p:txBody>
          <a:bodyPr wrap="square" lIns="0" rIns="0" tIns="0" bIns="0" anchor="t">
            <a:spAutoFit/>
          </a:bodyPr>
          <a:lstStyle/>
          <a:p>
            <a:pPr algn="l">
              <a:lnSpc>
                <a:spcPct val="122000"/>
              </a:lnSpc>
            </a:pPr>
            <a:r>
              <a:rPr sz="680" b="0" i="0">
                <a:solidFill>
                  <a:srgbClr val="C7D0E8"/>
                </a:solidFill>
                <a:latin typeface="Roboto Mono"/>
              </a:rPr>
              <a:t>POST https://verifier.example/cb</a:t>
            </a:r>
          </a:p>
          <a:p>
            <a:pPr algn="l">
              <a:lnSpc>
                <a:spcPct val="122000"/>
              </a:lnSpc>
            </a:pPr>
            <a:r>
              <a:rPr sz="680" b="0" i="0">
                <a:solidFill>
                  <a:srgbClr val="C7D0E8"/>
                </a:solidFill>
                <a:latin typeface="Roboto Mono"/>
              </a:rPr>
              <a:t>Content-Type: application/x-www-form-urlencoded</a:t>
            </a:r>
          </a:p>
          <a:p>
            <a:pPr algn="l">
              <a:lnSpc>
                <a:spcPct val="122000"/>
              </a:lnSpc>
            </a:pPr>
            <a:r>
              <a:rPr sz="680" b="0" i="0">
                <a:solidFill>
                  <a:srgbClr val="C7D0E8"/>
                </a:solidFill>
                <a:latin typeface="Roboto Mono"/>
              </a:rPr>
              <a:t> </a:t>
            </a:r>
          </a:p>
          <a:p>
            <a:pPr algn="l">
              <a:lnSpc>
                <a:spcPct val="122000"/>
              </a:lnSpc>
            </a:pPr>
            <a:r>
              <a:rPr sz="680" b="0" i="0">
                <a:solidFill>
                  <a:srgbClr val="F1752F"/>
                </a:solidFill>
                <a:latin typeface="Roboto Mono"/>
              </a:rPr>
              <a:t>vp_token = eyJhbGci...~WyJzNGxUX3g5...~eyJ0eXAi...</a:t>
            </a:r>
          </a:p>
          <a:p>
            <a:pPr algn="l">
              <a:lnSpc>
                <a:spcPct val="122000"/>
              </a:lnSpc>
            </a:pPr>
            <a:r>
              <a:rPr sz="680" b="0" i="0">
                <a:solidFill>
                  <a:srgbClr val="F1752F"/>
                </a:solidFill>
                <a:latin typeface="Roboto Mono"/>
              </a:rPr>
              <a:t>           |__issuer JWT__|__disclosure__|__KB-JWT__|</a:t>
            </a:r>
          </a:p>
          <a:p>
            <a:pPr algn="l">
              <a:lnSpc>
                <a:spcPct val="122000"/>
              </a:lnSpc>
            </a:pPr>
            <a:r>
              <a:rPr sz="680" b="0" i="0">
                <a:solidFill>
                  <a:srgbClr val="C7D0E8"/>
                </a:solidFill>
                <a:latin typeface="Roboto Mono"/>
              </a:rPr>
              <a:t> </a:t>
            </a:r>
          </a:p>
          <a:p>
            <a:pPr algn="l">
              <a:lnSpc>
                <a:spcPct val="122000"/>
              </a:lnSpc>
            </a:pPr>
            <a:r>
              <a:rPr sz="680" b="0" i="0">
                <a:solidFill>
                  <a:srgbClr val="C7D0E8"/>
                </a:solidFill>
                <a:latin typeface="Roboto Mono"/>
              </a:rPr>
              <a:t>presentation_submission = {</a:t>
            </a:r>
          </a:p>
          <a:p>
            <a:pPr algn="l">
              <a:lnSpc>
                <a:spcPct val="122000"/>
              </a:lnSpc>
            </a:pPr>
            <a:r>
              <a:rPr sz="680" b="0" i="0">
                <a:solidFill>
                  <a:srgbClr val="C7D0E8"/>
                </a:solidFill>
                <a:latin typeface="Roboto Mono"/>
              </a:rPr>
              <a:t>  "id": "ps-1",</a:t>
            </a:r>
          </a:p>
          <a:p>
            <a:pPr algn="l">
              <a:lnSpc>
                <a:spcPct val="122000"/>
              </a:lnSpc>
            </a:pPr>
            <a:r>
              <a:rPr sz="680" b="0" i="0">
                <a:solidFill>
                  <a:srgbClr val="C7D0E8"/>
                </a:solidFill>
                <a:latin typeface="Roboto Mono"/>
              </a:rPr>
              <a:t>  "definition_id": "pd-1",</a:t>
            </a:r>
          </a:p>
          <a:p>
            <a:pPr algn="l">
              <a:lnSpc>
                <a:spcPct val="122000"/>
              </a:lnSpc>
            </a:pPr>
            <a:r>
              <a:rPr sz="680" b="0" i="0">
                <a:solidFill>
                  <a:srgbClr val="C7D0E8"/>
                </a:solidFill>
                <a:latin typeface="Roboto Mono"/>
              </a:rPr>
              <a:t>  "descriptor_map": [{</a:t>
            </a:r>
          </a:p>
          <a:p>
            <a:pPr algn="l">
              <a:lnSpc>
                <a:spcPct val="122000"/>
              </a:lnSpc>
            </a:pPr>
            <a:r>
              <a:rPr sz="680" b="0" i="0">
                <a:solidFill>
                  <a:srgbClr val="C7D0E8"/>
                </a:solidFill>
                <a:latin typeface="Roboto Mono"/>
              </a:rPr>
              <a:t>    "id": "dob-only",</a:t>
            </a:r>
          </a:p>
          <a:p>
            <a:pPr algn="l">
              <a:lnSpc>
                <a:spcPct val="122000"/>
              </a:lnSpc>
            </a:pPr>
            <a:r>
              <a:rPr sz="680" b="0" i="0">
                <a:solidFill>
                  <a:srgbClr val="C7D0E8"/>
                </a:solidFill>
                <a:latin typeface="Roboto Mono"/>
              </a:rPr>
              <a:t>    "format": "vc+sd-jwt",</a:t>
            </a:r>
          </a:p>
          <a:p>
            <a:pPr algn="l">
              <a:lnSpc>
                <a:spcPct val="122000"/>
              </a:lnSpc>
            </a:pPr>
            <a:r>
              <a:rPr sz="680" b="0" i="0">
                <a:solidFill>
                  <a:srgbClr val="C7D0E8"/>
                </a:solidFill>
                <a:latin typeface="Roboto Mono"/>
              </a:rPr>
              <a:t>    "path": "$" }] }</a:t>
            </a:r>
          </a:p>
          <a:p>
            <a:pPr algn="l">
              <a:lnSpc>
                <a:spcPct val="122000"/>
              </a:lnSpc>
            </a:pPr>
            <a:r>
              <a:rPr sz="680" b="0" i="0">
                <a:solidFill>
                  <a:srgbClr val="C7D0E8"/>
                </a:solidFill>
                <a:latin typeface="Roboto Mono"/>
              </a:rPr>
              <a:t> </a:t>
            </a:r>
          </a:p>
          <a:p>
            <a:pPr algn="l">
              <a:lnSpc>
                <a:spcPct val="122000"/>
              </a:lnSpc>
            </a:pPr>
            <a:r>
              <a:rPr sz="680" b="0" i="0">
                <a:solidFill>
                  <a:srgbClr val="C7D0E8"/>
                </a:solidFill>
                <a:latin typeface="Roboto Mono"/>
              </a:rPr>
              <a:t>state = af0ifjsldkj</a:t>
            </a:r>
          </a:p>
          <a:p>
            <a:pPr algn="l">
              <a:lnSpc>
                <a:spcPct val="122000"/>
              </a:lnSpc>
            </a:pPr>
            <a:r>
              <a:rPr sz="680" b="0" i="0">
                <a:solidFill>
                  <a:srgbClr val="C7D0E8"/>
                </a:solidFill>
                <a:latin typeface="Roboto Mono"/>
              </a:rPr>
              <a:t> </a:t>
            </a:r>
          </a:p>
          <a:p>
            <a:pPr algn="l">
              <a:lnSpc>
                <a:spcPct val="122000"/>
              </a:lnSpc>
            </a:pPr>
            <a:r>
              <a:rPr sz="680" b="0" i="0">
                <a:solidFill>
                  <a:srgbClr val="8D98B8"/>
                </a:solidFill>
                <a:latin typeface="Roboto Mono"/>
              </a:rPr>
              <a:t>// no redirect carries the vp_token.</a:t>
            </a:r>
          </a:p>
          <a:p>
            <a:pPr algn="l">
              <a:lnSpc>
                <a:spcPct val="122000"/>
              </a:lnSpc>
            </a:pPr>
            <a:r>
              <a:rPr sz="680" b="0" i="0">
                <a:solidFill>
                  <a:srgbClr val="8D98B8"/>
                </a:solidFill>
                <a:latin typeface="Roboto Mono"/>
              </a:rPr>
              <a:t>// direct_post keeps the presentation</a:t>
            </a:r>
          </a:p>
          <a:p>
            <a:pPr algn="l">
              <a:lnSpc>
                <a:spcPct val="122000"/>
              </a:lnSpc>
            </a:pPr>
            <a:r>
              <a:rPr sz="680" b="0" i="0">
                <a:solidFill>
                  <a:srgbClr val="8D98B8"/>
                </a:solidFill>
                <a:latin typeface="Roboto Mono"/>
              </a:rPr>
              <a:t>// out of the browser entirely.</a:t>
            </a:r>
          </a:p>
        </p:txBody>
      </p:sp>
      <p:sp>
        <p:nvSpPr>
          <p:cNvPr id="13" name="Rounded Rectangle 12"/>
          <p:cNvSpPr/>
          <p:nvPr/>
        </p:nvSpPr>
        <p:spPr>
          <a:xfrm>
            <a:off x="566928" y="4187952"/>
            <a:ext cx="8010144" cy="464108"/>
          </a:xfrm>
          <a:prstGeom prst="roundRect">
            <a:avLst>
              <a:gd name="adj" fmla="val 10000"/>
            </a:avLst>
          </a:prstGeom>
          <a:solidFill>
            <a:srgbClr val="8F35D6">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4187952"/>
            <a:ext cx="36576" cy="464108"/>
          </a:xfrm>
          <a:prstGeom prst="rect">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1520" y="4265676"/>
            <a:ext cx="7717536" cy="326948"/>
          </a:xfrm>
          <a:prstGeom prst="rect">
            <a:avLst/>
          </a:prstGeom>
          <a:noFill/>
        </p:spPr>
        <p:txBody>
          <a:bodyPr wrap="square" lIns="0" rIns="0" tIns="0" bIns="0" anchor="t">
            <a:spAutoFit/>
          </a:bodyPr>
          <a:lstStyle/>
          <a:p>
            <a:pPr algn="l">
              <a:lnSpc>
                <a:spcPct val="128000"/>
              </a:lnSpc>
            </a:pPr>
            <a:r>
              <a:rPr sz="880" b="0" i="0">
                <a:solidFill>
                  <a:srgbClr val="8F35D6"/>
                </a:solidFill>
                <a:latin typeface="Roboto Mono"/>
              </a:rPr>
              <a:t>nonce</a:t>
            </a:r>
            <a:r>
              <a:rPr sz="880" b="0" i="0">
                <a:solidFill>
                  <a:srgbClr val="C7D0E8"/>
                </a:solidFill>
                <a:latin typeface="Montserrat"/>
              </a:rPr>
              <a:t> goes into the </a:t>
            </a:r>
            <a:r>
              <a:rPr sz="880" b="1" i="0">
                <a:solidFill>
                  <a:srgbClr val="FFFFFF"/>
                </a:solidFill>
                <a:latin typeface="Montserrat"/>
              </a:rPr>
              <a:t>signed</a:t>
            </a:r>
            <a:r>
              <a:rPr sz="880" b="0" i="0">
                <a:solidFill>
                  <a:srgbClr val="C7D0E8"/>
                </a:solidFill>
                <a:latin typeface="Montserrat"/>
              </a:rPr>
              <a:t> presentation; </a:t>
            </a:r>
            <a:r>
              <a:rPr sz="880" b="0" i="0">
                <a:solidFill>
                  <a:srgbClr val="8F35D6"/>
                </a:solidFill>
                <a:latin typeface="Roboto Mono"/>
              </a:rPr>
              <a:t>state</a:t>
            </a:r>
            <a:r>
              <a:rPr sz="880" b="0" i="0">
                <a:solidFill>
                  <a:srgbClr val="C7D0E8"/>
                </a:solidFill>
                <a:latin typeface="Montserrat"/>
              </a:rPr>
              <a:t> stays </a:t>
            </a:r>
            <a:r>
              <a:rPr sz="880" b="1" i="0">
                <a:solidFill>
                  <a:srgbClr val="FFFFFF"/>
                </a:solidFill>
                <a:latin typeface="Montserrat"/>
              </a:rPr>
              <a:t>outside</a:t>
            </a:r>
            <a:r>
              <a:rPr sz="880" b="0" i="0">
                <a:solidFill>
                  <a:srgbClr val="C7D0E8"/>
                </a:solidFill>
                <a:latin typeface="Montserrat"/>
              </a:rPr>
              <a:t> it. </a:t>
            </a:r>
            <a:r>
              <a:rPr sz="880" b="0" i="0">
                <a:solidFill>
                  <a:srgbClr val="8F35D6"/>
                </a:solidFill>
                <a:latin typeface="Roboto Mono"/>
              </a:rPr>
              <a:t>state</a:t>
            </a:r>
            <a:r>
              <a:rPr sz="880" b="0" i="0">
                <a:solidFill>
                  <a:srgbClr val="C7D0E8"/>
                </a:solidFill>
                <a:latin typeface="Montserrat"/>
              </a:rPr>
              <a:t> correlates the browser session and is not security-critical on its own — </a:t>
            </a:r>
            <a:r>
              <a:rPr sz="880" b="0" i="0">
                <a:solidFill>
                  <a:srgbClr val="8F35D6"/>
                </a:solidFill>
                <a:latin typeface="Roboto Mono"/>
              </a:rPr>
              <a:t>nonce</a:t>
            </a:r>
            <a:r>
              <a:rPr sz="880" b="0" i="0">
                <a:solidFill>
                  <a:srgbClr val="C7D0E8"/>
                </a:solidFill>
                <a:latin typeface="Montserrat"/>
              </a:rPr>
              <a:t> is what makes the presentation unreplayable.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cxnSp>
        <p:nvCxnSpPr>
          <p:cNvPr id="3" name="Connector 2"/>
          <p:cNvCxnSpPr/>
          <p:nvPr/>
        </p:nvCxnSpPr>
        <p:spPr>
          <a:xfrm>
            <a:off x="429768" y="384048"/>
            <a:ext cx="0" cy="4288536"/>
          </a:xfrm>
          <a:prstGeom prst="line">
            <a:avLst/>
          </a:prstGeom>
          <a:ln w="28575">
            <a:solidFill>
              <a:srgbClr val="F2680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384048"/>
            <a:ext cx="8010144" cy="283464"/>
          </a:xfrm>
          <a:prstGeom prst="rect">
            <a:avLst/>
          </a:prstGeom>
          <a:noFill/>
        </p:spPr>
        <p:txBody>
          <a:bodyPr wrap="square" lIns="0" rIns="0" tIns="0" bIns="0" anchor="t">
            <a:spAutoFit/>
          </a:bodyPr>
          <a:lstStyle/>
          <a:p>
            <a:pPr algn="l">
              <a:lnSpc>
                <a:spcPct val="120000"/>
              </a:lnSpc>
            </a:pPr>
            <a:r>
              <a:rPr sz="1000" b="1" i="0">
                <a:solidFill>
                  <a:srgbClr val="C7D0E8"/>
                </a:solidFill>
                <a:latin typeface="Montserrat"/>
              </a:rPr>
              <a:t>DAY 3 · MODULE 8 · OPENID4VP</a:t>
            </a:r>
          </a:p>
        </p:txBody>
      </p:sp>
      <p:sp>
        <p:nvSpPr>
          <p:cNvPr id="5" name="TextBox 4"/>
          <p:cNvSpPr txBox="1"/>
          <p:nvPr/>
        </p:nvSpPr>
        <p:spPr>
          <a:xfrm>
            <a:off x="566928" y="612648"/>
            <a:ext cx="8010144" cy="475488"/>
          </a:xfrm>
          <a:prstGeom prst="rect">
            <a:avLst/>
          </a:prstGeom>
          <a:noFill/>
        </p:spPr>
        <p:txBody>
          <a:bodyPr wrap="square" lIns="0" rIns="0" tIns="0" bIns="0" anchor="t">
            <a:spAutoFit/>
          </a:bodyPr>
          <a:lstStyle/>
          <a:p>
            <a:pPr algn="l">
              <a:lnSpc>
                <a:spcPct val="120000"/>
              </a:lnSpc>
            </a:pPr>
            <a:r>
              <a:rPr sz="2300" b="1" i="1">
                <a:solidFill>
                  <a:srgbClr val="FFFFFF"/>
                </a:solidFill>
                <a:latin typeface="Montserrat"/>
              </a:rPr>
              <a:t>Proving holder binding at presentation time</a:t>
            </a:r>
          </a:p>
        </p:txBody>
      </p:sp>
      <p:pic>
        <p:nvPicPr>
          <p:cNvPr id="6" name="Picture 5" descr="image.png"/>
          <p:cNvPicPr>
            <a:picLocks noChangeAspect="1"/>
          </p:cNvPicPr>
          <p:nvPr/>
        </p:nvPicPr>
        <p:blipFill>
          <a:blip r:embed="rId3"/>
          <a:stretch>
            <a:fillRect/>
          </a:stretch>
        </p:blipFill>
        <p:spPr>
          <a:xfrm>
            <a:off x="8247888" y="237744"/>
            <a:ext cx="612648" cy="329184"/>
          </a:xfrm>
          <a:prstGeom prst="rect">
            <a:avLst/>
          </a:prstGeom>
        </p:spPr>
      </p:pic>
      <p:sp>
        <p:nvSpPr>
          <p:cNvPr id="7" name="Rounded Rectangle 6"/>
          <p:cNvSpPr/>
          <p:nvPr/>
        </p:nvSpPr>
        <p:spPr>
          <a:xfrm>
            <a:off x="1700784" y="1207008"/>
            <a:ext cx="3474720" cy="274320"/>
          </a:xfrm>
          <a:prstGeom prst="roundRect">
            <a:avLst>
              <a:gd name="adj" fmla="val 14000"/>
            </a:avLst>
          </a:prstGeom>
          <a:solidFill>
            <a:srgbClr val="FFFFFF">
              <a:alpha val="7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773936" y="1207008"/>
            <a:ext cx="3328416" cy="274320"/>
          </a:xfrm>
          <a:prstGeom prst="rect">
            <a:avLst/>
          </a:prstGeom>
          <a:noFill/>
        </p:spPr>
        <p:txBody>
          <a:bodyPr wrap="square" lIns="0" rIns="0" tIns="0" bIns="0" anchor="ctr">
            <a:spAutoFit/>
          </a:bodyPr>
          <a:lstStyle/>
          <a:p>
            <a:pPr algn="ctr">
              <a:lnSpc>
                <a:spcPct val="120000"/>
              </a:lnSpc>
            </a:pPr>
            <a:r>
              <a:rPr sz="860" b="1" i="0">
                <a:solidFill>
                  <a:srgbClr val="C7D0E8"/>
                </a:solidFill>
                <a:latin typeface="Montserrat"/>
              </a:rPr>
              <a:t>WHAT THE WALLET SIGNS</a:t>
            </a:r>
          </a:p>
        </p:txBody>
      </p:sp>
      <p:sp>
        <p:nvSpPr>
          <p:cNvPr id="9" name="Rounded Rectangle 8"/>
          <p:cNvSpPr/>
          <p:nvPr/>
        </p:nvSpPr>
        <p:spPr>
          <a:xfrm>
            <a:off x="5230368" y="1207008"/>
            <a:ext cx="3291840" cy="274320"/>
          </a:xfrm>
          <a:prstGeom prst="roundRect">
            <a:avLst>
              <a:gd name="adj" fmla="val 14000"/>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03520" y="1207008"/>
            <a:ext cx="3145536" cy="274320"/>
          </a:xfrm>
          <a:prstGeom prst="rect">
            <a:avLst/>
          </a:prstGeom>
          <a:noFill/>
        </p:spPr>
        <p:txBody>
          <a:bodyPr wrap="square" lIns="0" rIns="0" tIns="0" bIns="0" anchor="ctr">
            <a:spAutoFit/>
          </a:bodyPr>
          <a:lstStyle/>
          <a:p>
            <a:pPr algn="ctr">
              <a:lnSpc>
                <a:spcPct val="120000"/>
              </a:lnSpc>
            </a:pPr>
            <a:r>
              <a:rPr sz="860" b="1" i="0">
                <a:solidFill>
                  <a:srgbClr val="FFFFFF"/>
                </a:solidFill>
                <a:latin typeface="Montserrat"/>
              </a:rPr>
              <a:t>WHAT THE VERIFIER CHECKS AGAINST</a:t>
            </a:r>
          </a:p>
        </p:txBody>
      </p:sp>
      <p:sp>
        <p:nvSpPr>
          <p:cNvPr id="11" name="TextBox 10"/>
          <p:cNvSpPr txBox="1"/>
          <p:nvPr/>
        </p:nvSpPr>
        <p:spPr>
          <a:xfrm>
            <a:off x="566928" y="1554480"/>
            <a:ext cx="1042416" cy="388874"/>
          </a:xfrm>
          <a:prstGeom prst="rect">
            <a:avLst/>
          </a:prstGeom>
          <a:noFill/>
        </p:spPr>
        <p:txBody>
          <a:bodyPr wrap="square" lIns="0" rIns="0" tIns="0" bIns="0" anchor="ctr">
            <a:spAutoFit/>
          </a:bodyPr>
          <a:lstStyle/>
          <a:p>
            <a:pPr algn="l">
              <a:lnSpc>
                <a:spcPct val="120000"/>
              </a:lnSpc>
            </a:pPr>
            <a:r>
              <a:rPr sz="840" b="0" i="0">
                <a:solidFill>
                  <a:srgbClr val="F1752F"/>
                </a:solidFill>
                <a:latin typeface="Roboto Mono"/>
              </a:rPr>
              <a:t>ldp_vc</a:t>
            </a:r>
          </a:p>
        </p:txBody>
      </p:sp>
      <p:sp>
        <p:nvSpPr>
          <p:cNvPr id="12" name="Rounded Rectangle 11"/>
          <p:cNvSpPr/>
          <p:nvPr/>
        </p:nvSpPr>
        <p:spPr>
          <a:xfrm>
            <a:off x="1700784" y="1554480"/>
            <a:ext cx="3474720" cy="388874"/>
          </a:xfrm>
          <a:prstGeom prst="roundRect">
            <a:avLst>
              <a:gd name="adj" fmla="val 10000"/>
            </a:avLst>
          </a:prstGeom>
          <a:solidFill>
            <a:srgbClr val="FFFFFF">
              <a:alpha val="4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801368" y="1609344"/>
            <a:ext cx="3273552" cy="279146"/>
          </a:xfrm>
          <a:prstGeom prst="rect">
            <a:avLst/>
          </a:prstGeom>
          <a:noFill/>
        </p:spPr>
        <p:txBody>
          <a:bodyPr wrap="square" lIns="0" rIns="0" tIns="0" bIns="0" anchor="t">
            <a:spAutoFit/>
          </a:bodyPr>
          <a:lstStyle/>
          <a:p>
            <a:pPr algn="l">
              <a:lnSpc>
                <a:spcPct val="124000"/>
              </a:lnSpc>
            </a:pPr>
            <a:r>
              <a:rPr sz="790" b="0" i="0">
                <a:solidFill>
                  <a:srgbClr val="C7D0E8"/>
                </a:solidFill>
                <a:latin typeface="Montserrat"/>
              </a:rPr>
              <a:t>A Data Integrity </a:t>
            </a:r>
            <a:r>
              <a:rPr sz="790" b="0" i="0">
                <a:solidFill>
                  <a:srgbClr val="F1752F"/>
                </a:solidFill>
                <a:latin typeface="Roboto Mono"/>
              </a:rPr>
              <a:t>Proof</a:t>
            </a:r>
            <a:r>
              <a:rPr sz="790" b="0" i="0">
                <a:solidFill>
                  <a:srgbClr val="C7D0E8"/>
                </a:solidFill>
                <a:latin typeface="Montserrat"/>
              </a:rPr>
              <a:t> — </a:t>
            </a:r>
            <a:r>
              <a:rPr sz="790" b="0" i="0">
                <a:solidFill>
                  <a:srgbClr val="F1752F"/>
                </a:solidFill>
                <a:latin typeface="Roboto Mono"/>
              </a:rPr>
              <a:t>challenge</a:t>
            </a:r>
            <a:r>
              <a:rPr sz="790" b="0" i="0">
                <a:solidFill>
                  <a:srgbClr val="C7D0E8"/>
                </a:solidFill>
                <a:latin typeface="Montserrat"/>
              </a:rPr>
              <a:t> = nonce, </a:t>
            </a:r>
            <a:r>
              <a:rPr sz="790" b="0" i="0">
                <a:solidFill>
                  <a:srgbClr val="F1752F"/>
                </a:solidFill>
                <a:latin typeface="Roboto Mono"/>
              </a:rPr>
              <a:t>domain</a:t>
            </a:r>
            <a:r>
              <a:rPr sz="790" b="0" i="0">
                <a:solidFill>
                  <a:srgbClr val="C7D0E8"/>
                </a:solidFill>
                <a:latin typeface="Montserrat"/>
              </a:rPr>
              <a:t> = client_id, </a:t>
            </a:r>
            <a:r>
              <a:rPr sz="790" b="0" i="0">
                <a:solidFill>
                  <a:srgbClr val="F1752F"/>
                </a:solidFill>
                <a:latin typeface="Roboto Mono"/>
              </a:rPr>
              <a:t>proofPurpose</a:t>
            </a:r>
            <a:r>
              <a:rPr sz="790" b="0" i="0">
                <a:solidFill>
                  <a:srgbClr val="C7D0E8"/>
                </a:solidFill>
                <a:latin typeface="Montserrat"/>
              </a:rPr>
              <a:t> = authentication</a:t>
            </a:r>
          </a:p>
        </p:txBody>
      </p:sp>
      <p:sp>
        <p:nvSpPr>
          <p:cNvPr id="14" name="Rounded Rectangle 13"/>
          <p:cNvSpPr/>
          <p:nvPr/>
        </p:nvSpPr>
        <p:spPr>
          <a:xfrm>
            <a:off x="5230368" y="1554480"/>
            <a:ext cx="3291840" cy="388874"/>
          </a:xfrm>
          <a:prstGeom prst="roundRect">
            <a:avLst>
              <a:gd name="adj" fmla="val 10000"/>
            </a:avLst>
          </a:prstGeom>
          <a:solidFill>
            <a:srgbClr val="FFFFFF">
              <a:alpha val="9000"/>
            </a:srgbClr>
          </a:solidFill>
          <a:ln w="9525">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30952" y="1609344"/>
            <a:ext cx="3090672" cy="279146"/>
          </a:xfrm>
          <a:prstGeom prst="rect">
            <a:avLst/>
          </a:prstGeom>
          <a:noFill/>
        </p:spPr>
        <p:txBody>
          <a:bodyPr wrap="square" lIns="0" rIns="0" tIns="0" bIns="0" anchor="t">
            <a:spAutoFit/>
          </a:bodyPr>
          <a:lstStyle/>
          <a:p>
            <a:pPr algn="l">
              <a:lnSpc>
                <a:spcPct val="124000"/>
              </a:lnSpc>
            </a:pPr>
            <a:r>
              <a:rPr sz="790" b="0" i="0">
                <a:solidFill>
                  <a:srgbClr val="FFFFFF"/>
                </a:solidFill>
                <a:latin typeface="Montserrat"/>
              </a:rPr>
              <a:t>The </a:t>
            </a:r>
            <a:r>
              <a:rPr sz="790" b="0" i="0">
                <a:solidFill>
                  <a:srgbClr val="F1752F"/>
                </a:solidFill>
                <a:latin typeface="Roboto Mono"/>
              </a:rPr>
              <a:t>verificationMethod</a:t>
            </a:r>
            <a:r>
              <a:rPr sz="790" b="0" i="0">
                <a:solidFill>
                  <a:srgbClr val="FFFFFF"/>
                </a:solidFill>
                <a:latin typeface="Montserrat"/>
              </a:rPr>
              <a:t> in the proof, resolved to the holder key</a:t>
            </a:r>
          </a:p>
        </p:txBody>
      </p:sp>
      <p:sp>
        <p:nvSpPr>
          <p:cNvPr id="16" name="TextBox 15"/>
          <p:cNvSpPr txBox="1"/>
          <p:nvPr/>
        </p:nvSpPr>
        <p:spPr>
          <a:xfrm>
            <a:off x="566928" y="2016506"/>
            <a:ext cx="1042416" cy="310896"/>
          </a:xfrm>
          <a:prstGeom prst="rect">
            <a:avLst/>
          </a:prstGeom>
          <a:noFill/>
        </p:spPr>
        <p:txBody>
          <a:bodyPr wrap="square" lIns="0" rIns="0" tIns="0" bIns="0" anchor="ctr">
            <a:spAutoFit/>
          </a:bodyPr>
          <a:lstStyle/>
          <a:p>
            <a:pPr algn="l">
              <a:lnSpc>
                <a:spcPct val="120000"/>
              </a:lnSpc>
            </a:pPr>
            <a:r>
              <a:rPr sz="840" b="0" i="0">
                <a:solidFill>
                  <a:srgbClr val="F1752F"/>
                </a:solidFill>
                <a:latin typeface="Roboto Mono"/>
              </a:rPr>
              <a:t>vc+sd-jwt</a:t>
            </a:r>
          </a:p>
        </p:txBody>
      </p:sp>
      <p:sp>
        <p:nvSpPr>
          <p:cNvPr id="17" name="Rounded Rectangle 16"/>
          <p:cNvSpPr/>
          <p:nvPr/>
        </p:nvSpPr>
        <p:spPr>
          <a:xfrm>
            <a:off x="1700784" y="2016506"/>
            <a:ext cx="3474720" cy="310896"/>
          </a:xfrm>
          <a:prstGeom prst="roundRect">
            <a:avLst>
              <a:gd name="adj" fmla="val 10000"/>
            </a:avLst>
          </a:prstGeom>
          <a:solidFill>
            <a:srgbClr val="FFFFFF">
              <a:alpha val="4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801368" y="2071370"/>
            <a:ext cx="3273552" cy="201168"/>
          </a:xfrm>
          <a:prstGeom prst="rect">
            <a:avLst/>
          </a:prstGeom>
          <a:noFill/>
        </p:spPr>
        <p:txBody>
          <a:bodyPr wrap="square" lIns="0" rIns="0" tIns="0" bIns="0" anchor="t">
            <a:spAutoFit/>
          </a:bodyPr>
          <a:lstStyle/>
          <a:p>
            <a:pPr algn="l">
              <a:lnSpc>
                <a:spcPct val="124000"/>
              </a:lnSpc>
            </a:pPr>
            <a:r>
              <a:rPr sz="790" b="0" i="0">
                <a:solidFill>
                  <a:srgbClr val="C7D0E8"/>
                </a:solidFill>
                <a:latin typeface="Montserrat"/>
              </a:rPr>
              <a:t>A KB-JWT — </a:t>
            </a:r>
            <a:r>
              <a:rPr sz="790" b="0" i="0">
                <a:solidFill>
                  <a:srgbClr val="F1752F"/>
                </a:solidFill>
                <a:latin typeface="Roboto Mono"/>
              </a:rPr>
              <a:t>typ</a:t>
            </a:r>
            <a:r>
              <a:rPr sz="790" b="0" i="0">
                <a:solidFill>
                  <a:srgbClr val="C7D0E8"/>
                </a:solidFill>
                <a:latin typeface="Montserrat"/>
              </a:rPr>
              <a:t> = </a:t>
            </a:r>
            <a:r>
              <a:rPr sz="790" b="0" i="0">
                <a:solidFill>
                  <a:srgbClr val="F1752F"/>
                </a:solidFill>
                <a:latin typeface="Roboto Mono"/>
              </a:rPr>
              <a:t>kb+jwt</a:t>
            </a:r>
            <a:r>
              <a:rPr sz="790" b="0" i="0">
                <a:solidFill>
                  <a:srgbClr val="C7D0E8"/>
                </a:solidFill>
                <a:latin typeface="Montserrat"/>
              </a:rPr>
              <a:t>, claims </a:t>
            </a:r>
            <a:r>
              <a:rPr sz="790" b="0" i="0">
                <a:solidFill>
                  <a:srgbClr val="F1752F"/>
                </a:solidFill>
                <a:latin typeface="Roboto Mono"/>
              </a:rPr>
              <a:t>aud</a:t>
            </a:r>
            <a:r>
              <a:rPr sz="790" b="0" i="0">
                <a:solidFill>
                  <a:srgbClr val="C7D0E8"/>
                </a:solidFill>
                <a:latin typeface="Montserrat"/>
              </a:rPr>
              <a:t>, </a:t>
            </a:r>
            <a:r>
              <a:rPr sz="790" b="0" i="0">
                <a:solidFill>
                  <a:srgbClr val="F1752F"/>
                </a:solidFill>
                <a:latin typeface="Roboto Mono"/>
              </a:rPr>
              <a:t>nonce</a:t>
            </a:r>
            <a:r>
              <a:rPr sz="790" b="0" i="0">
                <a:solidFill>
                  <a:srgbClr val="C7D0E8"/>
                </a:solidFill>
                <a:latin typeface="Montserrat"/>
              </a:rPr>
              <a:t>, </a:t>
            </a:r>
            <a:r>
              <a:rPr sz="790" b="0" i="0">
                <a:solidFill>
                  <a:srgbClr val="F1752F"/>
                </a:solidFill>
                <a:latin typeface="Roboto Mono"/>
              </a:rPr>
              <a:t>iat</a:t>
            </a:r>
            <a:r>
              <a:rPr sz="790" b="0" i="0">
                <a:solidFill>
                  <a:srgbClr val="C7D0E8"/>
                </a:solidFill>
                <a:latin typeface="Montserrat"/>
              </a:rPr>
              <a:t>, </a:t>
            </a:r>
            <a:r>
              <a:rPr sz="790" b="0" i="0">
                <a:solidFill>
                  <a:srgbClr val="F1752F"/>
                </a:solidFill>
                <a:latin typeface="Roboto Mono"/>
              </a:rPr>
              <a:t>sd_hash</a:t>
            </a:r>
          </a:p>
        </p:txBody>
      </p:sp>
      <p:sp>
        <p:nvSpPr>
          <p:cNvPr id="19" name="Rounded Rectangle 18"/>
          <p:cNvSpPr/>
          <p:nvPr/>
        </p:nvSpPr>
        <p:spPr>
          <a:xfrm>
            <a:off x="5230368" y="2016506"/>
            <a:ext cx="3291840" cy="310896"/>
          </a:xfrm>
          <a:prstGeom prst="roundRect">
            <a:avLst>
              <a:gd name="adj" fmla="val 10000"/>
            </a:avLst>
          </a:prstGeom>
          <a:solidFill>
            <a:srgbClr val="FFFFFF">
              <a:alpha val="9000"/>
            </a:srgbClr>
          </a:solidFill>
          <a:ln w="9525">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330952" y="2071370"/>
            <a:ext cx="3090672" cy="201168"/>
          </a:xfrm>
          <a:prstGeom prst="rect">
            <a:avLst/>
          </a:prstGeom>
          <a:noFill/>
        </p:spPr>
        <p:txBody>
          <a:bodyPr wrap="square" lIns="0" rIns="0" tIns="0" bIns="0" anchor="t">
            <a:spAutoFit/>
          </a:bodyPr>
          <a:lstStyle/>
          <a:p>
            <a:pPr algn="l">
              <a:lnSpc>
                <a:spcPct val="124000"/>
              </a:lnSpc>
            </a:pPr>
            <a:r>
              <a:rPr sz="790" b="0" i="0">
                <a:solidFill>
                  <a:srgbClr val="FFFFFF"/>
                </a:solidFill>
                <a:latin typeface="Montserrat"/>
              </a:rPr>
              <a:t>The </a:t>
            </a:r>
            <a:r>
              <a:rPr sz="790" b="0" i="0">
                <a:solidFill>
                  <a:srgbClr val="F1752F"/>
                </a:solidFill>
                <a:latin typeface="Roboto Mono"/>
              </a:rPr>
              <a:t>cnf</a:t>
            </a:r>
            <a:r>
              <a:rPr sz="790" b="0" i="0">
                <a:solidFill>
                  <a:srgbClr val="FFFFFF"/>
                </a:solidFill>
                <a:latin typeface="Montserrat"/>
              </a:rPr>
              <a:t> claim inside the issuer-signed JWT</a:t>
            </a:r>
          </a:p>
        </p:txBody>
      </p:sp>
      <p:sp>
        <p:nvSpPr>
          <p:cNvPr id="21" name="TextBox 20"/>
          <p:cNvSpPr txBox="1"/>
          <p:nvPr/>
        </p:nvSpPr>
        <p:spPr>
          <a:xfrm>
            <a:off x="566928" y="2400554"/>
            <a:ext cx="1042416" cy="388874"/>
          </a:xfrm>
          <a:prstGeom prst="rect">
            <a:avLst/>
          </a:prstGeom>
          <a:noFill/>
        </p:spPr>
        <p:txBody>
          <a:bodyPr wrap="square" lIns="0" rIns="0" tIns="0" bIns="0" anchor="ctr">
            <a:spAutoFit/>
          </a:bodyPr>
          <a:lstStyle/>
          <a:p>
            <a:pPr algn="l">
              <a:lnSpc>
                <a:spcPct val="120000"/>
              </a:lnSpc>
            </a:pPr>
            <a:r>
              <a:rPr sz="840" b="0" i="0">
                <a:solidFill>
                  <a:srgbClr val="F1752F"/>
                </a:solidFill>
                <a:latin typeface="Roboto Mono"/>
              </a:rPr>
              <a:t>mso_mdoc</a:t>
            </a:r>
          </a:p>
        </p:txBody>
      </p:sp>
      <p:sp>
        <p:nvSpPr>
          <p:cNvPr id="22" name="Rounded Rectangle 21"/>
          <p:cNvSpPr/>
          <p:nvPr/>
        </p:nvSpPr>
        <p:spPr>
          <a:xfrm>
            <a:off x="1700784" y="2400554"/>
            <a:ext cx="3474720" cy="388874"/>
          </a:xfrm>
          <a:prstGeom prst="roundRect">
            <a:avLst>
              <a:gd name="adj" fmla="val 10000"/>
            </a:avLst>
          </a:prstGeom>
          <a:solidFill>
            <a:srgbClr val="FFFFFF">
              <a:alpha val="4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801368" y="2455418"/>
            <a:ext cx="3273552" cy="279146"/>
          </a:xfrm>
          <a:prstGeom prst="rect">
            <a:avLst/>
          </a:prstGeom>
          <a:noFill/>
        </p:spPr>
        <p:txBody>
          <a:bodyPr wrap="square" lIns="0" rIns="0" tIns="0" bIns="0" anchor="t">
            <a:spAutoFit/>
          </a:bodyPr>
          <a:lstStyle/>
          <a:p>
            <a:pPr algn="l">
              <a:lnSpc>
                <a:spcPct val="124000"/>
              </a:lnSpc>
            </a:pPr>
            <a:r>
              <a:rPr sz="790" b="0" i="0">
                <a:solidFill>
                  <a:srgbClr val="C7D0E8"/>
                </a:solidFill>
                <a:latin typeface="Montserrat"/>
              </a:rPr>
              <a:t>A DeviceSignature over the session transcript </a:t>
            </a:r>
            <a:r>
              <a:rPr sz="790" b="0" i="0">
                <a:solidFill>
                  <a:srgbClr val="F1752F"/>
                </a:solidFill>
                <a:latin typeface="Roboto Mono"/>
              </a:rPr>
              <a:t>[clientIdHash, responseUriHash, nonce]</a:t>
            </a:r>
          </a:p>
        </p:txBody>
      </p:sp>
      <p:sp>
        <p:nvSpPr>
          <p:cNvPr id="24" name="Rounded Rectangle 23"/>
          <p:cNvSpPr/>
          <p:nvPr/>
        </p:nvSpPr>
        <p:spPr>
          <a:xfrm>
            <a:off x="5230368" y="2400554"/>
            <a:ext cx="3291840" cy="388874"/>
          </a:xfrm>
          <a:prstGeom prst="roundRect">
            <a:avLst>
              <a:gd name="adj" fmla="val 10000"/>
            </a:avLst>
          </a:prstGeom>
          <a:solidFill>
            <a:srgbClr val="FFFFFF">
              <a:alpha val="9000"/>
            </a:srgbClr>
          </a:solidFill>
          <a:ln w="9525">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330952" y="2455418"/>
            <a:ext cx="3090672" cy="279146"/>
          </a:xfrm>
          <a:prstGeom prst="rect">
            <a:avLst/>
          </a:prstGeom>
          <a:noFill/>
        </p:spPr>
        <p:txBody>
          <a:bodyPr wrap="square" lIns="0" rIns="0" tIns="0" bIns="0" anchor="t">
            <a:spAutoFit/>
          </a:bodyPr>
          <a:lstStyle/>
          <a:p>
            <a:pPr algn="l">
              <a:lnSpc>
                <a:spcPct val="124000"/>
              </a:lnSpc>
            </a:pPr>
            <a:r>
              <a:rPr sz="790" b="0" i="0">
                <a:solidFill>
                  <a:srgbClr val="F1752F"/>
                </a:solidFill>
                <a:latin typeface="Roboto Mono"/>
              </a:rPr>
              <a:t>deviceKeyInfo</a:t>
            </a:r>
            <a:r>
              <a:rPr sz="790" b="0" i="0">
                <a:solidFill>
                  <a:srgbClr val="FFFFFF"/>
                </a:solidFill>
                <a:latin typeface="Montserrat"/>
              </a:rPr>
              <a:t> inside the issuer-signed MSO</a:t>
            </a:r>
          </a:p>
        </p:txBody>
      </p:sp>
      <p:sp>
        <p:nvSpPr>
          <p:cNvPr id="26" name="Rounded Rectangle 25"/>
          <p:cNvSpPr/>
          <p:nvPr/>
        </p:nvSpPr>
        <p:spPr>
          <a:xfrm>
            <a:off x="566928" y="3090672"/>
            <a:ext cx="1920240" cy="896112"/>
          </a:xfrm>
          <a:prstGeom prst="roundRect">
            <a:avLst>
              <a:gd name="adj" fmla="val 6000"/>
            </a:avLst>
          </a:prstGeom>
          <a:solidFill>
            <a:srgbClr val="FFFFFF">
              <a:alpha val="6000"/>
            </a:srgbClr>
          </a:solidFill>
          <a:ln w="12700">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7512" y="3163824"/>
            <a:ext cx="1719072" cy="146304"/>
          </a:xfrm>
          <a:prstGeom prst="rect">
            <a:avLst/>
          </a:prstGeom>
          <a:noFill/>
        </p:spPr>
        <p:txBody>
          <a:bodyPr wrap="square" lIns="0" rIns="0" tIns="0" bIns="0" anchor="t">
            <a:spAutoFit/>
          </a:bodyPr>
          <a:lstStyle/>
          <a:p>
            <a:pPr algn="l">
              <a:lnSpc>
                <a:spcPct val="120000"/>
              </a:lnSpc>
            </a:pPr>
            <a:r>
              <a:rPr sz="720" b="1" i="0">
                <a:solidFill>
                  <a:srgbClr val="F1752F"/>
                </a:solidFill>
                <a:latin typeface="Montserrat"/>
              </a:rPr>
              <a:t>AT ISSUANCE</a:t>
            </a:r>
          </a:p>
        </p:txBody>
      </p:sp>
      <p:sp>
        <p:nvSpPr>
          <p:cNvPr id="28" name="TextBox 27"/>
          <p:cNvSpPr txBox="1"/>
          <p:nvPr/>
        </p:nvSpPr>
        <p:spPr>
          <a:xfrm>
            <a:off x="667512" y="3328415"/>
            <a:ext cx="1719072"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Wallet proves key K</a:t>
            </a:r>
          </a:p>
        </p:txBody>
      </p:sp>
      <p:sp>
        <p:nvSpPr>
          <p:cNvPr id="29" name="TextBox 28"/>
          <p:cNvSpPr txBox="1"/>
          <p:nvPr/>
        </p:nvSpPr>
        <p:spPr>
          <a:xfrm>
            <a:off x="667512" y="3621024"/>
            <a:ext cx="1719072"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Issuer binds the credential to K</a:t>
            </a:r>
          </a:p>
        </p:txBody>
      </p:sp>
      <p:cxnSp>
        <p:nvCxnSpPr>
          <p:cNvPr id="30" name="Connector 29"/>
          <p:cNvCxnSpPr/>
          <p:nvPr/>
        </p:nvCxnSpPr>
        <p:spPr>
          <a:xfrm>
            <a:off x="2498140" y="3538728"/>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596896" y="3090672"/>
            <a:ext cx="1920240" cy="896112"/>
          </a:xfrm>
          <a:prstGeom prst="roundRect">
            <a:avLst>
              <a:gd name="adj" fmla="val 6000"/>
            </a:avLst>
          </a:prstGeom>
          <a:solidFill>
            <a:srgbClr val="FFFFFF">
              <a:alpha val="6000"/>
            </a:srgbClr>
          </a:solidFill>
          <a:ln w="12700">
            <a:solidFill>
              <a:srgbClr val="C02D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697480" y="3163824"/>
            <a:ext cx="1719072" cy="146304"/>
          </a:xfrm>
          <a:prstGeom prst="rect">
            <a:avLst/>
          </a:prstGeom>
          <a:noFill/>
        </p:spPr>
        <p:txBody>
          <a:bodyPr wrap="square" lIns="0" rIns="0" tIns="0" bIns="0" anchor="t">
            <a:spAutoFit/>
          </a:bodyPr>
          <a:lstStyle/>
          <a:p>
            <a:pPr algn="l">
              <a:lnSpc>
                <a:spcPct val="120000"/>
              </a:lnSpc>
            </a:pPr>
            <a:r>
              <a:rPr sz="720" b="1" i="0">
                <a:solidFill>
                  <a:srgbClr val="C02D80"/>
                </a:solidFill>
                <a:latin typeface="Montserrat"/>
              </a:rPr>
              <a:t>IN THE CREDENTIAL</a:t>
            </a:r>
          </a:p>
        </p:txBody>
      </p:sp>
      <p:sp>
        <p:nvSpPr>
          <p:cNvPr id="33" name="TextBox 32"/>
          <p:cNvSpPr txBox="1"/>
          <p:nvPr/>
        </p:nvSpPr>
        <p:spPr>
          <a:xfrm>
            <a:off x="2697480" y="3328415"/>
            <a:ext cx="1719072"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K is named by the issuer</a:t>
            </a:r>
          </a:p>
        </p:txBody>
      </p:sp>
      <p:sp>
        <p:nvSpPr>
          <p:cNvPr id="34" name="TextBox 33"/>
          <p:cNvSpPr txBox="1"/>
          <p:nvPr/>
        </p:nvSpPr>
        <p:spPr>
          <a:xfrm>
            <a:off x="2697480" y="3621024"/>
            <a:ext cx="1719072" cy="310896"/>
          </a:xfrm>
          <a:prstGeom prst="rect">
            <a:avLst/>
          </a:prstGeom>
          <a:noFill/>
        </p:spPr>
        <p:txBody>
          <a:bodyPr wrap="square" lIns="0" rIns="0" tIns="0" bIns="0" anchor="t">
            <a:spAutoFit/>
          </a:bodyPr>
          <a:lstStyle/>
          <a:p>
            <a:pPr algn="l">
              <a:lnSpc>
                <a:spcPct val="114000"/>
              </a:lnSpc>
            </a:pPr>
            <a:r>
              <a:rPr sz="740" b="0" i="0">
                <a:solidFill>
                  <a:srgbClr val="C02D80"/>
                </a:solidFill>
                <a:latin typeface="Roboto Mono"/>
              </a:rPr>
              <a:t>cnf</a:t>
            </a:r>
            <a:r>
              <a:rPr sz="740" b="0" i="0">
                <a:solidFill>
                  <a:srgbClr val="C7D0E8"/>
                </a:solidFill>
                <a:latin typeface="Montserrat"/>
              </a:rPr>
              <a:t> · </a:t>
            </a:r>
            <a:r>
              <a:rPr sz="740" b="0" i="0">
                <a:solidFill>
                  <a:srgbClr val="C02D80"/>
                </a:solidFill>
                <a:latin typeface="Roboto Mono"/>
              </a:rPr>
              <a:t>deviceKeyInfo</a:t>
            </a:r>
            <a:r>
              <a:rPr sz="740" b="0" i="0">
                <a:solidFill>
                  <a:srgbClr val="C7D0E8"/>
                </a:solidFill>
                <a:latin typeface="Montserrat"/>
              </a:rPr>
              <a:t> · subject id</a:t>
            </a:r>
          </a:p>
        </p:txBody>
      </p:sp>
      <p:cxnSp>
        <p:nvCxnSpPr>
          <p:cNvPr id="35" name="Connector 34"/>
          <p:cNvCxnSpPr/>
          <p:nvPr/>
        </p:nvCxnSpPr>
        <p:spPr>
          <a:xfrm>
            <a:off x="4528108" y="3538728"/>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626864" y="3090672"/>
            <a:ext cx="1920240" cy="896112"/>
          </a:xfrm>
          <a:prstGeom prst="roundRect">
            <a:avLst>
              <a:gd name="adj" fmla="val 6000"/>
            </a:avLst>
          </a:prstGeom>
          <a:solidFill>
            <a:srgbClr val="FFFFFF">
              <a:alpha val="6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727448" y="3163824"/>
            <a:ext cx="1719072" cy="146304"/>
          </a:xfrm>
          <a:prstGeom prst="rect">
            <a:avLst/>
          </a:prstGeom>
          <a:noFill/>
        </p:spPr>
        <p:txBody>
          <a:bodyPr wrap="square" lIns="0" rIns="0" tIns="0" bIns="0" anchor="t">
            <a:spAutoFit/>
          </a:bodyPr>
          <a:lstStyle/>
          <a:p>
            <a:pPr algn="l">
              <a:lnSpc>
                <a:spcPct val="120000"/>
              </a:lnSpc>
            </a:pPr>
            <a:r>
              <a:rPr sz="720" b="1" i="0">
                <a:solidFill>
                  <a:srgbClr val="8F35D6"/>
                </a:solidFill>
                <a:latin typeface="Montserrat"/>
              </a:rPr>
              <a:t>AT PRESENTATION</a:t>
            </a:r>
          </a:p>
        </p:txBody>
      </p:sp>
      <p:sp>
        <p:nvSpPr>
          <p:cNvPr id="38" name="TextBox 37"/>
          <p:cNvSpPr txBox="1"/>
          <p:nvPr/>
        </p:nvSpPr>
        <p:spPr>
          <a:xfrm>
            <a:off x="4727448" y="3328415"/>
            <a:ext cx="1719072"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Wallet signs with K again</a:t>
            </a:r>
          </a:p>
        </p:txBody>
      </p:sp>
      <p:sp>
        <p:nvSpPr>
          <p:cNvPr id="39" name="TextBox 38"/>
          <p:cNvSpPr txBox="1"/>
          <p:nvPr/>
        </p:nvSpPr>
        <p:spPr>
          <a:xfrm>
            <a:off x="4727448" y="3621024"/>
            <a:ext cx="1719072"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Over this verifier's nonce</a:t>
            </a:r>
          </a:p>
        </p:txBody>
      </p:sp>
      <p:cxnSp>
        <p:nvCxnSpPr>
          <p:cNvPr id="40" name="Connector 39"/>
          <p:cNvCxnSpPr/>
          <p:nvPr/>
        </p:nvCxnSpPr>
        <p:spPr>
          <a:xfrm>
            <a:off x="6558076" y="3538728"/>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656832" y="3090672"/>
            <a:ext cx="1920240" cy="896112"/>
          </a:xfrm>
          <a:prstGeom prst="roundRect">
            <a:avLst>
              <a:gd name="adj" fmla="val 6000"/>
            </a:avLst>
          </a:prstGeom>
          <a:solidFill>
            <a:srgbClr val="FFFFFF">
              <a:alpha val="6000"/>
            </a:srgbClr>
          </a:solidFill>
          <a:ln w="1270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757416" y="3163824"/>
            <a:ext cx="1719072" cy="146304"/>
          </a:xfrm>
          <a:prstGeom prst="rect">
            <a:avLst/>
          </a:prstGeom>
          <a:noFill/>
        </p:spPr>
        <p:txBody>
          <a:bodyPr wrap="square" lIns="0" rIns="0" tIns="0" bIns="0" anchor="t">
            <a:spAutoFit/>
          </a:bodyPr>
          <a:lstStyle/>
          <a:p>
            <a:pPr algn="l">
              <a:lnSpc>
                <a:spcPct val="120000"/>
              </a:lnSpc>
            </a:pPr>
            <a:r>
              <a:rPr sz="720" b="1" i="0">
                <a:solidFill>
                  <a:srgbClr val="F27D21"/>
                </a:solidFill>
                <a:latin typeface="Montserrat"/>
              </a:rPr>
              <a:t>NON-REPUDIATION</a:t>
            </a:r>
          </a:p>
        </p:txBody>
      </p:sp>
      <p:sp>
        <p:nvSpPr>
          <p:cNvPr id="43" name="TextBox 42"/>
          <p:cNvSpPr txBox="1"/>
          <p:nvPr/>
        </p:nvSpPr>
        <p:spPr>
          <a:xfrm>
            <a:off x="6757416" y="3328415"/>
            <a:ext cx="1719072"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Same key, both ends</a:t>
            </a:r>
          </a:p>
        </p:txBody>
      </p:sp>
      <p:sp>
        <p:nvSpPr>
          <p:cNvPr id="44" name="TextBox 43"/>
          <p:cNvSpPr txBox="1"/>
          <p:nvPr/>
        </p:nvSpPr>
        <p:spPr>
          <a:xfrm>
            <a:off x="6757416" y="3621024"/>
            <a:ext cx="1719072"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Presenter = the bound subject</a:t>
            </a:r>
          </a:p>
        </p:txBody>
      </p:sp>
      <p:sp>
        <p:nvSpPr>
          <p:cNvPr id="45" name="Rounded Rectangle 44"/>
          <p:cNvSpPr/>
          <p:nvPr/>
        </p:nvSpPr>
        <p:spPr>
          <a:xfrm>
            <a:off x="566928" y="4114800"/>
            <a:ext cx="8010144" cy="457301"/>
          </a:xfrm>
          <a:prstGeom prst="roundRect">
            <a:avLst>
              <a:gd name="adj" fmla="val 10000"/>
            </a:avLst>
          </a:prstGeom>
          <a:solidFill>
            <a:srgbClr val="D63156">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566928" y="4114800"/>
            <a:ext cx="36576" cy="457301"/>
          </a:xfrm>
          <a:prstGeom prst="rect">
            <a:avLst/>
          </a:prstGeom>
          <a:solidFill>
            <a:srgbClr val="D63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31520" y="4192524"/>
            <a:ext cx="7717536" cy="320141"/>
          </a:xfrm>
          <a:prstGeom prst="rect">
            <a:avLst/>
          </a:prstGeom>
          <a:noFill/>
        </p:spPr>
        <p:txBody>
          <a:bodyPr wrap="square" lIns="0" rIns="0" tIns="0" bIns="0" anchor="t">
            <a:spAutoFit/>
          </a:bodyPr>
          <a:lstStyle/>
          <a:p>
            <a:pPr algn="l">
              <a:lnSpc>
                <a:spcPct val="128000"/>
              </a:lnSpc>
            </a:pPr>
            <a:r>
              <a:rPr sz="860" b="0" i="0">
                <a:solidFill>
                  <a:srgbClr val="C7D0E8"/>
                </a:solidFill>
                <a:latin typeface="Montserrat"/>
              </a:rPr>
              <a:t>In the released Kotlin library, </a:t>
            </a:r>
            <a:r>
              <a:rPr sz="860" b="0" i="0">
                <a:solidFill>
                  <a:srgbClr val="D63156"/>
                </a:solidFill>
                <a:latin typeface="Roboto Mono"/>
              </a:rPr>
              <a:t>UnsignedSdJwtVPTokenBuilder</a:t>
            </a:r>
            <a:r>
              <a:rPr sz="860" b="0" i="0">
                <a:solidFill>
                  <a:srgbClr val="C7D0E8"/>
                </a:solidFill>
                <a:latin typeface="Montserrat"/>
              </a:rPr>
              <a:t> supports </a:t>
            </a:r>
            <a:r>
              <a:rPr sz="860" b="1" i="0">
                <a:solidFill>
                  <a:srgbClr val="FFFFFF"/>
                </a:solidFill>
                <a:latin typeface="Montserrat"/>
              </a:rPr>
              <a:t>only</a:t>
            </a:r>
            <a:r>
              <a:rPr sz="860" b="0" i="0">
                <a:solidFill>
                  <a:srgbClr val="C7D0E8"/>
                </a:solidFill>
                <a:latin typeface="Montserrat"/>
              </a:rPr>
              <a:t> </a:t>
            </a:r>
            <a:r>
              <a:rPr sz="860" b="0" i="0">
                <a:solidFill>
                  <a:srgbClr val="D63156"/>
                </a:solidFill>
                <a:latin typeface="Roboto Mono"/>
              </a:rPr>
              <a:t>cnf</a:t>
            </a:r>
            <a:r>
              <a:rPr sz="860" b="0" i="0">
                <a:solidFill>
                  <a:srgbClr val="C7D0E8"/>
                </a:solidFill>
                <a:latin typeface="Montserrat"/>
              </a:rPr>
              <a:t> with a </a:t>
            </a:r>
            <a:r>
              <a:rPr sz="860" b="0" i="0">
                <a:solidFill>
                  <a:srgbClr val="D63156"/>
                </a:solidFill>
                <a:latin typeface="Roboto Mono"/>
              </a:rPr>
              <a:t>kid</a:t>
            </a:r>
            <a:r>
              <a:rPr sz="860" b="0" i="0">
                <a:solidFill>
                  <a:srgbClr val="C7D0E8"/>
                </a:solidFill>
                <a:latin typeface="Montserrat"/>
              </a:rPr>
              <a:t> — a </a:t>
            </a:r>
            <a:r>
              <a:rPr sz="860" b="0" i="0">
                <a:solidFill>
                  <a:srgbClr val="D63156"/>
                </a:solidFill>
                <a:latin typeface="Roboto Mono"/>
              </a:rPr>
              <a:t>cnf</a:t>
            </a:r>
            <a:r>
              <a:rPr sz="860" b="0" i="0">
                <a:solidFill>
                  <a:srgbClr val="C7D0E8"/>
                </a:solidFill>
                <a:latin typeface="Montserrat"/>
              </a:rPr>
              <a:t> carrying a raw </a:t>
            </a:r>
            <a:r>
              <a:rPr sz="860" b="0" i="0">
                <a:solidFill>
                  <a:srgbClr val="D63156"/>
                </a:solidFill>
                <a:latin typeface="Roboto Mono"/>
              </a:rPr>
              <a:t>jwk</a:t>
            </a:r>
            <a:r>
              <a:rPr sz="860" b="0" i="0">
                <a:solidFill>
                  <a:srgbClr val="C7D0E8"/>
                </a:solidFill>
                <a:latin typeface="Montserrat"/>
              </a:rPr>
              <a:t> throws. Worth confirming against your issuer's output before interop testing.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cxnSp>
        <p:nvCxnSpPr>
          <p:cNvPr id="3" name="Connector 2"/>
          <p:cNvCxnSpPr/>
          <p:nvPr/>
        </p:nvCxnSpPr>
        <p:spPr>
          <a:xfrm>
            <a:off x="429768" y="384048"/>
            <a:ext cx="0" cy="4288536"/>
          </a:xfrm>
          <a:prstGeom prst="line">
            <a:avLst/>
          </a:prstGeom>
          <a:ln w="28575">
            <a:solidFill>
              <a:srgbClr val="F2680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384048"/>
            <a:ext cx="8010144" cy="283464"/>
          </a:xfrm>
          <a:prstGeom prst="rect">
            <a:avLst/>
          </a:prstGeom>
          <a:noFill/>
        </p:spPr>
        <p:txBody>
          <a:bodyPr wrap="square" lIns="0" rIns="0" tIns="0" bIns="0" anchor="t">
            <a:spAutoFit/>
          </a:bodyPr>
          <a:lstStyle/>
          <a:p>
            <a:pPr algn="l">
              <a:lnSpc>
                <a:spcPct val="120000"/>
              </a:lnSpc>
            </a:pPr>
            <a:r>
              <a:rPr sz="1000" b="1" i="0">
                <a:solidFill>
                  <a:srgbClr val="C7D0E8"/>
                </a:solidFill>
                <a:latin typeface="Montserrat"/>
              </a:rPr>
              <a:t>DAY 2 · MODULE 7 · WALLET INTERNALS</a:t>
            </a:r>
          </a:p>
        </p:txBody>
      </p:sp>
      <p:sp>
        <p:nvSpPr>
          <p:cNvPr id="5" name="TextBox 4"/>
          <p:cNvSpPr txBox="1"/>
          <p:nvPr/>
        </p:nvSpPr>
        <p:spPr>
          <a:xfrm>
            <a:off x="566928" y="612648"/>
            <a:ext cx="8010144" cy="475488"/>
          </a:xfrm>
          <a:prstGeom prst="rect">
            <a:avLst/>
          </a:prstGeom>
          <a:noFill/>
        </p:spPr>
        <p:txBody>
          <a:bodyPr wrap="square" lIns="0" rIns="0" tIns="0" bIns="0" anchor="t">
            <a:spAutoFit/>
          </a:bodyPr>
          <a:lstStyle/>
          <a:p>
            <a:pPr algn="l">
              <a:lnSpc>
                <a:spcPct val="120000"/>
              </a:lnSpc>
            </a:pPr>
            <a:r>
              <a:rPr sz="2300" b="1" i="1">
                <a:solidFill>
                  <a:srgbClr val="FFFFFF"/>
                </a:solidFill>
                <a:latin typeface="Montserrat"/>
              </a:rPr>
              <a:t>Backup and restore</a:t>
            </a:r>
          </a:p>
        </p:txBody>
      </p:sp>
      <p:pic>
        <p:nvPicPr>
          <p:cNvPr id="6" name="Picture 5" descr="image.png"/>
          <p:cNvPicPr>
            <a:picLocks noChangeAspect="1"/>
          </p:cNvPicPr>
          <p:nvPr/>
        </p:nvPicPr>
        <p:blipFill>
          <a:blip r:embed="rId3"/>
          <a:stretch>
            <a:fillRect/>
          </a:stretch>
        </p:blipFill>
        <p:spPr>
          <a:xfrm>
            <a:off x="8247888" y="237744"/>
            <a:ext cx="612648" cy="329184"/>
          </a:xfrm>
          <a:prstGeom prst="rect">
            <a:avLst/>
          </a:prstGeom>
        </p:spPr>
      </p:pic>
      <p:sp>
        <p:nvSpPr>
          <p:cNvPr id="7" name="Rounded Rectangle 6"/>
          <p:cNvSpPr/>
          <p:nvPr/>
        </p:nvSpPr>
        <p:spPr>
          <a:xfrm>
            <a:off x="566928" y="1207008"/>
            <a:ext cx="1514246" cy="896112"/>
          </a:xfrm>
          <a:prstGeom prst="roundRect">
            <a:avLst>
              <a:gd name="adj" fmla="val 6000"/>
            </a:avLst>
          </a:prstGeom>
          <a:solidFill>
            <a:srgbClr val="FFFFFF">
              <a:alpha val="6000"/>
            </a:srgbClr>
          </a:solidFill>
          <a:ln w="12700">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7512" y="1280160"/>
            <a:ext cx="1313078" cy="146304"/>
          </a:xfrm>
          <a:prstGeom prst="rect">
            <a:avLst/>
          </a:prstGeom>
          <a:noFill/>
        </p:spPr>
        <p:txBody>
          <a:bodyPr wrap="square" lIns="0" rIns="0" tIns="0" bIns="0" anchor="t">
            <a:spAutoFit/>
          </a:bodyPr>
          <a:lstStyle/>
          <a:p>
            <a:pPr algn="l">
              <a:lnSpc>
                <a:spcPct val="120000"/>
              </a:lnSpc>
            </a:pPr>
            <a:r>
              <a:rPr sz="720" b="1" i="0">
                <a:solidFill>
                  <a:srgbClr val="F1752F"/>
                </a:solidFill>
                <a:latin typeface="Montserrat"/>
              </a:rPr>
              <a:t>01 / COLLECT</a:t>
            </a:r>
          </a:p>
        </p:txBody>
      </p:sp>
      <p:sp>
        <p:nvSpPr>
          <p:cNvPr id="9" name="TextBox 8"/>
          <p:cNvSpPr txBox="1"/>
          <p:nvPr/>
        </p:nvSpPr>
        <p:spPr>
          <a:xfrm>
            <a:off x="667512"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Read local store</a:t>
            </a:r>
          </a:p>
        </p:txBody>
      </p:sp>
      <p:sp>
        <p:nvSpPr>
          <p:cNvPr id="10" name="TextBox 9"/>
          <p:cNvSpPr txBox="1"/>
          <p:nvPr/>
        </p:nvSpPr>
        <p:spPr>
          <a:xfrm>
            <a:off x="667512"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Credentials + issuer cache</a:t>
            </a:r>
          </a:p>
        </p:txBody>
      </p:sp>
      <p:cxnSp>
        <p:nvCxnSpPr>
          <p:cNvPr id="11" name="Connector 10"/>
          <p:cNvCxnSpPr/>
          <p:nvPr/>
        </p:nvCxnSpPr>
        <p:spPr>
          <a:xfrm>
            <a:off x="2092147" y="1655064"/>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90902" y="1207008"/>
            <a:ext cx="1514246" cy="896112"/>
          </a:xfrm>
          <a:prstGeom prst="roundRect">
            <a:avLst>
              <a:gd name="adj" fmla="val 6000"/>
            </a:avLst>
          </a:prstGeom>
          <a:solidFill>
            <a:srgbClr val="FFFFFF">
              <a:alpha val="6000"/>
            </a:srgbClr>
          </a:solidFill>
          <a:ln w="12700">
            <a:solidFill>
              <a:srgbClr val="D6315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291486" y="1280160"/>
            <a:ext cx="1313078" cy="146304"/>
          </a:xfrm>
          <a:prstGeom prst="rect">
            <a:avLst/>
          </a:prstGeom>
          <a:noFill/>
        </p:spPr>
        <p:txBody>
          <a:bodyPr wrap="square" lIns="0" rIns="0" tIns="0" bIns="0" anchor="t">
            <a:spAutoFit/>
          </a:bodyPr>
          <a:lstStyle/>
          <a:p>
            <a:pPr algn="l">
              <a:lnSpc>
                <a:spcPct val="120000"/>
              </a:lnSpc>
            </a:pPr>
            <a:r>
              <a:rPr sz="720" b="1" i="0">
                <a:solidFill>
                  <a:srgbClr val="D63156"/>
                </a:solidFill>
                <a:latin typeface="Montserrat"/>
              </a:rPr>
              <a:t>02 / STRIP</a:t>
            </a:r>
          </a:p>
        </p:txBody>
      </p:sp>
      <p:sp>
        <p:nvSpPr>
          <p:cNvPr id="14" name="TextBox 13"/>
          <p:cNvSpPr txBox="1"/>
          <p:nvPr/>
        </p:nvSpPr>
        <p:spPr>
          <a:xfrm>
            <a:off x="2291486"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Drop binding data</a:t>
            </a:r>
          </a:p>
        </p:txBody>
      </p:sp>
      <p:sp>
        <p:nvSpPr>
          <p:cNvPr id="15" name="TextBox 14"/>
          <p:cNvSpPr txBox="1"/>
          <p:nvPr/>
        </p:nvSpPr>
        <p:spPr>
          <a:xfrm>
            <a:off x="2291486"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Keys are removed here</a:t>
            </a:r>
          </a:p>
        </p:txBody>
      </p:sp>
      <p:cxnSp>
        <p:nvCxnSpPr>
          <p:cNvPr id="16" name="Connector 15"/>
          <p:cNvCxnSpPr/>
          <p:nvPr/>
        </p:nvCxnSpPr>
        <p:spPr>
          <a:xfrm>
            <a:off x="3716121" y="1655064"/>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814876" y="1207008"/>
            <a:ext cx="1514246" cy="896112"/>
          </a:xfrm>
          <a:prstGeom prst="roundRect">
            <a:avLst>
              <a:gd name="adj" fmla="val 6000"/>
            </a:avLst>
          </a:prstGeom>
          <a:solidFill>
            <a:srgbClr val="FFFFFF">
              <a:alpha val="6000"/>
            </a:srgbClr>
          </a:solidFill>
          <a:ln w="12700">
            <a:solidFill>
              <a:srgbClr val="C02D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915460" y="1280160"/>
            <a:ext cx="1313078" cy="146304"/>
          </a:xfrm>
          <a:prstGeom prst="rect">
            <a:avLst/>
          </a:prstGeom>
          <a:noFill/>
        </p:spPr>
        <p:txBody>
          <a:bodyPr wrap="square" lIns="0" rIns="0" tIns="0" bIns="0" anchor="t">
            <a:spAutoFit/>
          </a:bodyPr>
          <a:lstStyle/>
          <a:p>
            <a:pPr algn="l">
              <a:lnSpc>
                <a:spcPct val="120000"/>
              </a:lnSpc>
            </a:pPr>
            <a:r>
              <a:rPr sz="720" b="1" i="0">
                <a:solidFill>
                  <a:srgbClr val="C02D80"/>
                </a:solidFill>
                <a:latin typeface="Montserrat"/>
              </a:rPr>
              <a:t>03 / ENCRYPT</a:t>
            </a:r>
          </a:p>
        </p:txBody>
      </p:sp>
      <p:sp>
        <p:nvSpPr>
          <p:cNvPr id="19" name="TextBox 18"/>
          <p:cNvSpPr txBox="1"/>
          <p:nvPr/>
        </p:nvSpPr>
        <p:spPr>
          <a:xfrm>
            <a:off x="3915460"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Passphrase key</a:t>
            </a:r>
          </a:p>
        </p:txBody>
      </p:sp>
      <p:sp>
        <p:nvSpPr>
          <p:cNvPr id="20" name="TextBox 19"/>
          <p:cNvSpPr txBox="1"/>
          <p:nvPr/>
        </p:nvSpPr>
        <p:spPr>
          <a:xfrm>
            <a:off x="3915460"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Derived, then zipped</a:t>
            </a:r>
          </a:p>
        </p:txBody>
      </p:sp>
      <p:cxnSp>
        <p:nvCxnSpPr>
          <p:cNvPr id="21" name="Connector 20"/>
          <p:cNvCxnSpPr/>
          <p:nvPr/>
        </p:nvCxnSpPr>
        <p:spPr>
          <a:xfrm>
            <a:off x="5340096" y="1655064"/>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38851" y="1207008"/>
            <a:ext cx="1514246" cy="896112"/>
          </a:xfrm>
          <a:prstGeom prst="roundRect">
            <a:avLst>
              <a:gd name="adj" fmla="val 6000"/>
            </a:avLst>
          </a:prstGeom>
          <a:solidFill>
            <a:srgbClr val="FFFFFF">
              <a:alpha val="6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539435" y="1280160"/>
            <a:ext cx="1313078" cy="146304"/>
          </a:xfrm>
          <a:prstGeom prst="rect">
            <a:avLst/>
          </a:prstGeom>
          <a:noFill/>
        </p:spPr>
        <p:txBody>
          <a:bodyPr wrap="square" lIns="0" rIns="0" tIns="0" bIns="0" anchor="t">
            <a:spAutoFit/>
          </a:bodyPr>
          <a:lstStyle/>
          <a:p>
            <a:pPr algn="l">
              <a:lnSpc>
                <a:spcPct val="120000"/>
              </a:lnSpc>
            </a:pPr>
            <a:r>
              <a:rPr sz="720" b="1" i="0">
                <a:solidFill>
                  <a:srgbClr val="8F35D6"/>
                </a:solidFill>
                <a:latin typeface="Montserrat"/>
              </a:rPr>
              <a:t>04 / UPLOAD</a:t>
            </a:r>
          </a:p>
        </p:txBody>
      </p:sp>
      <p:sp>
        <p:nvSpPr>
          <p:cNvPr id="24" name="TextBox 23"/>
          <p:cNvSpPr txBox="1"/>
          <p:nvPr/>
        </p:nvSpPr>
        <p:spPr>
          <a:xfrm>
            <a:off x="5539435"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Drive or iCloud</a:t>
            </a:r>
          </a:p>
        </p:txBody>
      </p:sp>
      <p:sp>
        <p:nvSpPr>
          <p:cNvPr id="25" name="TextBox 24"/>
          <p:cNvSpPr txBox="1"/>
          <p:nvPr/>
        </p:nvSpPr>
        <p:spPr>
          <a:xfrm>
            <a:off x="5539435"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User's own cloud account</a:t>
            </a:r>
          </a:p>
        </p:txBody>
      </p:sp>
      <p:cxnSp>
        <p:nvCxnSpPr>
          <p:cNvPr id="26" name="Connector 25"/>
          <p:cNvCxnSpPr/>
          <p:nvPr/>
        </p:nvCxnSpPr>
        <p:spPr>
          <a:xfrm>
            <a:off x="6964070" y="1655064"/>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062825" y="1207008"/>
            <a:ext cx="1514246" cy="896112"/>
          </a:xfrm>
          <a:prstGeom prst="roundRect">
            <a:avLst>
              <a:gd name="adj" fmla="val 6000"/>
            </a:avLst>
          </a:prstGeom>
          <a:solidFill>
            <a:srgbClr val="FFFFFF">
              <a:alpha val="6000"/>
            </a:srgbClr>
          </a:solidFill>
          <a:ln w="12700">
            <a:solidFill>
              <a:srgbClr val="6B71C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63409" y="1280160"/>
            <a:ext cx="1313078" cy="146304"/>
          </a:xfrm>
          <a:prstGeom prst="rect">
            <a:avLst/>
          </a:prstGeom>
          <a:noFill/>
        </p:spPr>
        <p:txBody>
          <a:bodyPr wrap="square" lIns="0" rIns="0" tIns="0" bIns="0" anchor="t">
            <a:spAutoFit/>
          </a:bodyPr>
          <a:lstStyle/>
          <a:p>
            <a:pPr algn="l">
              <a:lnSpc>
                <a:spcPct val="120000"/>
              </a:lnSpc>
            </a:pPr>
            <a:r>
              <a:rPr sz="720" b="1" i="0">
                <a:solidFill>
                  <a:srgbClr val="6B71C1"/>
                </a:solidFill>
                <a:latin typeface="Montserrat"/>
              </a:rPr>
              <a:t>05 / RESTORE</a:t>
            </a:r>
          </a:p>
        </p:txBody>
      </p:sp>
      <p:sp>
        <p:nvSpPr>
          <p:cNvPr id="29" name="TextBox 28"/>
          <p:cNvSpPr txBox="1"/>
          <p:nvPr/>
        </p:nvSpPr>
        <p:spPr>
          <a:xfrm>
            <a:off x="7163409"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Download + decrypt</a:t>
            </a:r>
          </a:p>
        </p:txBody>
      </p:sp>
      <p:sp>
        <p:nvSpPr>
          <p:cNvPr id="30" name="TextBox 29"/>
          <p:cNvSpPr txBox="1"/>
          <p:nvPr/>
        </p:nvSpPr>
        <p:spPr>
          <a:xfrm>
            <a:off x="7163409"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Credentials return unbound</a:t>
            </a:r>
          </a:p>
        </p:txBody>
      </p:sp>
      <p:sp>
        <p:nvSpPr>
          <p:cNvPr id="31" name="Rounded Rectangle 30"/>
          <p:cNvSpPr/>
          <p:nvPr/>
        </p:nvSpPr>
        <p:spPr>
          <a:xfrm>
            <a:off x="566928" y="2249424"/>
            <a:ext cx="3931920" cy="1261872"/>
          </a:xfrm>
          <a:prstGeom prst="roundRect">
            <a:avLst>
              <a:gd name="adj" fmla="val 6000"/>
            </a:avLst>
          </a:prstGeom>
          <a:solidFill>
            <a:srgbClr val="FFFFFF">
              <a:alpha val="5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66928" y="2249424"/>
            <a:ext cx="3931920" cy="41148"/>
          </a:xfrm>
          <a:prstGeom prst="rect">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94944" y="2395728"/>
            <a:ext cx="3675887" cy="237744"/>
          </a:xfrm>
          <a:prstGeom prst="rect">
            <a:avLst/>
          </a:prstGeom>
          <a:noFill/>
        </p:spPr>
        <p:txBody>
          <a:bodyPr wrap="square" lIns="0" rIns="0" tIns="0" bIns="0" anchor="t">
            <a:spAutoFit/>
          </a:bodyPr>
          <a:lstStyle/>
          <a:p>
            <a:pPr algn="l">
              <a:lnSpc>
                <a:spcPct val="120000"/>
              </a:lnSpc>
            </a:pPr>
            <a:r>
              <a:rPr sz="960" b="1" i="0">
                <a:solidFill>
                  <a:srgbClr val="8F35D6"/>
                </a:solidFill>
                <a:latin typeface="Montserrat"/>
              </a:rPr>
              <a:t>What the backup contains</a:t>
            </a:r>
          </a:p>
        </p:txBody>
      </p:sp>
      <p:sp>
        <p:nvSpPr>
          <p:cNvPr id="34" name="Oval 33"/>
          <p:cNvSpPr/>
          <p:nvPr/>
        </p:nvSpPr>
        <p:spPr>
          <a:xfrm>
            <a:off x="713232" y="2720340"/>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41247" y="2670048"/>
            <a:ext cx="3511296" cy="457200"/>
          </a:xfrm>
          <a:prstGeom prst="rect">
            <a:avLst/>
          </a:prstGeom>
          <a:noFill/>
        </p:spPr>
        <p:txBody>
          <a:bodyPr wrap="square" lIns="0" rIns="0" tIns="0" bIns="0" anchor="t">
            <a:spAutoFit/>
          </a:bodyPr>
          <a:lstStyle/>
          <a:p>
            <a:pPr algn="l">
              <a:lnSpc>
                <a:spcPct val="120000"/>
              </a:lnSpc>
            </a:pPr>
            <a:r>
              <a:rPr sz="819" b="0" i="0">
                <a:solidFill>
                  <a:srgbClr val="C7D0E8"/>
                </a:solidFill>
                <a:latin typeface="Montserrat"/>
              </a:rPr>
              <a:t>The credential documents themselves</a:t>
            </a:r>
          </a:p>
        </p:txBody>
      </p:sp>
      <p:sp>
        <p:nvSpPr>
          <p:cNvPr id="36" name="Oval 35"/>
          <p:cNvSpPr/>
          <p:nvPr/>
        </p:nvSpPr>
        <p:spPr>
          <a:xfrm>
            <a:off x="713232" y="2928239"/>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41247" y="2877947"/>
            <a:ext cx="3511296" cy="457200"/>
          </a:xfrm>
          <a:prstGeom prst="rect">
            <a:avLst/>
          </a:prstGeom>
          <a:noFill/>
        </p:spPr>
        <p:txBody>
          <a:bodyPr wrap="square" lIns="0" rIns="0" tIns="0" bIns="0" anchor="t">
            <a:spAutoFit/>
          </a:bodyPr>
          <a:lstStyle/>
          <a:p>
            <a:pPr algn="l">
              <a:lnSpc>
                <a:spcPct val="120000"/>
              </a:lnSpc>
            </a:pPr>
            <a:r>
              <a:rPr sz="819" b="0" i="0">
                <a:solidFill>
                  <a:srgbClr val="F1752F"/>
                </a:solidFill>
                <a:latin typeface="Roboto Mono"/>
              </a:rPr>
              <a:t>myVCs</a:t>
            </a:r>
            <a:r>
              <a:rPr sz="819" b="0" i="0">
                <a:solidFill>
                  <a:srgbClr val="C7D0E8"/>
                </a:solidFill>
                <a:latin typeface="Montserrat"/>
              </a:rPr>
              <a:t> metadata — the index of what is held</a:t>
            </a:r>
          </a:p>
        </p:txBody>
      </p:sp>
      <p:sp>
        <p:nvSpPr>
          <p:cNvPr id="38" name="Oval 37"/>
          <p:cNvSpPr/>
          <p:nvPr/>
        </p:nvSpPr>
        <p:spPr>
          <a:xfrm>
            <a:off x="713232" y="3136138"/>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41247" y="3085846"/>
            <a:ext cx="3511296" cy="457200"/>
          </a:xfrm>
          <a:prstGeom prst="rect">
            <a:avLst/>
          </a:prstGeom>
          <a:noFill/>
        </p:spPr>
        <p:txBody>
          <a:bodyPr wrap="square" lIns="0" rIns="0" tIns="0" bIns="0" anchor="t">
            <a:spAutoFit/>
          </a:bodyPr>
          <a:lstStyle/>
          <a:p>
            <a:pPr algn="l">
              <a:lnSpc>
                <a:spcPct val="120000"/>
              </a:lnSpc>
            </a:pPr>
            <a:r>
              <a:rPr sz="819" b="0" i="0">
                <a:solidFill>
                  <a:srgbClr val="C7D0E8"/>
                </a:solidFill>
                <a:latin typeface="Montserrat"/>
              </a:rPr>
              <a:t>Cached issuer </a:t>
            </a:r>
            <a:r>
              <a:rPr sz="819" b="0" i="0">
                <a:solidFill>
                  <a:srgbClr val="F1752F"/>
                </a:solidFill>
                <a:latin typeface="Roboto Mono"/>
              </a:rPr>
              <a:t>.well-known</a:t>
            </a:r>
            <a:r>
              <a:rPr sz="819" b="0" i="0">
                <a:solidFill>
                  <a:srgbClr val="C7D0E8"/>
                </a:solidFill>
                <a:latin typeface="Montserrat"/>
              </a:rPr>
              <a:t> configuration</a:t>
            </a:r>
          </a:p>
        </p:txBody>
      </p:sp>
      <p:sp>
        <p:nvSpPr>
          <p:cNvPr id="40" name="Rounded Rectangle 39"/>
          <p:cNvSpPr/>
          <p:nvPr/>
        </p:nvSpPr>
        <p:spPr>
          <a:xfrm>
            <a:off x="4645152" y="2249424"/>
            <a:ext cx="3931920" cy="1261872"/>
          </a:xfrm>
          <a:prstGeom prst="roundRect">
            <a:avLst>
              <a:gd name="adj" fmla="val 6000"/>
            </a:avLst>
          </a:prstGeom>
          <a:solidFill>
            <a:srgbClr val="FFFFFF">
              <a:alpha val="5000"/>
            </a:srgbClr>
          </a:solidFill>
          <a:ln w="12700">
            <a:solidFill>
              <a:srgbClr val="D6315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645152" y="2249424"/>
            <a:ext cx="3931920" cy="41148"/>
          </a:xfrm>
          <a:prstGeom prst="rect">
            <a:avLst/>
          </a:prstGeom>
          <a:solidFill>
            <a:srgbClr val="D63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773168" y="2395728"/>
            <a:ext cx="3675887" cy="237744"/>
          </a:xfrm>
          <a:prstGeom prst="rect">
            <a:avLst/>
          </a:prstGeom>
          <a:noFill/>
        </p:spPr>
        <p:txBody>
          <a:bodyPr wrap="square" lIns="0" rIns="0" tIns="0" bIns="0" anchor="t">
            <a:spAutoFit/>
          </a:bodyPr>
          <a:lstStyle/>
          <a:p>
            <a:pPr algn="l">
              <a:lnSpc>
                <a:spcPct val="120000"/>
              </a:lnSpc>
            </a:pPr>
            <a:r>
              <a:rPr sz="960" b="1" i="0">
                <a:solidFill>
                  <a:srgbClr val="D63156"/>
                </a:solidFill>
                <a:latin typeface="Montserrat"/>
              </a:rPr>
              <a:t>What it deliberately does not</a:t>
            </a:r>
          </a:p>
        </p:txBody>
      </p:sp>
      <p:sp>
        <p:nvSpPr>
          <p:cNvPr id="43" name="Oval 42"/>
          <p:cNvSpPr/>
          <p:nvPr/>
        </p:nvSpPr>
        <p:spPr>
          <a:xfrm>
            <a:off x="4791456" y="2720340"/>
            <a:ext cx="45720" cy="45720"/>
          </a:xfrm>
          <a:prstGeom prst="ellipse">
            <a:avLst/>
          </a:prstGeom>
          <a:solidFill>
            <a:srgbClr val="D63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919472" y="2670048"/>
            <a:ext cx="3511296" cy="457200"/>
          </a:xfrm>
          <a:prstGeom prst="rect">
            <a:avLst/>
          </a:prstGeom>
          <a:noFill/>
        </p:spPr>
        <p:txBody>
          <a:bodyPr wrap="square" lIns="0" rIns="0" tIns="0" bIns="0" anchor="t">
            <a:spAutoFit/>
          </a:bodyPr>
          <a:lstStyle/>
          <a:p>
            <a:pPr algn="l">
              <a:lnSpc>
                <a:spcPct val="120000"/>
              </a:lnSpc>
            </a:pPr>
            <a:r>
              <a:rPr sz="819" b="0" i="0">
                <a:solidFill>
                  <a:srgbClr val="F1752F"/>
                </a:solidFill>
                <a:latin typeface="Roboto Mono"/>
              </a:rPr>
              <a:t>privateKey</a:t>
            </a:r>
            <a:r>
              <a:rPr sz="819" b="0" i="0">
                <a:solidFill>
                  <a:srgbClr val="C7D0E8"/>
                </a:solidFill>
                <a:latin typeface="Montserrat"/>
              </a:rPr>
              <a:t> — set to null before export</a:t>
            </a:r>
          </a:p>
        </p:txBody>
      </p:sp>
      <p:sp>
        <p:nvSpPr>
          <p:cNvPr id="45" name="Oval 44"/>
          <p:cNvSpPr/>
          <p:nvPr/>
        </p:nvSpPr>
        <p:spPr>
          <a:xfrm>
            <a:off x="4791456" y="2928239"/>
            <a:ext cx="45720" cy="45720"/>
          </a:xfrm>
          <a:prstGeom prst="ellipse">
            <a:avLst/>
          </a:prstGeom>
          <a:solidFill>
            <a:srgbClr val="D63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919472" y="2877947"/>
            <a:ext cx="3511296" cy="457200"/>
          </a:xfrm>
          <a:prstGeom prst="rect">
            <a:avLst/>
          </a:prstGeom>
          <a:noFill/>
        </p:spPr>
        <p:txBody>
          <a:bodyPr wrap="square" lIns="0" rIns="0" tIns="0" bIns="0" anchor="t">
            <a:spAutoFit/>
          </a:bodyPr>
          <a:lstStyle/>
          <a:p>
            <a:pPr algn="l">
              <a:lnSpc>
                <a:spcPct val="120000"/>
              </a:lnSpc>
            </a:pPr>
            <a:r>
              <a:rPr sz="819" b="0" i="0">
                <a:solidFill>
                  <a:srgbClr val="F1752F"/>
                </a:solidFill>
                <a:latin typeface="Roboto Mono"/>
              </a:rPr>
              <a:t>publicKey</a:t>
            </a:r>
            <a:r>
              <a:rPr sz="819" b="0" i="0">
                <a:solidFill>
                  <a:srgbClr val="C7D0E8"/>
                </a:solidFill>
                <a:latin typeface="Montserrat"/>
              </a:rPr>
              <a:t> and </a:t>
            </a:r>
            <a:r>
              <a:rPr sz="819" b="0" i="0">
                <a:solidFill>
                  <a:srgbClr val="F1752F"/>
                </a:solidFill>
                <a:latin typeface="Roboto Mono"/>
              </a:rPr>
              <a:t>walletBindingResponse</a:t>
            </a:r>
            <a:r>
              <a:rPr sz="819" b="0" i="0">
                <a:solidFill>
                  <a:srgbClr val="C7D0E8"/>
                </a:solidFill>
                <a:latin typeface="Montserrat"/>
              </a:rPr>
              <a:t> — also nulled</a:t>
            </a:r>
          </a:p>
        </p:txBody>
      </p:sp>
      <p:sp>
        <p:nvSpPr>
          <p:cNvPr id="47" name="Oval 46"/>
          <p:cNvSpPr/>
          <p:nvPr/>
        </p:nvSpPr>
        <p:spPr>
          <a:xfrm>
            <a:off x="4791456" y="3136138"/>
            <a:ext cx="45720" cy="45720"/>
          </a:xfrm>
          <a:prstGeom prst="ellipse">
            <a:avLst/>
          </a:prstGeom>
          <a:solidFill>
            <a:srgbClr val="D63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919472" y="3085846"/>
            <a:ext cx="3511296" cy="457200"/>
          </a:xfrm>
          <a:prstGeom prst="rect">
            <a:avLst/>
          </a:prstGeom>
          <a:noFill/>
        </p:spPr>
        <p:txBody>
          <a:bodyPr wrap="square" lIns="0" rIns="0" tIns="0" bIns="0" anchor="t">
            <a:spAutoFit/>
          </a:bodyPr>
          <a:lstStyle/>
          <a:p>
            <a:pPr algn="l">
              <a:lnSpc>
                <a:spcPct val="120000"/>
              </a:lnSpc>
            </a:pPr>
            <a:r>
              <a:rPr sz="819" b="0" i="0">
                <a:solidFill>
                  <a:srgbClr val="C7D0E8"/>
                </a:solidFill>
                <a:latin typeface="Montserrat"/>
              </a:rPr>
              <a:t>Anything held in the hardware keystore</a:t>
            </a:r>
          </a:p>
        </p:txBody>
      </p:sp>
      <p:sp>
        <p:nvSpPr>
          <p:cNvPr id="49" name="Rounded Rectangle 48"/>
          <p:cNvSpPr/>
          <p:nvPr/>
        </p:nvSpPr>
        <p:spPr>
          <a:xfrm>
            <a:off x="566928" y="3639312"/>
            <a:ext cx="8010144" cy="603656"/>
          </a:xfrm>
          <a:prstGeom prst="roundRect">
            <a:avLst>
              <a:gd name="adj" fmla="val 10000"/>
            </a:avLst>
          </a:prstGeom>
          <a:solidFill>
            <a:srgbClr val="F1752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566928" y="3639312"/>
            <a:ext cx="36576" cy="603656"/>
          </a:xfrm>
          <a:prstGeom prst="rect">
            <a:avLst/>
          </a:prstGeom>
          <a:solidFill>
            <a:srgbClr val="F17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31520" y="3717036"/>
            <a:ext cx="7717536" cy="466496"/>
          </a:xfrm>
          <a:prstGeom prst="rect">
            <a:avLst/>
          </a:prstGeom>
          <a:noFill/>
        </p:spPr>
        <p:txBody>
          <a:bodyPr wrap="square" lIns="0" rIns="0" tIns="0" bIns="0" anchor="t">
            <a:spAutoFit/>
          </a:bodyPr>
          <a:lstStyle/>
          <a:p>
            <a:pPr algn="l">
              <a:lnSpc>
                <a:spcPct val="128000"/>
              </a:lnSpc>
            </a:pPr>
            <a:r>
              <a:rPr sz="860" b="0" i="0">
                <a:solidFill>
                  <a:srgbClr val="C7D0E8"/>
                </a:solidFill>
                <a:latin typeface="Montserrat"/>
              </a:rPr>
              <a:t>This is not an oversight. A hardware-backed key is </a:t>
            </a:r>
            <a:r>
              <a:rPr sz="860" b="1" i="0">
                <a:solidFill>
                  <a:srgbClr val="FFFFFF"/>
                </a:solidFill>
                <a:latin typeface="Montserrat"/>
              </a:rPr>
              <a:t>non-exportable by design</a:t>
            </a:r>
            <a:r>
              <a:rPr sz="860" b="0" i="0">
                <a:solidFill>
                  <a:srgbClr val="C7D0E8"/>
                </a:solidFill>
                <a:latin typeface="Montserrat"/>
              </a:rPr>
              <a:t> — if the backup could carry it, the keystore guarantee would be worthless. </a:t>
            </a:r>
            <a:r>
              <a:rPr sz="860" b="0" i="0">
                <a:solidFill>
                  <a:srgbClr val="F1752F"/>
                </a:solidFill>
                <a:latin typeface="Roboto Mono"/>
              </a:rPr>
              <a:t>removeWalletBindingDataBeforeBackup</a:t>
            </a:r>
            <a:r>
              <a:rPr sz="860" b="0" i="0">
                <a:solidFill>
                  <a:srgbClr val="C7D0E8"/>
                </a:solidFill>
                <a:latin typeface="Montserrat"/>
              </a:rPr>
              <a:t> makes that explicit. Restored credentials come back </a:t>
            </a:r>
            <a:r>
              <a:rPr sz="860" b="1" i="0">
                <a:solidFill>
                  <a:srgbClr val="FFFFFF"/>
                </a:solidFill>
                <a:latin typeface="Montserrat"/>
              </a:rPr>
              <a:t>unbound and must be re-bound on the new device before they can be presented.</a:t>
            </a:r>
            <a:r>
              <a:rPr sz="860" b="0" i="0">
                <a:solidFill>
                  <a:srgbClr val="C7D0E8"/>
                </a:solidFill>
                <a:latin typeface="Montserrat"/>
              </a:rPr>
              <a:t> Budget for that in your support model.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cxnSp>
        <p:nvCxnSpPr>
          <p:cNvPr id="3" name="Connector 2"/>
          <p:cNvCxnSpPr/>
          <p:nvPr/>
        </p:nvCxnSpPr>
        <p:spPr>
          <a:xfrm>
            <a:off x="429768" y="384048"/>
            <a:ext cx="0" cy="4288536"/>
          </a:xfrm>
          <a:prstGeom prst="line">
            <a:avLst/>
          </a:prstGeom>
          <a:ln w="28575">
            <a:solidFill>
              <a:srgbClr val="F2680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384048"/>
            <a:ext cx="8010144" cy="283464"/>
          </a:xfrm>
          <a:prstGeom prst="rect">
            <a:avLst/>
          </a:prstGeom>
          <a:noFill/>
        </p:spPr>
        <p:txBody>
          <a:bodyPr wrap="square" lIns="0" rIns="0" tIns="0" bIns="0" anchor="t">
            <a:spAutoFit/>
          </a:bodyPr>
          <a:lstStyle/>
          <a:p>
            <a:pPr algn="l">
              <a:lnSpc>
                <a:spcPct val="120000"/>
              </a:lnSpc>
            </a:pPr>
            <a:r>
              <a:rPr sz="1000" b="1" i="0">
                <a:solidFill>
                  <a:srgbClr val="C7D0E8"/>
                </a:solidFill>
                <a:latin typeface="Montserrat"/>
              </a:rPr>
              <a:t>DAY 2 · MODULE 7 · WALLET INTERNALS</a:t>
            </a:r>
          </a:p>
        </p:txBody>
      </p:sp>
      <p:sp>
        <p:nvSpPr>
          <p:cNvPr id="5" name="TextBox 4"/>
          <p:cNvSpPr txBox="1"/>
          <p:nvPr/>
        </p:nvSpPr>
        <p:spPr>
          <a:xfrm>
            <a:off x="566928" y="612648"/>
            <a:ext cx="8010144" cy="475488"/>
          </a:xfrm>
          <a:prstGeom prst="rect">
            <a:avLst/>
          </a:prstGeom>
          <a:noFill/>
        </p:spPr>
        <p:txBody>
          <a:bodyPr wrap="square" lIns="0" rIns="0" tIns="0" bIns="0" anchor="t">
            <a:spAutoFit/>
          </a:bodyPr>
          <a:lstStyle/>
          <a:p>
            <a:pPr algn="l">
              <a:lnSpc>
                <a:spcPct val="120000"/>
              </a:lnSpc>
            </a:pPr>
            <a:r>
              <a:rPr sz="2300" b="1" i="1">
                <a:solidFill>
                  <a:srgbClr val="FFFFFF"/>
                </a:solidFill>
                <a:latin typeface="Montserrat"/>
              </a:rPr>
              <a:t>QR-code login is a different protocol</a:t>
            </a:r>
          </a:p>
        </p:txBody>
      </p:sp>
      <p:pic>
        <p:nvPicPr>
          <p:cNvPr id="6" name="Picture 5" descr="image.png"/>
          <p:cNvPicPr>
            <a:picLocks noChangeAspect="1"/>
          </p:cNvPicPr>
          <p:nvPr/>
        </p:nvPicPr>
        <p:blipFill>
          <a:blip r:embed="rId3"/>
          <a:stretch>
            <a:fillRect/>
          </a:stretch>
        </p:blipFill>
        <p:spPr>
          <a:xfrm>
            <a:off x="8247888" y="237744"/>
            <a:ext cx="612648" cy="329184"/>
          </a:xfrm>
          <a:prstGeom prst="rect">
            <a:avLst/>
          </a:prstGeom>
        </p:spPr>
      </p:pic>
      <p:sp>
        <p:nvSpPr>
          <p:cNvPr id="7" name="Rounded Rectangle 6"/>
          <p:cNvSpPr/>
          <p:nvPr/>
        </p:nvSpPr>
        <p:spPr>
          <a:xfrm>
            <a:off x="2487168" y="1207008"/>
            <a:ext cx="3054096" cy="274320"/>
          </a:xfrm>
          <a:prstGeom prst="roundRect">
            <a:avLst>
              <a:gd name="adj" fmla="val 14000"/>
            </a:avLst>
          </a:prstGeom>
          <a:solidFill>
            <a:srgbClr val="FFFFFF">
              <a:alpha val="7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60320" y="1207008"/>
            <a:ext cx="2907792" cy="274320"/>
          </a:xfrm>
          <a:prstGeom prst="rect">
            <a:avLst/>
          </a:prstGeom>
          <a:noFill/>
        </p:spPr>
        <p:txBody>
          <a:bodyPr wrap="square" lIns="0" rIns="0" tIns="0" bIns="0" anchor="ctr">
            <a:spAutoFit/>
          </a:bodyPr>
          <a:lstStyle/>
          <a:p>
            <a:pPr algn="ctr">
              <a:lnSpc>
                <a:spcPct val="120000"/>
              </a:lnSpc>
            </a:pPr>
            <a:r>
              <a:rPr sz="860" b="1" i="0">
                <a:solidFill>
                  <a:srgbClr val="C7D0E8"/>
                </a:solidFill>
                <a:latin typeface="Montserrat"/>
              </a:rPr>
              <a:t>WHAT THE WALLET DOES</a:t>
            </a:r>
          </a:p>
        </p:txBody>
      </p:sp>
      <p:sp>
        <p:nvSpPr>
          <p:cNvPr id="9" name="Rounded Rectangle 8"/>
          <p:cNvSpPr/>
          <p:nvPr/>
        </p:nvSpPr>
        <p:spPr>
          <a:xfrm>
            <a:off x="5596128" y="1207008"/>
            <a:ext cx="2926080" cy="274320"/>
          </a:xfrm>
          <a:prstGeom prst="roundRect">
            <a:avLst>
              <a:gd name="adj" fmla="val 14000"/>
            </a:avLst>
          </a:prstGeom>
          <a:solidFill>
            <a:srgbClr val="F17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0" y="1207008"/>
            <a:ext cx="2779776" cy="274320"/>
          </a:xfrm>
          <a:prstGeom prst="rect">
            <a:avLst/>
          </a:prstGeom>
          <a:noFill/>
        </p:spPr>
        <p:txBody>
          <a:bodyPr wrap="square" lIns="0" rIns="0" tIns="0" bIns="0" anchor="ctr">
            <a:spAutoFit/>
          </a:bodyPr>
          <a:lstStyle/>
          <a:p>
            <a:pPr algn="ctr">
              <a:lnSpc>
                <a:spcPct val="120000"/>
              </a:lnSpc>
            </a:pPr>
            <a:r>
              <a:rPr sz="860" b="1" i="0">
                <a:solidFill>
                  <a:srgbClr val="FFFFFF"/>
                </a:solidFill>
                <a:latin typeface="Montserrat"/>
              </a:rPr>
              <a:t>WHICH PROTOCOL</a:t>
            </a:r>
          </a:p>
        </p:txBody>
      </p:sp>
      <p:sp>
        <p:nvSpPr>
          <p:cNvPr id="11" name="TextBox 10"/>
          <p:cNvSpPr txBox="1"/>
          <p:nvPr/>
        </p:nvSpPr>
        <p:spPr>
          <a:xfrm>
            <a:off x="566928" y="1554480"/>
            <a:ext cx="1828800" cy="310896"/>
          </a:xfrm>
          <a:prstGeom prst="rect">
            <a:avLst/>
          </a:prstGeom>
          <a:noFill/>
        </p:spPr>
        <p:txBody>
          <a:bodyPr wrap="square" lIns="0" rIns="0" tIns="0" bIns="0" anchor="ctr">
            <a:spAutoFit/>
          </a:bodyPr>
          <a:lstStyle/>
          <a:p>
            <a:pPr algn="l">
              <a:lnSpc>
                <a:spcPct val="120000"/>
              </a:lnSpc>
            </a:pPr>
            <a:r>
              <a:rPr sz="850" b="0" i="0">
                <a:solidFill>
                  <a:srgbClr val="F1752F"/>
                </a:solidFill>
                <a:latin typeface="Roboto Mono"/>
              </a:rPr>
              <a:t>OPENID4VP://connect</a:t>
            </a:r>
          </a:p>
        </p:txBody>
      </p:sp>
      <p:sp>
        <p:nvSpPr>
          <p:cNvPr id="12" name="Rounded Rectangle 11"/>
          <p:cNvSpPr/>
          <p:nvPr/>
        </p:nvSpPr>
        <p:spPr>
          <a:xfrm>
            <a:off x="2487168" y="1554480"/>
            <a:ext cx="3054096" cy="310896"/>
          </a:xfrm>
          <a:prstGeom prst="roundRect">
            <a:avLst>
              <a:gd name="adj" fmla="val 10000"/>
            </a:avLst>
          </a:prstGeom>
          <a:solidFill>
            <a:srgbClr val="FFFFFF">
              <a:alpha val="4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587752" y="1609344"/>
            <a:ext cx="2852928" cy="201168"/>
          </a:xfrm>
          <a:prstGeom prst="rect">
            <a:avLst/>
          </a:prstGeom>
          <a:noFill/>
        </p:spPr>
        <p:txBody>
          <a:bodyPr wrap="square" lIns="0" rIns="0" tIns="0" bIns="0" anchor="t">
            <a:spAutoFit/>
          </a:bodyPr>
          <a:lstStyle/>
          <a:p>
            <a:pPr algn="l">
              <a:lnSpc>
                <a:spcPct val="124000"/>
              </a:lnSpc>
            </a:pPr>
            <a:r>
              <a:rPr sz="800" b="0" i="0">
                <a:solidFill>
                  <a:srgbClr val="C7D0E8"/>
                </a:solidFill>
                <a:latin typeface="Montserrat"/>
              </a:rPr>
              <a:t>Opens a Bluetooth channel to a nearby verifier</a:t>
            </a:r>
          </a:p>
        </p:txBody>
      </p:sp>
      <p:sp>
        <p:nvSpPr>
          <p:cNvPr id="14" name="Rounded Rectangle 13"/>
          <p:cNvSpPr/>
          <p:nvPr/>
        </p:nvSpPr>
        <p:spPr>
          <a:xfrm>
            <a:off x="5596128" y="1554480"/>
            <a:ext cx="2926080" cy="310896"/>
          </a:xfrm>
          <a:prstGeom prst="roundRect">
            <a:avLst>
              <a:gd name="adj" fmla="val 10000"/>
            </a:avLst>
          </a:prstGeom>
          <a:solidFill>
            <a:srgbClr val="FFFFFF">
              <a:alpha val="9000"/>
            </a:srgbClr>
          </a:solidFill>
          <a:ln w="9525">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96712" y="1609344"/>
            <a:ext cx="2724912" cy="201168"/>
          </a:xfrm>
          <a:prstGeom prst="rect">
            <a:avLst/>
          </a:prstGeom>
          <a:noFill/>
        </p:spPr>
        <p:txBody>
          <a:bodyPr wrap="square" lIns="0" rIns="0" tIns="0" bIns="0" anchor="t">
            <a:spAutoFit/>
          </a:bodyPr>
          <a:lstStyle/>
          <a:p>
            <a:pPr algn="l">
              <a:lnSpc>
                <a:spcPct val="124000"/>
              </a:lnSpc>
            </a:pPr>
            <a:r>
              <a:rPr sz="800" b="0" i="0">
                <a:solidFill>
                  <a:srgbClr val="FFFFFF"/>
                </a:solidFill>
                <a:latin typeface="Montserrat"/>
              </a:rPr>
              <a:t>OpenID4VP over BLE — Tuvali</a:t>
            </a:r>
          </a:p>
        </p:txBody>
      </p:sp>
      <p:sp>
        <p:nvSpPr>
          <p:cNvPr id="16" name="TextBox 15"/>
          <p:cNvSpPr txBox="1"/>
          <p:nvPr/>
        </p:nvSpPr>
        <p:spPr>
          <a:xfrm>
            <a:off x="566928" y="1938528"/>
            <a:ext cx="1828800" cy="310896"/>
          </a:xfrm>
          <a:prstGeom prst="rect">
            <a:avLst/>
          </a:prstGeom>
          <a:noFill/>
        </p:spPr>
        <p:txBody>
          <a:bodyPr wrap="square" lIns="0" rIns="0" tIns="0" bIns="0" anchor="ctr">
            <a:spAutoFit/>
          </a:bodyPr>
          <a:lstStyle/>
          <a:p>
            <a:pPr algn="l">
              <a:lnSpc>
                <a:spcPct val="120000"/>
              </a:lnSpc>
            </a:pPr>
            <a:r>
              <a:rPr sz="850" b="0" i="0">
                <a:solidFill>
                  <a:srgbClr val="F1752F"/>
                </a:solidFill>
                <a:latin typeface="Roboto Mono"/>
              </a:rPr>
              <a:t>openid4vp://authorize</a:t>
            </a:r>
          </a:p>
        </p:txBody>
      </p:sp>
      <p:sp>
        <p:nvSpPr>
          <p:cNvPr id="17" name="Rounded Rectangle 16"/>
          <p:cNvSpPr/>
          <p:nvPr/>
        </p:nvSpPr>
        <p:spPr>
          <a:xfrm>
            <a:off x="2487168" y="1938528"/>
            <a:ext cx="3054096" cy="310896"/>
          </a:xfrm>
          <a:prstGeom prst="roundRect">
            <a:avLst>
              <a:gd name="adj" fmla="val 10000"/>
            </a:avLst>
          </a:prstGeom>
          <a:solidFill>
            <a:srgbClr val="FFFFFF">
              <a:alpha val="4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587752" y="1993392"/>
            <a:ext cx="2852928" cy="201168"/>
          </a:xfrm>
          <a:prstGeom prst="rect">
            <a:avLst/>
          </a:prstGeom>
          <a:noFill/>
        </p:spPr>
        <p:txBody>
          <a:bodyPr wrap="square" lIns="0" rIns="0" tIns="0" bIns="0" anchor="t">
            <a:spAutoFit/>
          </a:bodyPr>
          <a:lstStyle/>
          <a:p>
            <a:pPr algn="l">
              <a:lnSpc>
                <a:spcPct val="124000"/>
              </a:lnSpc>
            </a:pPr>
            <a:r>
              <a:rPr sz="800" b="0" i="0">
                <a:solidFill>
                  <a:srgbClr val="C7D0E8"/>
                </a:solidFill>
                <a:latin typeface="Montserrat"/>
              </a:rPr>
              <a:t>Presents a credential online to a remote verifier</a:t>
            </a:r>
          </a:p>
        </p:txBody>
      </p:sp>
      <p:sp>
        <p:nvSpPr>
          <p:cNvPr id="19" name="Rounded Rectangle 18"/>
          <p:cNvSpPr/>
          <p:nvPr/>
        </p:nvSpPr>
        <p:spPr>
          <a:xfrm>
            <a:off x="5596128" y="1938528"/>
            <a:ext cx="2926080" cy="310896"/>
          </a:xfrm>
          <a:prstGeom prst="roundRect">
            <a:avLst>
              <a:gd name="adj" fmla="val 10000"/>
            </a:avLst>
          </a:prstGeom>
          <a:solidFill>
            <a:srgbClr val="FFFFFF">
              <a:alpha val="9000"/>
            </a:srgbClr>
          </a:solidFill>
          <a:ln w="9525">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96712" y="1993392"/>
            <a:ext cx="2724912" cy="201168"/>
          </a:xfrm>
          <a:prstGeom prst="rect">
            <a:avLst/>
          </a:prstGeom>
          <a:noFill/>
        </p:spPr>
        <p:txBody>
          <a:bodyPr wrap="square" lIns="0" rIns="0" tIns="0" bIns="0" anchor="t">
            <a:spAutoFit/>
          </a:bodyPr>
          <a:lstStyle/>
          <a:p>
            <a:pPr algn="l">
              <a:lnSpc>
                <a:spcPct val="124000"/>
              </a:lnSpc>
            </a:pPr>
            <a:r>
              <a:rPr sz="800" b="0" i="0">
                <a:solidFill>
                  <a:srgbClr val="FFFFFF"/>
                </a:solidFill>
                <a:latin typeface="Montserrat"/>
              </a:rPr>
              <a:t>OpenID4VP — inji-openid4vp</a:t>
            </a:r>
          </a:p>
        </p:txBody>
      </p:sp>
      <p:sp>
        <p:nvSpPr>
          <p:cNvPr id="21" name="TextBox 20"/>
          <p:cNvSpPr txBox="1"/>
          <p:nvPr/>
        </p:nvSpPr>
        <p:spPr>
          <a:xfrm>
            <a:off x="566928" y="2322576"/>
            <a:ext cx="1828800" cy="310896"/>
          </a:xfrm>
          <a:prstGeom prst="rect">
            <a:avLst/>
          </a:prstGeom>
          <a:noFill/>
        </p:spPr>
        <p:txBody>
          <a:bodyPr wrap="square" lIns="0" rIns="0" tIns="0" bIns="0" anchor="ctr">
            <a:spAutoFit/>
          </a:bodyPr>
          <a:lstStyle/>
          <a:p>
            <a:pPr algn="l">
              <a:lnSpc>
                <a:spcPct val="120000"/>
              </a:lnSpc>
            </a:pPr>
            <a:r>
              <a:rPr sz="850" b="0" i="0">
                <a:solidFill>
                  <a:srgbClr val="F1752F"/>
                </a:solidFill>
                <a:latin typeface="Roboto Mono"/>
              </a:rPr>
              <a:t>inji://…?linkCode=…</a:t>
            </a:r>
          </a:p>
        </p:txBody>
      </p:sp>
      <p:sp>
        <p:nvSpPr>
          <p:cNvPr id="22" name="Rounded Rectangle 21"/>
          <p:cNvSpPr/>
          <p:nvPr/>
        </p:nvSpPr>
        <p:spPr>
          <a:xfrm>
            <a:off x="2487168" y="2322576"/>
            <a:ext cx="3054096" cy="310896"/>
          </a:xfrm>
          <a:prstGeom prst="roundRect">
            <a:avLst>
              <a:gd name="adj" fmla="val 10000"/>
            </a:avLst>
          </a:prstGeom>
          <a:solidFill>
            <a:srgbClr val="FFFFFF">
              <a:alpha val="4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587752" y="2377440"/>
            <a:ext cx="2852928" cy="201168"/>
          </a:xfrm>
          <a:prstGeom prst="rect">
            <a:avLst/>
          </a:prstGeom>
          <a:noFill/>
        </p:spPr>
        <p:txBody>
          <a:bodyPr wrap="square" lIns="0" rIns="0" tIns="0" bIns="0" anchor="t">
            <a:spAutoFit/>
          </a:bodyPr>
          <a:lstStyle/>
          <a:p>
            <a:pPr algn="l">
              <a:lnSpc>
                <a:spcPct val="124000"/>
              </a:lnSpc>
            </a:pPr>
            <a:r>
              <a:rPr sz="800" b="0" i="0">
                <a:solidFill>
                  <a:srgbClr val="C7D0E8"/>
                </a:solidFill>
                <a:latin typeface="Montserrat"/>
              </a:rPr>
              <a:t>Authenticates a web session on the user's behalf</a:t>
            </a:r>
          </a:p>
        </p:txBody>
      </p:sp>
      <p:sp>
        <p:nvSpPr>
          <p:cNvPr id="24" name="Rounded Rectangle 23"/>
          <p:cNvSpPr/>
          <p:nvPr/>
        </p:nvSpPr>
        <p:spPr>
          <a:xfrm>
            <a:off x="5596128" y="2322576"/>
            <a:ext cx="2926080" cy="310896"/>
          </a:xfrm>
          <a:prstGeom prst="roundRect">
            <a:avLst>
              <a:gd name="adj" fmla="val 10000"/>
            </a:avLst>
          </a:prstGeom>
          <a:solidFill>
            <a:srgbClr val="FFFFFF">
              <a:alpha val="9000"/>
            </a:srgbClr>
          </a:solidFill>
          <a:ln w="9525">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96712" y="2377440"/>
            <a:ext cx="2724912" cy="201168"/>
          </a:xfrm>
          <a:prstGeom prst="rect">
            <a:avLst/>
          </a:prstGeom>
          <a:noFill/>
        </p:spPr>
        <p:txBody>
          <a:bodyPr wrap="square" lIns="0" rIns="0" tIns="0" bIns="0" anchor="t">
            <a:spAutoFit/>
          </a:bodyPr>
          <a:lstStyle/>
          <a:p>
            <a:pPr algn="l">
              <a:lnSpc>
                <a:spcPct val="124000"/>
              </a:lnSpc>
            </a:pPr>
            <a:r>
              <a:rPr sz="800" b="0" i="0">
                <a:solidFill>
                  <a:srgbClr val="FFFFFF"/>
                </a:solidFill>
                <a:latin typeface="Montserrat"/>
              </a:rPr>
              <a:t>eSignet linked authorization</a:t>
            </a:r>
          </a:p>
        </p:txBody>
      </p:sp>
      <p:sp>
        <p:nvSpPr>
          <p:cNvPr id="26" name="Rounded Rectangle 25"/>
          <p:cNvSpPr/>
          <p:nvPr/>
        </p:nvSpPr>
        <p:spPr>
          <a:xfrm>
            <a:off x="566928" y="2980944"/>
            <a:ext cx="1514246" cy="896112"/>
          </a:xfrm>
          <a:prstGeom prst="roundRect">
            <a:avLst>
              <a:gd name="adj" fmla="val 6000"/>
            </a:avLst>
          </a:prstGeom>
          <a:solidFill>
            <a:srgbClr val="FFFFFF">
              <a:alpha val="6000"/>
            </a:srgbClr>
          </a:solidFill>
          <a:ln w="12700">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7512" y="3054096"/>
            <a:ext cx="1313078" cy="146304"/>
          </a:xfrm>
          <a:prstGeom prst="rect">
            <a:avLst/>
          </a:prstGeom>
          <a:noFill/>
        </p:spPr>
        <p:txBody>
          <a:bodyPr wrap="square" lIns="0" rIns="0" tIns="0" bIns="0" anchor="t">
            <a:spAutoFit/>
          </a:bodyPr>
          <a:lstStyle/>
          <a:p>
            <a:pPr algn="l">
              <a:lnSpc>
                <a:spcPct val="120000"/>
              </a:lnSpc>
            </a:pPr>
            <a:r>
              <a:rPr sz="720" b="1" i="0">
                <a:solidFill>
                  <a:srgbClr val="F1752F"/>
                </a:solidFill>
                <a:latin typeface="Montserrat"/>
              </a:rPr>
              <a:t>01 / SCAN</a:t>
            </a:r>
          </a:p>
        </p:txBody>
      </p:sp>
      <p:sp>
        <p:nvSpPr>
          <p:cNvPr id="28" name="TextBox 27"/>
          <p:cNvSpPr txBox="1"/>
          <p:nvPr/>
        </p:nvSpPr>
        <p:spPr>
          <a:xfrm>
            <a:off x="667512" y="3218687"/>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Website shows a QR</a:t>
            </a:r>
          </a:p>
        </p:txBody>
      </p:sp>
      <p:sp>
        <p:nvSpPr>
          <p:cNvPr id="29" name="TextBox 28"/>
          <p:cNvSpPr txBox="1"/>
          <p:nvPr/>
        </p:nvSpPr>
        <p:spPr>
          <a:xfrm>
            <a:off x="667512" y="3511296"/>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Carries </a:t>
            </a:r>
            <a:r>
              <a:rPr sz="740" b="0" i="0">
                <a:solidFill>
                  <a:srgbClr val="F1752F"/>
                </a:solidFill>
                <a:latin typeface="Roboto Mono"/>
              </a:rPr>
              <a:t>linkCode</a:t>
            </a:r>
            <a:r>
              <a:rPr sz="740" b="0" i="0">
                <a:solidFill>
                  <a:srgbClr val="C7D0E8"/>
                </a:solidFill>
                <a:latin typeface="Montserrat"/>
              </a:rPr>
              <a:t> + expiry</a:t>
            </a:r>
          </a:p>
        </p:txBody>
      </p:sp>
      <p:cxnSp>
        <p:nvCxnSpPr>
          <p:cNvPr id="30" name="Connector 29"/>
          <p:cNvCxnSpPr/>
          <p:nvPr/>
        </p:nvCxnSpPr>
        <p:spPr>
          <a:xfrm>
            <a:off x="2092147" y="3429000"/>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190902" y="2980944"/>
            <a:ext cx="1514246" cy="896112"/>
          </a:xfrm>
          <a:prstGeom prst="roundRect">
            <a:avLst>
              <a:gd name="adj" fmla="val 6000"/>
            </a:avLst>
          </a:prstGeom>
          <a:solidFill>
            <a:srgbClr val="FFFFFF">
              <a:alpha val="6000"/>
            </a:srgbClr>
          </a:solidFill>
          <a:ln w="12700">
            <a:solidFill>
              <a:srgbClr val="C02D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291486" y="3054096"/>
            <a:ext cx="1313078" cy="146304"/>
          </a:xfrm>
          <a:prstGeom prst="rect">
            <a:avLst/>
          </a:prstGeom>
          <a:noFill/>
        </p:spPr>
        <p:txBody>
          <a:bodyPr wrap="square" lIns="0" rIns="0" tIns="0" bIns="0" anchor="t">
            <a:spAutoFit/>
          </a:bodyPr>
          <a:lstStyle/>
          <a:p>
            <a:pPr algn="l">
              <a:lnSpc>
                <a:spcPct val="120000"/>
              </a:lnSpc>
            </a:pPr>
            <a:r>
              <a:rPr sz="720" b="1" i="0">
                <a:solidFill>
                  <a:srgbClr val="C02D80"/>
                </a:solidFill>
                <a:latin typeface="Montserrat"/>
              </a:rPr>
              <a:t>02 / LINK</a:t>
            </a:r>
          </a:p>
        </p:txBody>
      </p:sp>
      <p:sp>
        <p:nvSpPr>
          <p:cNvPr id="33" name="TextBox 32"/>
          <p:cNvSpPr txBox="1"/>
          <p:nvPr/>
        </p:nvSpPr>
        <p:spPr>
          <a:xfrm>
            <a:off x="2291486" y="3218687"/>
            <a:ext cx="1313078" cy="292608"/>
          </a:xfrm>
          <a:prstGeom prst="rect">
            <a:avLst/>
          </a:prstGeom>
          <a:noFill/>
        </p:spPr>
        <p:txBody>
          <a:bodyPr wrap="square" lIns="0" rIns="0" tIns="0" bIns="0" anchor="t">
            <a:spAutoFit/>
          </a:bodyPr>
          <a:lstStyle/>
          <a:p>
            <a:pPr algn="l">
              <a:lnSpc>
                <a:spcPct val="106000"/>
              </a:lnSpc>
            </a:pPr>
            <a:r>
              <a:rPr sz="940" b="1" i="0">
                <a:solidFill>
                  <a:srgbClr val="C02D80"/>
                </a:solidFill>
                <a:latin typeface="Roboto Mono"/>
              </a:rPr>
              <a:t>link-transaction</a:t>
            </a:r>
          </a:p>
        </p:txBody>
      </p:sp>
      <p:sp>
        <p:nvSpPr>
          <p:cNvPr id="34" name="TextBox 33"/>
          <p:cNvSpPr txBox="1"/>
          <p:nvPr/>
        </p:nvSpPr>
        <p:spPr>
          <a:xfrm>
            <a:off x="2291486" y="3511296"/>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Code → linked transaction id</a:t>
            </a:r>
          </a:p>
        </p:txBody>
      </p:sp>
      <p:cxnSp>
        <p:nvCxnSpPr>
          <p:cNvPr id="35" name="Connector 34"/>
          <p:cNvCxnSpPr/>
          <p:nvPr/>
        </p:nvCxnSpPr>
        <p:spPr>
          <a:xfrm>
            <a:off x="3716121" y="3429000"/>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814876" y="2980944"/>
            <a:ext cx="1514246" cy="896112"/>
          </a:xfrm>
          <a:prstGeom prst="roundRect">
            <a:avLst>
              <a:gd name="adj" fmla="val 6000"/>
            </a:avLst>
          </a:prstGeom>
          <a:solidFill>
            <a:srgbClr val="FFFFFF">
              <a:alpha val="6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915460" y="3054096"/>
            <a:ext cx="1313078" cy="146304"/>
          </a:xfrm>
          <a:prstGeom prst="rect">
            <a:avLst/>
          </a:prstGeom>
          <a:noFill/>
        </p:spPr>
        <p:txBody>
          <a:bodyPr wrap="square" lIns="0" rIns="0" tIns="0" bIns="0" anchor="t">
            <a:spAutoFit/>
          </a:bodyPr>
          <a:lstStyle/>
          <a:p>
            <a:pPr algn="l">
              <a:lnSpc>
                <a:spcPct val="120000"/>
              </a:lnSpc>
            </a:pPr>
            <a:r>
              <a:rPr sz="720" b="1" i="0">
                <a:solidFill>
                  <a:srgbClr val="8F35D6"/>
                </a:solidFill>
                <a:latin typeface="Montserrat"/>
              </a:rPr>
              <a:t>03 / AUTHENTICATE</a:t>
            </a:r>
          </a:p>
        </p:txBody>
      </p:sp>
      <p:sp>
        <p:nvSpPr>
          <p:cNvPr id="38" name="TextBox 37"/>
          <p:cNvSpPr txBox="1"/>
          <p:nvPr/>
        </p:nvSpPr>
        <p:spPr>
          <a:xfrm>
            <a:off x="3915460" y="3218687"/>
            <a:ext cx="1313078" cy="292608"/>
          </a:xfrm>
          <a:prstGeom prst="rect">
            <a:avLst/>
          </a:prstGeom>
          <a:noFill/>
        </p:spPr>
        <p:txBody>
          <a:bodyPr wrap="square" lIns="0" rIns="0" tIns="0" bIns="0" anchor="t">
            <a:spAutoFit/>
          </a:bodyPr>
          <a:lstStyle/>
          <a:p>
            <a:pPr algn="l">
              <a:lnSpc>
                <a:spcPct val="106000"/>
              </a:lnSpc>
            </a:pPr>
            <a:r>
              <a:rPr sz="940" b="1" i="0">
                <a:solidFill>
                  <a:srgbClr val="8F35D6"/>
                </a:solidFill>
                <a:latin typeface="Roboto Mono"/>
              </a:rPr>
              <a:t>authenticate</a:t>
            </a:r>
          </a:p>
        </p:txBody>
      </p:sp>
      <p:sp>
        <p:nvSpPr>
          <p:cNvPr id="39" name="TextBox 38"/>
          <p:cNvSpPr txBox="1"/>
          <p:nvPr/>
        </p:nvSpPr>
        <p:spPr>
          <a:xfrm>
            <a:off x="3915460" y="3511296"/>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Wallet asserts the user</a:t>
            </a:r>
          </a:p>
        </p:txBody>
      </p:sp>
      <p:cxnSp>
        <p:nvCxnSpPr>
          <p:cNvPr id="40" name="Connector 39"/>
          <p:cNvCxnSpPr/>
          <p:nvPr/>
        </p:nvCxnSpPr>
        <p:spPr>
          <a:xfrm>
            <a:off x="5340096" y="3429000"/>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438851" y="2980944"/>
            <a:ext cx="1514246" cy="896112"/>
          </a:xfrm>
          <a:prstGeom prst="roundRect">
            <a:avLst>
              <a:gd name="adj" fmla="val 6000"/>
            </a:avLst>
          </a:prstGeom>
          <a:solidFill>
            <a:srgbClr val="FFFFFF">
              <a:alpha val="6000"/>
            </a:srgbClr>
          </a:solidFill>
          <a:ln w="12700">
            <a:solidFill>
              <a:srgbClr val="6B71C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539435" y="3054096"/>
            <a:ext cx="1313078" cy="146304"/>
          </a:xfrm>
          <a:prstGeom prst="rect">
            <a:avLst/>
          </a:prstGeom>
          <a:noFill/>
        </p:spPr>
        <p:txBody>
          <a:bodyPr wrap="square" lIns="0" rIns="0" tIns="0" bIns="0" anchor="t">
            <a:spAutoFit/>
          </a:bodyPr>
          <a:lstStyle/>
          <a:p>
            <a:pPr algn="l">
              <a:lnSpc>
                <a:spcPct val="120000"/>
              </a:lnSpc>
            </a:pPr>
            <a:r>
              <a:rPr sz="720" b="1" i="0">
                <a:solidFill>
                  <a:srgbClr val="6B71C1"/>
                </a:solidFill>
                <a:latin typeface="Montserrat"/>
              </a:rPr>
              <a:t>04 / CONSENT</a:t>
            </a:r>
          </a:p>
        </p:txBody>
      </p:sp>
      <p:sp>
        <p:nvSpPr>
          <p:cNvPr id="43" name="TextBox 42"/>
          <p:cNvSpPr txBox="1"/>
          <p:nvPr/>
        </p:nvSpPr>
        <p:spPr>
          <a:xfrm>
            <a:off x="5539435" y="3218687"/>
            <a:ext cx="1313078" cy="292608"/>
          </a:xfrm>
          <a:prstGeom prst="rect">
            <a:avLst/>
          </a:prstGeom>
          <a:noFill/>
        </p:spPr>
        <p:txBody>
          <a:bodyPr wrap="square" lIns="0" rIns="0" tIns="0" bIns="0" anchor="t">
            <a:spAutoFit/>
          </a:bodyPr>
          <a:lstStyle/>
          <a:p>
            <a:pPr algn="l">
              <a:lnSpc>
                <a:spcPct val="106000"/>
              </a:lnSpc>
            </a:pPr>
            <a:r>
              <a:rPr sz="940" b="1" i="0">
                <a:solidFill>
                  <a:srgbClr val="6B71C1"/>
                </a:solidFill>
                <a:latin typeface="Roboto Mono"/>
              </a:rPr>
              <a:t>consent</a:t>
            </a:r>
          </a:p>
        </p:txBody>
      </p:sp>
      <p:sp>
        <p:nvSpPr>
          <p:cNvPr id="44" name="TextBox 43"/>
          <p:cNvSpPr txBox="1"/>
          <p:nvPr/>
        </p:nvSpPr>
        <p:spPr>
          <a:xfrm>
            <a:off x="5539435" y="3511296"/>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Scopes and claims approved</a:t>
            </a:r>
          </a:p>
        </p:txBody>
      </p:sp>
      <p:cxnSp>
        <p:nvCxnSpPr>
          <p:cNvPr id="45" name="Connector 44"/>
          <p:cNvCxnSpPr/>
          <p:nvPr/>
        </p:nvCxnSpPr>
        <p:spPr>
          <a:xfrm>
            <a:off x="6964070" y="3429000"/>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7062825" y="2980944"/>
            <a:ext cx="1514246" cy="896112"/>
          </a:xfrm>
          <a:prstGeom prst="roundRect">
            <a:avLst>
              <a:gd name="adj" fmla="val 6000"/>
            </a:avLst>
          </a:prstGeom>
          <a:solidFill>
            <a:srgbClr val="FFFFFF">
              <a:alpha val="6000"/>
            </a:srgbClr>
          </a:solidFill>
          <a:ln w="1270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163409" y="3054096"/>
            <a:ext cx="1313078" cy="146304"/>
          </a:xfrm>
          <a:prstGeom prst="rect">
            <a:avLst/>
          </a:prstGeom>
          <a:noFill/>
        </p:spPr>
        <p:txBody>
          <a:bodyPr wrap="square" lIns="0" rIns="0" tIns="0" bIns="0" anchor="t">
            <a:spAutoFit/>
          </a:bodyPr>
          <a:lstStyle/>
          <a:p>
            <a:pPr algn="l">
              <a:lnSpc>
                <a:spcPct val="120000"/>
              </a:lnSpc>
            </a:pPr>
            <a:r>
              <a:rPr sz="720" b="1" i="0">
                <a:solidFill>
                  <a:srgbClr val="F27D21"/>
                </a:solidFill>
                <a:latin typeface="Montserrat"/>
              </a:rPr>
              <a:t>05 / LOGGED IN</a:t>
            </a:r>
          </a:p>
        </p:txBody>
      </p:sp>
      <p:sp>
        <p:nvSpPr>
          <p:cNvPr id="48" name="TextBox 47"/>
          <p:cNvSpPr txBox="1"/>
          <p:nvPr/>
        </p:nvSpPr>
        <p:spPr>
          <a:xfrm>
            <a:off x="7163409" y="3218687"/>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Browser advances</a:t>
            </a:r>
          </a:p>
        </p:txBody>
      </p:sp>
      <p:sp>
        <p:nvSpPr>
          <p:cNvPr id="49" name="TextBox 48"/>
          <p:cNvSpPr txBox="1"/>
          <p:nvPr/>
        </p:nvSpPr>
        <p:spPr>
          <a:xfrm>
            <a:off x="7163409" y="3511296"/>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Site receives its tokens</a:t>
            </a:r>
          </a:p>
        </p:txBody>
      </p:sp>
      <p:sp>
        <p:nvSpPr>
          <p:cNvPr id="50" name="Rounded Rectangle 49"/>
          <p:cNvSpPr/>
          <p:nvPr/>
        </p:nvSpPr>
        <p:spPr>
          <a:xfrm>
            <a:off x="566928" y="4005072"/>
            <a:ext cx="8010144" cy="464108"/>
          </a:xfrm>
          <a:prstGeom prst="roundRect">
            <a:avLst>
              <a:gd name="adj" fmla="val 10000"/>
            </a:avLst>
          </a:prstGeom>
          <a:solidFill>
            <a:srgbClr val="8F35D6">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566928" y="4005072"/>
            <a:ext cx="36576" cy="464108"/>
          </a:xfrm>
          <a:prstGeom prst="rect">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31520" y="4082796"/>
            <a:ext cx="7717536" cy="326948"/>
          </a:xfrm>
          <a:prstGeom prst="rect">
            <a:avLst/>
          </a:prstGeom>
          <a:noFill/>
        </p:spPr>
        <p:txBody>
          <a:bodyPr wrap="square" lIns="0" rIns="0" tIns="0" bIns="0" anchor="t">
            <a:spAutoFit/>
          </a:bodyPr>
          <a:lstStyle/>
          <a:p>
            <a:pPr algn="l">
              <a:lnSpc>
                <a:spcPct val="128000"/>
              </a:lnSpc>
            </a:pPr>
            <a:r>
              <a:rPr sz="880" b="0" i="0">
                <a:solidFill>
                  <a:srgbClr val="C7D0E8"/>
                </a:solidFill>
                <a:latin typeface="Montserrat"/>
              </a:rPr>
              <a:t>No credential is presented and no </a:t>
            </a:r>
            <a:r>
              <a:rPr sz="880" b="0" i="0">
                <a:solidFill>
                  <a:srgbClr val="8F35D6"/>
                </a:solidFill>
                <a:latin typeface="Roboto Mono"/>
              </a:rPr>
              <a:t>vp_token</a:t>
            </a:r>
            <a:r>
              <a:rPr sz="880" b="0" i="0">
                <a:solidFill>
                  <a:srgbClr val="C7D0E8"/>
                </a:solidFill>
                <a:latin typeface="Montserrat"/>
              </a:rPr>
              <a:t> exists in this flow. The wallet is acting as an </a:t>
            </a:r>
            <a:r>
              <a:rPr sz="880" b="1" i="0">
                <a:solidFill>
                  <a:srgbClr val="FFFFFF"/>
                </a:solidFill>
                <a:latin typeface="Montserrat"/>
              </a:rPr>
              <a:t>authenticator for a web login</a:t>
            </a:r>
            <a:r>
              <a:rPr sz="880" b="0" i="0">
                <a:solidFill>
                  <a:srgbClr val="C7D0E8"/>
                </a:solidFill>
                <a:latin typeface="Montserrat"/>
              </a:rPr>
              <a:t>, not as a holder proving a claim. Different endpoints, different trust model — do not let it get filed under OpenID4VP.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cxnSp>
        <p:nvCxnSpPr>
          <p:cNvPr id="3" name="Connector 2"/>
          <p:cNvCxnSpPr/>
          <p:nvPr/>
        </p:nvCxnSpPr>
        <p:spPr>
          <a:xfrm>
            <a:off x="429768" y="384048"/>
            <a:ext cx="0" cy="4288536"/>
          </a:xfrm>
          <a:prstGeom prst="line">
            <a:avLst/>
          </a:prstGeom>
          <a:ln w="28575">
            <a:solidFill>
              <a:srgbClr val="F2680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384048"/>
            <a:ext cx="8010144" cy="283464"/>
          </a:xfrm>
          <a:prstGeom prst="rect">
            <a:avLst/>
          </a:prstGeom>
          <a:noFill/>
        </p:spPr>
        <p:txBody>
          <a:bodyPr wrap="square" lIns="0" rIns="0" tIns="0" bIns="0" anchor="t">
            <a:spAutoFit/>
          </a:bodyPr>
          <a:lstStyle/>
          <a:p>
            <a:pPr algn="l">
              <a:lnSpc>
                <a:spcPct val="120000"/>
              </a:lnSpc>
            </a:pPr>
            <a:r>
              <a:rPr sz="1000" b="1" i="0">
                <a:solidFill>
                  <a:srgbClr val="C7D0E8"/>
                </a:solidFill>
                <a:latin typeface="Montserrat"/>
              </a:rPr>
              <a:t>DAY 2 · MODULE 7 · WALLET INTERNALS</a:t>
            </a:r>
          </a:p>
        </p:txBody>
      </p:sp>
      <p:sp>
        <p:nvSpPr>
          <p:cNvPr id="5" name="TextBox 4"/>
          <p:cNvSpPr txBox="1"/>
          <p:nvPr/>
        </p:nvSpPr>
        <p:spPr>
          <a:xfrm>
            <a:off x="566928" y="612648"/>
            <a:ext cx="8010144" cy="475488"/>
          </a:xfrm>
          <a:prstGeom prst="rect">
            <a:avLst/>
          </a:prstGeom>
          <a:noFill/>
        </p:spPr>
        <p:txBody>
          <a:bodyPr wrap="square" lIns="0" rIns="0" tIns="0" bIns="0" anchor="t">
            <a:spAutoFit/>
          </a:bodyPr>
          <a:lstStyle/>
          <a:p>
            <a:pPr algn="l">
              <a:lnSpc>
                <a:spcPct val="120000"/>
              </a:lnSpc>
            </a:pPr>
            <a:r>
              <a:rPr sz="2300" b="1" i="1">
                <a:solidFill>
                  <a:srgbClr val="FFFFFF"/>
                </a:solidFill>
                <a:latin typeface="Montserrat"/>
              </a:rPr>
              <a:t>Dynamic credential rendering</a:t>
            </a:r>
          </a:p>
        </p:txBody>
      </p:sp>
      <p:pic>
        <p:nvPicPr>
          <p:cNvPr id="6" name="Picture 5" descr="image.png"/>
          <p:cNvPicPr>
            <a:picLocks noChangeAspect="1"/>
          </p:cNvPicPr>
          <p:nvPr/>
        </p:nvPicPr>
        <p:blipFill>
          <a:blip r:embed="rId3"/>
          <a:stretch>
            <a:fillRect/>
          </a:stretch>
        </p:blipFill>
        <p:spPr>
          <a:xfrm>
            <a:off x="8247888" y="237744"/>
            <a:ext cx="612648" cy="329184"/>
          </a:xfrm>
          <a:prstGeom prst="rect">
            <a:avLst/>
          </a:prstGeom>
        </p:spPr>
      </p:pic>
      <p:sp>
        <p:nvSpPr>
          <p:cNvPr id="7" name="Rounded Rectangle 6"/>
          <p:cNvSpPr/>
          <p:nvPr/>
        </p:nvSpPr>
        <p:spPr>
          <a:xfrm>
            <a:off x="566928" y="1207008"/>
            <a:ext cx="1243584" cy="896112"/>
          </a:xfrm>
          <a:prstGeom prst="roundRect">
            <a:avLst>
              <a:gd name="adj" fmla="val 6000"/>
            </a:avLst>
          </a:prstGeom>
          <a:solidFill>
            <a:srgbClr val="FFFFFF">
              <a:alpha val="6000"/>
            </a:srgbClr>
          </a:solidFill>
          <a:ln w="12700">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7512" y="1280160"/>
            <a:ext cx="1042416" cy="146304"/>
          </a:xfrm>
          <a:prstGeom prst="rect">
            <a:avLst/>
          </a:prstGeom>
          <a:noFill/>
        </p:spPr>
        <p:txBody>
          <a:bodyPr wrap="square" lIns="0" rIns="0" tIns="0" bIns="0" anchor="t">
            <a:spAutoFit/>
          </a:bodyPr>
          <a:lstStyle/>
          <a:p>
            <a:pPr algn="l">
              <a:lnSpc>
                <a:spcPct val="120000"/>
              </a:lnSpc>
            </a:pPr>
            <a:r>
              <a:rPr sz="720" b="1" i="0">
                <a:solidFill>
                  <a:srgbClr val="F1752F"/>
                </a:solidFill>
                <a:latin typeface="Montserrat"/>
              </a:rPr>
              <a:t>01 / READ</a:t>
            </a:r>
          </a:p>
        </p:txBody>
      </p:sp>
      <p:sp>
        <p:nvSpPr>
          <p:cNvPr id="9" name="TextBox 8"/>
          <p:cNvSpPr txBox="1"/>
          <p:nvPr/>
        </p:nvSpPr>
        <p:spPr>
          <a:xfrm>
            <a:off x="667512" y="1444752"/>
            <a:ext cx="1042416" cy="292608"/>
          </a:xfrm>
          <a:prstGeom prst="rect">
            <a:avLst/>
          </a:prstGeom>
          <a:noFill/>
        </p:spPr>
        <p:txBody>
          <a:bodyPr wrap="square" lIns="0" rIns="0" tIns="0" bIns="0" anchor="t">
            <a:spAutoFit/>
          </a:bodyPr>
          <a:lstStyle/>
          <a:p>
            <a:pPr algn="l">
              <a:lnSpc>
                <a:spcPct val="106000"/>
              </a:lnSpc>
            </a:pPr>
            <a:r>
              <a:rPr sz="860" b="1" i="0">
                <a:solidFill>
                  <a:srgbClr val="F1752F"/>
                </a:solidFill>
                <a:latin typeface="Roboto Mono"/>
              </a:rPr>
              <a:t>renderMethod</a:t>
            </a:r>
          </a:p>
        </p:txBody>
      </p:sp>
      <p:sp>
        <p:nvSpPr>
          <p:cNvPr id="10" name="TextBox 9"/>
          <p:cNvSpPr txBox="1"/>
          <p:nvPr/>
        </p:nvSpPr>
        <p:spPr>
          <a:xfrm>
            <a:off x="667512" y="1737360"/>
            <a:ext cx="1042416"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From the credential</a:t>
            </a:r>
          </a:p>
        </p:txBody>
      </p:sp>
      <p:cxnSp>
        <p:nvCxnSpPr>
          <p:cNvPr id="11" name="Connector 10"/>
          <p:cNvCxnSpPr/>
          <p:nvPr/>
        </p:nvCxnSpPr>
        <p:spPr>
          <a:xfrm>
            <a:off x="1821484" y="1655064"/>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920240" y="1207008"/>
            <a:ext cx="1243584" cy="896112"/>
          </a:xfrm>
          <a:prstGeom prst="roundRect">
            <a:avLst>
              <a:gd name="adj" fmla="val 6000"/>
            </a:avLst>
          </a:prstGeom>
          <a:solidFill>
            <a:srgbClr val="FFFFFF">
              <a:alpha val="6000"/>
            </a:srgbClr>
          </a:solidFill>
          <a:ln w="12700">
            <a:solidFill>
              <a:srgbClr val="C02D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020824" y="1280160"/>
            <a:ext cx="1042416" cy="146304"/>
          </a:xfrm>
          <a:prstGeom prst="rect">
            <a:avLst/>
          </a:prstGeom>
          <a:noFill/>
        </p:spPr>
        <p:txBody>
          <a:bodyPr wrap="square" lIns="0" rIns="0" tIns="0" bIns="0" anchor="t">
            <a:spAutoFit/>
          </a:bodyPr>
          <a:lstStyle/>
          <a:p>
            <a:pPr algn="l">
              <a:lnSpc>
                <a:spcPct val="120000"/>
              </a:lnSpc>
            </a:pPr>
            <a:r>
              <a:rPr sz="720" b="1" i="0">
                <a:solidFill>
                  <a:srgbClr val="C02D80"/>
                </a:solidFill>
                <a:latin typeface="Montserrat"/>
              </a:rPr>
              <a:t>02 / CHECK</a:t>
            </a:r>
          </a:p>
        </p:txBody>
      </p:sp>
      <p:sp>
        <p:nvSpPr>
          <p:cNvPr id="14" name="TextBox 13"/>
          <p:cNvSpPr txBox="1"/>
          <p:nvPr/>
        </p:nvSpPr>
        <p:spPr>
          <a:xfrm>
            <a:off x="2020824" y="1444752"/>
            <a:ext cx="1042416" cy="292608"/>
          </a:xfrm>
          <a:prstGeom prst="rect">
            <a:avLst/>
          </a:prstGeom>
          <a:noFill/>
        </p:spPr>
        <p:txBody>
          <a:bodyPr wrap="square" lIns="0" rIns="0" tIns="0" bIns="0" anchor="t">
            <a:spAutoFit/>
          </a:bodyPr>
          <a:lstStyle/>
          <a:p>
            <a:pPr algn="l">
              <a:lnSpc>
                <a:spcPct val="106000"/>
              </a:lnSpc>
            </a:pPr>
            <a:r>
              <a:rPr sz="860" b="1" i="0">
                <a:solidFill>
                  <a:srgbClr val="C02D80"/>
                </a:solidFill>
                <a:latin typeface="Roboto Mono"/>
              </a:rPr>
              <a:t>renderSuite</a:t>
            </a:r>
          </a:p>
        </p:txBody>
      </p:sp>
      <p:sp>
        <p:nvSpPr>
          <p:cNvPr id="15" name="TextBox 14"/>
          <p:cNvSpPr txBox="1"/>
          <p:nvPr/>
        </p:nvSpPr>
        <p:spPr>
          <a:xfrm>
            <a:off x="2020824" y="1737360"/>
            <a:ext cx="1042416"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Must be </a:t>
            </a:r>
            <a:r>
              <a:rPr sz="740" b="0" i="0">
                <a:solidFill>
                  <a:srgbClr val="C02D80"/>
                </a:solidFill>
                <a:latin typeface="Roboto Mono"/>
              </a:rPr>
              <a:t>svg-mustache</a:t>
            </a:r>
          </a:p>
        </p:txBody>
      </p:sp>
      <p:cxnSp>
        <p:nvCxnSpPr>
          <p:cNvPr id="16" name="Connector 15"/>
          <p:cNvCxnSpPr/>
          <p:nvPr/>
        </p:nvCxnSpPr>
        <p:spPr>
          <a:xfrm>
            <a:off x="3174796" y="1655064"/>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273552" y="1207008"/>
            <a:ext cx="1243584" cy="896112"/>
          </a:xfrm>
          <a:prstGeom prst="roundRect">
            <a:avLst>
              <a:gd name="adj" fmla="val 6000"/>
            </a:avLst>
          </a:prstGeom>
          <a:solidFill>
            <a:srgbClr val="FFFFFF">
              <a:alpha val="6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374136" y="1280160"/>
            <a:ext cx="1042416" cy="146304"/>
          </a:xfrm>
          <a:prstGeom prst="rect">
            <a:avLst/>
          </a:prstGeom>
          <a:noFill/>
        </p:spPr>
        <p:txBody>
          <a:bodyPr wrap="square" lIns="0" rIns="0" tIns="0" bIns="0" anchor="t">
            <a:spAutoFit/>
          </a:bodyPr>
          <a:lstStyle/>
          <a:p>
            <a:pPr algn="l">
              <a:lnSpc>
                <a:spcPct val="120000"/>
              </a:lnSpc>
            </a:pPr>
            <a:r>
              <a:rPr sz="720" b="1" i="0">
                <a:solidFill>
                  <a:srgbClr val="8F35D6"/>
                </a:solidFill>
                <a:latin typeface="Montserrat"/>
              </a:rPr>
              <a:t>03 / FETCH</a:t>
            </a:r>
          </a:p>
        </p:txBody>
      </p:sp>
      <p:sp>
        <p:nvSpPr>
          <p:cNvPr id="19" name="TextBox 18"/>
          <p:cNvSpPr txBox="1"/>
          <p:nvPr/>
        </p:nvSpPr>
        <p:spPr>
          <a:xfrm>
            <a:off x="3374136" y="1444752"/>
            <a:ext cx="1042416" cy="292608"/>
          </a:xfrm>
          <a:prstGeom prst="rect">
            <a:avLst/>
          </a:prstGeom>
          <a:noFill/>
        </p:spPr>
        <p:txBody>
          <a:bodyPr wrap="square" lIns="0" rIns="0" tIns="0" bIns="0" anchor="t">
            <a:spAutoFit/>
          </a:bodyPr>
          <a:lstStyle/>
          <a:p>
            <a:pPr algn="l">
              <a:lnSpc>
                <a:spcPct val="106000"/>
              </a:lnSpc>
            </a:pPr>
            <a:r>
              <a:rPr sz="860" b="1" i="0">
                <a:solidFill>
                  <a:srgbClr val="FFFFFF"/>
                </a:solidFill>
                <a:latin typeface="Montserrat"/>
              </a:rPr>
              <a:t>The template</a:t>
            </a:r>
          </a:p>
        </p:txBody>
      </p:sp>
      <p:sp>
        <p:nvSpPr>
          <p:cNvPr id="20" name="TextBox 19"/>
          <p:cNvSpPr txBox="1"/>
          <p:nvPr/>
        </p:nvSpPr>
        <p:spPr>
          <a:xfrm>
            <a:off x="3374136" y="1737360"/>
            <a:ext cx="1042416"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HTTP GET the SVG</a:t>
            </a:r>
          </a:p>
        </p:txBody>
      </p:sp>
      <p:cxnSp>
        <p:nvCxnSpPr>
          <p:cNvPr id="21" name="Connector 20"/>
          <p:cNvCxnSpPr/>
          <p:nvPr/>
        </p:nvCxnSpPr>
        <p:spPr>
          <a:xfrm>
            <a:off x="4528108" y="1655064"/>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626864" y="1207008"/>
            <a:ext cx="1243584" cy="896112"/>
          </a:xfrm>
          <a:prstGeom prst="roundRect">
            <a:avLst>
              <a:gd name="adj" fmla="val 6000"/>
            </a:avLst>
          </a:prstGeom>
          <a:solidFill>
            <a:srgbClr val="FFFFFF">
              <a:alpha val="6000"/>
            </a:srgbClr>
          </a:solidFill>
          <a:ln w="12700">
            <a:solidFill>
              <a:srgbClr val="D6315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27448" y="1280160"/>
            <a:ext cx="1042416" cy="146304"/>
          </a:xfrm>
          <a:prstGeom prst="rect">
            <a:avLst/>
          </a:prstGeom>
          <a:noFill/>
        </p:spPr>
        <p:txBody>
          <a:bodyPr wrap="square" lIns="0" rIns="0" tIns="0" bIns="0" anchor="t">
            <a:spAutoFit/>
          </a:bodyPr>
          <a:lstStyle/>
          <a:p>
            <a:pPr algn="l">
              <a:lnSpc>
                <a:spcPct val="120000"/>
              </a:lnSpc>
            </a:pPr>
            <a:r>
              <a:rPr sz="720" b="1" i="0">
                <a:solidFill>
                  <a:srgbClr val="D63156"/>
                </a:solidFill>
                <a:latin typeface="Montserrat"/>
              </a:rPr>
              <a:t>04 / VERIFY</a:t>
            </a:r>
          </a:p>
        </p:txBody>
      </p:sp>
      <p:sp>
        <p:nvSpPr>
          <p:cNvPr id="24" name="TextBox 23"/>
          <p:cNvSpPr txBox="1"/>
          <p:nvPr/>
        </p:nvSpPr>
        <p:spPr>
          <a:xfrm>
            <a:off x="4727448" y="1444752"/>
            <a:ext cx="1042416" cy="292608"/>
          </a:xfrm>
          <a:prstGeom prst="rect">
            <a:avLst/>
          </a:prstGeom>
          <a:noFill/>
        </p:spPr>
        <p:txBody>
          <a:bodyPr wrap="square" lIns="0" rIns="0" tIns="0" bIns="0" anchor="t">
            <a:spAutoFit/>
          </a:bodyPr>
          <a:lstStyle/>
          <a:p>
            <a:pPr algn="l">
              <a:lnSpc>
                <a:spcPct val="106000"/>
              </a:lnSpc>
            </a:pPr>
            <a:r>
              <a:rPr sz="860" b="1" i="0">
                <a:solidFill>
                  <a:srgbClr val="D63156"/>
                </a:solidFill>
                <a:latin typeface="Roboto Mono"/>
              </a:rPr>
              <a:t>digestMultibase</a:t>
            </a:r>
          </a:p>
        </p:txBody>
      </p:sp>
      <p:sp>
        <p:nvSpPr>
          <p:cNvPr id="25" name="TextBox 24"/>
          <p:cNvSpPr txBox="1"/>
          <p:nvPr/>
        </p:nvSpPr>
        <p:spPr>
          <a:xfrm>
            <a:off x="4727448" y="1737360"/>
            <a:ext cx="1042416"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SHA-256 over the SVG</a:t>
            </a:r>
          </a:p>
        </p:txBody>
      </p:sp>
      <p:cxnSp>
        <p:nvCxnSpPr>
          <p:cNvPr id="26" name="Connector 25"/>
          <p:cNvCxnSpPr/>
          <p:nvPr/>
        </p:nvCxnSpPr>
        <p:spPr>
          <a:xfrm>
            <a:off x="5881420" y="1655064"/>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980176" y="1207008"/>
            <a:ext cx="1243584" cy="896112"/>
          </a:xfrm>
          <a:prstGeom prst="roundRect">
            <a:avLst>
              <a:gd name="adj" fmla="val 6000"/>
            </a:avLst>
          </a:prstGeom>
          <a:solidFill>
            <a:srgbClr val="FFFFFF">
              <a:alpha val="6000"/>
            </a:srgbClr>
          </a:solidFill>
          <a:ln w="12700">
            <a:solidFill>
              <a:srgbClr val="6B71C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080760" y="1280160"/>
            <a:ext cx="1042416" cy="146304"/>
          </a:xfrm>
          <a:prstGeom prst="rect">
            <a:avLst/>
          </a:prstGeom>
          <a:noFill/>
        </p:spPr>
        <p:txBody>
          <a:bodyPr wrap="square" lIns="0" rIns="0" tIns="0" bIns="0" anchor="t">
            <a:spAutoFit/>
          </a:bodyPr>
          <a:lstStyle/>
          <a:p>
            <a:pPr algn="l">
              <a:lnSpc>
                <a:spcPct val="120000"/>
              </a:lnSpc>
            </a:pPr>
            <a:r>
              <a:rPr sz="720" b="1" i="0">
                <a:solidFill>
                  <a:srgbClr val="6B71C1"/>
                </a:solidFill>
                <a:latin typeface="Montserrat"/>
              </a:rPr>
              <a:t>05 / FILL</a:t>
            </a:r>
          </a:p>
        </p:txBody>
      </p:sp>
      <p:sp>
        <p:nvSpPr>
          <p:cNvPr id="29" name="TextBox 28"/>
          <p:cNvSpPr txBox="1"/>
          <p:nvPr/>
        </p:nvSpPr>
        <p:spPr>
          <a:xfrm>
            <a:off x="6080760" y="1444752"/>
            <a:ext cx="1042416" cy="292608"/>
          </a:xfrm>
          <a:prstGeom prst="rect">
            <a:avLst/>
          </a:prstGeom>
          <a:noFill/>
        </p:spPr>
        <p:txBody>
          <a:bodyPr wrap="square" lIns="0" rIns="0" tIns="0" bIns="0" anchor="t">
            <a:spAutoFit/>
          </a:bodyPr>
          <a:lstStyle/>
          <a:p>
            <a:pPr algn="l">
              <a:lnSpc>
                <a:spcPct val="106000"/>
              </a:lnSpc>
            </a:pPr>
            <a:r>
              <a:rPr sz="860" b="1" i="0">
                <a:solidFill>
                  <a:srgbClr val="FFFFFF"/>
                </a:solidFill>
                <a:latin typeface="Montserrat"/>
              </a:rPr>
              <a:t>JSON Pointers</a:t>
            </a:r>
          </a:p>
        </p:txBody>
      </p:sp>
      <p:sp>
        <p:nvSpPr>
          <p:cNvPr id="30" name="TextBox 29"/>
          <p:cNvSpPr txBox="1"/>
          <p:nvPr/>
        </p:nvSpPr>
        <p:spPr>
          <a:xfrm>
            <a:off x="6080760" y="1737360"/>
            <a:ext cx="1042416" cy="310896"/>
          </a:xfrm>
          <a:prstGeom prst="rect">
            <a:avLst/>
          </a:prstGeom>
          <a:noFill/>
        </p:spPr>
        <p:txBody>
          <a:bodyPr wrap="square" lIns="0" rIns="0" tIns="0" bIns="0" anchor="t">
            <a:spAutoFit/>
          </a:bodyPr>
          <a:lstStyle/>
          <a:p>
            <a:pPr algn="l">
              <a:lnSpc>
                <a:spcPct val="114000"/>
              </a:lnSpc>
            </a:pPr>
            <a:r>
              <a:rPr sz="740" b="0" i="0">
                <a:solidFill>
                  <a:srgbClr val="6B71C1"/>
                </a:solidFill>
                <a:latin typeface="Roboto Mono"/>
              </a:rPr>
              <a:t>{{/path/to/claim}}</a:t>
            </a:r>
          </a:p>
        </p:txBody>
      </p:sp>
      <p:cxnSp>
        <p:nvCxnSpPr>
          <p:cNvPr id="31" name="Connector 30"/>
          <p:cNvCxnSpPr/>
          <p:nvPr/>
        </p:nvCxnSpPr>
        <p:spPr>
          <a:xfrm>
            <a:off x="7234732" y="1655064"/>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333488" y="1207008"/>
            <a:ext cx="1243584" cy="896112"/>
          </a:xfrm>
          <a:prstGeom prst="roundRect">
            <a:avLst>
              <a:gd name="adj" fmla="val 6000"/>
            </a:avLst>
          </a:prstGeom>
          <a:solidFill>
            <a:srgbClr val="FFFFFF">
              <a:alpha val="6000"/>
            </a:srgbClr>
          </a:solidFill>
          <a:ln w="1270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434072" y="1280160"/>
            <a:ext cx="1042416" cy="146304"/>
          </a:xfrm>
          <a:prstGeom prst="rect">
            <a:avLst/>
          </a:prstGeom>
          <a:noFill/>
        </p:spPr>
        <p:txBody>
          <a:bodyPr wrap="square" lIns="0" rIns="0" tIns="0" bIns="0" anchor="t">
            <a:spAutoFit/>
          </a:bodyPr>
          <a:lstStyle/>
          <a:p>
            <a:pPr algn="l">
              <a:lnSpc>
                <a:spcPct val="120000"/>
              </a:lnSpc>
            </a:pPr>
            <a:r>
              <a:rPr sz="720" b="1" i="0">
                <a:solidFill>
                  <a:srgbClr val="F27D21"/>
                </a:solidFill>
                <a:latin typeface="Montserrat"/>
              </a:rPr>
              <a:t>06 / DRAW</a:t>
            </a:r>
          </a:p>
        </p:txBody>
      </p:sp>
      <p:sp>
        <p:nvSpPr>
          <p:cNvPr id="34" name="TextBox 33"/>
          <p:cNvSpPr txBox="1"/>
          <p:nvPr/>
        </p:nvSpPr>
        <p:spPr>
          <a:xfrm>
            <a:off x="7434072" y="1444752"/>
            <a:ext cx="1042416" cy="292608"/>
          </a:xfrm>
          <a:prstGeom prst="rect">
            <a:avLst/>
          </a:prstGeom>
          <a:noFill/>
        </p:spPr>
        <p:txBody>
          <a:bodyPr wrap="square" lIns="0" rIns="0" tIns="0" bIns="0" anchor="t">
            <a:spAutoFit/>
          </a:bodyPr>
          <a:lstStyle/>
          <a:p>
            <a:pPr algn="l">
              <a:lnSpc>
                <a:spcPct val="106000"/>
              </a:lnSpc>
            </a:pPr>
            <a:r>
              <a:rPr sz="860" b="1" i="0">
                <a:solidFill>
                  <a:srgbClr val="FFFFFF"/>
                </a:solidFill>
                <a:latin typeface="Montserrat"/>
              </a:rPr>
              <a:t>Rendered SVG</a:t>
            </a:r>
          </a:p>
        </p:txBody>
      </p:sp>
      <p:sp>
        <p:nvSpPr>
          <p:cNvPr id="35" name="TextBox 34"/>
          <p:cNvSpPr txBox="1"/>
          <p:nvPr/>
        </p:nvSpPr>
        <p:spPr>
          <a:xfrm>
            <a:off x="7434072" y="1737360"/>
            <a:ext cx="1042416"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Plus an embedded QR</a:t>
            </a:r>
          </a:p>
        </p:txBody>
      </p:sp>
      <p:sp>
        <p:nvSpPr>
          <p:cNvPr id="36" name="TextBox 35"/>
          <p:cNvSpPr txBox="1"/>
          <p:nvPr/>
        </p:nvSpPr>
        <p:spPr>
          <a:xfrm>
            <a:off x="566928" y="2203704"/>
            <a:ext cx="4133087" cy="182880"/>
          </a:xfrm>
          <a:prstGeom prst="rect">
            <a:avLst/>
          </a:prstGeom>
          <a:noFill/>
        </p:spPr>
        <p:txBody>
          <a:bodyPr wrap="square" lIns="0" rIns="0" tIns="0" bIns="0" anchor="t">
            <a:spAutoFit/>
          </a:bodyPr>
          <a:lstStyle/>
          <a:p>
            <a:pPr algn="l">
              <a:lnSpc>
                <a:spcPct val="120000"/>
              </a:lnSpc>
            </a:pPr>
            <a:r>
              <a:rPr sz="760" b="1" i="0">
                <a:solidFill>
                  <a:srgbClr val="8D98B8"/>
                </a:solidFill>
                <a:latin typeface="Montserrat"/>
              </a:rPr>
              <a:t>IN THE CREDENTIAL</a:t>
            </a:r>
          </a:p>
        </p:txBody>
      </p:sp>
      <p:sp>
        <p:nvSpPr>
          <p:cNvPr id="37" name="Rounded Rectangle 36"/>
          <p:cNvSpPr/>
          <p:nvPr/>
        </p:nvSpPr>
        <p:spPr>
          <a:xfrm>
            <a:off x="566928" y="2395728"/>
            <a:ext cx="4133087" cy="1371600"/>
          </a:xfrm>
          <a:prstGeom prst="roundRect">
            <a:avLst>
              <a:gd name="adj" fmla="val 4000"/>
            </a:avLst>
          </a:prstGeom>
          <a:solidFill>
            <a:srgbClr val="1D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76656" y="2487168"/>
            <a:ext cx="3913631" cy="1188720"/>
          </a:xfrm>
          <a:prstGeom prst="rect">
            <a:avLst/>
          </a:prstGeom>
          <a:noFill/>
        </p:spPr>
        <p:txBody>
          <a:bodyPr wrap="square" lIns="0" rIns="0" tIns="0" bIns="0" anchor="t">
            <a:spAutoFit/>
          </a:bodyPr>
          <a:lstStyle/>
          <a:p>
            <a:pPr algn="l">
              <a:lnSpc>
                <a:spcPct val="122000"/>
              </a:lnSpc>
            </a:pPr>
            <a:r>
              <a:rPr sz="700" b="0" i="0">
                <a:solidFill>
                  <a:srgbClr val="C7D0E8"/>
                </a:solidFill>
                <a:latin typeface="Roboto Mono"/>
              </a:rPr>
              <a:t>"renderMethod": [{</a:t>
            </a:r>
          </a:p>
          <a:p>
            <a:pPr algn="l">
              <a:lnSpc>
                <a:spcPct val="122000"/>
              </a:lnSpc>
            </a:pPr>
            <a:r>
              <a:rPr sz="700" b="0" i="0">
                <a:solidFill>
                  <a:srgbClr val="C7D0E8"/>
                </a:solidFill>
                <a:latin typeface="Roboto Mono"/>
              </a:rPr>
              <a:t>  "type": "TemplateRenderMethod",</a:t>
            </a:r>
          </a:p>
          <a:p>
            <a:pPr algn="l">
              <a:lnSpc>
                <a:spcPct val="122000"/>
              </a:lnSpc>
            </a:pPr>
            <a:r>
              <a:rPr sz="700" b="0" i="0">
                <a:solidFill>
                  <a:srgbClr val="C7D0E8"/>
                </a:solidFill>
                <a:latin typeface="Roboto Mono"/>
              </a:rPr>
              <a:t>  "renderSuite": "svg-mustache",</a:t>
            </a:r>
          </a:p>
          <a:p>
            <a:pPr algn="l">
              <a:lnSpc>
                <a:spcPct val="122000"/>
              </a:lnSpc>
            </a:pPr>
            <a:r>
              <a:rPr sz="700" b="0" i="0">
                <a:solidFill>
                  <a:srgbClr val="C7D0E8"/>
                </a:solidFill>
                <a:latin typeface="Roboto Mono"/>
              </a:rPr>
              <a:t>  "template": "https://issuer.example/tmpl.svg",</a:t>
            </a:r>
          </a:p>
          <a:p>
            <a:pPr algn="l">
              <a:lnSpc>
                <a:spcPct val="122000"/>
              </a:lnSpc>
            </a:pPr>
            <a:r>
              <a:rPr sz="700" b="0" i="0">
                <a:solidFill>
                  <a:srgbClr val="F1752F"/>
                </a:solidFill>
                <a:latin typeface="Roboto Mono"/>
              </a:rPr>
              <a:t>  "digestMultibase": "uZGVmYXVsdC1oYXNo..."</a:t>
            </a:r>
          </a:p>
          <a:p>
            <a:pPr algn="l">
              <a:lnSpc>
                <a:spcPct val="122000"/>
              </a:lnSpc>
            </a:pPr>
            <a:r>
              <a:rPr sz="700" b="0" i="0">
                <a:solidFill>
                  <a:srgbClr val="C7D0E8"/>
                </a:solidFill>
                <a:latin typeface="Roboto Mono"/>
              </a:rPr>
              <a:t>}]</a:t>
            </a:r>
          </a:p>
          <a:p>
            <a:pPr algn="l">
              <a:lnSpc>
                <a:spcPct val="122000"/>
              </a:lnSpc>
            </a:pPr>
            <a:r>
              <a:rPr sz="700" b="0" i="0">
                <a:solidFill>
                  <a:srgbClr val="C7D0E8"/>
                </a:solidFill>
                <a:latin typeface="Roboto Mono"/>
              </a:rPr>
              <a:t> </a:t>
            </a:r>
          </a:p>
          <a:p>
            <a:pPr algn="l">
              <a:lnSpc>
                <a:spcPct val="122000"/>
              </a:lnSpc>
            </a:pPr>
            <a:r>
              <a:rPr sz="700" b="0" i="0">
                <a:solidFill>
                  <a:srgbClr val="F1752F"/>
                </a:solidFill>
                <a:latin typeface="Roboto Mono"/>
              </a:rPr>
              <a:t>&lt;text&gt;{{/credentialSubject/fullName}}&lt;/text&gt;</a:t>
            </a:r>
          </a:p>
        </p:txBody>
      </p:sp>
      <p:sp>
        <p:nvSpPr>
          <p:cNvPr id="39" name="Rounded Rectangle 38"/>
          <p:cNvSpPr/>
          <p:nvPr/>
        </p:nvSpPr>
        <p:spPr>
          <a:xfrm>
            <a:off x="4846320" y="2395728"/>
            <a:ext cx="3730752" cy="1371600"/>
          </a:xfrm>
          <a:prstGeom prst="roundRect">
            <a:avLst>
              <a:gd name="adj" fmla="val 6000"/>
            </a:avLst>
          </a:prstGeom>
          <a:solidFill>
            <a:srgbClr val="FFFFFF">
              <a:alpha val="5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4846320" y="2395728"/>
            <a:ext cx="3730752" cy="41148"/>
          </a:xfrm>
          <a:prstGeom prst="rect">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974336" y="2542032"/>
            <a:ext cx="3474720" cy="237744"/>
          </a:xfrm>
          <a:prstGeom prst="rect">
            <a:avLst/>
          </a:prstGeom>
          <a:noFill/>
        </p:spPr>
        <p:txBody>
          <a:bodyPr wrap="square" lIns="0" rIns="0" tIns="0" bIns="0" anchor="t">
            <a:spAutoFit/>
          </a:bodyPr>
          <a:lstStyle/>
          <a:p>
            <a:pPr algn="l">
              <a:lnSpc>
                <a:spcPct val="120000"/>
              </a:lnSpc>
            </a:pPr>
            <a:r>
              <a:rPr sz="960" b="1" i="0">
                <a:solidFill>
                  <a:srgbClr val="8F35D6"/>
                </a:solidFill>
                <a:latin typeface="Montserrat"/>
              </a:rPr>
              <a:t>Design consequences</a:t>
            </a:r>
          </a:p>
        </p:txBody>
      </p:sp>
      <p:sp>
        <p:nvSpPr>
          <p:cNvPr id="42" name="Oval 41"/>
          <p:cNvSpPr/>
          <p:nvPr/>
        </p:nvSpPr>
        <p:spPr>
          <a:xfrm>
            <a:off x="4992624" y="2866644"/>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2816352"/>
            <a:ext cx="3310128" cy="457200"/>
          </a:xfrm>
          <a:prstGeom prst="rect">
            <a:avLst/>
          </a:prstGeom>
          <a:noFill/>
        </p:spPr>
        <p:txBody>
          <a:bodyPr wrap="square" lIns="0" rIns="0" tIns="0" bIns="0" anchor="t">
            <a:spAutoFit/>
          </a:bodyPr>
          <a:lstStyle/>
          <a:p>
            <a:pPr algn="l">
              <a:lnSpc>
                <a:spcPct val="120000"/>
              </a:lnSpc>
            </a:pPr>
            <a:r>
              <a:rPr sz="800" b="0" i="0">
                <a:solidFill>
                  <a:srgbClr val="C7D0E8"/>
                </a:solidFill>
                <a:latin typeface="Montserrat"/>
              </a:rPr>
              <a:t>The issuer controls the look </a:t>
            </a:r>
            <a:r>
              <a:rPr sz="800" b="1" i="0">
                <a:solidFill>
                  <a:srgbClr val="FFFFFF"/>
                </a:solidFill>
                <a:latin typeface="Montserrat"/>
              </a:rPr>
              <a:t>without a wallet release</a:t>
            </a:r>
          </a:p>
        </p:txBody>
      </p:sp>
      <p:sp>
        <p:nvSpPr>
          <p:cNvPr id="44" name="Oval 43"/>
          <p:cNvSpPr/>
          <p:nvPr/>
        </p:nvSpPr>
        <p:spPr>
          <a:xfrm>
            <a:off x="4992624" y="3071368"/>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120640" y="3021076"/>
            <a:ext cx="3310128" cy="457200"/>
          </a:xfrm>
          <a:prstGeom prst="rect">
            <a:avLst/>
          </a:prstGeom>
          <a:noFill/>
        </p:spPr>
        <p:txBody>
          <a:bodyPr wrap="square" lIns="0" rIns="0" tIns="0" bIns="0" anchor="t">
            <a:spAutoFit/>
          </a:bodyPr>
          <a:lstStyle/>
          <a:p>
            <a:pPr algn="l">
              <a:lnSpc>
                <a:spcPct val="120000"/>
              </a:lnSpc>
            </a:pPr>
            <a:r>
              <a:rPr sz="800" b="0" i="0">
                <a:solidFill>
                  <a:srgbClr val="F1752F"/>
                </a:solidFill>
                <a:latin typeface="Roboto Mono"/>
              </a:rPr>
              <a:t>digestMultibase</a:t>
            </a:r>
            <a:r>
              <a:rPr sz="800" b="0" i="0">
                <a:solidFill>
                  <a:srgbClr val="C7D0E8"/>
                </a:solidFill>
                <a:latin typeface="Montserrat"/>
              </a:rPr>
              <a:t> must start with </a:t>
            </a:r>
            <a:r>
              <a:rPr sz="800" b="0" i="0">
                <a:solidFill>
                  <a:srgbClr val="F1752F"/>
                </a:solidFill>
                <a:latin typeface="Roboto Mono"/>
              </a:rPr>
              <a:t>u</a:t>
            </a:r>
            <a:r>
              <a:rPr sz="800" b="0" i="0">
                <a:solidFill>
                  <a:srgbClr val="C7D0E8"/>
                </a:solidFill>
                <a:latin typeface="Montserrat"/>
              </a:rPr>
              <a:t> — base64url, no padding</a:t>
            </a:r>
          </a:p>
        </p:txBody>
      </p:sp>
      <p:sp>
        <p:nvSpPr>
          <p:cNvPr id="46" name="Oval 45"/>
          <p:cNvSpPr/>
          <p:nvPr/>
        </p:nvSpPr>
        <p:spPr>
          <a:xfrm>
            <a:off x="4992624" y="3276092"/>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3225800"/>
            <a:ext cx="3310128" cy="457200"/>
          </a:xfrm>
          <a:prstGeom prst="rect">
            <a:avLst/>
          </a:prstGeom>
          <a:noFill/>
        </p:spPr>
        <p:txBody>
          <a:bodyPr wrap="square" lIns="0" rIns="0" tIns="0" bIns="0" anchor="t">
            <a:spAutoFit/>
          </a:bodyPr>
          <a:lstStyle/>
          <a:p>
            <a:pPr algn="l">
              <a:lnSpc>
                <a:spcPct val="120000"/>
              </a:lnSpc>
            </a:pPr>
            <a:r>
              <a:rPr sz="800" b="0" i="0">
                <a:solidFill>
                  <a:srgbClr val="F1752F"/>
                </a:solidFill>
                <a:latin typeface="Roboto Mono"/>
              </a:rPr>
              <a:t>{{/qrCodeImage}}</a:t>
            </a:r>
            <a:r>
              <a:rPr sz="800" b="0" i="0">
                <a:solidFill>
                  <a:srgbClr val="C7D0E8"/>
                </a:solidFill>
                <a:latin typeface="Montserrat"/>
              </a:rPr>
              <a:t> is substituted with a generated QR, with a fallback image</a:t>
            </a:r>
          </a:p>
        </p:txBody>
      </p:sp>
      <p:sp>
        <p:nvSpPr>
          <p:cNvPr id="48" name="Rounded Rectangle 47"/>
          <p:cNvSpPr/>
          <p:nvPr/>
        </p:nvSpPr>
        <p:spPr>
          <a:xfrm>
            <a:off x="566928" y="3895344"/>
            <a:ext cx="8010144" cy="464108"/>
          </a:xfrm>
          <a:prstGeom prst="roundRect">
            <a:avLst>
              <a:gd name="adj" fmla="val 10000"/>
            </a:avLst>
          </a:prstGeom>
          <a:solidFill>
            <a:srgbClr val="F1752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566928" y="3895344"/>
            <a:ext cx="36576" cy="464108"/>
          </a:xfrm>
          <a:prstGeom prst="rect">
            <a:avLst/>
          </a:prstGeom>
          <a:solidFill>
            <a:srgbClr val="F17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31520" y="3973068"/>
            <a:ext cx="7717536" cy="326948"/>
          </a:xfrm>
          <a:prstGeom prst="rect">
            <a:avLst/>
          </a:prstGeom>
          <a:noFill/>
        </p:spPr>
        <p:txBody>
          <a:bodyPr wrap="square" lIns="0" rIns="0" tIns="0" bIns="0" anchor="t">
            <a:spAutoFit/>
          </a:bodyPr>
          <a:lstStyle/>
          <a:p>
            <a:pPr algn="l">
              <a:lnSpc>
                <a:spcPct val="128000"/>
              </a:lnSpc>
            </a:pPr>
            <a:r>
              <a:rPr sz="880" b="0" i="0">
                <a:solidFill>
                  <a:srgbClr val="C7D0E8"/>
                </a:solidFill>
                <a:latin typeface="Montserrat"/>
              </a:rPr>
              <a:t>The template is fetched over the network, so plan for </a:t>
            </a:r>
            <a:r>
              <a:rPr sz="880" b="1" i="0">
                <a:solidFill>
                  <a:srgbClr val="FFFFFF"/>
                </a:solidFill>
                <a:latin typeface="Montserrat"/>
              </a:rPr>
              <a:t>offline</a:t>
            </a:r>
            <a:r>
              <a:rPr sz="880" b="0" i="0">
                <a:solidFill>
                  <a:srgbClr val="C7D0E8"/>
                </a:solidFill>
                <a:latin typeface="Montserrat"/>
              </a:rPr>
              <a:t>: cache the SVG at issuance, not at display time. A credential that cannot render in a basement is a credential that does not work.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cxnSp>
        <p:nvCxnSpPr>
          <p:cNvPr id="3" name="Connector 2"/>
          <p:cNvCxnSpPr/>
          <p:nvPr/>
        </p:nvCxnSpPr>
        <p:spPr>
          <a:xfrm>
            <a:off x="429768" y="384048"/>
            <a:ext cx="0" cy="4288536"/>
          </a:xfrm>
          <a:prstGeom prst="line">
            <a:avLst/>
          </a:prstGeom>
          <a:ln w="28575">
            <a:solidFill>
              <a:srgbClr val="F2680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384048"/>
            <a:ext cx="8010144" cy="283464"/>
          </a:xfrm>
          <a:prstGeom prst="rect">
            <a:avLst/>
          </a:prstGeom>
          <a:noFill/>
        </p:spPr>
        <p:txBody>
          <a:bodyPr wrap="square" lIns="0" rIns="0" tIns="0" bIns="0" anchor="t">
            <a:spAutoFit/>
          </a:bodyPr>
          <a:lstStyle/>
          <a:p>
            <a:pPr algn="l">
              <a:lnSpc>
                <a:spcPct val="120000"/>
              </a:lnSpc>
            </a:pPr>
            <a:r>
              <a:rPr sz="1000" b="1" i="0">
                <a:solidFill>
                  <a:srgbClr val="C7D0E8"/>
                </a:solidFill>
                <a:latin typeface="Montserrat"/>
              </a:rPr>
              <a:t>DAY 2 · MODULE 7 · WALLET INTERNALS</a:t>
            </a:r>
          </a:p>
        </p:txBody>
      </p:sp>
      <p:sp>
        <p:nvSpPr>
          <p:cNvPr id="5" name="TextBox 4"/>
          <p:cNvSpPr txBox="1"/>
          <p:nvPr/>
        </p:nvSpPr>
        <p:spPr>
          <a:xfrm>
            <a:off x="566928" y="612648"/>
            <a:ext cx="8010144" cy="475488"/>
          </a:xfrm>
          <a:prstGeom prst="rect">
            <a:avLst/>
          </a:prstGeom>
          <a:noFill/>
        </p:spPr>
        <p:txBody>
          <a:bodyPr wrap="square" lIns="0" rIns="0" tIns="0" bIns="0" anchor="t">
            <a:spAutoFit/>
          </a:bodyPr>
          <a:lstStyle/>
          <a:p>
            <a:pPr algn="l">
              <a:lnSpc>
                <a:spcPct val="120000"/>
              </a:lnSpc>
            </a:pPr>
            <a:r>
              <a:rPr sz="2300" b="1" i="1">
                <a:solidFill>
                  <a:srgbClr val="FFFFFF"/>
                </a:solidFill>
                <a:latin typeface="Montserrat"/>
              </a:rPr>
              <a:t>Offline sharing over Bluetooth</a:t>
            </a:r>
          </a:p>
        </p:txBody>
      </p:sp>
      <p:pic>
        <p:nvPicPr>
          <p:cNvPr id="6" name="Picture 5" descr="image.png"/>
          <p:cNvPicPr>
            <a:picLocks noChangeAspect="1"/>
          </p:cNvPicPr>
          <p:nvPr/>
        </p:nvPicPr>
        <p:blipFill>
          <a:blip r:embed="rId3"/>
          <a:stretch>
            <a:fillRect/>
          </a:stretch>
        </p:blipFill>
        <p:spPr>
          <a:xfrm>
            <a:off x="8247888" y="237744"/>
            <a:ext cx="612648" cy="329184"/>
          </a:xfrm>
          <a:prstGeom prst="rect">
            <a:avLst/>
          </a:prstGeom>
        </p:spPr>
      </p:pic>
      <p:sp>
        <p:nvSpPr>
          <p:cNvPr id="7" name="Rounded Rectangle 6"/>
          <p:cNvSpPr/>
          <p:nvPr/>
        </p:nvSpPr>
        <p:spPr>
          <a:xfrm>
            <a:off x="566928" y="1207008"/>
            <a:ext cx="1514246" cy="896112"/>
          </a:xfrm>
          <a:prstGeom prst="roundRect">
            <a:avLst>
              <a:gd name="adj" fmla="val 6000"/>
            </a:avLst>
          </a:prstGeom>
          <a:solidFill>
            <a:srgbClr val="FFFFFF">
              <a:alpha val="6000"/>
            </a:srgbClr>
          </a:solidFill>
          <a:ln w="12700">
            <a:solidFill>
              <a:srgbClr val="F175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7512" y="1280160"/>
            <a:ext cx="1313078" cy="146304"/>
          </a:xfrm>
          <a:prstGeom prst="rect">
            <a:avLst/>
          </a:prstGeom>
          <a:noFill/>
        </p:spPr>
        <p:txBody>
          <a:bodyPr wrap="square" lIns="0" rIns="0" tIns="0" bIns="0" anchor="t">
            <a:spAutoFit/>
          </a:bodyPr>
          <a:lstStyle/>
          <a:p>
            <a:pPr algn="l">
              <a:lnSpc>
                <a:spcPct val="120000"/>
              </a:lnSpc>
            </a:pPr>
            <a:r>
              <a:rPr sz="720" b="1" i="0">
                <a:solidFill>
                  <a:srgbClr val="F1752F"/>
                </a:solidFill>
                <a:latin typeface="Montserrat"/>
              </a:rPr>
              <a:t>01 / ADVERTISE</a:t>
            </a:r>
          </a:p>
        </p:txBody>
      </p:sp>
      <p:sp>
        <p:nvSpPr>
          <p:cNvPr id="9" name="TextBox 8"/>
          <p:cNvSpPr txBox="1"/>
          <p:nvPr/>
        </p:nvSpPr>
        <p:spPr>
          <a:xfrm>
            <a:off x="667512"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Verifier starts</a:t>
            </a:r>
          </a:p>
        </p:txBody>
      </p:sp>
      <p:sp>
        <p:nvSpPr>
          <p:cNvPr id="10" name="TextBox 9"/>
          <p:cNvSpPr txBox="1"/>
          <p:nvPr/>
        </p:nvSpPr>
        <p:spPr>
          <a:xfrm>
            <a:off x="667512"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Publishes a connect URI</a:t>
            </a:r>
          </a:p>
        </p:txBody>
      </p:sp>
      <p:cxnSp>
        <p:nvCxnSpPr>
          <p:cNvPr id="11" name="Connector 10"/>
          <p:cNvCxnSpPr/>
          <p:nvPr/>
        </p:nvCxnSpPr>
        <p:spPr>
          <a:xfrm>
            <a:off x="2092147" y="1655064"/>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90902" y="1207008"/>
            <a:ext cx="1514246" cy="896112"/>
          </a:xfrm>
          <a:prstGeom prst="roundRect">
            <a:avLst>
              <a:gd name="adj" fmla="val 6000"/>
            </a:avLst>
          </a:prstGeom>
          <a:solidFill>
            <a:srgbClr val="FFFFFF">
              <a:alpha val="6000"/>
            </a:srgbClr>
          </a:solidFill>
          <a:ln w="12700">
            <a:solidFill>
              <a:srgbClr val="C02D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291486" y="1280160"/>
            <a:ext cx="1313078" cy="146304"/>
          </a:xfrm>
          <a:prstGeom prst="rect">
            <a:avLst/>
          </a:prstGeom>
          <a:noFill/>
        </p:spPr>
        <p:txBody>
          <a:bodyPr wrap="square" lIns="0" rIns="0" tIns="0" bIns="0" anchor="t">
            <a:spAutoFit/>
          </a:bodyPr>
          <a:lstStyle/>
          <a:p>
            <a:pPr algn="l">
              <a:lnSpc>
                <a:spcPct val="120000"/>
              </a:lnSpc>
            </a:pPr>
            <a:r>
              <a:rPr sz="720" b="1" i="0">
                <a:solidFill>
                  <a:srgbClr val="C02D80"/>
                </a:solidFill>
                <a:latin typeface="Montserrat"/>
              </a:rPr>
              <a:t>02 / EXCHANGE</a:t>
            </a:r>
          </a:p>
        </p:txBody>
      </p:sp>
      <p:sp>
        <p:nvSpPr>
          <p:cNvPr id="14" name="TextBox 13"/>
          <p:cNvSpPr txBox="1"/>
          <p:nvPr/>
        </p:nvSpPr>
        <p:spPr>
          <a:xfrm>
            <a:off x="2291486"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QR carries the URI</a:t>
            </a:r>
          </a:p>
        </p:txBody>
      </p:sp>
      <p:sp>
        <p:nvSpPr>
          <p:cNvPr id="15" name="TextBox 14"/>
          <p:cNvSpPr txBox="1"/>
          <p:nvPr/>
        </p:nvSpPr>
        <p:spPr>
          <a:xfrm>
            <a:off x="2291486" y="1737360"/>
            <a:ext cx="1313078" cy="310896"/>
          </a:xfrm>
          <a:prstGeom prst="rect">
            <a:avLst/>
          </a:prstGeom>
          <a:noFill/>
        </p:spPr>
        <p:txBody>
          <a:bodyPr wrap="square" lIns="0" rIns="0" tIns="0" bIns="0" anchor="t">
            <a:spAutoFit/>
          </a:bodyPr>
          <a:lstStyle/>
          <a:p>
            <a:pPr algn="l">
              <a:lnSpc>
                <a:spcPct val="114000"/>
              </a:lnSpc>
            </a:pPr>
            <a:r>
              <a:rPr sz="740" b="0" i="0">
                <a:solidFill>
                  <a:srgbClr val="C02D80"/>
                </a:solidFill>
                <a:latin typeface="Roboto Mono"/>
              </a:rPr>
              <a:t>name</a:t>
            </a:r>
            <a:r>
              <a:rPr sz="740" b="0" i="0">
                <a:solidFill>
                  <a:srgbClr val="C7D0E8"/>
                </a:solidFill>
                <a:latin typeface="Montserrat"/>
              </a:rPr>
              <a:t> + verifier public </a:t>
            </a:r>
            <a:r>
              <a:rPr sz="740" b="0" i="0">
                <a:solidFill>
                  <a:srgbClr val="C02D80"/>
                </a:solidFill>
                <a:latin typeface="Roboto Mono"/>
              </a:rPr>
              <a:t>key</a:t>
            </a:r>
          </a:p>
        </p:txBody>
      </p:sp>
      <p:cxnSp>
        <p:nvCxnSpPr>
          <p:cNvPr id="16" name="Connector 15"/>
          <p:cNvCxnSpPr/>
          <p:nvPr/>
        </p:nvCxnSpPr>
        <p:spPr>
          <a:xfrm>
            <a:off x="3716121" y="1655064"/>
            <a:ext cx="87783"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814876" y="1207008"/>
            <a:ext cx="1514246" cy="896112"/>
          </a:xfrm>
          <a:prstGeom prst="roundRect">
            <a:avLst>
              <a:gd name="adj" fmla="val 6000"/>
            </a:avLst>
          </a:prstGeom>
          <a:solidFill>
            <a:srgbClr val="FFFFFF">
              <a:alpha val="6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915460" y="1280160"/>
            <a:ext cx="1313078" cy="146304"/>
          </a:xfrm>
          <a:prstGeom prst="rect">
            <a:avLst/>
          </a:prstGeom>
          <a:noFill/>
        </p:spPr>
        <p:txBody>
          <a:bodyPr wrap="square" lIns="0" rIns="0" tIns="0" bIns="0" anchor="t">
            <a:spAutoFit/>
          </a:bodyPr>
          <a:lstStyle/>
          <a:p>
            <a:pPr algn="l">
              <a:lnSpc>
                <a:spcPct val="120000"/>
              </a:lnSpc>
            </a:pPr>
            <a:r>
              <a:rPr sz="720" b="1" i="0">
                <a:solidFill>
                  <a:srgbClr val="8F35D6"/>
                </a:solidFill>
                <a:latin typeface="Montserrat"/>
              </a:rPr>
              <a:t>03 / CONNECT</a:t>
            </a:r>
          </a:p>
        </p:txBody>
      </p:sp>
      <p:sp>
        <p:nvSpPr>
          <p:cNvPr id="19" name="TextBox 18"/>
          <p:cNvSpPr txBox="1"/>
          <p:nvPr/>
        </p:nvSpPr>
        <p:spPr>
          <a:xfrm>
            <a:off x="3915460"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Wallet scans, joins</a:t>
            </a:r>
          </a:p>
        </p:txBody>
      </p:sp>
      <p:sp>
        <p:nvSpPr>
          <p:cNvPr id="20" name="TextBox 19"/>
          <p:cNvSpPr txBox="1"/>
          <p:nvPr/>
        </p:nvSpPr>
        <p:spPr>
          <a:xfrm>
            <a:off x="3915460"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Keys exchanged, channel secured</a:t>
            </a:r>
          </a:p>
        </p:txBody>
      </p:sp>
      <p:cxnSp>
        <p:nvCxnSpPr>
          <p:cNvPr id="21" name="Connector 20"/>
          <p:cNvCxnSpPr/>
          <p:nvPr/>
        </p:nvCxnSpPr>
        <p:spPr>
          <a:xfrm>
            <a:off x="5340096" y="1655064"/>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38851" y="1207008"/>
            <a:ext cx="1514246" cy="896112"/>
          </a:xfrm>
          <a:prstGeom prst="roundRect">
            <a:avLst>
              <a:gd name="adj" fmla="val 6000"/>
            </a:avLst>
          </a:prstGeom>
          <a:solidFill>
            <a:srgbClr val="FFFFFF">
              <a:alpha val="6000"/>
            </a:srgbClr>
          </a:solidFill>
          <a:ln w="12700">
            <a:solidFill>
              <a:srgbClr val="6B71C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539435" y="1280160"/>
            <a:ext cx="1313078" cy="146304"/>
          </a:xfrm>
          <a:prstGeom prst="rect">
            <a:avLst/>
          </a:prstGeom>
          <a:noFill/>
        </p:spPr>
        <p:txBody>
          <a:bodyPr wrap="square" lIns="0" rIns="0" tIns="0" bIns="0" anchor="t">
            <a:spAutoFit/>
          </a:bodyPr>
          <a:lstStyle/>
          <a:p>
            <a:pPr algn="l">
              <a:lnSpc>
                <a:spcPct val="120000"/>
              </a:lnSpc>
            </a:pPr>
            <a:r>
              <a:rPr sz="720" b="1" i="0">
                <a:solidFill>
                  <a:srgbClr val="6B71C1"/>
                </a:solidFill>
                <a:latin typeface="Montserrat"/>
              </a:rPr>
              <a:t>04 / TRANSFER</a:t>
            </a:r>
          </a:p>
        </p:txBody>
      </p:sp>
      <p:sp>
        <p:nvSpPr>
          <p:cNvPr id="24" name="TextBox 23"/>
          <p:cNvSpPr txBox="1"/>
          <p:nvPr/>
        </p:nvSpPr>
        <p:spPr>
          <a:xfrm>
            <a:off x="5539435"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Encrypt &amp; chunk</a:t>
            </a:r>
          </a:p>
        </p:txBody>
      </p:sp>
      <p:sp>
        <p:nvSpPr>
          <p:cNvPr id="25" name="TextBox 24"/>
          <p:cNvSpPr txBox="1"/>
          <p:nvPr/>
        </p:nvSpPr>
        <p:spPr>
          <a:xfrm>
            <a:off x="5539435"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Compressed, 512-byte writes</a:t>
            </a:r>
          </a:p>
        </p:txBody>
      </p:sp>
      <p:cxnSp>
        <p:nvCxnSpPr>
          <p:cNvPr id="26" name="Connector 25"/>
          <p:cNvCxnSpPr/>
          <p:nvPr/>
        </p:nvCxnSpPr>
        <p:spPr>
          <a:xfrm>
            <a:off x="6964070" y="1655064"/>
            <a:ext cx="87782" cy="0"/>
          </a:xfrm>
          <a:prstGeom prst="line">
            <a:avLst/>
          </a:prstGeom>
          <a:ln w="12700">
            <a:solidFill>
              <a:srgbClr val="8D98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062825" y="1207008"/>
            <a:ext cx="1514246" cy="896112"/>
          </a:xfrm>
          <a:prstGeom prst="roundRect">
            <a:avLst>
              <a:gd name="adj" fmla="val 6000"/>
            </a:avLst>
          </a:prstGeom>
          <a:solidFill>
            <a:srgbClr val="FFFFFF">
              <a:alpha val="6000"/>
            </a:srgbClr>
          </a:solidFill>
          <a:ln w="1270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63409" y="1280160"/>
            <a:ext cx="1313078" cy="146304"/>
          </a:xfrm>
          <a:prstGeom prst="rect">
            <a:avLst/>
          </a:prstGeom>
          <a:noFill/>
        </p:spPr>
        <p:txBody>
          <a:bodyPr wrap="square" lIns="0" rIns="0" tIns="0" bIns="0" anchor="t">
            <a:spAutoFit/>
          </a:bodyPr>
          <a:lstStyle/>
          <a:p>
            <a:pPr algn="l">
              <a:lnSpc>
                <a:spcPct val="120000"/>
              </a:lnSpc>
            </a:pPr>
            <a:r>
              <a:rPr sz="720" b="1" i="0">
                <a:solidFill>
                  <a:srgbClr val="F27D21"/>
                </a:solidFill>
                <a:latin typeface="Montserrat"/>
              </a:rPr>
              <a:t>05 / REPAIR</a:t>
            </a:r>
          </a:p>
        </p:txBody>
      </p:sp>
      <p:sp>
        <p:nvSpPr>
          <p:cNvPr id="29" name="TextBox 28"/>
          <p:cNvSpPr txBox="1"/>
          <p:nvPr/>
        </p:nvSpPr>
        <p:spPr>
          <a:xfrm>
            <a:off x="7163409" y="1444752"/>
            <a:ext cx="1313078" cy="292608"/>
          </a:xfrm>
          <a:prstGeom prst="rect">
            <a:avLst/>
          </a:prstGeom>
          <a:noFill/>
        </p:spPr>
        <p:txBody>
          <a:bodyPr wrap="square" lIns="0" rIns="0" tIns="0" bIns="0" anchor="t">
            <a:spAutoFit/>
          </a:bodyPr>
          <a:lstStyle/>
          <a:p>
            <a:pPr algn="l">
              <a:lnSpc>
                <a:spcPct val="106000"/>
              </a:lnSpc>
            </a:pPr>
            <a:r>
              <a:rPr sz="940" b="1" i="0">
                <a:solidFill>
                  <a:srgbClr val="FFFFFF"/>
                </a:solidFill>
                <a:latin typeface="Montserrat"/>
              </a:rPr>
              <a:t>Transfer report</a:t>
            </a:r>
          </a:p>
        </p:txBody>
      </p:sp>
      <p:sp>
        <p:nvSpPr>
          <p:cNvPr id="30" name="TextBox 29"/>
          <p:cNvSpPr txBox="1"/>
          <p:nvPr/>
        </p:nvSpPr>
        <p:spPr>
          <a:xfrm>
            <a:off x="7163409" y="1737360"/>
            <a:ext cx="1313078" cy="310896"/>
          </a:xfrm>
          <a:prstGeom prst="rect">
            <a:avLst/>
          </a:prstGeom>
          <a:noFill/>
        </p:spPr>
        <p:txBody>
          <a:bodyPr wrap="square" lIns="0" rIns="0" tIns="0" bIns="0" anchor="t">
            <a:spAutoFit/>
          </a:bodyPr>
          <a:lstStyle/>
          <a:p>
            <a:pPr algn="l">
              <a:lnSpc>
                <a:spcPct val="114000"/>
              </a:lnSpc>
            </a:pPr>
            <a:r>
              <a:rPr sz="740" b="0" i="0">
                <a:solidFill>
                  <a:srgbClr val="C7D0E8"/>
                </a:solidFill>
                <a:latin typeface="Montserrat"/>
              </a:rPr>
              <a:t>Missing chunks re-sent</a:t>
            </a:r>
          </a:p>
        </p:txBody>
      </p:sp>
      <p:sp>
        <p:nvSpPr>
          <p:cNvPr id="31" name="Rounded Rectangle 30"/>
          <p:cNvSpPr/>
          <p:nvPr/>
        </p:nvSpPr>
        <p:spPr>
          <a:xfrm>
            <a:off x="566928" y="2249424"/>
            <a:ext cx="3931920" cy="1298448"/>
          </a:xfrm>
          <a:prstGeom prst="roundRect">
            <a:avLst>
              <a:gd name="adj" fmla="val 6000"/>
            </a:avLst>
          </a:prstGeom>
          <a:solidFill>
            <a:srgbClr val="FFFFFF">
              <a:alpha val="5000"/>
            </a:srgbClr>
          </a:solidFill>
          <a:ln w="12700">
            <a:solidFill>
              <a:srgbClr val="8F35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66928" y="2249424"/>
            <a:ext cx="3931920" cy="41148"/>
          </a:xfrm>
          <a:prstGeom prst="rect">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94944" y="2395728"/>
            <a:ext cx="3675887" cy="237744"/>
          </a:xfrm>
          <a:prstGeom prst="rect">
            <a:avLst/>
          </a:prstGeom>
          <a:noFill/>
        </p:spPr>
        <p:txBody>
          <a:bodyPr wrap="square" lIns="0" rIns="0" tIns="0" bIns="0" anchor="t">
            <a:spAutoFit/>
          </a:bodyPr>
          <a:lstStyle/>
          <a:p>
            <a:pPr algn="l">
              <a:lnSpc>
                <a:spcPct val="120000"/>
              </a:lnSpc>
            </a:pPr>
            <a:r>
              <a:rPr sz="960" b="1" i="0">
                <a:solidFill>
                  <a:srgbClr val="8F35D6"/>
                </a:solidFill>
                <a:latin typeface="Montserrat"/>
              </a:rPr>
              <a:t>How the channel is bootstrapped</a:t>
            </a:r>
          </a:p>
        </p:txBody>
      </p:sp>
      <p:sp>
        <p:nvSpPr>
          <p:cNvPr id="34" name="Oval 33"/>
          <p:cNvSpPr/>
          <p:nvPr/>
        </p:nvSpPr>
        <p:spPr>
          <a:xfrm>
            <a:off x="713232" y="2720340"/>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41247" y="2670048"/>
            <a:ext cx="3511296" cy="457200"/>
          </a:xfrm>
          <a:prstGeom prst="rect">
            <a:avLst/>
          </a:prstGeom>
          <a:noFill/>
        </p:spPr>
        <p:txBody>
          <a:bodyPr wrap="square" lIns="0" rIns="0" tIns="0" bIns="0" anchor="t">
            <a:spAutoFit/>
          </a:bodyPr>
          <a:lstStyle/>
          <a:p>
            <a:pPr algn="l">
              <a:lnSpc>
                <a:spcPct val="120000"/>
              </a:lnSpc>
            </a:pPr>
            <a:r>
              <a:rPr sz="800" b="0" i="0">
                <a:solidFill>
                  <a:srgbClr val="F1752F"/>
                </a:solidFill>
                <a:latin typeface="Roboto Mono"/>
              </a:rPr>
              <a:t>OPENID4VP://connect?name=&lt;NAME&gt;&amp;key=&lt;PUBKEY&gt;</a:t>
            </a:r>
          </a:p>
        </p:txBody>
      </p:sp>
      <p:sp>
        <p:nvSpPr>
          <p:cNvPr id="36" name="Oval 35"/>
          <p:cNvSpPr/>
          <p:nvPr/>
        </p:nvSpPr>
        <p:spPr>
          <a:xfrm>
            <a:off x="713232" y="2925064"/>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41247" y="2874772"/>
            <a:ext cx="3511296" cy="457200"/>
          </a:xfrm>
          <a:prstGeom prst="rect">
            <a:avLst/>
          </a:prstGeom>
          <a:noFill/>
        </p:spPr>
        <p:txBody>
          <a:bodyPr wrap="square" lIns="0" rIns="0" tIns="0" bIns="0" anchor="t">
            <a:spAutoFit/>
          </a:bodyPr>
          <a:lstStyle/>
          <a:p>
            <a:pPr algn="l">
              <a:lnSpc>
                <a:spcPct val="120000"/>
              </a:lnSpc>
            </a:pPr>
            <a:r>
              <a:rPr sz="800" b="0" i="0">
                <a:solidFill>
                  <a:srgbClr val="C7D0E8"/>
                </a:solidFill>
                <a:latin typeface="Montserrat"/>
              </a:rPr>
              <a:t>The QR is the </a:t>
            </a:r>
            <a:r>
              <a:rPr sz="800" b="1" i="0">
                <a:solidFill>
                  <a:srgbClr val="FFFFFF"/>
                </a:solidFill>
                <a:latin typeface="Montserrat"/>
              </a:rPr>
              <a:t>out-of-band channel</a:t>
            </a:r>
            <a:r>
              <a:rPr sz="800" b="0" i="0">
                <a:solidFill>
                  <a:srgbClr val="C7D0E8"/>
                </a:solidFill>
                <a:latin typeface="Montserrat"/>
              </a:rPr>
              <a:t> — it carries the verifier's public key</a:t>
            </a:r>
          </a:p>
        </p:txBody>
      </p:sp>
      <p:sp>
        <p:nvSpPr>
          <p:cNvPr id="38" name="Oval 37"/>
          <p:cNvSpPr/>
          <p:nvPr/>
        </p:nvSpPr>
        <p:spPr>
          <a:xfrm>
            <a:off x="713232" y="3256788"/>
            <a:ext cx="45720" cy="45720"/>
          </a:xfrm>
          <a:prstGeom prst="ellipse">
            <a:avLst/>
          </a:prstGeom>
          <a:solidFill>
            <a:srgbClr val="8F3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41247" y="3206495"/>
            <a:ext cx="3511296" cy="457200"/>
          </a:xfrm>
          <a:prstGeom prst="rect">
            <a:avLst/>
          </a:prstGeom>
          <a:noFill/>
        </p:spPr>
        <p:txBody>
          <a:bodyPr wrap="square" lIns="0" rIns="0" tIns="0" bIns="0" anchor="t">
            <a:spAutoFit/>
          </a:bodyPr>
          <a:lstStyle/>
          <a:p>
            <a:pPr algn="l">
              <a:lnSpc>
                <a:spcPct val="120000"/>
              </a:lnSpc>
            </a:pPr>
            <a:r>
              <a:rPr sz="800" b="0" i="0">
                <a:solidFill>
                  <a:srgbClr val="C7D0E8"/>
                </a:solidFill>
                <a:latin typeface="Montserrat"/>
              </a:rPr>
              <a:t>No network, no server, no shared session</a:t>
            </a:r>
          </a:p>
        </p:txBody>
      </p:sp>
      <p:sp>
        <p:nvSpPr>
          <p:cNvPr id="40" name="Rounded Rectangle 39"/>
          <p:cNvSpPr/>
          <p:nvPr/>
        </p:nvSpPr>
        <p:spPr>
          <a:xfrm>
            <a:off x="4645152" y="2249424"/>
            <a:ext cx="3931920" cy="1298448"/>
          </a:xfrm>
          <a:prstGeom prst="roundRect">
            <a:avLst>
              <a:gd name="adj" fmla="val 6000"/>
            </a:avLst>
          </a:prstGeom>
          <a:solidFill>
            <a:srgbClr val="FFFFFF">
              <a:alpha val="5000"/>
            </a:srgbClr>
          </a:solidFill>
          <a:ln w="12700">
            <a:solidFill>
              <a:srgbClr val="F27D2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645152" y="2249424"/>
            <a:ext cx="3931920" cy="41148"/>
          </a:xfrm>
          <a:prstGeom prst="rect">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773168" y="2395728"/>
            <a:ext cx="3675887" cy="237744"/>
          </a:xfrm>
          <a:prstGeom prst="rect">
            <a:avLst/>
          </a:prstGeom>
          <a:noFill/>
        </p:spPr>
        <p:txBody>
          <a:bodyPr wrap="square" lIns="0" rIns="0" tIns="0" bIns="0" anchor="t">
            <a:spAutoFit/>
          </a:bodyPr>
          <a:lstStyle/>
          <a:p>
            <a:pPr algn="l">
              <a:lnSpc>
                <a:spcPct val="120000"/>
              </a:lnSpc>
            </a:pPr>
            <a:r>
              <a:rPr sz="960" b="1" i="0">
                <a:solidFill>
                  <a:srgbClr val="F27D21"/>
                </a:solidFill>
                <a:latin typeface="Montserrat"/>
              </a:rPr>
              <a:t>How it survives a bad link</a:t>
            </a:r>
          </a:p>
        </p:txBody>
      </p:sp>
      <p:sp>
        <p:nvSpPr>
          <p:cNvPr id="43" name="Oval 42"/>
          <p:cNvSpPr/>
          <p:nvPr/>
        </p:nvSpPr>
        <p:spPr>
          <a:xfrm>
            <a:off x="4791456" y="2720340"/>
            <a:ext cx="45720" cy="45720"/>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919472" y="2670048"/>
            <a:ext cx="3511296" cy="457200"/>
          </a:xfrm>
          <a:prstGeom prst="rect">
            <a:avLst/>
          </a:prstGeom>
          <a:noFill/>
        </p:spPr>
        <p:txBody>
          <a:bodyPr wrap="square" lIns="0" rIns="0" tIns="0" bIns="0" anchor="t">
            <a:spAutoFit/>
          </a:bodyPr>
          <a:lstStyle/>
          <a:p>
            <a:pPr algn="l">
              <a:lnSpc>
                <a:spcPct val="120000"/>
              </a:lnSpc>
            </a:pPr>
            <a:r>
              <a:rPr sz="800" b="0" i="0">
                <a:solidFill>
                  <a:srgbClr val="C7D0E8"/>
                </a:solidFill>
                <a:latin typeface="Montserrat"/>
              </a:rPr>
              <a:t>A Chunker splits; an Assembler rebuilds</a:t>
            </a:r>
          </a:p>
        </p:txBody>
      </p:sp>
      <p:sp>
        <p:nvSpPr>
          <p:cNvPr id="45" name="Oval 44"/>
          <p:cNvSpPr/>
          <p:nvPr/>
        </p:nvSpPr>
        <p:spPr>
          <a:xfrm>
            <a:off x="4791456" y="2925064"/>
            <a:ext cx="45720" cy="45720"/>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919472" y="2874772"/>
            <a:ext cx="3511296" cy="457200"/>
          </a:xfrm>
          <a:prstGeom prst="rect">
            <a:avLst/>
          </a:prstGeom>
          <a:noFill/>
        </p:spPr>
        <p:txBody>
          <a:bodyPr wrap="square" lIns="0" rIns="0" tIns="0" bIns="0" anchor="t">
            <a:spAutoFit/>
          </a:bodyPr>
          <a:lstStyle/>
          <a:p>
            <a:pPr algn="l">
              <a:lnSpc>
                <a:spcPct val="120000"/>
              </a:lnSpc>
            </a:pPr>
            <a:r>
              <a:rPr sz="800" b="0" i="0">
                <a:solidFill>
                  <a:srgbClr val="C7D0E8"/>
                </a:solidFill>
                <a:latin typeface="Montserrat"/>
              </a:rPr>
              <a:t>The receiver reports missing sequence numbers</a:t>
            </a:r>
          </a:p>
        </p:txBody>
      </p:sp>
      <p:sp>
        <p:nvSpPr>
          <p:cNvPr id="47" name="Oval 46"/>
          <p:cNvSpPr/>
          <p:nvPr/>
        </p:nvSpPr>
        <p:spPr>
          <a:xfrm>
            <a:off x="4791456" y="3129788"/>
            <a:ext cx="45720" cy="45720"/>
          </a:xfrm>
          <a:prstGeom prst="ellipse">
            <a:avLst/>
          </a:prstGeom>
          <a:solidFill>
            <a:srgbClr val="F27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919472" y="3079496"/>
            <a:ext cx="3511296" cy="457200"/>
          </a:xfrm>
          <a:prstGeom prst="rect">
            <a:avLst/>
          </a:prstGeom>
          <a:noFill/>
        </p:spPr>
        <p:txBody>
          <a:bodyPr wrap="square" lIns="0" rIns="0" tIns="0" bIns="0" anchor="t">
            <a:spAutoFit/>
          </a:bodyPr>
          <a:lstStyle/>
          <a:p>
            <a:pPr algn="l">
              <a:lnSpc>
                <a:spcPct val="120000"/>
              </a:lnSpc>
            </a:pPr>
            <a:r>
              <a:rPr sz="800" b="0" i="0">
                <a:solidFill>
                  <a:srgbClr val="C7D0E8"/>
                </a:solidFill>
                <a:latin typeface="Montserrat"/>
              </a:rPr>
              <a:t>The sender replays only those chunks</a:t>
            </a:r>
          </a:p>
        </p:txBody>
      </p:sp>
      <p:sp>
        <p:nvSpPr>
          <p:cNvPr id="49" name="Rounded Rectangle 48"/>
          <p:cNvSpPr/>
          <p:nvPr/>
        </p:nvSpPr>
        <p:spPr>
          <a:xfrm>
            <a:off x="566928" y="3675887"/>
            <a:ext cx="8010144" cy="457301"/>
          </a:xfrm>
          <a:prstGeom prst="roundRect">
            <a:avLst>
              <a:gd name="adj" fmla="val 10000"/>
            </a:avLst>
          </a:prstGeom>
          <a:solidFill>
            <a:srgbClr val="D63156">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566928" y="3675887"/>
            <a:ext cx="36576" cy="457301"/>
          </a:xfrm>
          <a:prstGeom prst="rect">
            <a:avLst/>
          </a:prstGeom>
          <a:solidFill>
            <a:srgbClr val="D63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31520" y="3753611"/>
            <a:ext cx="7717536" cy="320141"/>
          </a:xfrm>
          <a:prstGeom prst="rect">
            <a:avLst/>
          </a:prstGeom>
          <a:noFill/>
        </p:spPr>
        <p:txBody>
          <a:bodyPr wrap="square" lIns="0" rIns="0" tIns="0" bIns="0" anchor="t">
            <a:spAutoFit/>
          </a:bodyPr>
          <a:lstStyle/>
          <a:p>
            <a:pPr algn="l">
              <a:lnSpc>
                <a:spcPct val="128000"/>
              </a:lnSpc>
            </a:pPr>
            <a:r>
              <a:rPr sz="860" b="0" i="0">
                <a:solidFill>
                  <a:srgbClr val="C7D0E8"/>
                </a:solidFill>
                <a:latin typeface="Montserrat"/>
              </a:rPr>
              <a:t>Scope check before you design around it: Tuvali is </a:t>
            </a:r>
            <a:r>
              <a:rPr sz="860" b="1" i="0">
                <a:solidFill>
                  <a:srgbClr val="FFFFFF"/>
                </a:solidFill>
                <a:latin typeface="Montserrat"/>
              </a:rPr>
              <a:t>pre-1.0</a:t>
            </a:r>
            <a:r>
              <a:rPr sz="860" b="0" i="0">
                <a:solidFill>
                  <a:srgbClr val="C7D0E8"/>
                </a:solidFill>
                <a:latin typeface="Montserrat"/>
              </a:rPr>
              <a:t>, its API is explicitly expected to change, and the current version transfers a credential </a:t>
            </a:r>
            <a:r>
              <a:rPr sz="860" b="1" i="0">
                <a:solidFill>
                  <a:srgbClr val="FFFFFF"/>
                </a:solidFill>
                <a:latin typeface="Montserrat"/>
              </a:rPr>
              <a:t>one way only</a:t>
            </a:r>
            <a:r>
              <a:rPr sz="860" b="0" i="0">
                <a:solidFill>
                  <a:srgbClr val="C7D0E8"/>
                </a:solidFill>
                <a:latin typeface="Montserrat"/>
              </a:rPr>
              <a:t> — wallet to verifier. The full OpenID4VP-over-BLE request/response exchange is not implemented yet.</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