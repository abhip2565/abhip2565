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Welcome. Set the tone: this is an engineering session, not a product pitch. Nobody has to buy anything today.</a:t>
            </a:r>
          </a:p>
          <a:p>
            <a:r>
              <a:rPr sz="1100"/>
              <a:t>• Say plainly what success looks like: at the end, every person in the room can draw the Inji architecture on a whiteboard and say which component owns which failure.</a:t>
            </a:r>
          </a:p>
          <a:p>
            <a:r>
              <a:rPr sz="1100"/>
              <a:t>• Ask for a quick round of introductions: name, role, and which component they expect to touch first (issuer, wallet, web, verifier, infra). Write the counts down — you will use them to decide how deep to go in sections 8-11.</a:t>
            </a:r>
          </a:p>
          <a:p>
            <a:r>
              <a:rPr sz="1100"/>
              <a:t>• Confirm logistics: breaks, language, whether people can run code during the session.</a:t>
            </a:r>
          </a:p>
          <a:p>
            <a:r>
              <a:rPr b="1" sz="1100"/>
              <a:t>CAVEATS / GOTCHAS</a:t>
            </a:r>
          </a:p>
          <a:p>
            <a:r>
              <a:rPr sz="1100"/>
              <a:t>• Everything in this deck was checked against the public Inji repositories. Versions move fast; re-verify before you commit to a design.</a:t>
            </a:r>
          </a:p>
          <a:p>
            <a:r>
              <a:rPr sz="1100"/>
              <a:t>• Brazil's architecture is not decided in this deck. Section 18 is deliberately a set of questions.</a:t>
            </a:r>
          </a:p>
          <a:p>
            <a:r>
              <a:rPr b="1" sz="1100"/>
              <a:t>LIKELY QUESTIONS</a:t>
            </a:r>
          </a:p>
          <a:p>
            <a:r>
              <a:rPr sz="1100"/>
              <a:t>– Is this the same as MOSIP? — Inji is the credential layer of the MOSIP ecosystem, but it works with any OpenID4VC-compliant issuer, MOSIP or not.</a:t>
            </a:r>
          </a:p>
          <a:p>
            <a:r>
              <a:rPr b="1" sz="1100"/>
              <a:t>TIME: 5 min (welcome + introductions)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Read the six outcomes out loud. They are the contract for the session.</a:t>
            </a:r>
          </a:p>
          <a:p>
            <a:r>
              <a:rPr sz="1100"/>
              <a:t>• Point out that objective 6 — owning a failure — is the one that saves the most time in a real integration. Most lost days in VC projects come from a team debugging a component that was never at fault.</a:t>
            </a:r>
          </a:p>
          <a:p>
            <a:r>
              <a:rPr sz="1100"/>
              <a:t>• Tell people to write down which objective matters most to their own role; you will come back to it in the recap.</a:t>
            </a:r>
          </a:p>
          <a:p>
            <a:r>
              <a:rPr b="1" sz="1100"/>
              <a:t>CAVEATS / GOTCHAS</a:t>
            </a:r>
          </a:p>
          <a:p>
            <a:r>
              <a:rPr sz="1100"/>
              <a:t>• Do not promise that the session makes anyone production-ready on day one. It makes them able to read the system and ask the right questions.</a:t>
            </a:r>
          </a:p>
          <a:p>
            <a:r>
              <a:rPr b="1" sz="1100"/>
              <a:t>LIKELY QUESTIONS</a:t>
            </a:r>
          </a:p>
          <a:p>
            <a:r>
              <a:rPr sz="1100"/>
              <a:t>– Will we get the slides? — Yes, with speaker notes; the notes carry the detail that is not on the slides.</a:t>
            </a:r>
          </a:p>
          <a:p>
            <a:r>
              <a:rPr b="1" sz="1100"/>
              <a:t>TIME: 3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slide exists to stop three recurring misunderstandings before they start.</a:t>
            </a:r>
          </a:p>
          <a:p>
            <a:r>
              <a:rPr sz="1100"/>
              <a:t>• Wallet holds credentials on the device. Inji Web does not — the credential sits in Mimoto's Postgres, encrypted with an AES-256-GCM key that is itself wrapped with a PBKDF2 key derived from the user's wallet PIN. That is a real architectural difference with real privacy consequences, and Brazil has to decide whether it is acceptable.</a:t>
            </a:r>
          </a:p>
          <a:p>
            <a:r>
              <a:rPr sz="1100"/>
              <a:t>• Say clearly: Mimoto is a BFF. Every time somebody proposes putting issuer logic or verifier logic into Mimoto, this slide is the answer.</a:t>
            </a:r>
          </a:p>
          <a:p>
            <a:r>
              <a:rPr b="1" sz="1100"/>
              <a:t>CAVEATS / GOTCHAS</a:t>
            </a:r>
          </a:p>
          <a:p>
            <a:r>
              <a:rPr sz="1100"/>
              <a:t>• Inji Web's OpenID4VP presentation support is currently limited to ldp_vc; SD-JWT VC presentation from Web is on the roadmap, not shipped. Check the current release before promising it.</a:t>
            </a:r>
          </a:p>
          <a:p>
            <a:r>
              <a:rPr sz="1100"/>
              <a:t>• 'Offline' for Wallet means presenting a credential you already hold without a network. It does not mean downloading a credential offline.</a:t>
            </a:r>
          </a:p>
          <a:p>
            <a:r>
              <a:rPr b="1" sz="1100"/>
              <a:t>LIKELY QUESTIONS</a:t>
            </a:r>
          </a:p>
          <a:p>
            <a:r>
              <a:rPr sz="1100"/>
              <a:t>– If Mimoto stores credentials for Web users, is that a data residency problem? — Yes, and it is on the Brazil discussion list in section 18.</a:t>
            </a:r>
          </a:p>
          <a:p>
            <a:r>
              <a:rPr sz="1100"/>
              <a:t>– Can we run Wallet without Mimoto? — Partly. Issuer discovery and token exchange currently route through Mimoto in the standard configuration.</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Walk the agenda quickly — 90 seconds, not five minutes.</a:t>
            </a:r>
          </a:p>
          <a:p>
            <a:r>
              <a:rPr sz="1100"/>
              <a:t>• Explain the shape deliberately: we do the full demo second, before any protocol theory. People retain protocol detail far better when they have already watched the thing work.</a:t>
            </a:r>
          </a:p>
          <a:p>
            <a:r>
              <a:rPr sz="1100"/>
              <a:t>• Point out the demo checkpoints are spread through the day on purpose. Nobody learns from a 45-minute demo block at 5 pm.</a:t>
            </a:r>
          </a:p>
          <a:p>
            <a:r>
              <a:rPr sz="1100"/>
              <a:t>• Agree the break times with the room now so nobody is guessing.</a:t>
            </a:r>
          </a:p>
          <a:p>
            <a:r>
              <a:rPr b="1" sz="1100"/>
              <a:t>CAVEATS / GOTCHAS</a:t>
            </a:r>
          </a:p>
          <a:p>
            <a:r>
              <a:rPr sz="1100"/>
              <a:t>• If the room is more architect-heavy than developer-heavy, compress section 11 (developer walkthrough) and give the time to sections 10 and 18.</a:t>
            </a:r>
          </a:p>
          <a:p>
            <a:r>
              <a:rPr sz="1100"/>
              <a:t>• If the room is developer-heavy, do the opposite.</a:t>
            </a:r>
          </a:p>
          <a:p>
            <a:r>
              <a:rPr b="1" sz="1100"/>
              <a:t>TIME: 2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map the whole day hangs off. Spend the time.</a:t>
            </a:r>
          </a:p>
          <a:p>
            <a:r>
              <a:rPr sz="1100"/>
              <a:t>• Tell the room that the diagram on the next slide will reappear in the corner of many later slides with the current component highlighted — that is their 'you are here' marker.</a:t>
            </a:r>
          </a:p>
          <a:p>
            <a:r>
              <a:rPr b="1" sz="1100"/>
              <a:t>TIME: 20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Draw this on the whiteboard as you talk, do not just read the slide. People remember what they watched being drawn.</a:t>
            </a:r>
          </a:p>
          <a:p>
            <a:r>
              <a:rPr sz="1100"/>
              <a:t>• Left to right is the life of a credential: it is created on the left, held in the middle, consumed on the right.</a:t>
            </a:r>
          </a:p>
          <a:p>
            <a:r>
              <a:rPr sz="1100"/>
              <a:t>• Stress the distinction in the callout. The two OpenID4VC protocols are the interoperability contract with the outside world. Mimoto's own REST API is internal to Inji and you are free to change it. Teams that confuse the two either over-standardise internals or accidentally break interop.</a:t>
            </a:r>
          </a:p>
          <a:p>
            <a:r>
              <a:rPr sz="1100"/>
              <a:t>• Note that the Credential Store is drawn as its own box on purpose: it behaves very differently between Wallet (on device) and Web (in Mimoto).</a:t>
            </a:r>
          </a:p>
          <a:p>
            <a:r>
              <a:rPr b="1" sz="1100"/>
              <a:t>CAVEATS / GOTCHAS</a:t>
            </a:r>
          </a:p>
          <a:p>
            <a:r>
              <a:rPr sz="1100"/>
              <a:t>• The arrow Issuer→Mimoto is not the whole truth: the Wallet talks to the issuer's credential endpoint directly for the credential request. Mimoto brokers discovery and token exchange. We correct this precisely in section 3 — flag it now so nobody builds the wrong mental model.</a:t>
            </a:r>
          </a:p>
          <a:p>
            <a:r>
              <a:rPr sz="1100"/>
              <a:t>• Do not let anyone leave thinking Mimoto is a mandatory part of OpenID4VCI. It is an Inji design choice.</a:t>
            </a:r>
          </a:p>
          <a:p>
            <a:r>
              <a:rPr b="1" sz="1100"/>
              <a:t>LIKELY QUESTIONS</a:t>
            </a:r>
          </a:p>
          <a:p>
            <a:r>
              <a:rPr sz="1100"/>
              <a:t>– Why is there a backend at all if the wallet is the holder? — Client secrets, issuer catalogue management, and the browser wallet. Covered in section 7.</a:t>
            </a:r>
          </a:p>
          <a:p>
            <a:r>
              <a:rPr sz="1100"/>
              <a:t>– Can the Verifier talk to the Issuer? — Only to fetch issuer keys. It never asks the issuer about the person; that is the point of the model.</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Slow down here. Most integration arguments later in a project are really disagreements about this table.</a:t>
            </a:r>
          </a:p>
          <a:p>
            <a:r>
              <a:rPr sz="1100"/>
              <a:t>• The dashed arrow across the top is important: the verifier contacts the issuer **only** to resolve keys. It never phones home to ask 'is this person still valid?' during a normal presentation. That is what makes the model privacy-preserving and offline-capable.</a:t>
            </a:r>
          </a:p>
          <a:p>
            <a:r>
              <a:rPr sz="1100"/>
              <a:t>• Consent lives with the holder. In Inji that is a real screen in the Wallet that lists the requested claims before anything is sent. Show it in Demo 5.</a:t>
            </a:r>
          </a:p>
          <a:p>
            <a:r>
              <a:rPr sz="1100"/>
              <a:t>• Point out that status/revocation is the one place where the verifier may go back to a status list — and that Inji Wallet does not currently do revocation checking for any format.</a:t>
            </a:r>
          </a:p>
          <a:p>
            <a:r>
              <a:rPr b="1" sz="1100"/>
              <a:t>CAVEATS / GOTCHAS</a:t>
            </a:r>
          </a:p>
          <a:p>
            <a:r>
              <a:rPr sz="1100"/>
              <a:t>• Real deployments blur the triangle: an organisation can be both issuer and verifier. Keep the roles separate in the design even when the boxes run on the same cluster.</a:t>
            </a:r>
          </a:p>
          <a:p>
            <a:r>
              <a:rPr sz="1100"/>
              <a:t>• 'Must not do' for the holder is enforced by cryptography, not by policy. If the wallet alters a claim, the issuer signature fails.</a:t>
            </a:r>
          </a:p>
          <a:p>
            <a:r>
              <a:rPr b="1" sz="1100"/>
              <a:t>LIKELY QUESTIONS</a:t>
            </a:r>
          </a:p>
          <a:p>
            <a:r>
              <a:rPr sz="1100"/>
              <a:t>– Who is responsible if a verifier accepts a revoked credential? — A policy question, not a protocol one. Put it on the Brazil list.</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a reference slide; do not read every row. Point at the three groups: two holder apps, one backend, and a set of shared libraries.</a:t>
            </a:r>
          </a:p>
          <a:p>
            <a:r>
              <a:rPr sz="1100"/>
              <a:t>• The big idea is the callout: Inji deliberately pushed protocol work into cross-platform native libraries so Android, iOS and server-side Java can share one implementation. inji-openid4vp is Kotlin Multiplatform and ships as both AAR and JAR — the same library runs in the phone and inside Mimoto.</a:t>
            </a:r>
          </a:p>
          <a:p>
            <a:r>
              <a:rPr sz="1100"/>
              <a:t>• Tell people to write down the library versions their build pins. In the wallet these are declared in android/app/build.gradle.</a:t>
            </a:r>
          </a:p>
          <a:p>
            <a:r>
              <a:rPr sz="1100"/>
              <a:t>• Certify and Verify are reference implementations. Brazil may replace either with its own system and still be fully interoperable — that is the point of the standards.</a:t>
            </a:r>
          </a:p>
          <a:p>
            <a:r>
              <a:rPr b="1" sz="1100"/>
              <a:t>CAVEATS / GOTCHAS</a:t>
            </a:r>
          </a:p>
          <a:p>
            <a:r>
              <a:rPr sz="1100"/>
              <a:t>• Library versions in this deck were read from the wallet's build file at the time of writing; treat them as illustrative and check your own branch.</a:t>
            </a:r>
          </a:p>
          <a:p>
            <a:r>
              <a:rPr sz="1100"/>
              <a:t>• Not every library exists in every language yet. iOS parity lags Android on some features — verify before promising an iOS date.</a:t>
            </a:r>
          </a:p>
          <a:p>
            <a:r>
              <a:rPr b="1" sz="1100"/>
              <a:t>LIKELY QUESTIONS</a:t>
            </a:r>
          </a:p>
          <a:p>
            <a:r>
              <a:rPr sz="1100"/>
              <a:t>– Do we have to use Inji Certify as the issuer? — No. Any OpenID4VCI-compliant issuer works. Section 18.</a:t>
            </a:r>
          </a:p>
          <a:p>
            <a:r>
              <a:rPr sz="1100"/>
              <a:t>– Is there a JS OpenID4VP library for Inji Web? — Web's presentation path goes through Mimoto, which uses the JAR.</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Frame the day's security thinking now, so that later sections can just point back here.</a:t>
            </a:r>
          </a:p>
          <a:p>
            <a:r>
              <a:rPr sz="1100"/>
              <a:t>• The four boxes are the only four places code runs. Ask the room which boxes Brazil will own — the answer decides a lot of the deployment section.</a:t>
            </a:r>
          </a:p>
          <a:p>
            <a:r>
              <a:rPr sz="1100"/>
              <a:t>• The bottom strip is the practical takeaway: four untrusted inputs. Every security incident in a wallet project comes through one of them.</a:t>
            </a:r>
          </a:p>
          <a:p>
            <a:r>
              <a:rPr sz="1100"/>
              <a:t>• Emphasise the device box: a rooted phone is not a theoretical concern for a national wallet. That is why key material goes to the platform keystore and why key attestation exists.</a:t>
            </a:r>
          </a:p>
          <a:p>
            <a:r>
              <a:rPr b="1" sz="1100"/>
              <a:t>CAVEATS / GOTCHAS</a:t>
            </a:r>
          </a:p>
          <a:p>
            <a:r>
              <a:rPr sz="1100"/>
              <a:t>• TLS protects the channel, not the content. A credential is trustworthy because it is signed, not because it arrived over HTTPS. Say this sentence twice.</a:t>
            </a:r>
          </a:p>
          <a:p>
            <a:r>
              <a:rPr sz="1100"/>
              <a:t>• The Wallet cannot fully defend a rooted device. Design so a compromised device costs one user, not the system.</a:t>
            </a:r>
          </a:p>
          <a:p>
            <a:r>
              <a:rPr b="1" sz="1100"/>
              <a:t>LIKELY QUESTIONS</a:t>
            </a:r>
          </a:p>
          <a:p>
            <a:r>
              <a:rPr sz="1100"/>
              <a:t>– Can we detect rooted devices? — Partially; Play Integrity / SafetyNet style attestation. Mimoto exposes attestation verification endpoints. It is a signal, not a guarantee.</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comparison table is the slide. People who internalise it stop mixing up the two protocols for the rest of their careers.</a:t>
            </a:r>
          </a:p>
          <a:p>
            <a:r>
              <a:rPr sz="1100"/>
              <a:t>• Row 3 is the one that surprises people: in OpenID4VP nobody authenticates the user. There is no login. Possession of the credential plus the holder's key, plus consent in the wallet, is the whole story. That is deliberate — it is what makes presentation work offline and across organisations.</a:t>
            </a:r>
          </a:p>
          <a:p>
            <a:r>
              <a:rPr sz="1100"/>
              <a:t>• Row 4 is the security skeleton. Come back to it in section 4 and again in section 10.</a:t>
            </a:r>
          </a:p>
          <a:p>
            <a:r>
              <a:rPr sz="1100"/>
              <a:t>• Mention draft versions now: Inji supports VCI draft 11 and 13, VP draft 21 and 23. Draft skew is the single most common interoperability problem with external parties.</a:t>
            </a:r>
          </a:p>
          <a:p>
            <a:r>
              <a:rPr b="1" sz="1100"/>
              <a:t>CAVEATS / GOTCHAS</a:t>
            </a:r>
          </a:p>
          <a:p>
            <a:r>
              <a:rPr sz="1100"/>
              <a:t>• 'Draft' is not a warning label here — these drafts are what the whole ecosystem ships against. But two parties on different drafts will fail in confusing ways. Agree the draft in writing with every external partner.</a:t>
            </a:r>
          </a:p>
          <a:p>
            <a:r>
              <a:rPr sz="1100"/>
              <a:t>• OpenID4VP draft 23 removes client_id_scheme as a separate parameter; the library infers the draft from whether that parameter is present.</a:t>
            </a:r>
          </a:p>
          <a:p>
            <a:r>
              <a:rPr b="1" sz="1100"/>
              <a:t>LIKELY QUESTIONS</a:t>
            </a:r>
          </a:p>
          <a:p>
            <a:r>
              <a:rPr sz="1100"/>
              <a:t>– Is there a final version? — The specs continue to move. Plan for version negotiation, not a one-time integration.</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slide prevents an expensive misunderstanding. Teams often promise 'offline wallet' and mean different things.</a:t>
            </a:r>
          </a:p>
          <a:p>
            <a:r>
              <a:rPr sz="1100"/>
              <a:t>• Walk the rows. The clean rule: obtaining is online, holding and displaying are offline, presenting depends entirely on the channel you choose.</a:t>
            </a:r>
          </a:p>
          <a:p>
            <a:r>
              <a:rPr sz="1100"/>
              <a:t>• The BLE row matters for Brazil if proximity use cases (transport, border, events) are in scope. Tuvali is Inji's own BLE transport and is not the same thing as ISO 18013-5 device retrieval — be precise about that if somebody asks for 'mDL offline'.</a:t>
            </a:r>
          </a:p>
          <a:p>
            <a:r>
              <a:rPr sz="1100"/>
              <a:t>• The Claim 169 QR row is a MOSIP-specific optimisation: the issuer can embed a pre-signed CBOR QR in the credential, and the wallet displays that rather than generating its own.</a:t>
            </a:r>
          </a:p>
          <a:p>
            <a:r>
              <a:rPr b="1" sz="1100"/>
              <a:t>CAVEATS / GOTCHAS</a:t>
            </a:r>
          </a:p>
          <a:p>
            <a:r>
              <a:rPr sz="1100"/>
              <a:t>• Verification at download time may need the issuer's key, which may be a network fetch. If that call fails the credential download can fail even though the credential itself arrived. That is a real and confusing failure — it appears again in troubleshooting.</a:t>
            </a:r>
          </a:p>
          <a:p>
            <a:r>
              <a:rPr sz="1100"/>
              <a:t>• Offline presentation via QR means the verifier trusts a static artefact; freshness/replay protection is weaker than OpenID4VP with a nonce. Say so explicitly.</a:t>
            </a:r>
          </a:p>
          <a:p>
            <a:r>
              <a:rPr b="1" sz="1100"/>
              <a:t>LIKELY QUESTIONS</a:t>
            </a:r>
          </a:p>
          <a:p>
            <a:r>
              <a:rPr sz="1100"/>
              <a:t>– Can the wallet queue an issuance request and complete it later? — Not in the standard flow; the authorization code and c_nonce are short-lived.</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Say why the demo is first: protocol slides land much better once people have seen the artefact move.</a:t>
            </a:r>
          </a:p>
          <a:p>
            <a:r>
              <a:rPr sz="1100"/>
              <a:t>• Ask people to note down every moment they did not understand. You will collect those at the end of the demo and map each one to the section that answers it — that turns confusion into an agenda.</a:t>
            </a:r>
          </a:p>
          <a:p>
            <a:r>
              <a:rPr b="1" sz="1100"/>
              <a:t>CAVEATS / GOTCHAS</a:t>
            </a:r>
          </a:p>
          <a:p>
            <a:r>
              <a:rPr sz="1100"/>
              <a:t>• Have a recorded fallback. A live demo that fails at 09:40 costs you the room's attention for an hour.</a:t>
            </a:r>
          </a:p>
          <a:p>
            <a:r>
              <a:rPr sz="1100"/>
              <a:t>• Use a pre-provisioned test identity. Do not do live enrolment on stage.</a:t>
            </a:r>
          </a:p>
          <a:p>
            <a:r>
              <a:rPr b="1" sz="1100"/>
              <a:t>TIME: 20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Narrate the user journey first with no jargon at all — 'pick an issuer, log in, get a card'. Then do the same journey again pointing at the third column.</a:t>
            </a:r>
          </a:p>
          <a:p>
            <a:r>
              <a:rPr sz="1100"/>
              <a:t>• Pause on the browser step. That browser is the authorization server, not Inji. Whatever Brazil uses for citizen login goes there, and it is the single biggest external dependency in issuance.</a:t>
            </a:r>
          </a:p>
          <a:p>
            <a:r>
              <a:rPr sz="1100"/>
              <a:t>• Call out the moment the key is created: before the credential request, the wallet generates a key pair and signs a proof JWT proving it holds the private key. That is what binds the credential to this device. We pull it apart in section 4.</a:t>
            </a:r>
          </a:p>
          <a:p>
            <a:r>
              <a:rPr sz="1100"/>
              <a:t>• If you have a proxy or charles/mitm set up, show the actual HTTP calls. Nothing beats seeing the real traffic.</a:t>
            </a:r>
          </a:p>
          <a:p>
            <a:r>
              <a:rPr b="1" sz="1100"/>
              <a:t>CAVEATS / GOTCHAS</a:t>
            </a:r>
          </a:p>
          <a:p>
            <a:r>
              <a:rPr sz="1100"/>
              <a:t>• Do not claim the wallet talks to the issuer for everything. Discovery and token exchange are brokered by Mimoto in the standard Inji configuration; the credential request goes to the issuer directly.</a:t>
            </a:r>
          </a:p>
          <a:p>
            <a:r>
              <a:rPr sz="1100"/>
              <a:t>• Downloads can be slow; Mimoto has a configurable download timeout (mosip.inji.openId4VCIDownloadVCTimeout) — mention it rather than standing in awkward silence.</a:t>
            </a:r>
          </a:p>
          <a:p>
            <a:r>
              <a:rPr b="1" sz="1100"/>
              <a:t>LIKELY QUESTIONS</a:t>
            </a:r>
          </a:p>
          <a:p>
            <a:r>
              <a:rPr sz="1100"/>
              <a:t>– Why does a browser open instead of an in-app form? — Because the wallet must never see the user's credentials for the authorization server. That is the whole point of the authorization code flow.</a:t>
            </a:r>
          </a:p>
          <a:p>
            <a:r>
              <a:rPr sz="1100"/>
              <a:t>– Could we skip the login? — Yes, with the pre-authorized code flow. Section 3.</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moment that matters is the consent screen. Freeze on it. Point out it names the verifier and lists the claims. Everything in OpenID4VP exists to make that screen honest.</a:t>
            </a:r>
          </a:p>
          <a:p>
            <a:r>
              <a:rPr sz="1100"/>
              <a:t>• Point out what the verifier screen does NOT show: any claim it did not request. If the credential format supports selective disclosure, the undisclosed claims never left the phone.</a:t>
            </a:r>
          </a:p>
          <a:p>
            <a:r>
              <a:rPr sz="1100"/>
              <a:t>• Mention the direction of travel: the wallet POSTs to the verifier. The verifier never connects to the phone. That is why cross-device works without any inbound connectivity to the handset.</a:t>
            </a:r>
          </a:p>
          <a:p>
            <a:r>
              <a:rPr sz="1100"/>
              <a:t>• Collect the room's 'I did not understand X' notes now and map them to sections.</a:t>
            </a:r>
          </a:p>
          <a:p>
            <a:r>
              <a:rPr b="1" sz="1100"/>
              <a:t>CAVEATS / GOTCHAS</a:t>
            </a:r>
          </a:p>
          <a:p>
            <a:r>
              <a:rPr sz="1100"/>
              <a:t>• With ldp_vc the whole credential goes across — selective disclosure is a property of SD-JWT VC and mDoc, not of OpenID4VP. Be careful not to over-promise on this slide.</a:t>
            </a:r>
          </a:p>
          <a:p>
            <a:r>
              <a:rPr sz="1100"/>
              <a:t>• Inji Wallet may ask for face verification before sharing if the selected credential contains a face image; that is an Inji product behaviour, not part of OpenID4VP.</a:t>
            </a:r>
          </a:p>
          <a:p>
            <a:r>
              <a:rPr b="1" sz="1100"/>
              <a:t>LIKELY QUESTIONS</a:t>
            </a:r>
          </a:p>
          <a:p>
            <a:r>
              <a:rPr sz="1100"/>
              <a:t>– Can the verifier replay what it received? — It can re-present the VP token, which is why the nonce and the verifier's own audience checks matter. Section 8.</a:t>
            </a:r>
          </a:p>
          <a:p>
            <a:r>
              <a:rPr sz="1100"/>
              <a:t>– What if the user has two matching credentials? — The wallet shows both and the user chooses.</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densest section of the morning. Warn people, and promise the payoff: after this, issuance logs stop being mysterious.</a:t>
            </a:r>
          </a:p>
          <a:p>
            <a:r>
              <a:rPr sz="1100"/>
              <a:t>• Keep referring back to Demo 1. Every slide here is a zoom-in on something they already watched happen.</a:t>
            </a:r>
          </a:p>
          <a:p>
            <a:r>
              <a:rPr b="1" sz="1100"/>
              <a:t>TIME: 35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Anchor on the OAuth similarity — it lowers the anxiety in the room immediately.</a:t>
            </a:r>
          </a:p>
          <a:p>
            <a:r>
              <a:rPr sz="1100"/>
              <a:t>• The only genuinely new endpoint is the credential endpoint, and the only genuinely new concept is the proof: a JWT signed by a key the wallet controls, sent with the credential request, so the issuer can bind the credential to that key.</a:t>
            </a:r>
          </a:p>
          <a:p>
            <a:r>
              <a:rPr sz="1100"/>
              <a:t>• Explain the two starting points with concrete Brazilian examples: wallet-initiated is 'I open my wallet and want my vaccination record'; issuer-initiated is 'the clinic prints a QR on my discharge paper'.</a:t>
            </a:r>
          </a:p>
          <a:p>
            <a:r>
              <a:rPr sz="1100"/>
              <a:t>• Note that the issuer decides the grant type, not the wallet. The wallet reads it out of the credential offer or the metadata.</a:t>
            </a:r>
          </a:p>
          <a:p>
            <a:r>
              <a:rPr b="1" sz="1100"/>
              <a:t>CAVEATS / GOTCHAS</a:t>
            </a:r>
          </a:p>
          <a:p>
            <a:r>
              <a:rPr sz="1100"/>
              <a:t>• Metadata path detail: the well-known path is inserted between host and path components per RFC 8414 conventions. Issuers that host the credential issuer at a sub-path frequently get this wrong, and the wallet then 404s. This is a top-three integration bug.</a:t>
            </a:r>
          </a:p>
          <a:p>
            <a:r>
              <a:rPr sz="1100"/>
              <a:t>• Draft 11 and draft 13 differ in the metadata shape (credentials_supported vs credential_configurations_supported). inji-vci-client handles both; your issuer must pick one and be consistent.</a:t>
            </a:r>
          </a:p>
          <a:p>
            <a:r>
              <a:rPr b="1" sz="1100"/>
              <a:t>LIKELY QUESTIONS</a:t>
            </a:r>
          </a:p>
          <a:p>
            <a:r>
              <a:rPr sz="1100"/>
              <a:t>– Does the wallet need a client secret? — No. A mobile wallet is a public client; that is exactly why PKCE is mandatory.</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Read the JSON aloud field by field. It is short and every field earns its place.</a:t>
            </a:r>
          </a:p>
          <a:p>
            <a:r>
              <a:rPr sz="1100"/>
              <a:t>• Stress that credential_issuer is an identifier AND a base URL. The wallet appends /.well-known/openid-credential-issuer to it. If Brazil's issuer sits behind a path prefix or a reverse proxy that rewrites paths, this is where it breaks.</a:t>
            </a:r>
          </a:p>
          <a:p>
            <a:r>
              <a:rPr sz="1100"/>
              <a:t>• tx_code is the anti-theft measure for printed offers. Explain the scenario: a QR printed on a discharge slip left on a table. Without tx_code, whoever picks it up gets the credential.</a:t>
            </a:r>
          </a:p>
          <a:p>
            <a:r>
              <a:rPr sz="1100"/>
              <a:t>• Mention that inji-vci-client caches the fetched issuer metadata for the duration of the flow — so a metadata endpoint that is slow costs you once, not five times.</a:t>
            </a:r>
          </a:p>
          <a:p>
            <a:r>
              <a:rPr b="1" sz="1100"/>
              <a:t>CAVEATS / GOTCHAS</a:t>
            </a:r>
          </a:p>
          <a:p>
            <a:r>
              <a:rPr sz="1100"/>
              <a:t>• credential_configuration_ids is an array, but Inji does not support batch credential download. One credential per journey.</a:t>
            </a:r>
          </a:p>
          <a:p>
            <a:r>
              <a:rPr sz="1100"/>
              <a:t>• The offer has no signature. Its trustworthiness comes from the issuer metadata fetch that follows, over TLS, plus the optional tx_code. Do not treat the offer itself as authenticated.</a:t>
            </a:r>
          </a:p>
          <a:p>
            <a:r>
              <a:rPr b="1" sz="1100"/>
              <a:t>LIKELY QUESTIONS</a:t>
            </a:r>
          </a:p>
          <a:p>
            <a:r>
              <a:rPr sz="1100"/>
              <a:t>– Can the offer expire? — The pre-authorized code does. The offer object itself carries no expiry field; the issuer enforces it server-side.</a:t>
            </a:r>
          </a:p>
          <a:p>
            <a:r>
              <a:rPr sz="1100"/>
              <a:t>– What if we want the user to confirm the issuer first? — inji-vci-client has an onCheckIssuerTrust callback for exactly that.</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slide answers more support tickets than any other in the deck.</a:t>
            </a:r>
          </a:p>
          <a:p>
            <a:r>
              <a:rPr sz="1100"/>
              <a:t>• Point at the highlighted lines: authorization_servers, format, proof_types_supported. Those three drive everything downstream.</a:t>
            </a:r>
          </a:p>
          <a:p>
            <a:r>
              <a:rPr sz="1100"/>
              <a:t>• The display metadata point is worth labouring. Teams routinely try to hard-code Portuguese labels into the wallet. Do not. Put pt-BR display entries in the issuer metadata and the wallet renders them. Field ORDER also comes from metadata in draft 13.</a:t>
            </a:r>
          </a:p>
          <a:p>
            <a:r>
              <a:rPr sz="1100"/>
              <a:t>• The caching point saves an afternoon: after an issuer metadata change, Mimoto will keep serving the old copy until the TTL expires. Either wait, restart, or lower the TTL in non-production.</a:t>
            </a:r>
          </a:p>
          <a:p>
            <a:r>
              <a:rPr b="1" sz="1100"/>
              <a:t>CAVEATS / GOTCHAS</a:t>
            </a:r>
          </a:p>
          <a:p>
            <a:r>
              <a:rPr sz="1100"/>
              <a:t>• Inji takes only the first entry of authorization_servers. If Brazil plans several authorization servers per issuer, that is a gap to raise upstream.</a:t>
            </a:r>
          </a:p>
          <a:p>
            <a:r>
              <a:rPr sz="1100"/>
              <a:t>• The well-known document must be reachable from the phone, not just from your laptop. Split-horizon DNS and internal-only hostnames cause 'works on my machine' failures here.</a:t>
            </a:r>
          </a:p>
          <a:p>
            <a:r>
              <a:rPr sz="1100"/>
              <a:t>• Draft 11 issuers publish credentials_supported as an array; draft 13 publishes credential_configurations_supported as an object. Mixing them silently produces an empty credential list.</a:t>
            </a:r>
          </a:p>
          <a:p>
            <a:r>
              <a:rPr b="1" sz="1100"/>
              <a:t>LIKELY QUESTIONS</a:t>
            </a:r>
          </a:p>
          <a:p>
            <a:r>
              <a:rPr sz="1100"/>
              <a:t>– Can we serve different metadata per locale? — Use the display array with locale entries rather than different documents.</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Walk it slowly with a laser pointer. Fifteen minutes of this slide is not wasted time.</a:t>
            </a:r>
          </a:p>
          <a:p>
            <a:r>
              <a:rPr sz="1100"/>
              <a:t>• The shape to notice: the library orchestrates, but the WALLET performs every action that needs a key, a screen, or the network stack. inji-vci-client calls back into the app for tx_code, for the token request, and for the proof JWT. That is a deliberate design: the library never touches private keys.</a:t>
            </a:r>
          </a:p>
          <a:p>
            <a:r>
              <a:rPr sz="1100"/>
              <a:t>• Step 11: the token request carries the pre-authorized code and the tx_code. There is no browser, no redirect, no PKCE — PKCE belongs to the authorization code flow only.</a:t>
            </a:r>
          </a:p>
          <a:p>
            <a:r>
              <a:rPr sz="1100"/>
              <a:t>• Step 12: c_nonce is the issuer's freshness challenge. It goes inside the proof JWT at step 14. Without it, an attacker could replay an old proof.</a:t>
            </a:r>
          </a:p>
          <a:p>
            <a:r>
              <a:rPr sz="1100"/>
              <a:t>• Step 17: the wallet verifies the credential with vc-verifier before storing it. A credential that fails verification is not saved.</a:t>
            </a:r>
          </a:p>
          <a:p>
            <a:r>
              <a:rPr b="1" sz="1100"/>
              <a:t>CAVEATS / GOTCHAS</a:t>
            </a:r>
          </a:p>
          <a:p>
            <a:r>
              <a:rPr sz="1100"/>
              <a:t>• tx_code is optional. If the offer does not ask for one, steps 8 and 9 disappear — and so does the protection against a stolen offer.</a:t>
            </a:r>
          </a:p>
          <a:p>
            <a:r>
              <a:rPr sz="1100"/>
              <a:t>• Some issuers return c_nonce from the credential endpoint on a 'nonce required' error rather than from the token endpoint. Handle both.</a:t>
            </a:r>
          </a:p>
          <a:p>
            <a:r>
              <a:rPr sz="1100"/>
              <a:t>• Note there is no PKCE here at all. People often assume PKCE is everywhere; it is not.</a:t>
            </a:r>
          </a:p>
          <a:p>
            <a:r>
              <a:rPr b="1" sz="1100"/>
              <a:t>LIKELY QUESTIONS</a:t>
            </a:r>
          </a:p>
          <a:p>
            <a:r>
              <a:rPr sz="1100"/>
              <a:t>– Who generates the pre-authorized code? — The issuer, at the moment it creates the offer, bound to a specific user.</a:t>
            </a:r>
          </a:p>
          <a:p>
            <a:r>
              <a:rPr sz="1100"/>
              <a:t>– Can the same offer be redeemed twice? — It must not be. Single-use enforcement is the issuer's job.</a:t>
            </a:r>
          </a:p>
          <a:p>
            <a:r>
              <a:rPr b="1" sz="1100"/>
              <a:t>TIME: 9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Compare directly with the previous slide. The delta is steps 4 to 11: PKCE session, browser, user login, code, code_verifier.</a:t>
            </a:r>
          </a:p>
          <a:p>
            <a:r>
              <a:rPr sz="1100"/>
              <a:t>• Step 6 — the SYSTEM browser, not a WebView. This matters: a WebView controlled by the app could read the user's password. Using the system browser is a security requirement, and it is also why the deep-link configuration has to be right.</a:t>
            </a:r>
          </a:p>
          <a:p>
            <a:r>
              <a:rPr sz="1100"/>
              <a:t>• Step 8 — the redirect comes back on a custom scheme registered by the app. In Inji Wallet that is io.mosip.residentapp.inji://oauthredirect, declared in AndroidManifest.xml and in the issuer configuration in Mimoto. These two values must match exactly, including trailing slashes.</a:t>
            </a:r>
          </a:p>
          <a:p>
            <a:r>
              <a:rPr sz="1100"/>
              <a:t>• Step 11 — the code_verifier proves the same app that started the flow is finishing it. Detail on the next section.</a:t>
            </a:r>
          </a:p>
          <a:p>
            <a:r>
              <a:rPr sz="1100"/>
              <a:t>• Note that in Inji's standard deployment the token exchange is brokered through Mimoto (get-token/{issuer}) so that any client secret stays server-side. The library's callback gives the app the freedom to route it that way.</a:t>
            </a:r>
          </a:p>
          <a:p>
            <a:r>
              <a:rPr b="1" sz="1100"/>
              <a:t>CAVEATS / GOTCHAS</a:t>
            </a:r>
          </a:p>
          <a:p>
            <a:r>
              <a:rPr sz="1100"/>
              <a:t>• The redirect_uri must be registered identically at the authorization server, in mimoto-issuers-config.json, and in the app manifest. Three places, one value. Most first-day failures are here.</a:t>
            </a:r>
          </a:p>
          <a:p>
            <a:r>
              <a:rPr sz="1100"/>
              <a:t>• Custom URI schemes are first-come-first-served on Android. Two apps registering the same scheme is a real hijack risk — prefer App Links / Universal Links where you can.</a:t>
            </a:r>
          </a:p>
          <a:p>
            <a:r>
              <a:rPr sz="1100"/>
              <a:t>• state is not optional in practice: it is how the wallet knows the response belongs to the request it started.</a:t>
            </a:r>
          </a:p>
          <a:p>
            <a:r>
              <a:rPr b="1" sz="1100"/>
              <a:t>LIKELY QUESTIONS</a:t>
            </a:r>
          </a:p>
          <a:p>
            <a:r>
              <a:rPr sz="1100"/>
              <a:t>– Why not use an in-app WebView, it looks nicer? — Because it breaks the security model and many authorization servers refuse it.</a:t>
            </a:r>
          </a:p>
          <a:p>
            <a:r>
              <a:rPr sz="1100"/>
              <a:t>– Can we do silent re-issuance? — Only if the authorization server supports refresh tokens for this client; Inji's flow assumes a fresh authorization.</a:t>
            </a:r>
          </a:p>
          <a:p>
            <a:r>
              <a:rPr b="1" sz="1100"/>
              <a:t>TIME: 9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Four boxes, four minutes. Do not lecture; point at the highlighted fields.</a:t>
            </a:r>
          </a:p>
          <a:p>
            <a:r>
              <a:rPr sz="1100"/>
              <a:t>• token_type is Bearer here. That is the current Inji behaviour — the access token is a bearer token, which means anyone who steals it in transit can use it. We discuss the alternative (DPoP) on the next slides, and whether Brazil should ask for it.</a:t>
            </a:r>
          </a:p>
          <a:p>
            <a:r>
              <a:rPr sz="1100"/>
              <a:t>• c_nonce is the hinge between the token step and the credential step. It ties the proof to this issuance, right now. If your issuer does not return c_nonce, the proof cannot be replay-protected and many issuers will reject it.</a:t>
            </a:r>
          </a:p>
          <a:p>
            <a:r>
              <a:rPr sz="1100"/>
              <a:t>• The credential response is deliberately format-agnostic in the protocol and completely format-specific in your code. That asymmetry is the main reason format choice is an architecture decision, not a detail.</a:t>
            </a:r>
          </a:p>
          <a:p>
            <a:r>
              <a:rPr b="1" sz="1100"/>
              <a:t>CAVEATS / GOTCHAS</a:t>
            </a:r>
          </a:p>
          <a:p>
            <a:r>
              <a:rPr sz="1100"/>
              <a:t>• expires_in on the access token is usually short. A slow credential endpoint plus a short token lifetime equals intermittent 401s in production.</a:t>
            </a:r>
          </a:p>
          <a:p>
            <a:r>
              <a:rPr sz="1100"/>
              <a:t>• Draft 13 allows the credential endpoint to respond asynchronously with a transaction_id and an acceptance token. Inji's wallet flow assumes the synchronous response; check what your issuer does.</a:t>
            </a:r>
          </a:p>
          <a:p>
            <a:r>
              <a:rPr sz="1100"/>
              <a:t>• The proof JWT typ is openid4vci-proof+jwt. Issuers that do not check it are being lenient; do not rely on that.</a:t>
            </a:r>
          </a:p>
          <a:p>
            <a:r>
              <a:rPr b="1" sz="1100"/>
              <a:t>LIKELY QUESTIONS</a:t>
            </a:r>
          </a:p>
          <a:p>
            <a:r>
              <a:rPr sz="1100"/>
              <a:t>– Can we get several credentials in one call? — Batch issuance is out of scope for the Inji wallet today.</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slide developers photograph. Give them a moment.</a:t>
            </a:r>
          </a:p>
          <a:p>
            <a:r>
              <a:rPr sz="1100"/>
              <a:t>• The callback architecture is the important idea. inji-vci-client is a state machine that says 'I need a tx_code', 'I need a token', 'I need a proof' — and the wallet answers. The library is deliberately incapable of signing anything.</a:t>
            </a:r>
          </a:p>
          <a:p>
            <a:r>
              <a:rPr sz="1100"/>
              <a:t>• Row 6 is an Inji design decision worth discussing with Brazil: Mimoto brokers the token exchange so that any client authentication material stays on the server. If Brazil's authorization server uses a public client with PKCE only, this hop could in principle be removed — but it also gives you a central place for logging and policy.</a:t>
            </a:r>
          </a:p>
          <a:p>
            <a:r>
              <a:rPr sz="1100"/>
              <a:t>• Row 10: the wallet verifies at download. A credential that fails verification is never stored. Some teams want to store-and-warn instead; that is a product decision.</a:t>
            </a:r>
          </a:p>
          <a:p>
            <a:r>
              <a:rPr b="1" sz="1100"/>
              <a:t>CAVEATS / GOTCHAS</a:t>
            </a:r>
          </a:p>
          <a:p>
            <a:r>
              <a:rPr sz="1100"/>
              <a:t>• Mimoto's /get-token/{issuer} endpoint is Inji-specific, not part of OpenID4VCI. Do not describe it to external partners as a standard endpoint.</a:t>
            </a:r>
          </a:p>
          <a:p>
            <a:r>
              <a:rPr sz="1100"/>
              <a:t>• The iOS library surface mirrors the Kotlin one, but verify feature parity on the version you pin.</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demo converts an abstract slide into a visible fact: the wallet is a renderer of issuer metadata.</a:t>
            </a:r>
          </a:p>
          <a:p>
            <a:r>
              <a:rPr sz="1100"/>
              <a:t>• Show the display/order behaviour by changing one label in the issuer metadata and re-downloading. If Mimoto's cache is in the way, that itself is a useful lesson — show the TTL property.</a:t>
            </a:r>
          </a:p>
          <a:p>
            <a:r>
              <a:rPr sz="1100"/>
              <a:t>• For Portuguese: this is the moment to show that credential field labels are localised by the ISSUER, while the app chrome is localised by the app's own locale files. Two different localisation surfaces. Brazil must plan both.</a:t>
            </a:r>
          </a:p>
          <a:p>
            <a:r>
              <a:rPr b="1" sz="1100"/>
              <a:t>CAVEATS / GOTCHAS</a:t>
            </a:r>
          </a:p>
          <a:p>
            <a:r>
              <a:rPr sz="1100"/>
              <a:t>• Do not show a real person's credential. Use test data.</a:t>
            </a:r>
          </a:p>
          <a:p>
            <a:r>
              <a:rPr sz="1100"/>
              <a:t>• Decrypting the on-device store live is not practical in a workshop; describe it rather than attempting it.</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Set expectations: this section is conceptual, and it is the one where precision pays off later.</a:t>
            </a:r>
          </a:p>
          <a:p>
            <a:r>
              <a:rPr sz="1100"/>
              <a:t>• Promise a single comparison table at the end that they can keep.</a:t>
            </a:r>
          </a:p>
          <a:p>
            <a:r>
              <a:rPr b="1" sz="1100"/>
              <a:t>TIME: 25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Tell the story before the mechanics: on a phone, the redirect back from the browser lands on a custom URI scheme, and on Android any app can claim a scheme. So the code can be stolen. PKCE makes a stolen code worthless.</a:t>
            </a:r>
          </a:p>
          <a:p>
            <a:r>
              <a:rPr sz="1100"/>
              <a:t>• The analogy that works: you hand the cloakroom a padlocked box (the challenge) when you check your coat, and the key (the verifier) when you collect it. Somebody who steals the ticket still cannot open the box.</a:t>
            </a:r>
          </a:p>
          <a:p>
            <a:r>
              <a:rPr sz="1100"/>
              <a:t>• Labour the 'what it does NOT do' card. This is where teams over-claim. PKCE is about the code, not the token.</a:t>
            </a:r>
          </a:p>
          <a:p>
            <a:r>
              <a:rPr sz="1100"/>
              <a:t>• Inji uses S256 only — plain is not offered, which is correct.</a:t>
            </a:r>
          </a:p>
          <a:p>
            <a:r>
              <a:rPr b="1" sz="1100"/>
              <a:t>CAVEATS / GOTCHAS</a:t>
            </a:r>
          </a:p>
          <a:p>
            <a:r>
              <a:rPr sz="1100"/>
              <a:t>• PKCE is mandatory for public clients in OAuth 2.1 and in OpenID4VCI practice. Do not let an authorization server vendor tell you it is optional.</a:t>
            </a:r>
          </a:p>
          <a:p>
            <a:r>
              <a:rPr sz="1100"/>
              <a:t>• If the authorization server does not advertise code_challenge_methods_supported, test it explicitly — silent ignoring of the challenge is a real and dangerous vendor bug.</a:t>
            </a:r>
          </a:p>
          <a:p>
            <a:r>
              <a:rPr b="1" sz="1100"/>
              <a:t>LIKELY QUESTIONS</a:t>
            </a:r>
          </a:p>
          <a:p>
            <a:r>
              <a:rPr sz="1100"/>
              <a:t>– Do we still need a client secret? — No, and a mobile app cannot keep one anyway.</a:t>
            </a:r>
          </a:p>
          <a:p>
            <a:r>
              <a:rPr sz="1100"/>
              <a:t>– Does Inji Web use PKCE? — Its issuance path runs through Mimoto, which is a confidential client; the trade-offs differ.</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Be scrupulously honest on this slide. DPoP is in the spec ecosystem and it is the right direction, but it is not in the Inji code today. Saying otherwise will cost you credibility the first time somebody greps the repo.</a:t>
            </a:r>
          </a:p>
          <a:p>
            <a:r>
              <a:rPr sz="1100"/>
              <a:t>• Explain the mechanism simply: with a bearer token, possession is authorisation — steal the string, use the token. With DPoP, the token carries a fingerprint (jkt) of a key, and every request must be accompanied by a fresh signature from that key. Stealing the token alone gets you nothing.</a:t>
            </a:r>
          </a:p>
          <a:p>
            <a:r>
              <a:rPr sz="1100"/>
              <a:t>• ath is the subtle one. Without it, a DPoP proof captured on one request could be paired with a different stolen token. ath nails the proof to one specific token.</a:t>
            </a:r>
          </a:p>
          <a:p>
            <a:r>
              <a:rPr sz="1100"/>
              <a:t>• For Brazil: if the threat model includes token theft at the network layer or a compromised intermediary, DPoP is the mitigation to ask for upstream. Log it as a requirement, not an assumption.</a:t>
            </a:r>
          </a:p>
          <a:p>
            <a:r>
              <a:rPr b="1" sz="1100"/>
              <a:t>CAVEATS / GOTCHAS</a:t>
            </a:r>
          </a:p>
          <a:p>
            <a:r>
              <a:rPr sz="1100"/>
              <a:t>• Do not confuse the DPoP proof with the OpenID4VCI credential request proof. Same word, completely different job. Next slide fixes this.</a:t>
            </a:r>
          </a:p>
          <a:p>
            <a:r>
              <a:rPr sz="1100"/>
              <a:t>• DPoP requires support on BOTH the authorization server and the resource server (the credential endpoint). Half a deployment is worse than none.</a:t>
            </a:r>
          </a:p>
          <a:p>
            <a:r>
              <a:rPr b="1" sz="1100"/>
              <a:t>LIKELY QUESTIONS</a:t>
            </a:r>
          </a:p>
          <a:p>
            <a:r>
              <a:rPr sz="1100"/>
              <a:t>– Can we add DPoP ourselves? — It is a library change in inji-vci-client plus AS and issuer support. Raise it with the Inji community rather than forking.</a:t>
            </a:r>
          </a:p>
          <a:p>
            <a:r>
              <a:rPr sz="1100"/>
              <a:t>– Is mTLS an alternative? — Yes, RFC 8705 certificate-bound tokens achieve the same goal; heavier to operate on mobile.</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Put this on screen and stop talking for twenty seconds. Let people read it.</a:t>
            </a:r>
          </a:p>
          <a:p>
            <a:r>
              <a:rPr sz="1100"/>
              <a:t>• Then take questions. This is the slide where the room's misconceptions surface, and it is much cheaper to fix them here than in section 12.</a:t>
            </a:r>
          </a:p>
          <a:p>
            <a:r>
              <a:rPr sz="1100"/>
              <a:t>• Note the bottom row is a status row, not a specification row. It will change as Inji evolves — date it when you present.</a:t>
            </a:r>
          </a:p>
          <a:p>
            <a:r>
              <a:rPr sz="1100"/>
              <a:t>• If someone argues 'we have PKCE so we do not need DPoP', use row 1: different asset, different attack.</a:t>
            </a:r>
          </a:p>
          <a:p>
            <a:r>
              <a:rPr b="1" sz="1100"/>
              <a:t>CAVEATS / GOTCHAS</a:t>
            </a:r>
          </a:p>
          <a:p>
            <a:r>
              <a:rPr sz="1100"/>
              <a:t>• The 'credential request proof' column is specifically the proof in the credential request body. The word 'proof' also appears in ldp_vc credentials (the linked-data proof) and in VP tokens. Three more uses of the same word. Context is everything.</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Slow, deliberate delivery. Read each card, then give one concrete example that walks across all four.</a:t>
            </a:r>
          </a:p>
          <a:p>
            <a:r>
              <a:rPr sz="1100"/>
              <a:t>• The walk-through example: at issuance the wallet sends a JWT proof (proof type). The issuer puts a did:jwk identifier into the credential (binding method). The credential therefore names a holder key (holder binding). At presentation the wallet signs a KB-JWT with that key (key binding). One key, four vocabulary slots.</a:t>
            </a:r>
          </a:p>
          <a:p>
            <a:r>
              <a:rPr sz="1100"/>
              <a:t>• Ask the room to say which one a verifier checks. Answer: holder binding, by validating the key binding artefact. The verifier never sees the issuance proof.</a:t>
            </a:r>
          </a:p>
          <a:p>
            <a:r>
              <a:rPr sz="1100"/>
              <a:t>• This slide is the antidote to a very common architecture mistake: assuming that because issuance used a proof, presentations are automatically bound. They are not — the credential must carry the binding, and the format must support it.</a:t>
            </a:r>
          </a:p>
          <a:p>
            <a:r>
              <a:rPr b="1" sz="1100"/>
              <a:t>CAVEATS / GOTCHAS</a:t>
            </a:r>
          </a:p>
          <a:p>
            <a:r>
              <a:rPr sz="1100"/>
              <a:t>• Inji Wallet supports holder binding for SD-JWT VC only via a cnf claim containing a kid, with ES256 and EdDSA. For ldp_vc it is supported for Ed25519Signature2020. Those are real constraints — check them against Brazil's format choice.</a:t>
            </a:r>
          </a:p>
          <a:p>
            <a:r>
              <a:rPr sz="1100"/>
              <a:t>• An SD-JWT VC without a cnf claim gets no KB-JWT. inji-openid4vp skips it rather than failing — so an unbound credential presents successfully with weaker guarantees. Verifiers must check for themselves.</a:t>
            </a:r>
          </a:p>
          <a:p>
            <a:r>
              <a:rPr b="1" sz="1100"/>
              <a:t>LIKELY QUESTIONS</a:t>
            </a:r>
          </a:p>
          <a:p>
            <a:r>
              <a:rPr sz="1100"/>
              <a:t>– Can one credential be bound to two devices? — Not with a single cnf key. You would issue twice, once per device key.</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Decode a real proof JWT live if you can — jwt.io on a test token makes this concrete in fifteen seconds.</a:t>
            </a:r>
          </a:p>
          <a:p>
            <a:r>
              <a:rPr sz="1100"/>
              <a:t>• The aud field is the security-critical one people skip. Without it, an issuer you do not trust can collect proofs and replay them at an issuer you do trust.</a:t>
            </a:r>
          </a:p>
          <a:p>
            <a:r>
              <a:rPr sz="1100"/>
              <a:t>• Key attestation: explain the difference in one line — attestation is about the key's container, the proof is about this transaction. A bank vault certificate does not prove you are making a withdrawal today.</a:t>
            </a:r>
          </a:p>
          <a:p>
            <a:r>
              <a:rPr sz="1100"/>
              <a:t>• Brazil angle: if the trust framework requires hardware-backed keys, attestation is how you enforce it. That is an issuer-side policy decision, and it constrains which devices can hold credentials — which is a real inclusion trade-off.</a:t>
            </a:r>
          </a:p>
          <a:p>
            <a:r>
              <a:rPr b="1" sz="1100"/>
              <a:t>CAVEATS / GOTCHAS</a:t>
            </a:r>
          </a:p>
          <a:p>
            <a:r>
              <a:rPr sz="1100"/>
              <a:t>• Ed25519 and secp256k1 keys are NOT supported by Android's hardware keystore. Inji stores those in EncryptedSharedPreferences wrapped by a hardware key instead, and signs in software. If you require hardware attestation, you are effectively restricted to RSA-2048 and EC P-256.</a:t>
            </a:r>
          </a:p>
          <a:p>
            <a:r>
              <a:rPr sz="1100"/>
              <a:t>• Play Integrity replaced SafetyNet; the Mimoto endpoint names still say safetynet. Do not read the endpoint name as a statement about which API is in use.</a:t>
            </a:r>
          </a:p>
          <a:p>
            <a:r>
              <a:rPr b="1" sz="1100"/>
              <a:t>LIKELY QUESTIONS</a:t>
            </a:r>
          </a:p>
          <a:p>
            <a:r>
              <a:rPr sz="1100"/>
              <a:t>– Does the issuer have to check attestation? — Only if its policy says so; the protocol does not require it.</a:t>
            </a:r>
          </a:p>
          <a:p>
            <a:r>
              <a:rPr sz="1100"/>
              <a:t>– What about iOS? — App Attest and Secure Enclave give an equivalent signal with a different API surface.</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Run the exercise as a real five-minute activity if the room has laptops and access to logs. If not, do it as a thought exercise out loud.</a:t>
            </a:r>
          </a:p>
          <a:p>
            <a:r>
              <a:rPr sz="1100"/>
              <a:t>• The last row of the table is the one architects care about: binding is not free. It brings key lifecycle, device loss, device change, and re-issuance flows with it. Ask the room what happens today when a citizen changes phone.</a:t>
            </a:r>
          </a:p>
          <a:p>
            <a:r>
              <a:rPr sz="1100"/>
              <a:t>• Push the room to answer the Brazil question with examples from their own programme. Do not answer it for them.</a:t>
            </a:r>
          </a:p>
          <a:p>
            <a:r>
              <a:rPr b="1" sz="1100"/>
              <a:t>CAVEATS / GOTCHAS</a:t>
            </a:r>
          </a:p>
          <a:p>
            <a:r>
              <a:rPr sz="1100"/>
              <a:t>• Unbound does not mean insecure — it means the credential is a bearer artefact. For low-assurance use that can be the right choice.</a:t>
            </a:r>
          </a:p>
          <a:p>
            <a:r>
              <a:rPr sz="1100"/>
              <a:t>• A bound credential that the verifier does not check the binding on is effectively unbound. Binding requires both sides.</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Open by saying this bluntly: of everything today, format choice is the decision that is hardest to reverse.</a:t>
            </a:r>
          </a:p>
          <a:p>
            <a:r>
              <a:rPr sz="1100"/>
              <a:t>• Encourage the room to take notes against their own use cases as you go.</a:t>
            </a:r>
          </a:p>
          <a:p>
            <a:r>
              <a:rPr b="1" sz="1100"/>
              <a:t>TIME: 30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Do not read the table. Pick four cells and talk about them.</a:t>
            </a:r>
          </a:p>
          <a:p>
            <a:r>
              <a:rPr sz="1100"/>
              <a:t>• Row 3 is the headline. If selective disclosure matters — and for a national identity credential it almost always does — ldp_vc and plain JWT VC are off the table without extra machinery.</a:t>
            </a:r>
          </a:p>
          <a:p>
            <a:r>
              <a:rPr sz="1100"/>
              <a:t>• Row 5 is the honest caveat that teams discover late: Inji's vc-verifier currently resolves SD-JWT VC issuer keys from an X.509 certificate in the header, and JWT VC Issuer Metadata (the /.well-known/jwt-vc-issuer document) is not yet supported. If Brazil's issuer plans to publish keys that way, that is a gap to plan around or contribute upstream.</a:t>
            </a:r>
          </a:p>
          <a:p>
            <a:r>
              <a:rPr sz="1100"/>
              <a:t>• Row 10 matters for sequencing: Inji Certify does not issue mDoc today. If Brazil wants mDL, the issuer side is not the reference implementation.</a:t>
            </a:r>
          </a:p>
          <a:p>
            <a:r>
              <a:rPr sz="1100"/>
              <a:t>• Note vc+sd-jwt versus dc+sd-jwt: the media type was renamed as the IETF draft progressed. Inji supports both strings. Agree which one with every partner, in writing.</a:t>
            </a:r>
          </a:p>
          <a:p>
            <a:r>
              <a:rPr b="1" sz="1100"/>
              <a:t>CAVEATS / GOTCHAS</a:t>
            </a:r>
          </a:p>
          <a:p>
            <a:r>
              <a:rPr sz="1100"/>
              <a:t>• Support matrices move. Re-check against the release you will deploy, not against this slide.</a:t>
            </a:r>
          </a:p>
          <a:p>
            <a:r>
              <a:rPr sz="1100"/>
              <a:t>• 'Download + present' for mDoc in the wallet does not mean end-to-end mDL: ISO 18013-5 proximity has its own transport requirements beyond OpenID4VP.</a:t>
            </a:r>
          </a:p>
          <a:p>
            <a:r>
              <a:rPr b="1" sz="1100"/>
              <a:t>LIKELY QUESTIONS</a:t>
            </a:r>
          </a:p>
          <a:p>
            <a:r>
              <a:rPr sz="1100"/>
              <a:t>– Can one wallet hold several formats at once? — Yes, and it will. The store is format-tagged.</a:t>
            </a:r>
          </a:p>
          <a:p>
            <a:r>
              <a:rPr sz="1100"/>
              <a:t>– Which format do most European programmes use? — The EUDI reference is SD-JWT VC and mDoc; plan for both.</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Draw the tildes on the whiteboard. It is genuinely this simple, and simplicity is the format's main virtue.</a:t>
            </a:r>
          </a:p>
          <a:p>
            <a:r>
              <a:rPr sz="1100"/>
              <a:t>• The insight people need: the issuer signs the DIGESTS, not the values. So the wallet can drop any disclosure it likes and the issuer signature still verifies. Selective disclosure with no re-signing and no issuer involvement at presentation time.</a:t>
            </a:r>
          </a:p>
          <a:p>
            <a:r>
              <a:rPr sz="1100"/>
              <a:t>• The salt matters: without a per-claim random salt, a verifier could brute-force a low-entropy claim like a birth year from its digest. Never let an issuer skip salts.</a:t>
            </a:r>
          </a:p>
          <a:p>
            <a:r>
              <a:rPr sz="1100"/>
              <a:t>• sd_hash inside the KB-JWT binds the key-binding signature to exactly the set of disclosures being sent. Without it, a middleman could strip disclosures after the holder signed.</a:t>
            </a:r>
          </a:p>
          <a:p>
            <a:r>
              <a:rPr sz="1100"/>
              <a:t>• Point out the last bullet as a real behaviour to design around: an SD-JWT VC without cnf presents fine but proves nothing about who presented it.</a:t>
            </a:r>
          </a:p>
          <a:p>
            <a:r>
              <a:rPr b="1" sz="1100"/>
              <a:t>CAVEATS / GOTCHAS</a:t>
            </a:r>
          </a:p>
          <a:p>
            <a:r>
              <a:rPr sz="1100"/>
              <a:t>• Unsupported or mismatched _sd_alg raises an exception in inji-openid4vp. Test your issuer's choice against the wallet before go-live.</a:t>
            </a:r>
          </a:p>
          <a:p>
            <a:r>
              <a:rPr sz="1100"/>
              <a:t>• Nested and array disclosures exist in the spec and add complexity. Keep the first Brazilian credential flat if you can.</a:t>
            </a:r>
          </a:p>
          <a:p>
            <a:r>
              <a:rPr sz="1100"/>
              <a:t>• Disclosures are plaintext to anyone who gets the full credential — the protection is against the VERIFIER seeing undisclosed claims, not against device compromise.</a:t>
            </a:r>
          </a:p>
          <a:p>
            <a:r>
              <a:rPr b="1" sz="1100"/>
              <a:t>LIKELY QUESTIONS</a:t>
            </a:r>
          </a:p>
          <a:p>
            <a:r>
              <a:rPr sz="1100"/>
              <a:t>– Can the verifier ask for a claim that is not disclosable? — Only if the issuer left it outside _sd, in which case it is always visible.</a:t>
            </a:r>
          </a:p>
          <a:p>
            <a:r>
              <a:rPr sz="1100"/>
              <a:t>– Does hiding a claim change the credential's signature? — No, and that is the whole trick.</a:t>
            </a:r>
          </a:p>
          <a:p>
            <a:r>
              <a:rPr b="1" sz="1100"/>
              <a:t>TIME: 9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Be explicit and honest about the middle row: the well-known jwt-vc-issuer path is the direction the SD-JWT VC spec points, and Inji's verifier does not implement it yet. Brazil needs to know that before designing its key publication strategy.</a:t>
            </a:r>
          </a:p>
          <a:p>
            <a:r>
              <a:rPr sz="1100"/>
              <a:t>• The practical consequence: if Brazil issues SD-JWT VC today and expects Inji Wallet to verify it, the issuer must put an X.509 chain in the header and the wallet must trust the root. That is a PKI decision, not just a code decision.</a:t>
            </a:r>
          </a:p>
          <a:p>
            <a:r>
              <a:rPr sz="1100"/>
              <a:t>• The 'kid selects, iss locates' line is worth writing on the whiteboard.</a:t>
            </a:r>
          </a:p>
          <a:p>
            <a:r>
              <a:rPr sz="1100"/>
              <a:t>• The failure table is a preview of section 12 — tell people it will come back.</a:t>
            </a:r>
          </a:p>
          <a:p>
            <a:r>
              <a:rPr b="1" sz="1100"/>
              <a:t>CAVEATS / GOTCHAS</a:t>
            </a:r>
          </a:p>
          <a:p>
            <a:r>
              <a:rPr sz="1100"/>
              <a:t>• Key rotation is the failure nobody plans for. A credential signed in March must still verify in December, so the March key has to stay published. Overlap windows are a policy decision with a hard technical deadline.</a:t>
            </a:r>
          </a:p>
          <a:p>
            <a:r>
              <a:rPr sz="1100"/>
              <a:t>• Certificate chain validation for document signers in mDoc is a related but separate problem — see the mDoc slide.</a:t>
            </a:r>
          </a:p>
          <a:p>
            <a:r>
              <a:rPr b="1" sz="1100"/>
              <a:t>LIKELY QUESTIONS</a:t>
            </a:r>
          </a:p>
          <a:p>
            <a:r>
              <a:rPr sz="1100"/>
              <a:t>– Can we use both x5c and a well-known document? — Yes, and publishing both maximises interoperability with wallets other than Inji.</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Start with the shape: mDoc is CBOR, so you cannot eyeball it. Have a CBOR decoder ready — that alone changes how a team debugs mDoc.</a:t>
            </a:r>
          </a:p>
          <a:p>
            <a:r>
              <a:rPr sz="1100"/>
              <a:t>• The conceptual parallel with SD-JWT VC is worth drawing explicitly: both put per-claim digests under one issuer signature, and both let the holder omit values. The difference is encoding, key resolution, and the extra device authentication step.</a:t>
            </a:r>
          </a:p>
          <a:p>
            <a:r>
              <a:rPr sz="1100"/>
              <a:t>• Device authentication is stronger than SD-JWT key binding in one respect: it signs over a session transcript that includes the reader's identity and the session keys, which makes relay attacks much harder in proximity mode.</a:t>
            </a:r>
          </a:p>
          <a:p>
            <a:r>
              <a:rPr sz="1100"/>
              <a:t>• The bottom table matters for planning. If Brazil wants mDL online, direct_post.jwt with response encryption is not optional — ISO 18013-7 requires it, and inji-openid4vp enforces it.</a:t>
            </a:r>
          </a:p>
          <a:p>
            <a:r>
              <a:rPr sz="1100"/>
              <a:t>• Say plainly: Inji Certify does not issue mDoc today, and tuvali is not ISO device retrieval. If proximity mDL is a Brazilian requirement, that is a gap with real cost.</a:t>
            </a:r>
          </a:p>
          <a:p>
            <a:r>
              <a:rPr b="1" sz="1100"/>
              <a:t>CAVEATS / GOTCHAS</a:t>
            </a:r>
          </a:p>
          <a:p>
            <a:r>
              <a:rPr sz="1100"/>
              <a:t>• vc-verifier validates the mDoc signature, issuing country, doc type and validity window. Document signer certificate chain validation was not implemented at the time of writing — verify the current state before relying on it.</a:t>
            </a:r>
          </a:p>
          <a:p>
            <a:r>
              <a:rPr sz="1100"/>
              <a:t>• PixelPass is used to turn the base64url CBOR into JSON for rendering only. That decoded JSON is kept in memory, never persisted.</a:t>
            </a:r>
          </a:p>
          <a:p>
            <a:r>
              <a:rPr b="1" sz="1100"/>
              <a:t>LIKELY QUESTIONS</a:t>
            </a:r>
          </a:p>
          <a:p>
            <a:r>
              <a:rPr sz="1100"/>
              <a:t>– Can we mix an mDoc and an SD-JWT VC in one presentation? — The protocol allows multiple credentials in a vp_token; test it, do not assume it.</a:t>
            </a:r>
          </a:p>
          <a:p>
            <a:r>
              <a:rPr sz="1100"/>
              <a:t>– Do we need our own IACA? — If Brazil issues mDLs, yes, and that is a national PKI programme in its own right.</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Turn this into a live conversation. Ask the room each question and write the answers on a flipchart — those answers feed straight into section 18.</a:t>
            </a:r>
          </a:p>
          <a:p>
            <a:r>
              <a:rPr sz="1100"/>
              <a:t>• Question 3 is the one teams underrate. A format is only useful if the verifiers you need can read it. Survey the intended verifier population before choosing.</a:t>
            </a:r>
          </a:p>
          <a:p>
            <a:r>
              <a:rPr sz="1100"/>
              <a:t>• Question 5 is a scheduling point: choosing mDoc today means building or buying an mDoc issuer, because Inji Certify does not issue it.</a:t>
            </a:r>
          </a:p>
          <a:p>
            <a:r>
              <a:rPr sz="1100"/>
              <a:t>• Question 6 gives permission to use different formats for different credentials. That is normal and healthy, as long as the wallet and the verifiers can handle the set.</a:t>
            </a:r>
          </a:p>
          <a:p>
            <a:r>
              <a:rPr b="1" sz="1100"/>
              <a:t>CAVEATS / GOTCHAS</a:t>
            </a:r>
          </a:p>
          <a:p>
            <a:r>
              <a:rPr sz="1100"/>
              <a:t>• Do not let 'we might need it one day' drive the choice. Every format you support is verification code, test surface and support burden in every verifier.</a:t>
            </a:r>
          </a:p>
          <a:p>
            <a:r>
              <a:rPr sz="1100"/>
              <a:t>• Supporting two formats is a reasonable strategy; supporting four is usually a symptom of an unmade decision.</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demo that sells the architecture to non-technical stakeholders too. Keep it in your pocket for executive audiences.</a:t>
            </a:r>
          </a:p>
          <a:p>
            <a:r>
              <a:rPr sz="1100"/>
              <a:t>• Counting tildes is the single best teaching trick in this deck. Do it on screen.</a:t>
            </a:r>
          </a:p>
          <a:p>
            <a:r>
              <a:rPr sz="1100"/>
              <a:t>• Emphasise the last bullet: the issuer was offline for the whole exchange. Privacy by architecture, not by policy.</a:t>
            </a:r>
          </a:p>
          <a:p>
            <a:r>
              <a:rPr b="1" sz="1100"/>
              <a:t>CAVEATS / GOTCHAS</a:t>
            </a:r>
          </a:p>
          <a:p>
            <a:r>
              <a:rPr sz="1100"/>
              <a:t>• If the credential has no cnf claim there will be no KB-JWT and only two tildes. That is a useful failure to show deliberately.</a:t>
            </a:r>
          </a:p>
          <a:p>
            <a:r>
              <a:rPr sz="1100"/>
              <a:t>• If your verifier logs the full vp_token, redact before screenshotting.</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Tell developers this is their section; tell architects to focus on the layering and the extension points slide.</a:t>
            </a:r>
          </a:p>
          <a:p>
            <a:r>
              <a:rPr sz="1100"/>
              <a:t>• If the room is architect-heavy, compress the module map and spend the time on the responsibilities and key management slides.</a:t>
            </a:r>
          </a:p>
          <a:p>
            <a:r>
              <a:rPr b="1" sz="1100"/>
              <a:t>TIME: 35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Work bottom-up. The native libraries are the stable core; everything above is presentation and orchestration.</a:t>
            </a:r>
          </a:p>
          <a:p>
            <a:r>
              <a:rPr sz="1100"/>
              <a:t>• Explain why XState is there: issuance and presentation are genuinely stateful, long-running, and interruptible (the user backgrounds the app mid-browser-redirect). A state machine makes those transitions explicit and testable. The .typegen.ts files are generated — do not hand-edit them.</a:t>
            </a:r>
          </a:p>
          <a:p>
            <a:r>
              <a:rPr sz="1100"/>
              <a:t>• The bridge layer is thin on purpose. It converts JS calls into native calls and pushes events back via NativeEventEmitter. Look at shared/vciClient/VciClient.ts to see the pattern: the app registers listeners for onRequestProof, onRequestAuthCode, onRequestTxCode and answers them.</a:t>
            </a:r>
          </a:p>
          <a:p>
            <a:r>
              <a:rPr sz="1100"/>
              <a:t>• The patches/ directory point saves real time — patch-package is in use, so some third-party behaviour differs from upstream.</a:t>
            </a:r>
          </a:p>
          <a:p>
            <a:r>
              <a:rPr b="1" sz="1100"/>
              <a:t>CAVEATS / GOTCHAS</a:t>
            </a:r>
          </a:p>
          <a:p>
            <a:r>
              <a:rPr sz="1100"/>
              <a:t>• Because protocol logic is native, a protocol bug is usually fixed by bumping a library version and testing, not by editing the app. Plan your release process around that.</a:t>
            </a:r>
          </a:p>
          <a:p>
            <a:r>
              <a:rPr sz="1100"/>
              <a:t>• iOS uses the Swift equivalents of the same libraries. Do not assume identical APIs — check the Swift package.</a:t>
            </a:r>
          </a:p>
          <a:p>
            <a:r>
              <a:rPr b="1" sz="1100"/>
              <a:t>LIKELY QUESTIONS</a:t>
            </a:r>
          </a:p>
          <a:p>
            <a:r>
              <a:rPr sz="1100"/>
              <a:t>– Can we reuse the wallet's code in our own app? — The libraries, yes, they are published artefacts. The app is a reference implementation.</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Reference slide. Do not read it. Instead, pick two rows and open the actual files on screen.</a:t>
            </a:r>
          </a:p>
          <a:p>
            <a:r>
              <a:rPr sz="1100"/>
              <a:t>• The most useful sentence for a new developer: 'machines/ tells you what the app is doing, shared/ tells you how it talks to the outside world, android/ and ios/ tell you how the OS reaches the app'.</a:t>
            </a:r>
          </a:p>
          <a:p>
            <a:r>
              <a:rPr sz="1100"/>
              <a:t>• Point at locales/ and android/ together when you talk about Brazil: Portuguese strings in one place, deep-link schemes in the other, and both need a decision.</a:t>
            </a:r>
          </a:p>
          <a:p>
            <a:r>
              <a:rPr b="1" sz="1100"/>
              <a:t>CAVEATS / GOTCHAS</a:t>
            </a:r>
          </a:p>
          <a:p>
            <a:r>
              <a:rPr sz="1100"/>
              <a:t>• Machine files come with generated .typegen.ts companions. Regenerate rather than edit.</a:t>
            </a:r>
          </a:p>
          <a:p>
            <a:r>
              <a:rPr sz="1100"/>
              <a:t>• The repo's package name is still mosip-resident-app and the Android application id is io.mosip.residentapp for the base build — flavours override it.</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Separate the two problems out loud. Confidentiality of the credential is one job; unextractability of the key is a different one. Teams conflate them and then design badly.</a:t>
            </a:r>
          </a:p>
          <a:p>
            <a:r>
              <a:rPr sz="1100"/>
              <a:t>• The HMAC detail is worth a moment: the wallet does not only encrypt, it also detects modification of the stored blob. That defends against an attacker with file-system access who cannot decrypt but could corrupt.</a:t>
            </a:r>
          </a:p>
          <a:p>
            <a:r>
              <a:rPr sz="1100"/>
              <a:t>• The key type table is the most practically useful thing in this section. Android's hardware keystore supports RSA and EC P-256 natively; secp256k1 and Ed25519 are not supported, so Inji generates them in software and stores them in EncryptedSharedPreferences wrapped by a hardware key. The key is protected at rest but the signing operation happens outside the secure hardware.</a:t>
            </a:r>
          </a:p>
          <a:p>
            <a:r>
              <a:rPr sz="1100"/>
              <a:t>• For iOS, Inji uses key wrapping to hold keys in the Keychain with Secure Enclave protection, then brings them out to sign for the non-native curves.</a:t>
            </a:r>
          </a:p>
          <a:p>
            <a:r>
              <a:rPr sz="1100"/>
              <a:t>• Tie this back to section 4: hardware protection is what makes key attestation meaningful. No hardware, no meaningful attestation.</a:t>
            </a:r>
          </a:p>
          <a:p>
            <a:r>
              <a:rPr b="1" sz="1100"/>
              <a:t>CAVEATS / GOTCHAS</a:t>
            </a:r>
          </a:p>
          <a:p>
            <a:r>
              <a:rPr sz="1100"/>
              <a:t>• 'Hardware-backed' varies by device. A low-cost Android handset may have a weaker TEE than a flagship. If assurance matters, attestation tells you what you actually got.</a:t>
            </a:r>
          </a:p>
          <a:p>
            <a:r>
              <a:rPr sz="1100"/>
              <a:t>• Device loss and device change are product problems with no protocol answer. Decide the re-issuance path early; Inji has backup and restore machinery but it is a separate design conversation.</a:t>
            </a:r>
          </a:p>
          <a:p>
            <a:r>
              <a:rPr sz="1100"/>
              <a:t>• Biometric changes on the device can invalidate keys bound to biometric authentication. The repo carries react-native-biometrics-changed for exactly that reason.</a:t>
            </a:r>
          </a:p>
          <a:p>
            <a:r>
              <a:rPr b="1" sz="1100"/>
              <a:t>LIKELY QUESTIONS</a:t>
            </a:r>
          </a:p>
          <a:p>
            <a:r>
              <a:rPr sz="1100"/>
              <a:t>– Can we export the key to a new phone? — Not if it is hardware-backed, by design. Re-issue instead.</a:t>
            </a:r>
          </a:p>
          <a:p>
            <a:r>
              <a:rPr sz="1100"/>
              <a:t>– Is one key used for every credential? — Check the version; treat per-credential keys as a design question for Brazil.</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Have the AndroidManifest.xml open on screen. Showing the actual intent-filter takes ten seconds and removes all ambiguity.</a:t>
            </a:r>
          </a:p>
          <a:p>
            <a:r>
              <a:rPr sz="1100"/>
              <a:t>• The 'three places' rule is the single most common first-week failure. Write it on the flipchart.</a:t>
            </a:r>
          </a:p>
          <a:p>
            <a:r>
              <a:rPr sz="1100"/>
              <a:t>• The security point deserves weight: custom URI schemes are first-come-first-served. PKCE is what saves you when a scheme is hijacked — which is the concrete reason PKCE exists, tying back to section 4.</a:t>
            </a:r>
          </a:p>
          <a:p>
            <a:r>
              <a:rPr sz="1100"/>
              <a:t>• For Brazil: decide now whether to use App Links with a gov.br-owned domain. It is a better security posture and it needs DNS and hosting work, so it has lead time.</a:t>
            </a:r>
          </a:p>
          <a:p>
            <a:r>
              <a:rPr b="1" sz="1100"/>
              <a:t>CAVEATS / GOTCHAS</a:t>
            </a:r>
          </a:p>
          <a:p>
            <a:r>
              <a:rPr sz="1100"/>
              <a:t>• Changing the URI scheme means re-registering redirect URIs at every authorization server. Decide the scheme before you onboard issuers, not after.</a:t>
            </a:r>
          </a:p>
          <a:p>
            <a:r>
              <a:rPr sz="1100"/>
              <a:t>• iOS treats unknown schemes silently; a mistyped scheme fails with no error, which is painful to debug. Test on a real device early.</a:t>
            </a:r>
          </a:p>
          <a:p>
            <a:r>
              <a:rPr b="1" sz="1100"/>
              <a:t>LIKELY QUESTIONS</a:t>
            </a:r>
          </a:p>
          <a:p>
            <a:r>
              <a:rPr sz="1100"/>
              <a:t>– Can two Inji-based wallets coexist on one phone? — Only with distinct schemes and application ids. The repo already defines several product flavours.</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three cards map to three different teams: ops owns the left, developers own the middle, architects own the right.</a:t>
            </a:r>
          </a:p>
          <a:p>
            <a:r>
              <a:rPr sz="1100"/>
              <a:t>• Hammer the left card's last two bullets. A remarkable amount of 'app work' requested in VC projects is actually issuer metadata work or Mimoto configuration. Sorting that out early saves mobile release cycles, which are the slowest thing in the programme.</a:t>
            </a:r>
          </a:p>
          <a:p>
            <a:r>
              <a:rPr sz="1100"/>
              <a:t>• The error code point is practical: VCI-001 through VCI-011 are documented in inji-vci-client. Teach support staff to capture the code, not the screenshot.</a:t>
            </a:r>
          </a:p>
          <a:p>
            <a:r>
              <a:rPr sz="1100"/>
              <a:t>• The callout is the sentence to repeat in every design review. Customisation is a maintenance liability; configuration is not.</a:t>
            </a:r>
          </a:p>
          <a:p>
            <a:r>
              <a:rPr b="1" sz="1100"/>
              <a:t>CAVEATS / GOTCHAS</a:t>
            </a:r>
          </a:p>
          <a:p>
            <a:r>
              <a:rPr sz="1100"/>
              <a:t>• Adding a credential format really is a library change. Budget for upstream contribution, not a local patch, or you will carry a fork forever.</a:t>
            </a:r>
          </a:p>
          <a:p>
            <a:r>
              <a:rPr sz="1100"/>
              <a:t>• Mobile release cycles include app store review. Anything that can be moved out of the app and into Mimoto or issuer metadata should be.</a:t>
            </a:r>
          </a:p>
          <a:p>
            <a:r>
              <a:rPr b="1" sz="1100"/>
              <a:t>LIKELY QUESTIONS</a:t>
            </a:r>
          </a:p>
          <a:p>
            <a:r>
              <a:rPr sz="1100"/>
              <a:t>– Can we change the issuer list without a new app release? — Yes, that is exactly why it lives in Mimoto.</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demo teaches the debugging reflex we want people to leave with: name the state you are in, and the failure localises itself.</a:t>
            </a:r>
          </a:p>
          <a:p>
            <a:r>
              <a:rPr sz="1100"/>
              <a:t>• The 'nothing logged after the browser closes' heuristic is worth repeating. It separates a protocol problem from an OS-integration problem in five seconds.</a:t>
            </a:r>
          </a:p>
          <a:p>
            <a:r>
              <a:rPr sz="1100"/>
              <a:t>• If the room is not developer-heavy, run this as a narrated screen recording instead of live.</a:t>
            </a:r>
          </a:p>
          <a:p>
            <a:r>
              <a:rPr b="1" sz="1100"/>
              <a:t>CAVEATS / GOTCHAS</a:t>
            </a:r>
          </a:p>
          <a:p>
            <a:r>
              <a:rPr sz="1100"/>
              <a:t>• Do not do this against a production environment or real citizen data.</a:t>
            </a:r>
          </a:p>
          <a:p>
            <a:r>
              <a:rPr sz="1100"/>
              <a:t>• Proxying TLS on a modern Android build requires a user CA and network security config — set it up beforehand, not on stage.</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Warn the room that this section contains the most frequently violated design rule in the whole stack: putting issuer or verifier logic into Mimoto.</a:t>
            </a:r>
          </a:p>
          <a:p>
            <a:r>
              <a:rPr sz="1100"/>
              <a:t>• Ask early who will operate Mimoto in Brazil — the answer shapes the deployment discussion later.</a:t>
            </a:r>
          </a:p>
          <a:p>
            <a:r>
              <a:rPr b="1" sz="1100"/>
              <a:t>TIME: 25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four reasons are worth stating in order, because they are the ones that come back as challenges in design reviews.</a:t>
            </a:r>
          </a:p>
          <a:p>
            <a:r>
              <a:rPr sz="1100"/>
              <a:t>• Reason 1 is the strongest. Once you decide to support a browser-based holder, a server-side credential store is almost unavoidable — and that brings the data residency question with it.</a:t>
            </a:r>
          </a:p>
          <a:p>
            <a:r>
              <a:rPr sz="1100"/>
              <a:t>• The 'must not' card is the one to photograph. Every one of those four has been proposed in real projects.</a:t>
            </a:r>
          </a:p>
          <a:p>
            <a:r>
              <a:rPr sz="1100"/>
              <a:t>• The test on the right is a practical tie-breaker. Mimoto is a convenience layer for Inji's own clients. The moment its behaviour becomes load-bearing for an external wallet, you have accidentally invented a proprietary protocol.</a:t>
            </a:r>
          </a:p>
          <a:p>
            <a:r>
              <a:rPr b="1" sz="1100"/>
              <a:t>CAVEATS / GOTCHAS</a:t>
            </a:r>
          </a:p>
          <a:p>
            <a:r>
              <a:rPr sz="1100"/>
              <a:t>• Mimoto is an Inji component, not an OpenID4VC component. Never describe a Mimoto endpoint to an external partner as if it were standard.</a:t>
            </a:r>
          </a:p>
          <a:p>
            <a:r>
              <a:rPr sz="1100"/>
              <a:t>• A single Mimoto holding credentials for millions of Web users is a high-value target. Treat it as such in the security review.</a:t>
            </a:r>
          </a:p>
          <a:p>
            <a:r>
              <a:rPr b="1" sz="1100"/>
              <a:t>LIKELY QUESTIONS</a:t>
            </a:r>
          </a:p>
          <a:p>
            <a:r>
              <a:rPr sz="1100"/>
              <a:t>– Could Brazil run Wallet without Mimoto? — Technically much of the mobile flow could be direct, but you lose the governed issuer catalogue and Inji Web entirely.</a:t>
            </a:r>
          </a:p>
          <a:p>
            <a:r>
              <a:rPr sz="1100"/>
              <a:t>– Can Mimoto be multi-tenant? — Configuration is per-deployment today; plan a deployment per programme.</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Read the columns left to right as a request's journey.</a:t>
            </a:r>
          </a:p>
          <a:p>
            <a:r>
              <a:rPr sz="1100"/>
              <a:t>• The controller list tells you the API surface at a glance. Two families: the older issuer/credential endpoints used by the mobile wallet, and the newer /wallets/** family that powers Inji Web's logged-in experience.</a:t>
            </a:r>
          </a:p>
          <a:p>
            <a:r>
              <a:rPr sz="1100"/>
              <a:t>• The services column is where the real work is. CredentialFormatHandlerFactory is the extension seam worth naming explicitly — it is how a new credential format enters Mimoto.</a:t>
            </a:r>
          </a:p>
          <a:p>
            <a:r>
              <a:rPr sz="1100"/>
              <a:t>• State column: Postgres for durable wallet and credential data, Redis (or Caffeine for single-instance) for caching and sessions. The README is explicit that Caffeine is fine for one instance and Redis is required for a load-balanced deployment. That is an operational footgun worth flagging to whoever runs the cluster.</a:t>
            </a:r>
          </a:p>
          <a:p>
            <a:r>
              <a:rPr sz="1100"/>
              <a:t>• Outbound column: these are the calls that fail in production. Every one of them needs egress rules, timeouts and monitoring.</a:t>
            </a:r>
          </a:p>
          <a:p>
            <a:r>
              <a:rPr b="1" sz="1100"/>
              <a:t>CAVEATS / GOTCHAS</a:t>
            </a:r>
          </a:p>
          <a:p>
            <a:r>
              <a:rPr sz="1100"/>
              <a:t>• Running several Mimoto replicas with Caffeine gives each replica its own cache and inconsistent behaviour. Use Redis in any clustered deployment.</a:t>
            </a:r>
          </a:p>
          <a:p>
            <a:r>
              <a:rPr sz="1100"/>
              <a:t>• Sessions: Mimoto's HTTP session holds the unlocked wallet key for Inji Web users. server.servlet.session.timeout defaults to 30 minutes and is a real security parameter.</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Point at the two JSON files. Between them they carry most of the day-two operational work: onboarding issuers and onboarding verifiers.</a:t>
            </a:r>
          </a:p>
          <a:p>
            <a:r>
              <a:rPr sz="1100"/>
              <a:t>• The highlighted line in the issuer config is redirect_uri — the third of the 'three places' from the deep-links slide.</a:t>
            </a:r>
          </a:p>
          <a:p>
            <a:r>
              <a:rPr sz="1100"/>
              <a:t>• The highlighted line in the verifier config is allow_unsigned_request. Set it to false for any verifier you actually care about: it forces signed authorization requests and makes verifier impersonation much harder. The sample shipped in the repo has it true, which is convenient for demos and wrong for production.</a:t>
            </a:r>
          </a:p>
          <a:p>
            <a:r>
              <a:rPr sz="1100"/>
              <a:t>• jwks_uri is how the wallet validates a signed request from that verifier. No jwks_uri means no signature validation is possible.</a:t>
            </a:r>
          </a:p>
          <a:p>
            <a:r>
              <a:rPr sz="1100"/>
              <a:t>• Mention that the /wallets/** family is what makes Inji Web work; the mobile wallet does not use it.</a:t>
            </a:r>
          </a:p>
          <a:p>
            <a:r>
              <a:rPr b="1" sz="1100"/>
              <a:t>CAVEATS / GOTCHAS</a:t>
            </a:r>
          </a:p>
          <a:p>
            <a:r>
              <a:rPr sz="1100"/>
              <a:t>• These files are configuration, but they are security configuration. Treat changes to them as you would firewall rules: reviewed, versioned, audited.</a:t>
            </a:r>
          </a:p>
          <a:p>
            <a:r>
              <a:rPr sz="1100"/>
              <a:t>• Caching means a change here is not instant. Know your TTLs.</a:t>
            </a:r>
          </a:p>
          <a:p>
            <a:r>
              <a:rPr b="1" sz="1100"/>
              <a:t>LIKELY QUESTIONS</a:t>
            </a:r>
          </a:p>
          <a:p>
            <a:r>
              <a:rPr sz="1100"/>
              <a:t>– Can the issuer list differ per user segment? — Not out of the box; it is a deployment-wide catalogue.</a:t>
            </a:r>
          </a:p>
          <a:p>
            <a:r>
              <a:rPr sz="1100"/>
              <a:t>– How do we onboard a verifier we do not control? — You still need their client_id, response_uri and JWKS. There is no way around exchanging that information.</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Give the room a minute to read it, then draw attention to the Wallet/Web asymmetry in the key, proof and storage rows.</a:t>
            </a:r>
          </a:p>
          <a:p>
            <a:r>
              <a:rPr sz="1100"/>
              <a:t>• For a regulator or a privacy officer, that asymmetry is the headline: with the mobile wallet, the state does not hold the citizen's credentials; with the web wallet, it does. Brazil must decide deliberately, not by accident of which product gets deployed first.</a:t>
            </a:r>
          </a:p>
          <a:p>
            <a:r>
              <a:rPr sz="1100"/>
              <a:t>• The last row belongs to the verifier alone. If anyone proposes Mimoto 'helping' with verification decisions, point here.</a:t>
            </a:r>
          </a:p>
          <a:p>
            <a:r>
              <a:rPr sz="1100"/>
              <a:t>• Use this matrix as the answer key for Exercise 2 later in the day.</a:t>
            </a:r>
          </a:p>
          <a:p>
            <a:r>
              <a:rPr b="1" sz="1100"/>
              <a:t>CAVEATS / GOTCHAS</a:t>
            </a:r>
          </a:p>
          <a:p>
            <a:r>
              <a:rPr sz="1100"/>
              <a:t>• Mimoto does verify credentials in some flows (CredentialVerifierService) — that is integrity verification at download for the Web wallet, not an access decision. Keep the distinction crisp.</a:t>
            </a:r>
          </a:p>
          <a:p>
            <a:r>
              <a:rPr sz="1100"/>
              <a:t>• This matrix reflects the current reference implementation. A Brazilian variant may shift boxes; if so, document it explicitly.</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demo exists to teach one lesson: the cache is real, and it will waste your afternoon if you do not know about it.</a:t>
            </a:r>
          </a:p>
          <a:p>
            <a:r>
              <a:rPr sz="1100"/>
              <a:t>• Show the TTL property in mimoto-default.properties and lower it live if you can.</a:t>
            </a:r>
          </a:p>
          <a:p>
            <a:r>
              <a:rPr sz="1100"/>
              <a:t>• The failure variant is the useful part — knowing what Mimoto says when the issuer is down is worth more than knowing what it says when everything works.</a:t>
            </a:r>
          </a:p>
          <a:p>
            <a:r>
              <a:rPr b="1" sz="1100"/>
              <a:t>CAVEATS / GOTCHAS</a:t>
            </a:r>
          </a:p>
          <a:p>
            <a:r>
              <a:rPr sz="1100"/>
              <a:t>• Do not run this against a shared environment; you will be changing configuration.</a:t>
            </a:r>
          </a:p>
          <a:p>
            <a:r>
              <a:rPr sz="1100"/>
              <a:t>• Redis versus Caffeine changes the behaviour you will see. Say which one you are running.</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Frame the last column as a governance statement, not just advice. Reimplementing any of those is how a deployment quietly becomes non-interoperable.</a:t>
            </a:r>
          </a:p>
          <a:p>
            <a:r>
              <a:rPr sz="1100"/>
              <a:t>• inji-openid4vp is Kotlin Multiplatform and ships as both AAR and JAR — the same code runs inside the phone and inside Mimoto. That is why Wallet and Web behave consistently.</a:t>
            </a:r>
          </a:p>
          <a:p>
            <a:r>
              <a:rPr sz="1100"/>
              <a:t>• vc-verifier deserves a special mention: it is the component that decides trust, and it is shared by the wallet and by Mimoto. Its key resolver support (did:web, did:key, did:jwk, HTTPS, X.509) is effectively your trust infrastructure.</a:t>
            </a:r>
          </a:p>
          <a:p>
            <a:r>
              <a:rPr sz="1100"/>
              <a:t>• The callback point is the integration lesson. When you port to a new platform, you implement the callbacks, not the protocol.</a:t>
            </a:r>
          </a:p>
          <a:p>
            <a:r>
              <a:rPr b="1" sz="1100"/>
              <a:t>CAVEATS / GOTCHAS</a:t>
            </a:r>
          </a:p>
          <a:p>
            <a:r>
              <a:rPr sz="1100"/>
              <a:t>• Library versions must be compatible with each other; the wallet's build file excludes transitive copies of vcverifier and openid4vp to avoid duplicate classes. Expect to do the same in any host app.</a:t>
            </a:r>
          </a:p>
          <a:p>
            <a:r>
              <a:rPr sz="1100"/>
              <a:t>• Check Swift parity before committing to an iOS date for any feature you see in the Kotlin README.</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Remind the room of Demo 2 — this section explains what they already watched.</a:t>
            </a:r>
          </a:p>
          <a:p>
            <a:r>
              <a:rPr sz="1100"/>
              <a:t>• Flag that the verifier-side checklist at the end is the slide verifier developers should take away.</a:t>
            </a:r>
          </a:p>
          <a:p>
            <a:r>
              <a:rPr b="1" sz="1100"/>
              <a:t>TIME: 30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Go through the highlighted parameters only: client_id, response_mode, response_uri, nonce.</a:t>
            </a:r>
          </a:p>
          <a:p>
            <a:r>
              <a:rPr sz="1100"/>
              <a:t>• nonce is the anti-replay mechanism on this side of the protocol, mirroring c_nonce on the issuance side. Draw the parallel explicitly — it helps people remember both.</a:t>
            </a:r>
          </a:p>
          <a:p>
            <a:r>
              <a:rPr sz="1100"/>
              <a:t>• state is not a security control; it is correlation. People confuse the two constantly. nonce is signed by the holder; state is not.</a:t>
            </a:r>
          </a:p>
          <a:p>
            <a:r>
              <a:rPr sz="1100"/>
              <a:t>• The client_id scheme discussion is the heart of the slide. Explain that draft 21 carried client_id_scheme as its own parameter, and draft 23 folded it into the client_id value. inji-openid4vp infers which draft you are speaking by whether that parameter is present — an elegant trick worth knowing when you debug.</a:t>
            </a:r>
          </a:p>
          <a:p>
            <a:r>
              <a:rPr sz="1100"/>
              <a:t>• Request by reference (request_uri) is how real verifiers keep QR codes scannable. Note that Inji can POST wallet metadata to the request_uri when request_uri_method=post, which lets the verifier tailor the request to the wallet's capabilities.</a:t>
            </a:r>
          </a:p>
          <a:p>
            <a:r>
              <a:rPr b="1" sz="1100"/>
              <a:t>CAVEATS / GOTCHAS</a:t>
            </a:r>
          </a:p>
          <a:p>
            <a:r>
              <a:rPr sz="1100"/>
              <a:t>• shouldValidateClient defaulting to true is a breaking change from earlier releases. If an integration that used to work stops working, check this first.</a:t>
            </a:r>
          </a:p>
          <a:p>
            <a:r>
              <a:rPr sz="1100"/>
              <a:t>• A request by reference must be a signed JWT. Unsigned by-reference requests are not accepted.</a:t>
            </a:r>
          </a:p>
          <a:p>
            <a:r>
              <a:rPr sz="1100"/>
              <a:t>• presentation_definition_uri means another network call — one more thing that can fail in a shop with bad wifi.</a:t>
            </a:r>
          </a:p>
          <a:p>
            <a:r>
              <a:rPr b="1" sz="1100"/>
              <a:t>LIKELY QUESTIONS</a:t>
            </a:r>
          </a:p>
          <a:p>
            <a:r>
              <a:rPr sz="1100"/>
              <a:t>– Can a verifier ask for two credentials at once? — Yes, with multiple input descriptors.</a:t>
            </a:r>
          </a:p>
          <a:p>
            <a:r>
              <a:rPr sz="1100"/>
              <a:t>– What if the wallet does not trust the verifier? — It stops before showing the user anything. That is correct.</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mirror image of the issuance sequence. Point that out — the symmetry helps.</a:t>
            </a:r>
          </a:p>
          <a:p>
            <a:r>
              <a:rPr sz="1100"/>
              <a:t>• Step 7 is where a hostile verifier is stopped. Everything before it is untrusted input.</a:t>
            </a:r>
          </a:p>
          <a:p>
            <a:r>
              <a:rPr sz="1100"/>
              <a:t>• Step 9: matching happens against the presentation_definition's input descriptors and field constraints. The wallet is filtering locally — no network, no issuer involvement.</a:t>
            </a:r>
          </a:p>
          <a:p>
            <a:r>
              <a:rPr sz="1100"/>
              <a:t>• Step 11 is the consent screen. It is the only place a human decides anything in this entire protocol.</a:t>
            </a:r>
          </a:p>
          <a:p>
            <a:r>
              <a:rPr sz="1100"/>
              <a:t>• Steps 13 to 16 are the two-phase signing dance: the library builds the unsigned token, the app signs it with a key the library cannot see, the library assembles and sends. Same pattern as issuance.</a:t>
            </a:r>
          </a:p>
          <a:p>
            <a:r>
              <a:rPr sz="1100"/>
              <a:t>• Step 18 is the verifier's whole job, and it is expanded on the checklist slide.</a:t>
            </a:r>
          </a:p>
          <a:p>
            <a:r>
              <a:rPr b="1" sz="1100"/>
              <a:t>CAVEATS / GOTCHAS</a:t>
            </a:r>
          </a:p>
          <a:p>
            <a:r>
              <a:rPr sz="1100"/>
              <a:t>• There is no redirect back to a browser in cross-device. The verifier's screen must learn of success through its own session — polling or server-sent events. Verifier teams miss this repeatedly.</a:t>
            </a:r>
          </a:p>
          <a:p>
            <a:r>
              <a:rPr sz="1100"/>
              <a:t>• If an mso_mdoc credential is in the response, direct_post.jwt is mandatory per ISO 18013-7 and the library enforces it.</a:t>
            </a:r>
          </a:p>
          <a:p>
            <a:r>
              <a:rPr sz="1100"/>
              <a:t>• If the selected SD-JWT VC has no cnf, steps 14 and 15 produce nothing to sign and the presentation goes out unbound.</a:t>
            </a:r>
          </a:p>
          <a:p>
            <a:r>
              <a:rPr b="1" sz="1100"/>
              <a:t>LIKELY QUESTIONS</a:t>
            </a:r>
          </a:p>
          <a:p>
            <a:r>
              <a:rPr sz="1100"/>
              <a:t>– Who chooses when several credentials match? — The user, on the consent screen.</a:t>
            </a:r>
          </a:p>
          <a:p>
            <a:r>
              <a:rPr sz="1100"/>
              <a:t>– Can the wallet refuse part of a request? — It can present a subset; the verifier decides whether that is enough.</a:t>
            </a:r>
          </a:p>
          <a:p>
            <a:r>
              <a:rPr b="1" sz="1100"/>
              <a:t>TIME: 9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Show the tildes again in the vp_token. Continuity with the SD-JWT slide pays off here.</a:t>
            </a:r>
          </a:p>
          <a:p>
            <a:r>
              <a:rPr sz="1100"/>
              <a:t>• presentation_submission is the piece verifier developers forget. Without it the verifier has to guess which credential answers which descriptor. Read it, do not ignore it.</a:t>
            </a:r>
          </a:p>
          <a:p>
            <a:r>
              <a:rPr sz="1100"/>
              <a:t>• The encryption discussion is practical, not academic: in most real deployments TLS terminates at a load balancer or a WAF, so the plaintext presentation exists, briefly, on infrastructure that is not the verifier's application. direct_post.jwt closes that gap end to end.</a:t>
            </a:r>
          </a:p>
          <a:p>
            <a:r>
              <a:rPr sz="1100"/>
              <a:t>• apu and apv are the ephemeral-binding values. Mention them as the reason a captured JWE is not replayable to another session.</a:t>
            </a:r>
          </a:p>
          <a:p>
            <a:r>
              <a:rPr b="1" sz="1100"/>
              <a:t>CAVEATS / GOTCHAS</a:t>
            </a:r>
          </a:p>
          <a:p>
            <a:r>
              <a:rPr sz="1100"/>
              <a:t>• Presentation Exchange (the presentation_definition / presentation_submission pair) is being superseded by the Digital Credentials Query Language in later OpenID4VP drafts. Inji is on drafts 21 and 23 and uses Presentation Exchange. Expect this to change; do not build deep dependencies on the submission format.</a:t>
            </a:r>
          </a:p>
          <a:p>
            <a:r>
              <a:rPr sz="1100"/>
              <a:t>• An encrypted response is unsigned at the JWE layer — authenticity comes from the credential signatures inside, not from the envelope.</a:t>
            </a:r>
          </a:p>
          <a:p>
            <a:r>
              <a:rPr b="1" sz="1100"/>
              <a:t>LIKELY QUESTIONS</a:t>
            </a:r>
          </a:p>
          <a:p>
            <a:r>
              <a:rPr sz="1100"/>
              <a:t>– Does encryption replace holder binding? — No. Encryption protects the channel; binding proves who presented.</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a takeaway slide. Say so, and pause on it.</a:t>
            </a:r>
          </a:p>
          <a:p>
            <a:r>
              <a:rPr sz="1100"/>
              <a:t>• The second bullet in 'The credential itself' is the one that is most often missed: verifying a signature only tells you the data is unaltered. It says nothing about whether that issuer is allowed to assert this claim. Trust policy is separate from cryptography.</a:t>
            </a:r>
          </a:p>
          <a:p>
            <a:r>
              <a:rPr sz="1100"/>
              <a:t>• In 'The holder', the aud and nonce checks are what stop a presentation captured at verifier A being replayed at verifier B. If your verifier does not check them, holder binding gives you nothing.</a:t>
            </a:r>
          </a:p>
          <a:p>
            <a:r>
              <a:rPr sz="1100"/>
              <a:t>• 'Log the decision, not the credential' is a data-protection point with teeth. Verifier logs full of presented claims are a breach waiting to happen.</a:t>
            </a:r>
          </a:p>
          <a:p>
            <a:r>
              <a:rPr sz="1100"/>
              <a:t>• Note Inji Wallet does not perform revocation checking for any format today — so if revocation matters in Brazil, the verifier side must own it.</a:t>
            </a:r>
          </a:p>
          <a:p>
            <a:r>
              <a:rPr b="1" sz="1100"/>
              <a:t>CAVEATS / GOTCHAS</a:t>
            </a:r>
          </a:p>
          <a:p>
            <a:r>
              <a:rPr sz="1100"/>
              <a:t>• Status list checking leaks to the issuer that a verification is happening, unless you use a privacy-preserving mechanism. That is a genuine design trade-off, not an oversight.</a:t>
            </a:r>
          </a:p>
          <a:p>
            <a:r>
              <a:rPr sz="1100"/>
              <a:t>• vc-verifier has a PresentationVerifier with holder-binding validation for did:key and did:jwk holders; unsupported DID methods are skipped rather than failed. Know what your verifier actually enforces.</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Running both in succession is what makes the concept stick. Do not skip one for time.</a:t>
            </a:r>
          </a:p>
          <a:p>
            <a:r>
              <a:rPr sz="1100"/>
              <a:t>• The 'laptop learns from its own backend' point is the lesson for verifier developers in the room.</a:t>
            </a:r>
          </a:p>
          <a:p>
            <a:r>
              <a:rPr sz="1100"/>
              <a:t>• Ask the room to predict what changes in the HTTP trace between the two runs. Answer: almost nothing.</a:t>
            </a:r>
          </a:p>
          <a:p>
            <a:r>
              <a:rPr b="1" sz="1100"/>
              <a:t>CAVEATS / GOTCHAS</a:t>
            </a:r>
          </a:p>
          <a:p>
            <a:r>
              <a:rPr sz="1100"/>
              <a:t>• Same-device needs the verifier's web page to be reachable on the phone, which trips up localhost-only demo setups.</a:t>
            </a:r>
          </a:p>
          <a:p>
            <a:r>
              <a:rPr sz="1100"/>
              <a:t>• If several wallets are installed, Android may show a chooser — good material for the security discussion.</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Frame the inclusion argument up front: not every citizen has a smartphone, and a national programme cannot require one.</a:t>
            </a:r>
          </a:p>
          <a:p>
            <a:r>
              <a:rPr sz="1100"/>
              <a:t>• Warn that the privacy trade-off is real and will come up.</a:t>
            </a:r>
          </a:p>
          <a:p>
            <a:r>
              <a:rPr b="1" sz="1100"/>
              <a:t>TIME: 25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Start with the inclusion rationale, then the architecture.</a:t>
            </a:r>
          </a:p>
          <a:p>
            <a:r>
              <a:rPr sz="1100"/>
              <a:t>• The BFF pattern is the key idea: the browser is a rendering surface, and every operation that needs a secret, a key or durable state happens in Mimoto. That is why Inji Web can be stateless and still support presentation.</a:t>
            </a:r>
          </a:p>
          <a:p>
            <a:r>
              <a:rPr sz="1100"/>
              <a:t>• The PIN mechanism deserves detail: on wallet creation Mimoto generates a 256-bit AES key, derives a key from the user's PIN with PBKDF2-HMAC-SHA512 and a random salt, encrypts the AES key with it, and stores salt+IV+ciphertext. On unlock, the PIN reconstructs the key and it lives in the HTTP session — default 30-minute timeout. The raw PIN and the raw AES key are never stored.</a:t>
            </a:r>
          </a:p>
          <a:p>
            <a:r>
              <a:rPr sz="1100"/>
              <a:t>• Say the consequence plainly: if the user forgets the PIN, the credentials are unrecoverable by design. That is a product and support decision Brazil must plan for.</a:t>
            </a:r>
          </a:p>
          <a:p>
            <a:r>
              <a:rPr sz="1100"/>
              <a:t>• env.config.js is read at runtime, not build time — so one container image can be deployed to several environments. Useful operational detail.</a:t>
            </a:r>
          </a:p>
          <a:p>
            <a:r>
              <a:rPr b="1" sz="1100"/>
              <a:t>CAVEATS / GOTCHAS</a:t>
            </a:r>
          </a:p>
          <a:p>
            <a:r>
              <a:rPr sz="1100"/>
              <a:t>• Inji Web's OpenID4VP presentation support is currently limited to ldp_vc. SD-JWT VC presentation from the web wallet is on the roadmap.</a:t>
            </a:r>
          </a:p>
          <a:p>
            <a:r>
              <a:rPr sz="1100"/>
              <a:t>• A 30-minute session holding an unlocked key is a security parameter. Review it against Brazilian requirements rather than accepting the default.</a:t>
            </a:r>
          </a:p>
          <a:p>
            <a:r>
              <a:rPr sz="1100"/>
              <a:t>• Multiple Mimoto replicas need Redis-backed sessions, or users will appear to be logged out at random.</a:t>
            </a:r>
          </a:p>
          <a:p>
            <a:r>
              <a:rPr b="1" sz="1100"/>
              <a:t>LIKELY QUESTIONS</a:t>
            </a:r>
          </a:p>
          <a:p>
            <a:r>
              <a:rPr sz="1100"/>
              <a:t>– Can a user move credentials between Wallet and Web? — Not as a supported flow; they are separate holders.</a:t>
            </a:r>
          </a:p>
          <a:p>
            <a:r>
              <a:rPr sz="1100"/>
              <a:t>– Can we skip the PIN? — Then Mimoto would hold keys unprotected. No.</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bottom table is the summary people will photograph.</a:t>
            </a:r>
          </a:p>
          <a:p>
            <a:r>
              <a:rPr sz="1100"/>
              <a:t>• Row 3 is the operational surprise: in two of the four journeys there is no way to send the user back, so the verifier must drive its own UI update. Verifier teams that assume a redirect will build something that hangs forever.</a:t>
            </a:r>
          </a:p>
          <a:p>
            <a:r>
              <a:rPr sz="1100"/>
              <a:t>• Row 4 gives each journey its own first-suspect when something fails. Use it in the troubleshooting section.</a:t>
            </a:r>
          </a:p>
          <a:p>
            <a:r>
              <a:rPr sz="1100"/>
              <a:t>• For Brazil: decide which journeys are in scope for phase one. Supporting all four at launch multiplies the test matrix by four.</a:t>
            </a:r>
          </a:p>
          <a:p>
            <a:r>
              <a:rPr b="1" sz="1100"/>
              <a:t>CAVEATS / GOTCHAS</a:t>
            </a:r>
          </a:p>
          <a:p>
            <a:r>
              <a:rPr sz="1100"/>
              <a:t>• QR payload size is a real limit in the handoff journey. Use request_uri rather than embedding a large request by value.</a:t>
            </a:r>
          </a:p>
          <a:p>
            <a:r>
              <a:rPr sz="1100"/>
              <a:t>• CORS and cookie SameSite settings are the classic Inji Web failure. Covered in troubleshooting.</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Show the network tab throughout. It makes the BFF pattern self-evident.</a:t>
            </a:r>
          </a:p>
          <a:p>
            <a:r>
              <a:rPr sz="1100"/>
              <a:t>• Switch the language to Portuguese live — pt.json already ships in the repo with a full translation. That is a genuinely encouraging fact for the Brazil team and worth showing rather than telling.</a:t>
            </a:r>
          </a:p>
          <a:p>
            <a:r>
              <a:rPr sz="1100"/>
              <a:t>• Demonstrate lock/unlock so people understand the session-bound key.</a:t>
            </a:r>
          </a:p>
          <a:p>
            <a:r>
              <a:rPr b="1" sz="1100"/>
              <a:t>CAVEATS / GOTCHAS</a:t>
            </a:r>
          </a:p>
          <a:p>
            <a:r>
              <a:rPr sz="1100"/>
              <a:t>• Do not use a real PIN you use elsewhere, even in a demo.</a:t>
            </a:r>
          </a:p>
          <a:p>
            <a:r>
              <a:rPr sz="1100"/>
              <a:t>• Guest journey and logged-in journey have different data footprints; say which one you are demonstrating.</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Tell the room this section is deliberately adversarial. Invite them to attack the design out loud.</a:t>
            </a:r>
          </a:p>
          <a:p>
            <a:r>
              <a:rPr sz="1100"/>
              <a:t>• If there is a security team in the organisation, this is the section to invite them to.</a:t>
            </a:r>
          </a:p>
          <a:p>
            <a:r>
              <a:rPr b="1" sz="1100"/>
              <a:t>TIME: 25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Work down the asset list and ask the room who owns the mitigation for each. The answers reveal gaps in the delivery plan.</a:t>
            </a:r>
          </a:p>
          <a:p>
            <a:r>
              <a:rPr sz="1100"/>
              <a:t>• Row 3 is where the DPoP conversation from section 4 pays off. Be precise: today the tokens are bearer tokens, so TLS and short lifetimes are the whole defence in transit.</a:t>
            </a:r>
          </a:p>
          <a:p>
            <a:r>
              <a:rPr sz="1100"/>
              <a:t>• Row 4 belongs to the issuer programme, not to the wallet team, but the wallet team suffers the consequences. Make sure someone in Brazil owns issuer key management explicitly.</a:t>
            </a:r>
          </a:p>
          <a:p>
            <a:r>
              <a:rPr sz="1100"/>
              <a:t>• Spend real time on row 5. Show the consent screen again if you can. Ask whether a citizen reading it would understand who is asking and for what.</a:t>
            </a:r>
          </a:p>
          <a:p>
            <a:r>
              <a:rPr b="1" sz="1100"/>
              <a:t>CAVEATS / GOTCHAS</a:t>
            </a:r>
          </a:p>
          <a:p>
            <a:r>
              <a:rPr sz="1100"/>
              <a:t>• Threat modelling is not a one-off. Redo it when the format changes, when a new journey is added, and before go-live.</a:t>
            </a:r>
          </a:p>
          <a:p>
            <a:r>
              <a:rPr sz="1100"/>
              <a:t>• Device loss is not on this list because it is a recovery problem, not an attack — but it needs an owner too.</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Do not read all nine. Pick three the room will actually face and go deep.</a:t>
            </a:r>
          </a:p>
          <a:p>
            <a:r>
              <a:rPr sz="1100"/>
              <a:t>• The malicious QR row is the one to dwell on for Brazil — public QR codes are everywhere and citizens are trained to scan them. The trusted-verifier list is a real control, and the default in the shipped sample config (allow_unsigned_request: true) is the wrong setting for production.</a:t>
            </a:r>
          </a:p>
          <a:p>
            <a:r>
              <a:rPr sz="1100"/>
              <a:t>• The presentation replay row is where you can test whether the room absorbed section 8. Ask them which two fields matter. Answer: nonce and aud.</a:t>
            </a:r>
          </a:p>
          <a:p>
            <a:r>
              <a:rPr sz="1100"/>
              <a:t>• The last row is a governance point. No amount of protocol prevents a verifier asking for too much — only a format that supports withholding, plus a review process, does.</a:t>
            </a:r>
          </a:p>
          <a:p>
            <a:r>
              <a:rPr b="1" sz="1100"/>
              <a:t>CAVEATS / GOTCHAS</a:t>
            </a:r>
          </a:p>
          <a:p>
            <a:r>
              <a:rPr sz="1100"/>
              <a:t>• Mitigations here assume both ends behave. A verifier you do not control may skip checks; you cannot fix that from the wallet.</a:t>
            </a:r>
          </a:p>
          <a:p>
            <a:r>
              <a:rPr sz="1100"/>
              <a:t>• Revocation is listed as a mitigation for device loss, but Inji Wallet does not perform revocation checking today — the verifier side must.</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four resolver paths at the top are the whole mechanism; the table below is where the time goes.</a:t>
            </a:r>
          </a:p>
          <a:p>
            <a:r>
              <a:rPr sz="1100"/>
              <a:t>• Row 2 is the one that bites eighteen months into a programme, long after the launch team has moved on. Key rotation without overlap breaks every credential ever issued with the old key. Write the overlap policy down now.</a:t>
            </a:r>
          </a:p>
          <a:p>
            <a:r>
              <a:rPr sz="1100"/>
              <a:t>• Row 4 is comically common: a well-meaning ops team puts the JWKS behind a WAF that challenges non-browser clients, and every wallet in the country fails to verify.</a:t>
            </a:r>
          </a:p>
          <a:p>
            <a:r>
              <a:rPr sz="1100"/>
              <a:t>• Row 6 is the Inji-specific one, and it is the most important planning item on this slide for Brazil. If you go SD-JWT VC, plan an X.509 publication path for Inji, and publish the well-known jwt-vc-issuer document as well so other wallets can interoperate. Doing both costs little and buys a lot.</a:t>
            </a:r>
          </a:p>
          <a:p>
            <a:r>
              <a:rPr sz="1100"/>
              <a:t>• Point out that vc-verifier supports did:web, did:key, did:jwk and HTTPS resolvers — which is the well-trodden path for ldp_vc.</a:t>
            </a:r>
          </a:p>
          <a:p>
            <a:r>
              <a:rPr b="1" sz="1100"/>
              <a:t>CAVEATS / GOTCHAS</a:t>
            </a:r>
          </a:p>
          <a:p>
            <a:r>
              <a:rPr sz="1100"/>
              <a:t>• Key resolution happens at download time in the wallet and again at presentation time in the verifier. Both need to work, from different networks.</a:t>
            </a:r>
          </a:p>
          <a:p>
            <a:r>
              <a:rPr sz="1100"/>
              <a:t>• Caching keys improves resilience but delays rotation. Decide the cache TTL deliberately.</a:t>
            </a:r>
          </a:p>
          <a:p>
            <a:r>
              <a:rPr b="1" sz="1100"/>
              <a:t>LIKELY QUESTIONS</a:t>
            </a:r>
          </a:p>
          <a:p>
            <a:r>
              <a:rPr sz="1100"/>
              <a:t>– How long should the overlap be? — At least the maximum credential validity period, plus a margin.</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section is for the people who will operate the system. If the room is mostly protocol people, move faster here.</a:t>
            </a:r>
          </a:p>
          <a:p>
            <a:r>
              <a:rPr sz="1100"/>
              <a:t>• The configuration-versus-customisation slide is the one that protects the programme's long-term cost.</a:t>
            </a:r>
          </a:p>
          <a:p>
            <a:r>
              <a:rPr b="1" sz="1100"/>
              <a:t>TIME: 30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right-hand column is the strategic content. In a national programme, mobile release cadence is the constraint that hurts most.</a:t>
            </a:r>
          </a:p>
          <a:p>
            <a:r>
              <a:rPr sz="1100"/>
              <a:t>• The last row is the one teams forget: credential labels, ordering and localisation live in issuer metadata and can change without touching any Inji component. Design for that from day one.</a:t>
            </a:r>
          </a:p>
          <a:p>
            <a:r>
              <a:rPr sz="1100"/>
              <a:t>• IGNORED_ISSUER_IDS in env.config.js is a useful operational lever — it lets you hide an issuer from Inji Web without changing Mimoto's catalogue.</a:t>
            </a:r>
          </a:p>
          <a:p>
            <a:r>
              <a:rPr sz="1100"/>
              <a:t>• Point out that pt.json already exists in inji-web. Brazil starts from a translated base, not from zero.</a:t>
            </a:r>
          </a:p>
          <a:p>
            <a:r>
              <a:rPr b="1" sz="1100"/>
              <a:t>CAVEATS / GOTCHAS</a:t>
            </a:r>
          </a:p>
          <a:p>
            <a:r>
              <a:rPr sz="1100"/>
              <a:t>• 'Runtime, no rebuild' for env.config.js assumes your deployment mounts or rewrites that file. Confirm your container pipeline actually does so.</a:t>
            </a:r>
          </a:p>
          <a:p>
            <a:r>
              <a:rPr sz="1100"/>
              <a:t>• Cache TTLs mean issuer metadata changes are not instant. Know the number before you promise a turnaround time.</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Make the three-surface point explicitly. It is the single most useful thing on this slide, because the failure it prevents is embarrassing and very visible.</a:t>
            </a:r>
          </a:p>
          <a:p>
            <a:r>
              <a:rPr sz="1100"/>
              <a:t>• Surface 2 is owned by a different team than surface 1 in almost every programme. Name the owner in the room today.</a:t>
            </a:r>
          </a:p>
          <a:p>
            <a:r>
              <a:rPr sz="1100"/>
              <a:t>• Portuguese in inji-web is already a full translation, done by the community. Show it in the demo. It changes the tone of the localisation conversation from 'a big task' to 'a review task'.</a:t>
            </a:r>
          </a:p>
          <a:p>
            <a:r>
              <a:rPr sz="1100"/>
              <a:t>• Brazilian Portuguese versus European Portuguese: the existing pt.json will need review. Decide whether to use pt or pt-BR as the locale code and be consistent across all three surfaces.</a:t>
            </a:r>
          </a:p>
          <a:p>
            <a:r>
              <a:rPr b="1" sz="1100"/>
              <a:t>CAVEATS / GOTCHAS</a:t>
            </a:r>
          </a:p>
          <a:p>
            <a:r>
              <a:rPr sz="1100"/>
              <a:t>• Right-to-left is already handled for Arabic; if Brazil ever adds another script, the plumbing exists.</a:t>
            </a:r>
          </a:p>
          <a:p>
            <a:r>
              <a:rPr sz="1100"/>
              <a:t>• Date, number and name formatting are separate from string translation. Check them explicitly.</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release-latency column is the planning message. A wallet bug is a two-week fix at best because of store review; a Mimoto or issuer-metadata change is minutes. Architect accordingly — this is the operational justification for the configuration-surface slide.</a:t>
            </a:r>
          </a:p>
          <a:p>
            <a:r>
              <a:rPr sz="1100"/>
              <a:t>• The 'phone must reach the issuer directly' point catches teams whose network design assumes everything goes through the cluster. The credential request is a direct call from the handset.</a:t>
            </a:r>
          </a:p>
          <a:p>
            <a:r>
              <a:rPr sz="1100"/>
              <a:t>• traceabilityId is genuinely useful: both libraries take one at construction, so you can correlate a user's journey across the wallet, Mimoto and the issuer if everyone logs it. Agree the propagation convention early.</a:t>
            </a:r>
          </a:p>
          <a:p>
            <a:r>
              <a:rPr sz="1100"/>
              <a:t>• Alerting on the issuer's key endpoint is unusual but essential — it is a hard dependency for verification and it is usually owned by a team that does not know that.</a:t>
            </a:r>
          </a:p>
          <a:p>
            <a:r>
              <a:rPr b="1" sz="1100"/>
              <a:t>CAVEATS / GOTCHAS</a:t>
            </a:r>
          </a:p>
          <a:p>
            <a:r>
              <a:rPr sz="1100"/>
              <a:t>• Helm charts exist for Inji Web and Mimoto in their repositories; treat them as a starting point, not a production-hardened deployment.</a:t>
            </a:r>
          </a:p>
          <a:p>
            <a:r>
              <a:rPr sz="1100"/>
              <a:t>• Database migration scripts live in mimoto/db_scripts and db_upgrade_script. Version upgrades are not always drop-in.</a:t>
            </a:r>
          </a:p>
          <a:p>
            <a:r>
              <a:rPr sz="1100"/>
              <a:t>• Do not ship a wallet build with a test issuer catalogue baked into its MIMOTO_HOST.</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If there are developers in the room with laptops, have them start docker-compose now — it takes several minutes and they can follow the rest of the section while it pulls.</a:t>
            </a:r>
          </a:p>
          <a:p>
            <a:r>
              <a:rPr sz="1100"/>
              <a:t>• The two trace rows are the most valuable thing on this slide. The pattern is identical for both protocols: machine → shared adapter → native module → library. Once you know that shape you can find anything.</a:t>
            </a:r>
          </a:p>
          <a:p>
            <a:r>
              <a:rPr sz="1100"/>
              <a:t>• The breakpoint suggestions are chosen deliberately: getProofJwt and constructUnsignedVPToken are the two moments where the app is about to sign something, so they are where the interesting state is.</a:t>
            </a:r>
          </a:p>
          <a:p>
            <a:r>
              <a:rPr sz="1100"/>
              <a:t>• Row 3's advice — check GET /v2/issuers before blaming the app — saves a whole class of wasted debugging.</a:t>
            </a:r>
          </a:p>
          <a:p>
            <a:r>
              <a:rPr b="1" sz="1100"/>
              <a:t>CAVEATS / GOTCHAS</a:t>
            </a:r>
          </a:p>
          <a:p>
            <a:r>
              <a:rPr sz="1100"/>
              <a:t>• Node 18 specifically. Newer Node versions break the React Native 0.74 toolchain in ways that are hard to diagnose.</a:t>
            </a:r>
          </a:p>
          <a:p>
            <a:r>
              <a:rPr sz="1100"/>
              <a:t>• iOS requires a Mac with Xcode 15+; plan for that in the team's equipment.</a:t>
            </a:r>
          </a:p>
          <a:p>
            <a:r>
              <a:rPr sz="1100"/>
              <a:t>• docker-compose brings up a demo configuration, not a secure one. Never expose it.</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Tell the room this is the section they will come back to. The tables are reference material, not lecture material.</a:t>
            </a:r>
          </a:p>
          <a:p>
            <a:r>
              <a:rPr sz="1100"/>
              <a:t>• Invite people to add their own failures to the catalogue during the session.</a:t>
            </a:r>
          </a:p>
          <a:p>
            <a:r>
              <a:rPr b="1" sz="1100"/>
              <a:t>TIME: 30 min for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Teach this as a habit, not a diagram. Walk through one real failure with the room using the four questions.</a:t>
            </a:r>
          </a:p>
          <a:p>
            <a:r>
              <a:rPr sz="1100"/>
              <a:t>• Question 1 is startlingly effective. 'Did anything leave the phone?' separates OS integration problems from protocol problems instantly, and OS integration problems are the majority in the first weeks.</a:t>
            </a:r>
          </a:p>
          <a:p>
            <a:r>
              <a:rPr sz="1100"/>
              <a:t>• Question 3 is where draft skew shows up. Keep a written record of which draft every partner is on.</a:t>
            </a:r>
          </a:p>
          <a:p>
            <a:r>
              <a:rPr sz="1100"/>
              <a:t>• Question 4's second branch matters: a policy rejection is not a bug. Teams burn days trying to 'fix' a verifier that is correctly refusing an issuer it does not trust.</a:t>
            </a:r>
          </a:p>
          <a:p>
            <a:r>
              <a:rPr b="1" sz="1100"/>
              <a:t>CAVEATS / GOTCHAS</a:t>
            </a:r>
          </a:p>
          <a:p>
            <a:r>
              <a:rPr sz="1100"/>
              <a:t>• Some failures span two owners — for example, a metadata document that is valid but cached stale. The tree still helps: it tells you where to look first.</a:t>
            </a:r>
          </a:p>
          <a:p>
            <a:r>
              <a:rPr sz="1100"/>
              <a:t>• Always capture the traceabilityId. Without it, cross-component correlation is guesswork.</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Reference material. Do not read it. Ask the room which symptoms they have already seen and discuss those.</a:t>
            </a:r>
          </a:p>
          <a:p>
            <a:r>
              <a:rPr sz="1100"/>
              <a:t>• Row 5 and row 6 together account for a large share of first-week failures. The adb command in row 6 is the fastest way to prove whether a deep link is registered — teach it explicitly.</a:t>
            </a:r>
          </a:p>
          <a:p>
            <a:r>
              <a:rPr sz="1100"/>
              <a:t>• Row 9 is the honest DPoP note again: if a partner issuer requires DPoP, Inji cannot currently satisfy it. That is a conversation to have before integration starts, not during.</a:t>
            </a:r>
          </a:p>
          <a:p>
            <a:r>
              <a:rPr sz="1100"/>
              <a:t>• Row 4 is subtle and wastes a lot of time: a draft-11 issuer talking to draft-13 expectations produces an empty list rather than an error.</a:t>
            </a:r>
          </a:p>
          <a:p>
            <a:r>
              <a:rPr b="1" sz="1100"/>
              <a:t>CAVEATS / GOTCHAS</a:t>
            </a:r>
          </a:p>
          <a:p>
            <a:r>
              <a:rPr sz="1100"/>
              <a:t>• Owner column is 'most likely', not 'always'. Use the triage tree to confirm.</a:t>
            </a:r>
          </a:p>
          <a:p>
            <a:r>
              <a:rPr sz="1100"/>
              <a:t>• Several of these produce the same user-visible message. The error code is what distinguishes them — capture it.</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Again: reference material. Pick three and go deep.</a:t>
            </a:r>
          </a:p>
          <a:p>
            <a:r>
              <a:rPr sz="1100"/>
              <a:t>• The SD-JWT disclosure row is worth demonstrating — recomputing a digest by hand once makes the format permanently clear.</a:t>
            </a:r>
          </a:p>
          <a:p>
            <a:r>
              <a:rPr sz="1100"/>
              <a:t>• The two Web rows (401 and CORS) cover most Inji Web integration pain. They are boring and they are the truth.</a:t>
            </a:r>
          </a:p>
          <a:p>
            <a:r>
              <a:rPr sz="1100"/>
              <a:t>• The Android row about a chooser dialog is a security lesson disguised as a bug report: if a chooser appears, another app claims your scheme.</a:t>
            </a:r>
          </a:p>
          <a:p>
            <a:r>
              <a:rPr b="1" sz="1100"/>
              <a:t>CAVEATS / GOTCHAS</a:t>
            </a:r>
          </a:p>
          <a:p>
            <a:r>
              <a:rPr sz="1100"/>
              <a:t>• Do not paste real credentials into online decoders while debugging. Use local tools.</a:t>
            </a:r>
          </a:p>
          <a:p>
            <a:r>
              <a:rPr sz="1100"/>
              <a:t>• Some of these failures are silent on one platform and loud on the other. Test both.</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Open with the headline: standards make interoperability possible, they do not make it automatic. Every successful integration in this space starts with a written profile agreement.</a:t>
            </a:r>
          </a:p>
          <a:p>
            <a:r>
              <a:rPr sz="1100"/>
              <a:t>• The empty-list failure in card two is worth a story. It is the most misleading failure mode in OpenID4VCI because nothing is obviously wrong — the wallet just shows no credentials.</a:t>
            </a:r>
          </a:p>
          <a:p>
            <a:r>
              <a:rPr sz="1100"/>
              <a:t>• The 'test with a second wallet' advice in card three is the single best interoperability investment. It catches assumptions no amount of internal testing will.</a:t>
            </a:r>
          </a:p>
          <a:p>
            <a:r>
              <a:rPr sz="1100"/>
              <a:t>• walletMetadata in the wallet repo is a real, readable file. Show it: it is the machine-readable version of the left card.</a:t>
            </a:r>
          </a:p>
          <a:p>
            <a:r>
              <a:rPr b="1" sz="1100"/>
              <a:t>CAVEATS / GOTCHAS</a:t>
            </a:r>
          </a:p>
          <a:p>
            <a:r>
              <a:rPr sz="1100"/>
              <a:t>• DCQL will land in later drafts and will change the request shape. Plan for a migration rather than assuming stability.</a:t>
            </a:r>
          </a:p>
          <a:p>
            <a:r>
              <a:rPr sz="1100"/>
              <a:t>• Conformance suites cover profiles, not your specific credential design. Passing them is necessary, not sufficient.</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most valuable exercise in the day. Protect the time for it.</a:t>
            </a:r>
          </a:p>
          <a:p>
            <a:r>
              <a:rPr sz="1100"/>
              <a:t>• Do not reveal the change. Let the room drive. Your job is to keep them on the triage tree rather than letting them guess.</a:t>
            </a:r>
          </a:p>
          <a:p>
            <a:r>
              <a:rPr sz="1100"/>
              <a:t>• After each round, ask: which question in the tree would have got us here fastest? That is the reflection that makes the skill stick.</a:t>
            </a:r>
          </a:p>
          <a:p>
            <a:r>
              <a:rPr sz="1100"/>
              <a:t>• Break number 5 mirrors a real production incident pattern — rotation without overlap. Land that point explicitly.</a:t>
            </a:r>
          </a:p>
          <a:p>
            <a:r>
              <a:rPr b="1" sz="1100"/>
              <a:t>CAVEATS / GOTCHAS</a:t>
            </a:r>
          </a:p>
          <a:p>
            <a:r>
              <a:rPr sz="1100"/>
              <a:t>• Reset the configuration between rounds or failures will compound and confuse.</a:t>
            </a:r>
          </a:p>
          <a:p>
            <a:r>
              <a:rPr sz="1100"/>
              <a:t>• Keep rounds short — five minutes each, maximum. Three good rounds beat one long one.</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Say explicitly: this deck makes no assumptions about Brazil's architecture, and the next three slides are questions, not proposals.</a:t>
            </a:r>
          </a:p>
          <a:p>
            <a:r>
              <a:rPr sz="1100"/>
              <a:t>• Set up the format: capture every answer, and every 'we do not know yet', on a flipchart or a shared document. The unknowns are as valuable as the answers.</a:t>
            </a:r>
          </a:p>
          <a:p>
            <a:r>
              <a:rPr sz="1100"/>
              <a:t>• Assign an owner to each open question before the session ends. A question with no owner is not a decision, it is a delay.</a:t>
            </a:r>
          </a:p>
          <a:p>
            <a:r>
              <a:rPr b="1" sz="1100"/>
              <a:t>TIME: 20 min plus open discussion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Facilitate, do not present. Read each question, pause, and let the room argue.</a:t>
            </a:r>
          </a:p>
          <a:p>
            <a:r>
              <a:rPr sz="1100"/>
              <a:t>• The format question depends on the answers in the third column, not the other way round. If people jump straight to 'SD-JWT or mDoc', redirect them: first say which claims must be withholdable, then the format follows.</a:t>
            </a:r>
          </a:p>
          <a:p>
            <a:r>
              <a:rPr sz="1100"/>
              <a:t>• The 'never disclosed together' question is one that privacy regulators ask and engineers rarely anticipate. Raise it even if nobody has an answer.</a:t>
            </a:r>
          </a:p>
          <a:p>
            <a:r>
              <a:rPr sz="1100"/>
              <a:t>• The connectivity question is the one that decides whether the programme works outside major cities. Do not let it be skipped.</a:t>
            </a:r>
          </a:p>
          <a:p>
            <a:r>
              <a:rPr b="1" sz="1100"/>
              <a:t>CAVEATS / GOTCHAS</a:t>
            </a:r>
          </a:p>
          <a:p>
            <a:r>
              <a:rPr sz="1100"/>
              <a:t>• Resist giving your own recommendation too early. The room's own reasoning is what will survive the session.</a:t>
            </a:r>
          </a:p>
          <a:p>
            <a:r>
              <a:rPr sz="1100"/>
              <a:t>• If a question genuinely cannot be answered today, write down who will answer it and by when.</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first column has the longest lead time. National PKI decisions take months and block everything downstream.</a:t>
            </a:r>
          </a:p>
          <a:p>
            <a:r>
              <a:rPr sz="1100"/>
              <a:t>• The residency question in the third column is the one that can change the product choice entirely. If credentials for Inji Web users cannot be held centrally, the browser wallet may not be viable in its current form. That is a big finding, and better discovered today than in month nine.</a:t>
            </a:r>
          </a:p>
          <a:p>
            <a:r>
              <a:rPr sz="1100"/>
              <a:t>• The DC API question is forward-looking: browsers are adding a native credential-presentation API. It is not supported in the Inji versions reviewed here. If Brazil expects browser-native flows, that is a roadmap conversation with the Inji community.</a:t>
            </a:r>
          </a:p>
          <a:p>
            <a:r>
              <a:rPr sz="1100"/>
              <a:t>• The last bullet — contributing upstream rather than forking — is a cost decision disguised as a philosophy question. A fork is a permanent tax.</a:t>
            </a:r>
          </a:p>
          <a:p>
            <a:r>
              <a:rPr b="1" sz="1100"/>
              <a:t>CAVEATS / GOTCHAS</a:t>
            </a:r>
          </a:p>
          <a:p>
            <a:r>
              <a:rPr sz="1100"/>
              <a:t>• Do not let 'we will customise it later' pass without a name attached. Customisation debt compounds.</a:t>
            </a:r>
          </a:p>
          <a:p>
            <a:r>
              <a:rPr sz="1100"/>
              <a:t>• Several of these questions belong to people who are not in the room. Identify them and schedule the conversation.</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slide the programme manager in the room needs.</a:t>
            </a:r>
          </a:p>
          <a:p>
            <a:r>
              <a:rPr sz="1100"/>
              <a:t>• Explain the dependency logic: format follows from claims; binding follows from assurance; key publication follows from format; everything else follows from those.</a:t>
            </a:r>
          </a:p>
          <a:p>
            <a:r>
              <a:rPr sz="1100"/>
              <a:t>• The 'start in parallel' card matters for morale — there is real, useful work available on day one that does not block on any decision.</a:t>
            </a:r>
          </a:p>
          <a:p>
            <a:r>
              <a:rPr sz="1100"/>
              <a:t>• The last bullet on the right is deliberate. Forking is almost always premature, and it is the decision teams regret most.</a:t>
            </a:r>
          </a:p>
          <a:p>
            <a:r>
              <a:rPr b="1" sz="1100"/>
              <a:t>CAVEATS / GOTCHAS</a:t>
            </a:r>
          </a:p>
          <a:p>
            <a:r>
              <a:rPr sz="1100"/>
              <a:t>• Real programmes never decide in a clean order. The point is to know which decision you are pre-empting when you go out of order, and to record it.</a:t>
            </a:r>
          </a:p>
          <a:p>
            <a:r>
              <a:rPr sz="1100"/>
              <a:t>• Revisit this ordering after the first pilot — assumptions will have changed.</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Do not try to run all nine. Pick three or four based on who is in the room, and let people choose within that.</a:t>
            </a:r>
          </a:p>
          <a:p>
            <a:r>
              <a:rPr sz="1100"/>
              <a:t>• Exercises 2 and 9 are the ones that produce the capability we most want: correct attribution of a failure, and comfort with key resolution.</a:t>
            </a:r>
          </a:p>
          <a:p>
            <a:r>
              <a:rPr sz="1100"/>
              <a:t>• Exercise 6 is the one that makes SD-JWT click permanently. If you only have time for one technical exercise, make it this.</a:t>
            </a:r>
          </a:p>
          <a:p>
            <a:r>
              <a:rPr sz="1100"/>
              <a:t>• Run them in pairs, not alone — the explaining is where the learning happens. Reconvene after each and take one answer from each pair.</a:t>
            </a:r>
          </a:p>
          <a:p>
            <a:r>
              <a:rPr b="1" sz="1100"/>
              <a:t>CAVEATS / GOTCHAS</a:t>
            </a:r>
          </a:p>
          <a:p>
            <a:r>
              <a:rPr sz="1100"/>
              <a:t>• Prepare the materials in advance: the error cards for exercise 2, a sample credential for 6 and 7, a trace for 1 and 8.</a:t>
            </a:r>
          </a:p>
          <a:p>
            <a:r>
              <a:rPr sz="1100"/>
              <a:t>• Have a written answer key. Do not improvise the answers in front of the room.</a:t>
            </a:r>
          </a:p>
          <a:p>
            <a:r>
              <a:rPr b="1" sz="1100"/>
              <a:t>TIME: 30–45 min, run as a block or spread through the day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Close the loop with the diagram you opened with. Ask someone in the room to narrate it rather than doing it yourself.</a:t>
            </a:r>
          </a:p>
          <a:p>
            <a:r>
              <a:rPr sz="1100"/>
              <a:t>• Point at the Wallet and Web columns together one last time — same protocol, different custody model. It is the thing most likely to be misremembered.</a:t>
            </a:r>
          </a:p>
          <a:p>
            <a:r>
              <a:rPr sz="1100"/>
              <a:t>• Ask: which column does your team sit in? Which column will you have to argue with most? That framing helps people plan their next conversations.</a:t>
            </a:r>
          </a:p>
          <a:p>
            <a:r>
              <a:rPr b="1" sz="1100"/>
              <a:t>TIME: 4 min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Read all eight out loud, slowly. This is the last thing people hear.</a:t>
            </a:r>
          </a:p>
          <a:p>
            <a:r>
              <a:rPr sz="1100"/>
              <a:t>• Ask the room which one they disagree with. If nobody disagrees, ask which one they think their organisation will find hardest to act on — that surfaces the real risks.</a:t>
            </a:r>
          </a:p>
          <a:p>
            <a:r>
              <a:rPr sz="1100"/>
              <a:t>• Lesson 5 and lesson 7 are the two that cause the most expensive incidents in deployed systems. Give them an extra beat.</a:t>
            </a:r>
          </a:p>
          <a:p>
            <a:r>
              <a:rPr b="1" sz="1100"/>
              <a:t>TIME: 4 min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Close by making it concrete. Name people against the 'this week' column before anyone leaves the room.</a:t>
            </a:r>
          </a:p>
          <a:p>
            <a:r>
              <a:rPr sz="1100"/>
              <a:t>• The 'this month' column contains the decisions that unblock everything else. If only one column gets attention, make it that one.</a:t>
            </a:r>
          </a:p>
          <a:p>
            <a:r>
              <a:rPr sz="1100"/>
              <a:t>• The references table is deliberately short and authoritative. Encourage people to read the specifications — in this field the primary sources are unusually readable, and blog posts age badly.</a:t>
            </a:r>
          </a:p>
          <a:p>
            <a:r>
              <a:rPr sz="1100"/>
              <a:t>• Offer to reconvene in four weeks to review the section 13 answers. A follow-up session converts a workshop into a programme.</a:t>
            </a:r>
          </a:p>
          <a:p>
            <a:r>
              <a:rPr b="1" sz="1100"/>
              <a:t>CAVEATS / GOTCHAS</a:t>
            </a:r>
          </a:p>
          <a:p>
            <a:r>
              <a:rPr sz="1100"/>
              <a:t>• Draft URLs move as versions advance. Check the OpenID Foundation and IETF datatracker for the current draft rather than trusting a bookmarked link.</a:t>
            </a:r>
          </a:p>
          <a:p>
            <a:r>
              <a:rPr sz="1100"/>
              <a:t>• Verify every version claim in this deck against the release you deploy.</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Do not end on a summary. End on the open questions.</a:t>
            </a:r>
          </a:p>
          <a:p>
            <a:r>
              <a:rPr sz="1100"/>
              <a:t>• Read out the unanswered list from section 13 and confirm each owner by name.</a:t>
            </a:r>
          </a:p>
          <a:p>
            <a:r>
              <a:rPr sz="1100"/>
              <a:t>• Agree the date of the follow-up session before people leave.</a:t>
            </a:r>
          </a:p>
          <a:p>
            <a:r>
              <a:rPr b="1" sz="1100"/>
              <a:t>TIME: Remaining time — open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18120" y="91440"/>
            <a:ext cx="4370832" cy="6766560"/>
          </a:xfrm>
          <a:prstGeom prst="rect">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18120" y="91440"/>
            <a:ext cx="41148" cy="6766560"/>
          </a:xfrm>
          <a:prstGeom prst="rect">
            <a:avLst/>
          </a:prstGeom>
          <a:solidFill>
            <a:srgbClr val="1E3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06328"/>
            <a:ext cx="6675120" cy="349476"/>
          </a:xfrm>
          <a:prstGeom prst="rect">
            <a:avLst/>
          </a:prstGeom>
          <a:noFill/>
        </p:spPr>
        <p:txBody>
          <a:bodyPr wrap="square" lIns="0" rIns="0" tIns="0" bIns="0" anchor="t">
            <a:spAutoFit/>
          </a:bodyPr>
          <a:lstStyle/>
          <a:p>
            <a:pPr algn="l">
              <a:lnSpc>
                <a:spcPct val="114000"/>
              </a:lnSpc>
              <a:spcBef>
                <a:spcPts val="0"/>
              </a:spcBef>
              <a:spcAft>
                <a:spcPts val="0"/>
              </a:spcAft>
            </a:pPr>
            <a:r>
              <a:rPr sz="1180" b="1" i="0">
                <a:solidFill>
                  <a:srgbClr val="0E9488"/>
                </a:solidFill>
              </a:rPr>
              <a:t>TECHNICAL ENABLEMENT WORKSHOP</a:t>
            </a:r>
          </a:p>
        </p:txBody>
      </p:sp>
      <p:sp>
        <p:nvSpPr>
          <p:cNvPr id="7" name="TextBox 6"/>
          <p:cNvSpPr txBox="1"/>
          <p:nvPr/>
        </p:nvSpPr>
        <p:spPr>
          <a:xfrm>
            <a:off x="868680" y="1843172"/>
            <a:ext cx="6766560" cy="1660011"/>
          </a:xfrm>
          <a:prstGeom prst="rect">
            <a:avLst/>
          </a:prstGeom>
          <a:noFill/>
        </p:spPr>
        <p:txBody>
          <a:bodyPr wrap="square" lIns="0" rIns="0" tIns="0" bIns="0" anchor="t">
            <a:spAutoFit/>
          </a:bodyPr>
          <a:lstStyle/>
          <a:p>
            <a:pPr algn="l">
              <a:lnSpc>
                <a:spcPct val="102000"/>
              </a:lnSpc>
              <a:spcBef>
                <a:spcPts val="0"/>
              </a:spcBef>
              <a:spcAft>
                <a:spcPts val="0"/>
              </a:spcAft>
            </a:pPr>
            <a:r>
              <a:rPr sz="4310" b="1" i="0">
                <a:solidFill>
                  <a:srgbClr val="FFFFFF"/>
                </a:solidFill>
              </a:rPr>
              <a:t>Inji Wallet &amp; Inji Web</a:t>
            </a:r>
          </a:p>
          <a:p>
            <a:pPr algn="l">
              <a:lnSpc>
                <a:spcPct val="114000"/>
              </a:lnSpc>
              <a:spcBef>
                <a:spcPts val="800"/>
              </a:spcBef>
              <a:spcAft>
                <a:spcPts val="0"/>
              </a:spcAft>
            </a:pPr>
            <a:r>
              <a:rPr sz="1860" b="0" i="0">
                <a:solidFill>
                  <a:srgbClr val="8FAEC8"/>
                </a:solidFill>
              </a:rPr>
              <a:t>End to end, for the people who have to build it</a:t>
            </a:r>
          </a:p>
        </p:txBody>
      </p:sp>
      <p:cxnSp>
        <p:nvCxnSpPr>
          <p:cNvPr id="8" name="Connector 7"/>
          <p:cNvCxnSpPr/>
          <p:nvPr/>
        </p:nvCxnSpPr>
        <p:spPr>
          <a:xfrm>
            <a:off x="868680" y="3852660"/>
            <a:ext cx="3886200" cy="0"/>
          </a:xfrm>
          <a:prstGeom prst="line">
            <a:avLst/>
          </a:prstGeom>
          <a:ln w="31750">
            <a:solidFill>
              <a:srgbClr val="0E948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68680" y="4071084"/>
            <a:ext cx="6675120" cy="1048428"/>
          </a:xfrm>
          <a:prstGeom prst="rect">
            <a:avLst/>
          </a:prstGeom>
          <a:noFill/>
        </p:spPr>
        <p:txBody>
          <a:bodyPr wrap="square" lIns="0" rIns="0" tIns="0" bIns="0" anchor="t">
            <a:spAutoFit/>
          </a:bodyPr>
          <a:lstStyle/>
          <a:p>
            <a:pPr algn="l">
              <a:lnSpc>
                <a:spcPct val="114000"/>
              </a:lnSpc>
              <a:spcBef>
                <a:spcPts val="0"/>
              </a:spcBef>
              <a:spcAft>
                <a:spcPts val="0"/>
              </a:spcAft>
            </a:pPr>
            <a:r>
              <a:rPr sz="1270" b="0" i="0">
                <a:solidFill>
                  <a:srgbClr val="C6D6E4"/>
                </a:solidFill>
              </a:rPr>
              <a:t>Brazil implementation team  •  architects, developers, integration engineers</a:t>
            </a:r>
          </a:p>
          <a:p>
            <a:pPr algn="l">
              <a:lnSpc>
                <a:spcPct val="114000"/>
              </a:lnSpc>
              <a:spcBef>
                <a:spcPts val="500"/>
              </a:spcBef>
              <a:spcAft>
                <a:spcPts val="0"/>
              </a:spcAft>
            </a:pPr>
            <a:r>
              <a:rPr sz="1270" b="0" i="0">
                <a:solidFill>
                  <a:srgbClr val="8FAEC8"/>
                </a:solidFill>
              </a:rPr>
              <a:t>4–5 hours  •  ~3h15m teaching  •  ~1h15m demos, exercises, discussion</a:t>
            </a:r>
          </a:p>
        </p:txBody>
      </p:sp>
      <p:sp>
        <p:nvSpPr>
          <p:cNvPr id="10" name="Rounded Rectangle 9"/>
          <p:cNvSpPr/>
          <p:nvPr/>
        </p:nvSpPr>
        <p:spPr>
          <a:xfrm>
            <a:off x="8211312" y="2428546"/>
            <a:ext cx="1755648" cy="751373"/>
          </a:xfrm>
          <a:prstGeom prst="roundRect">
            <a:avLst>
              <a:gd name="adj" fmla="val 10000"/>
            </a:avLst>
          </a:prstGeom>
          <a:solidFill>
            <a:srgbClr val="142E49"/>
          </a:solidFill>
          <a:ln w="12700">
            <a:solidFill>
              <a:srgbClr val="1E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2559599"/>
            <a:ext cx="1572768" cy="218422"/>
          </a:xfrm>
          <a:prstGeom prst="rect">
            <a:avLst/>
          </a:prstGeom>
          <a:noFill/>
        </p:spPr>
        <p:txBody>
          <a:bodyPr wrap="square" lIns="0" rIns="0" tIns="0" bIns="0" anchor="t">
            <a:spAutoFit/>
          </a:bodyPr>
          <a:lstStyle/>
          <a:p>
            <a:pPr algn="ctr">
              <a:lnSpc>
                <a:spcPct val="114000"/>
              </a:lnSpc>
              <a:spcBef>
                <a:spcPts val="0"/>
              </a:spcBef>
              <a:spcAft>
                <a:spcPts val="0"/>
              </a:spcAft>
            </a:pPr>
            <a:r>
              <a:rPr sz="830" b="1" i="0">
                <a:solidFill>
                  <a:srgbClr val="0E9488"/>
                </a:solidFill>
              </a:rPr>
              <a:t>Wallet</a:t>
            </a:r>
          </a:p>
        </p:txBody>
      </p:sp>
      <p:sp>
        <p:nvSpPr>
          <p:cNvPr id="12" name="TextBox 11"/>
          <p:cNvSpPr txBox="1"/>
          <p:nvPr/>
        </p:nvSpPr>
        <p:spPr>
          <a:xfrm>
            <a:off x="8284464" y="2812969"/>
            <a:ext cx="1609344" cy="262107"/>
          </a:xfrm>
          <a:prstGeom prst="rect">
            <a:avLst/>
          </a:prstGeom>
          <a:noFill/>
        </p:spPr>
        <p:txBody>
          <a:bodyPr wrap="square" lIns="0" rIns="0" tIns="0" bIns="0" anchor="t">
            <a:spAutoFit/>
          </a:bodyPr>
          <a:lstStyle/>
          <a:p>
            <a:pPr algn="ctr">
              <a:lnSpc>
                <a:spcPct val="114000"/>
              </a:lnSpc>
              <a:spcBef>
                <a:spcPts val="0"/>
              </a:spcBef>
              <a:spcAft>
                <a:spcPts val="0"/>
              </a:spcAft>
            </a:pPr>
            <a:r>
              <a:rPr sz="980" b="1" i="0">
                <a:solidFill>
                  <a:srgbClr val="FFFFFF"/>
                </a:solidFill>
              </a:rPr>
              <a:t>React Native</a:t>
            </a:r>
          </a:p>
        </p:txBody>
      </p:sp>
      <p:sp>
        <p:nvSpPr>
          <p:cNvPr id="13" name="Rounded Rectangle 12"/>
          <p:cNvSpPr/>
          <p:nvPr/>
        </p:nvSpPr>
        <p:spPr>
          <a:xfrm>
            <a:off x="10131552" y="2428546"/>
            <a:ext cx="1755648" cy="751373"/>
          </a:xfrm>
          <a:prstGeom prst="roundRect">
            <a:avLst>
              <a:gd name="adj" fmla="val 10000"/>
            </a:avLst>
          </a:prstGeom>
          <a:solidFill>
            <a:srgbClr val="142E49"/>
          </a:solidFill>
          <a:ln w="12700">
            <a:solidFill>
              <a:srgbClr val="1E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22992" y="2559599"/>
            <a:ext cx="1572768" cy="218422"/>
          </a:xfrm>
          <a:prstGeom prst="rect">
            <a:avLst/>
          </a:prstGeom>
          <a:noFill/>
        </p:spPr>
        <p:txBody>
          <a:bodyPr wrap="square" lIns="0" rIns="0" tIns="0" bIns="0" anchor="t">
            <a:spAutoFit/>
          </a:bodyPr>
          <a:lstStyle/>
          <a:p>
            <a:pPr algn="ctr">
              <a:lnSpc>
                <a:spcPct val="114000"/>
              </a:lnSpc>
              <a:spcBef>
                <a:spcPts val="0"/>
              </a:spcBef>
              <a:spcAft>
                <a:spcPts val="0"/>
              </a:spcAft>
            </a:pPr>
            <a:r>
              <a:rPr sz="830" b="1" i="0">
                <a:solidFill>
                  <a:srgbClr val="0E9488"/>
                </a:solidFill>
              </a:rPr>
              <a:t>Web</a:t>
            </a:r>
          </a:p>
        </p:txBody>
      </p:sp>
      <p:sp>
        <p:nvSpPr>
          <p:cNvPr id="15" name="TextBox 14"/>
          <p:cNvSpPr txBox="1"/>
          <p:nvPr/>
        </p:nvSpPr>
        <p:spPr>
          <a:xfrm>
            <a:off x="10204704" y="2812969"/>
            <a:ext cx="1609344" cy="262107"/>
          </a:xfrm>
          <a:prstGeom prst="rect">
            <a:avLst/>
          </a:prstGeom>
          <a:noFill/>
        </p:spPr>
        <p:txBody>
          <a:bodyPr wrap="square" lIns="0" rIns="0" tIns="0" bIns="0" anchor="t">
            <a:spAutoFit/>
          </a:bodyPr>
          <a:lstStyle/>
          <a:p>
            <a:pPr algn="ctr">
              <a:lnSpc>
                <a:spcPct val="114000"/>
              </a:lnSpc>
              <a:spcBef>
                <a:spcPts val="0"/>
              </a:spcBef>
              <a:spcAft>
                <a:spcPts val="0"/>
              </a:spcAft>
            </a:pPr>
            <a:r>
              <a:rPr sz="980" b="1" i="0">
                <a:solidFill>
                  <a:srgbClr val="FFFFFF"/>
                </a:solidFill>
              </a:rPr>
              <a:t>React + BFF</a:t>
            </a:r>
          </a:p>
        </p:txBody>
      </p:sp>
      <p:sp>
        <p:nvSpPr>
          <p:cNvPr id="16" name="Rounded Rectangle 15"/>
          <p:cNvSpPr/>
          <p:nvPr/>
        </p:nvSpPr>
        <p:spPr>
          <a:xfrm>
            <a:off x="8211312" y="3319710"/>
            <a:ext cx="1755648" cy="751373"/>
          </a:xfrm>
          <a:prstGeom prst="roundRect">
            <a:avLst>
              <a:gd name="adj" fmla="val 10000"/>
            </a:avLst>
          </a:prstGeom>
          <a:solidFill>
            <a:srgbClr val="142E49"/>
          </a:solidFill>
          <a:ln w="12700">
            <a:solidFill>
              <a:srgbClr val="1E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3450763"/>
            <a:ext cx="1572768" cy="218422"/>
          </a:xfrm>
          <a:prstGeom prst="rect">
            <a:avLst/>
          </a:prstGeom>
          <a:noFill/>
        </p:spPr>
        <p:txBody>
          <a:bodyPr wrap="square" lIns="0" rIns="0" tIns="0" bIns="0" anchor="t">
            <a:spAutoFit/>
          </a:bodyPr>
          <a:lstStyle/>
          <a:p>
            <a:pPr algn="ctr">
              <a:lnSpc>
                <a:spcPct val="114000"/>
              </a:lnSpc>
              <a:spcBef>
                <a:spcPts val="0"/>
              </a:spcBef>
              <a:spcAft>
                <a:spcPts val="0"/>
              </a:spcAft>
            </a:pPr>
            <a:r>
              <a:rPr sz="830" b="1" i="0">
                <a:solidFill>
                  <a:srgbClr val="0E9488"/>
                </a:solidFill>
              </a:rPr>
              <a:t>Backend</a:t>
            </a:r>
          </a:p>
        </p:txBody>
      </p:sp>
      <p:sp>
        <p:nvSpPr>
          <p:cNvPr id="18" name="TextBox 17"/>
          <p:cNvSpPr txBox="1"/>
          <p:nvPr/>
        </p:nvSpPr>
        <p:spPr>
          <a:xfrm>
            <a:off x="8284464" y="3704134"/>
            <a:ext cx="1609344" cy="262107"/>
          </a:xfrm>
          <a:prstGeom prst="rect">
            <a:avLst/>
          </a:prstGeom>
          <a:noFill/>
        </p:spPr>
        <p:txBody>
          <a:bodyPr wrap="square" lIns="0" rIns="0" tIns="0" bIns="0" anchor="t">
            <a:spAutoFit/>
          </a:bodyPr>
          <a:lstStyle/>
          <a:p>
            <a:pPr algn="ctr">
              <a:lnSpc>
                <a:spcPct val="114000"/>
              </a:lnSpc>
              <a:spcBef>
                <a:spcPts val="0"/>
              </a:spcBef>
              <a:spcAft>
                <a:spcPts val="0"/>
              </a:spcAft>
            </a:pPr>
            <a:r>
              <a:rPr sz="980" b="1" i="0">
                <a:solidFill>
                  <a:srgbClr val="FFFFFF"/>
                </a:solidFill>
              </a:rPr>
              <a:t>Mimoto (Spring)</a:t>
            </a:r>
          </a:p>
        </p:txBody>
      </p:sp>
      <p:sp>
        <p:nvSpPr>
          <p:cNvPr id="19" name="Rounded Rectangle 18"/>
          <p:cNvSpPr/>
          <p:nvPr/>
        </p:nvSpPr>
        <p:spPr>
          <a:xfrm>
            <a:off x="10131552" y="3319710"/>
            <a:ext cx="1755648" cy="751373"/>
          </a:xfrm>
          <a:prstGeom prst="roundRect">
            <a:avLst>
              <a:gd name="adj" fmla="val 10000"/>
            </a:avLst>
          </a:prstGeom>
          <a:solidFill>
            <a:srgbClr val="142E49"/>
          </a:solidFill>
          <a:ln w="12700">
            <a:solidFill>
              <a:srgbClr val="1E3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22992" y="3450763"/>
            <a:ext cx="1572768" cy="218422"/>
          </a:xfrm>
          <a:prstGeom prst="rect">
            <a:avLst/>
          </a:prstGeom>
          <a:noFill/>
        </p:spPr>
        <p:txBody>
          <a:bodyPr wrap="square" lIns="0" rIns="0" tIns="0" bIns="0" anchor="t">
            <a:spAutoFit/>
          </a:bodyPr>
          <a:lstStyle/>
          <a:p>
            <a:pPr algn="ctr">
              <a:lnSpc>
                <a:spcPct val="114000"/>
              </a:lnSpc>
              <a:spcBef>
                <a:spcPts val="0"/>
              </a:spcBef>
              <a:spcAft>
                <a:spcPts val="0"/>
              </a:spcAft>
            </a:pPr>
            <a:r>
              <a:rPr sz="830" b="1" i="0">
                <a:solidFill>
                  <a:srgbClr val="0E9488"/>
                </a:solidFill>
              </a:rPr>
              <a:t>Protocols</a:t>
            </a:r>
          </a:p>
        </p:txBody>
      </p:sp>
      <p:sp>
        <p:nvSpPr>
          <p:cNvPr id="21" name="TextBox 20"/>
          <p:cNvSpPr txBox="1"/>
          <p:nvPr/>
        </p:nvSpPr>
        <p:spPr>
          <a:xfrm>
            <a:off x="10204704" y="3704134"/>
            <a:ext cx="1609344" cy="262107"/>
          </a:xfrm>
          <a:prstGeom prst="rect">
            <a:avLst/>
          </a:prstGeom>
          <a:noFill/>
        </p:spPr>
        <p:txBody>
          <a:bodyPr wrap="square" lIns="0" rIns="0" tIns="0" bIns="0" anchor="t">
            <a:spAutoFit/>
          </a:bodyPr>
          <a:lstStyle/>
          <a:p>
            <a:pPr algn="ctr">
              <a:lnSpc>
                <a:spcPct val="114000"/>
              </a:lnSpc>
              <a:spcBef>
                <a:spcPts val="0"/>
              </a:spcBef>
              <a:spcAft>
                <a:spcPts val="0"/>
              </a:spcAft>
            </a:pPr>
            <a:r>
              <a:rPr sz="980" b="1" i="0">
                <a:solidFill>
                  <a:srgbClr val="FFFFFF"/>
                </a:solidFill>
              </a:rPr>
              <a:t>OpenID4VC</a:t>
            </a:r>
          </a:p>
        </p:txBody>
      </p:sp>
      <p:sp>
        <p:nvSpPr>
          <p:cNvPr id="22" name="TextBox 21"/>
          <p:cNvSpPr txBox="1"/>
          <p:nvPr/>
        </p:nvSpPr>
        <p:spPr>
          <a:xfrm>
            <a:off x="868680" y="5835938"/>
            <a:ext cx="6766560" cy="436845"/>
          </a:xfrm>
          <a:prstGeom prst="rect">
            <a:avLst/>
          </a:prstGeom>
          <a:noFill/>
        </p:spPr>
        <p:txBody>
          <a:bodyPr wrap="square" lIns="0" rIns="0" tIns="0" bIns="0" anchor="t">
            <a:spAutoFit/>
          </a:bodyPr>
          <a:lstStyle/>
          <a:p>
            <a:pPr algn="l">
              <a:lnSpc>
                <a:spcPct val="114000"/>
              </a:lnSpc>
              <a:spcBef>
                <a:spcPts val="0"/>
              </a:spcBef>
              <a:spcAft>
                <a:spcPts val="0"/>
              </a:spcAft>
            </a:pPr>
            <a:r>
              <a:rPr sz="930" b="0" i="1">
                <a:solidFill>
                  <a:srgbClr val="62809B"/>
                </a:solidFill>
              </a:rPr>
              <a:t>Built on the public MOSIP / Inji repositories. Where behaviour is version-specific it is called out on the slide.</a:t>
            </a:r>
          </a:p>
        </p:txBody>
      </p:sp>
      <p:sp>
        <p:nvSpPr>
          <p:cNvPr id="23" name="TextBox 22"/>
          <p:cNvSpPr txBox="1"/>
          <p:nvPr/>
        </p:nvSpPr>
        <p:spPr>
          <a:xfrm>
            <a:off x="8211312" y="1974227"/>
            <a:ext cx="3749039" cy="262107"/>
          </a:xfrm>
          <a:prstGeom prst="rect">
            <a:avLst/>
          </a:prstGeom>
          <a:noFill/>
        </p:spPr>
        <p:txBody>
          <a:bodyPr wrap="square" lIns="0" rIns="0" tIns="0" bIns="0" anchor="t">
            <a:spAutoFit/>
          </a:bodyPr>
          <a:lstStyle/>
          <a:p>
            <a:pPr algn="l">
              <a:lnSpc>
                <a:spcPct val="114000"/>
              </a:lnSpc>
              <a:spcBef>
                <a:spcPts val="0"/>
              </a:spcBef>
              <a:spcAft>
                <a:spcPts val="0"/>
              </a:spcAft>
            </a:pPr>
            <a:r>
              <a:rPr sz="830" b="1" i="0">
                <a:solidFill>
                  <a:srgbClr val="0E9488"/>
                </a:solidFill>
              </a:rPr>
              <a:t>THE STACK IN ONE GLANCE</a:t>
            </a:r>
          </a:p>
        </p:txBody>
      </p:sp>
      <p:sp>
        <p:nvSpPr>
          <p:cNvPr id="24" name="TextBox 23"/>
          <p:cNvSpPr txBox="1"/>
          <p:nvPr/>
        </p:nvSpPr>
        <p:spPr>
          <a:xfrm>
            <a:off x="8211312" y="4376875"/>
            <a:ext cx="3703320" cy="1397904"/>
          </a:xfrm>
          <a:prstGeom prst="rect">
            <a:avLst/>
          </a:prstGeom>
          <a:noFill/>
        </p:spPr>
        <p:txBody>
          <a:bodyPr wrap="square" lIns="0" rIns="0" tIns="0" bIns="0" anchor="t">
            <a:spAutoFit/>
          </a:bodyPr>
          <a:lstStyle/>
          <a:p>
            <a:pPr algn="l">
              <a:lnSpc>
                <a:spcPct val="114000"/>
              </a:lnSpc>
              <a:spcBef>
                <a:spcPts val="0"/>
              </a:spcBef>
              <a:spcAft>
                <a:spcPts val="0"/>
              </a:spcAft>
            </a:pPr>
            <a:r>
              <a:rPr sz="930" b="1" i="0">
                <a:solidFill>
                  <a:srgbClr val="8FAEC8"/>
                </a:solidFill>
              </a:rPr>
              <a:t>Repositories you will meet today:</a:t>
            </a:r>
          </a:p>
          <a:p>
            <a:pPr algn="l">
              <a:lnSpc>
                <a:spcPct val="114000"/>
              </a:lnSpc>
              <a:spcBef>
                <a:spcPts val="200"/>
              </a:spcBef>
              <a:spcAft>
                <a:spcPts val="0"/>
              </a:spcAft>
            </a:pPr>
            <a:r>
              <a:rPr sz="880" b="0" i="0">
                <a:solidFill>
                  <a:srgbClr val="7DD3C8"/>
                </a:solidFill>
                <a:latin typeface="Consolas"/>
              </a:rPr>
              <a:t>mosip/inji-wallet</a:t>
            </a:r>
          </a:p>
          <a:p>
            <a:pPr algn="l">
              <a:lnSpc>
                <a:spcPct val="114000"/>
              </a:lnSpc>
              <a:spcBef>
                <a:spcPts val="200"/>
              </a:spcBef>
              <a:spcAft>
                <a:spcPts val="0"/>
              </a:spcAft>
            </a:pPr>
            <a:r>
              <a:rPr sz="880" b="0" i="0">
                <a:solidFill>
                  <a:srgbClr val="7DD3C8"/>
                </a:solidFill>
                <a:latin typeface="Consolas"/>
              </a:rPr>
              <a:t>mosip/inji-web</a:t>
            </a:r>
          </a:p>
          <a:p>
            <a:pPr algn="l">
              <a:lnSpc>
                <a:spcPct val="114000"/>
              </a:lnSpc>
              <a:spcBef>
                <a:spcPts val="200"/>
              </a:spcBef>
              <a:spcAft>
                <a:spcPts val="0"/>
              </a:spcAft>
            </a:pPr>
            <a:r>
              <a:rPr sz="880" b="0" i="0">
                <a:solidFill>
                  <a:srgbClr val="7DD3C8"/>
                </a:solidFill>
                <a:latin typeface="Consolas"/>
              </a:rPr>
              <a:t>mosip/mimoto</a:t>
            </a:r>
          </a:p>
          <a:p>
            <a:pPr algn="l">
              <a:lnSpc>
                <a:spcPct val="114000"/>
              </a:lnSpc>
              <a:spcBef>
                <a:spcPts val="200"/>
              </a:spcBef>
              <a:spcAft>
                <a:spcPts val="0"/>
              </a:spcAft>
            </a:pPr>
            <a:r>
              <a:rPr sz="880" b="0" i="0">
                <a:solidFill>
                  <a:srgbClr val="7DD3C8"/>
                </a:solidFill>
                <a:latin typeface="Consolas"/>
              </a:rPr>
              <a:t>mosip/inji-vci-client</a:t>
            </a:r>
          </a:p>
          <a:p>
            <a:pPr algn="l">
              <a:lnSpc>
                <a:spcPct val="114000"/>
              </a:lnSpc>
              <a:spcBef>
                <a:spcPts val="200"/>
              </a:spcBef>
              <a:spcAft>
                <a:spcPts val="0"/>
              </a:spcAft>
            </a:pPr>
            <a:r>
              <a:rPr sz="880" b="0" i="0">
                <a:solidFill>
                  <a:srgbClr val="7DD3C8"/>
                </a:solidFill>
                <a:latin typeface="Consolas"/>
              </a:rPr>
              <a:t>mosip/inji-openid4vp</a:t>
            </a:r>
          </a:p>
          <a:p>
            <a:pPr algn="l">
              <a:lnSpc>
                <a:spcPct val="114000"/>
              </a:lnSpc>
              <a:spcBef>
                <a:spcPts val="200"/>
              </a:spcBef>
              <a:spcAft>
                <a:spcPts val="0"/>
              </a:spcAft>
            </a:pPr>
            <a:r>
              <a:rPr sz="880" b="0" i="0">
                <a:solidFill>
                  <a:srgbClr val="7DD3C8"/>
                </a:solidFill>
                <a:latin typeface="Consolas"/>
              </a:rPr>
              <a:t>mosip/vc-verifier</a:t>
            </a:r>
          </a:p>
        </p:txBody>
      </p:sp>
      <p:sp>
        <p:nvSpPr>
          <p:cNvPr id="25" name="TextBox 2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Inji technical enablement</a:t>
            </a:r>
          </a:p>
        </p:txBody>
      </p:sp>
      <p:sp>
        <p:nvSpPr>
          <p:cNvPr id="26" name="TextBox 2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LEARNING OBJECTIVES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What you will be able to do by 5 pm</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Six concrete outcomes. If any of these is still fuzzy at the end, stop the session and ask.</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594506" cy="2011680"/>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3594506" cy="685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1956816"/>
            <a:ext cx="384048" cy="38404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1</a:t>
            </a:r>
          </a:p>
        </p:txBody>
      </p:sp>
      <p:sp>
        <p:nvSpPr>
          <p:cNvPr id="9" name="TextBox 8"/>
          <p:cNvSpPr txBox="1"/>
          <p:nvPr/>
        </p:nvSpPr>
        <p:spPr>
          <a:xfrm>
            <a:off x="704088" y="2468880"/>
            <a:ext cx="3192170"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F172A"/>
                </a:solidFill>
              </a:rPr>
              <a:t>Draw the architecture</a:t>
            </a:r>
          </a:p>
        </p:txBody>
      </p:sp>
      <p:sp>
        <p:nvSpPr>
          <p:cNvPr id="10" name="TextBox 9"/>
          <p:cNvSpPr txBox="1"/>
          <p:nvPr/>
        </p:nvSpPr>
        <p:spPr>
          <a:xfrm>
            <a:off x="704088" y="2798064"/>
            <a:ext cx="3192170" cy="82296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5B6B7F"/>
                </a:solidFill>
              </a:rPr>
              <a:t>Sketch Issuer → Mimoto → Wallet → Credential Store → OpenID4VP → Verifier from memory, and place Inji Web correctly.</a:t>
            </a:r>
          </a:p>
        </p:txBody>
      </p:sp>
      <p:sp>
        <p:nvSpPr>
          <p:cNvPr id="11" name="Rounded Rectangle 10"/>
          <p:cNvSpPr/>
          <p:nvPr/>
        </p:nvSpPr>
        <p:spPr>
          <a:xfrm>
            <a:off x="4298594" y="1682496"/>
            <a:ext cx="3594506" cy="2011680"/>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8594" y="1682496"/>
            <a:ext cx="3594506" cy="6858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99762" y="1956816"/>
            <a:ext cx="384048" cy="38404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2</a:t>
            </a:r>
          </a:p>
        </p:txBody>
      </p:sp>
      <p:sp>
        <p:nvSpPr>
          <p:cNvPr id="14" name="TextBox 13"/>
          <p:cNvSpPr txBox="1"/>
          <p:nvPr/>
        </p:nvSpPr>
        <p:spPr>
          <a:xfrm>
            <a:off x="4499762" y="2468880"/>
            <a:ext cx="3192170"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F172A"/>
                </a:solidFill>
              </a:rPr>
              <a:t>Read a protocol trace</a:t>
            </a:r>
          </a:p>
        </p:txBody>
      </p:sp>
      <p:sp>
        <p:nvSpPr>
          <p:cNvPr id="15" name="TextBox 14"/>
          <p:cNvSpPr txBox="1"/>
          <p:nvPr/>
        </p:nvSpPr>
        <p:spPr>
          <a:xfrm>
            <a:off x="4499762" y="2798064"/>
            <a:ext cx="3192170" cy="82296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5B6B7F"/>
                </a:solidFill>
              </a:rPr>
              <a:t>Follow an OpenID4VCI issuance and an OpenID4VP presentation message by message, and say what each field is for.</a:t>
            </a:r>
          </a:p>
        </p:txBody>
      </p:sp>
      <p:sp>
        <p:nvSpPr>
          <p:cNvPr id="16" name="Rounded Rectangle 15"/>
          <p:cNvSpPr/>
          <p:nvPr/>
        </p:nvSpPr>
        <p:spPr>
          <a:xfrm>
            <a:off x="8094268" y="1682496"/>
            <a:ext cx="3594506" cy="2011680"/>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4268" y="1682496"/>
            <a:ext cx="3594506" cy="685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95436" y="1956816"/>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3</a:t>
            </a:r>
          </a:p>
        </p:txBody>
      </p:sp>
      <p:sp>
        <p:nvSpPr>
          <p:cNvPr id="19" name="TextBox 18"/>
          <p:cNvSpPr txBox="1"/>
          <p:nvPr/>
        </p:nvSpPr>
        <p:spPr>
          <a:xfrm>
            <a:off x="8295436" y="2468880"/>
            <a:ext cx="3192170"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F172A"/>
                </a:solidFill>
              </a:rPr>
              <a:t>Tell the layers apart</a:t>
            </a:r>
          </a:p>
        </p:txBody>
      </p:sp>
      <p:sp>
        <p:nvSpPr>
          <p:cNvPr id="20" name="TextBox 19"/>
          <p:cNvSpPr txBox="1"/>
          <p:nvPr/>
        </p:nvSpPr>
        <p:spPr>
          <a:xfrm>
            <a:off x="8295436" y="2798064"/>
            <a:ext cx="3192170" cy="82296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5B6B7F"/>
                </a:solidFill>
              </a:rPr>
              <a:t>Distinguish PKCE from DPoP, proof type from key-binding method, and bound from unbound credentials.</a:t>
            </a:r>
          </a:p>
        </p:txBody>
      </p:sp>
      <p:sp>
        <p:nvSpPr>
          <p:cNvPr id="21" name="Rounded Rectangle 20"/>
          <p:cNvSpPr/>
          <p:nvPr/>
        </p:nvSpPr>
        <p:spPr>
          <a:xfrm>
            <a:off x="502920" y="3895344"/>
            <a:ext cx="3594506" cy="2011680"/>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895344"/>
            <a:ext cx="3594506" cy="685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4088" y="4169663"/>
            <a:ext cx="384048" cy="38404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4</a:t>
            </a:r>
          </a:p>
        </p:txBody>
      </p:sp>
      <p:sp>
        <p:nvSpPr>
          <p:cNvPr id="24" name="TextBox 23"/>
          <p:cNvSpPr txBox="1"/>
          <p:nvPr/>
        </p:nvSpPr>
        <p:spPr>
          <a:xfrm>
            <a:off x="704088" y="4681728"/>
            <a:ext cx="3192170"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F172A"/>
                </a:solidFill>
              </a:rPr>
              <a:t>Choose a format</a:t>
            </a:r>
          </a:p>
        </p:txBody>
      </p:sp>
      <p:sp>
        <p:nvSpPr>
          <p:cNvPr id="25" name="TextBox 24"/>
          <p:cNvSpPr txBox="1"/>
          <p:nvPr/>
        </p:nvSpPr>
        <p:spPr>
          <a:xfrm>
            <a:off x="704088" y="5010912"/>
            <a:ext cx="3192170" cy="82296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5B6B7F"/>
                </a:solidFill>
              </a:rPr>
              <a:t>Explain what changes for you if Brazil picks SD-JWT VC versus mDoc versus JSON-LD — data model, verification, disclosure, binding.</a:t>
            </a:r>
          </a:p>
        </p:txBody>
      </p:sp>
      <p:sp>
        <p:nvSpPr>
          <p:cNvPr id="26" name="Rounded Rectangle 25"/>
          <p:cNvSpPr/>
          <p:nvPr/>
        </p:nvSpPr>
        <p:spPr>
          <a:xfrm>
            <a:off x="4298594" y="3895344"/>
            <a:ext cx="3594506" cy="2011680"/>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98594" y="3895344"/>
            <a:ext cx="3594506" cy="68580"/>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99762" y="4169663"/>
            <a:ext cx="384048" cy="38404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5</a:t>
            </a:r>
          </a:p>
        </p:txBody>
      </p:sp>
      <p:sp>
        <p:nvSpPr>
          <p:cNvPr id="29" name="TextBox 28"/>
          <p:cNvSpPr txBox="1"/>
          <p:nvPr/>
        </p:nvSpPr>
        <p:spPr>
          <a:xfrm>
            <a:off x="4499762" y="4681728"/>
            <a:ext cx="3192170"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F172A"/>
                </a:solidFill>
              </a:rPr>
              <a:t>Configure the stack</a:t>
            </a:r>
          </a:p>
        </p:txBody>
      </p:sp>
      <p:sp>
        <p:nvSpPr>
          <p:cNvPr id="30" name="TextBox 29"/>
          <p:cNvSpPr txBox="1"/>
          <p:nvPr/>
        </p:nvSpPr>
        <p:spPr>
          <a:xfrm>
            <a:off x="4499762" y="5010912"/>
            <a:ext cx="3192170" cy="82296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5B6B7F"/>
                </a:solidFill>
              </a:rPr>
              <a:t>Register an issuer and a verifier, set deep links and callbacks, and know what is config versus what is code.</a:t>
            </a:r>
          </a:p>
        </p:txBody>
      </p:sp>
      <p:sp>
        <p:nvSpPr>
          <p:cNvPr id="31" name="Rounded Rectangle 30"/>
          <p:cNvSpPr/>
          <p:nvPr/>
        </p:nvSpPr>
        <p:spPr>
          <a:xfrm>
            <a:off x="8094268" y="3895344"/>
            <a:ext cx="3594506" cy="2011680"/>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94268" y="3895344"/>
            <a:ext cx="3594506" cy="68580"/>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95436" y="4169663"/>
            <a:ext cx="384048" cy="38404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6</a:t>
            </a:r>
          </a:p>
        </p:txBody>
      </p:sp>
      <p:sp>
        <p:nvSpPr>
          <p:cNvPr id="34" name="TextBox 33"/>
          <p:cNvSpPr txBox="1"/>
          <p:nvPr/>
        </p:nvSpPr>
        <p:spPr>
          <a:xfrm>
            <a:off x="8295436" y="4681728"/>
            <a:ext cx="3192170"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F172A"/>
                </a:solidFill>
              </a:rPr>
              <a:t>Own a failure</a:t>
            </a:r>
          </a:p>
        </p:txBody>
      </p:sp>
      <p:sp>
        <p:nvSpPr>
          <p:cNvPr id="35" name="TextBox 34"/>
          <p:cNvSpPr txBox="1"/>
          <p:nvPr/>
        </p:nvSpPr>
        <p:spPr>
          <a:xfrm>
            <a:off x="8295436" y="5010912"/>
            <a:ext cx="3192170" cy="82296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5B6B7F"/>
                </a:solidFill>
              </a:rPr>
              <a:t>Take any error message and say within a minute whether it belongs to the Issuer, Mimoto, Wallet, Web or Verifier.</a:t>
            </a:r>
          </a:p>
        </p:txBody>
      </p:sp>
      <p:sp>
        <p:nvSpPr>
          <p:cNvPr id="36" name="TextBox 3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technical enablement</a:t>
            </a:r>
          </a:p>
        </p:txBody>
      </p:sp>
      <p:sp>
        <p:nvSpPr>
          <p:cNvPr id="37" name="TextBox 3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ORIENTATION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Inji Wallet and Inji Web, in plain words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Two holder applications, one backend, one set of protocols.</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520440" cy="2331720"/>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0292" cy="23317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828800"/>
            <a:ext cx="313639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Inji Wallet</a:t>
            </a:r>
          </a:p>
        </p:txBody>
      </p:sp>
      <p:sp>
        <p:nvSpPr>
          <p:cNvPr id="9" name="Oval 8"/>
          <p:cNvSpPr/>
          <p:nvPr/>
        </p:nvSpPr>
        <p:spPr>
          <a:xfrm>
            <a:off x="745236" y="212476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057400"/>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mobile app (Android and iOS) that a person installs.</a:t>
            </a:r>
          </a:p>
        </p:txBody>
      </p:sp>
      <p:sp>
        <p:nvSpPr>
          <p:cNvPr id="11" name="Oval 10"/>
          <p:cNvSpPr/>
          <p:nvPr/>
        </p:nvSpPr>
        <p:spPr>
          <a:xfrm>
            <a:off x="745236" y="252892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461564"/>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Built with React Native; heavy lifting sits in native Kotlin/Swift libraries.</a:t>
            </a:r>
          </a:p>
        </p:txBody>
      </p:sp>
      <p:sp>
        <p:nvSpPr>
          <p:cNvPr id="13" name="Oval 12"/>
          <p:cNvSpPr/>
          <p:nvPr/>
        </p:nvSpPr>
        <p:spPr>
          <a:xfrm>
            <a:off x="745236" y="293309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865729"/>
            <a:ext cx="2907792"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Holds credentials </a:t>
            </a:r>
            <a:r>
              <a:rPr sz="1019" b="1" i="0">
                <a:solidFill>
                  <a:srgbClr val="0F172A"/>
                </a:solidFill>
                <a:latin typeface="Arial"/>
              </a:rPr>
              <a:t>on the device</a:t>
            </a:r>
            <a:r>
              <a:rPr sz="1019" b="0" i="0">
                <a:solidFill>
                  <a:srgbClr val="0F172A"/>
                </a:solidFill>
                <a:latin typeface="Arial"/>
              </a:rPr>
              <a:t>, encrypted, with keys in platform hardware where the platform allows it.</a:t>
            </a:r>
          </a:p>
        </p:txBody>
      </p:sp>
      <p:sp>
        <p:nvSpPr>
          <p:cNvPr id="15" name="Oval 14"/>
          <p:cNvSpPr/>
          <p:nvPr/>
        </p:nvSpPr>
        <p:spPr>
          <a:xfrm>
            <a:off x="745236" y="350047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433114"/>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Can work offline once a credential is downloaded.</a:t>
            </a:r>
          </a:p>
        </p:txBody>
      </p:sp>
      <p:sp>
        <p:nvSpPr>
          <p:cNvPr id="17" name="Rounded Rectangle 16"/>
          <p:cNvSpPr/>
          <p:nvPr/>
        </p:nvSpPr>
        <p:spPr>
          <a:xfrm>
            <a:off x="4334256" y="1682496"/>
            <a:ext cx="3520440" cy="2331720"/>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34256" y="1682496"/>
            <a:ext cx="50292" cy="233172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1828800"/>
            <a:ext cx="313639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Inji Web</a:t>
            </a:r>
          </a:p>
        </p:txBody>
      </p:sp>
      <p:sp>
        <p:nvSpPr>
          <p:cNvPr id="20" name="Oval 19"/>
          <p:cNvSpPr/>
          <p:nvPr/>
        </p:nvSpPr>
        <p:spPr>
          <a:xfrm>
            <a:off x="4576572" y="212476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64024" y="2057400"/>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browser wallet. No app install, works on a laptop or a shared device.</a:t>
            </a:r>
          </a:p>
        </p:txBody>
      </p:sp>
      <p:sp>
        <p:nvSpPr>
          <p:cNvPr id="22" name="Oval 21"/>
          <p:cNvSpPr/>
          <p:nvPr/>
        </p:nvSpPr>
        <p:spPr>
          <a:xfrm>
            <a:off x="4576572" y="252892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4024" y="2461564"/>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React frontend; it keeps </a:t>
            </a:r>
            <a:r>
              <a:rPr sz="1019" b="1" i="0">
                <a:solidFill>
                  <a:srgbClr val="0F172A"/>
                </a:solidFill>
                <a:latin typeface="Arial"/>
              </a:rPr>
              <a:t>no</a:t>
            </a:r>
            <a:r>
              <a:rPr sz="1019" b="0" i="0">
                <a:solidFill>
                  <a:srgbClr val="0F172A"/>
                </a:solidFill>
                <a:latin typeface="Arial"/>
              </a:rPr>
              <a:t> credential in the browser.</a:t>
            </a:r>
          </a:p>
        </p:txBody>
      </p:sp>
      <p:sp>
        <p:nvSpPr>
          <p:cNvPr id="24" name="Oval 23"/>
          <p:cNvSpPr/>
          <p:nvPr/>
        </p:nvSpPr>
        <p:spPr>
          <a:xfrm>
            <a:off x="4576572" y="293309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64024" y="2865729"/>
            <a:ext cx="2907792"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Credentials live in Mimoto's database, encrypted with a key derived from the user's PIN.</a:t>
            </a:r>
          </a:p>
        </p:txBody>
      </p:sp>
      <p:sp>
        <p:nvSpPr>
          <p:cNvPr id="26" name="Oval 25"/>
          <p:cNvSpPr/>
          <p:nvPr/>
        </p:nvSpPr>
        <p:spPr>
          <a:xfrm>
            <a:off x="4576572" y="350047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64024" y="3433114"/>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For people without a smartphone, and for desktop journeys.</a:t>
            </a:r>
          </a:p>
        </p:txBody>
      </p:sp>
      <p:sp>
        <p:nvSpPr>
          <p:cNvPr id="28" name="Rounded Rectangle 27"/>
          <p:cNvSpPr/>
          <p:nvPr/>
        </p:nvSpPr>
        <p:spPr>
          <a:xfrm>
            <a:off x="8165592" y="1682496"/>
            <a:ext cx="3520440" cy="2331720"/>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65592" y="1682496"/>
            <a:ext cx="50292" cy="23317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03336" y="1828800"/>
            <a:ext cx="313639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Mimoto</a:t>
            </a:r>
          </a:p>
        </p:txBody>
      </p:sp>
      <p:sp>
        <p:nvSpPr>
          <p:cNvPr id="31" name="Oval 30"/>
          <p:cNvSpPr/>
          <p:nvPr/>
        </p:nvSpPr>
        <p:spPr>
          <a:xfrm>
            <a:off x="8407908" y="212476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0" y="2057400"/>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shared backend for both. One Spring Boot service.</a:t>
            </a:r>
          </a:p>
        </p:txBody>
      </p:sp>
      <p:sp>
        <p:nvSpPr>
          <p:cNvPr id="33" name="Oval 32"/>
          <p:cNvSpPr/>
          <p:nvPr/>
        </p:nvSpPr>
        <p:spPr>
          <a:xfrm>
            <a:off x="8407908" y="252892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0" y="2461564"/>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Knows the list of issuers and trusted verifiers.</a:t>
            </a:r>
          </a:p>
        </p:txBody>
      </p:sp>
      <p:sp>
        <p:nvSpPr>
          <p:cNvPr id="35" name="Oval 34"/>
          <p:cNvSpPr/>
          <p:nvPr/>
        </p:nvSpPr>
        <p:spPr>
          <a:xfrm>
            <a:off x="8407908" y="293309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2865729"/>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Does token exchange, credential storage for Web, PDF rendering, session handling.</a:t>
            </a:r>
          </a:p>
        </p:txBody>
      </p:sp>
      <p:sp>
        <p:nvSpPr>
          <p:cNvPr id="37" name="Oval 36"/>
          <p:cNvSpPr/>
          <p:nvPr/>
        </p:nvSpPr>
        <p:spPr>
          <a:xfrm>
            <a:off x="8407908" y="333725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0" y="3269894"/>
            <a:ext cx="2907792"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 is a </a:t>
            </a:r>
            <a:r>
              <a:rPr sz="1019" b="1" i="0">
                <a:solidFill>
                  <a:srgbClr val="0F172A"/>
                </a:solidFill>
                <a:latin typeface="Arial"/>
              </a:rPr>
              <a:t>backend-for-frontend</a:t>
            </a:r>
            <a:r>
              <a:rPr sz="1019" b="0" i="0">
                <a:solidFill>
                  <a:srgbClr val="0F172A"/>
                </a:solidFill>
                <a:latin typeface="Arial"/>
              </a:rPr>
              <a:t>, not an issuer and not a verifier.</a:t>
            </a:r>
          </a:p>
        </p:txBody>
      </p:sp>
      <p:sp>
        <p:nvSpPr>
          <p:cNvPr id="39" name="Rounded Rectangle 38"/>
          <p:cNvSpPr/>
          <p:nvPr/>
        </p:nvSpPr>
        <p:spPr>
          <a:xfrm>
            <a:off x="502920" y="4224528"/>
            <a:ext cx="11185855" cy="546100"/>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 y="4224528"/>
            <a:ext cx="45720" cy="5461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315968"/>
            <a:ext cx="10820095" cy="399796"/>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1E293B"/>
                </a:solidFill>
                <a:latin typeface="Arial"/>
              </a:rPr>
              <a:t>Inji is not an identity system. It does not decide who you are — the </a:t>
            </a:r>
            <a:r>
              <a:rPr sz="1100" b="1" i="0">
                <a:solidFill>
                  <a:srgbClr val="0E9488"/>
                </a:solidFill>
                <a:latin typeface="Arial"/>
              </a:rPr>
              <a:t>Issuer</a:t>
            </a:r>
            <a:r>
              <a:rPr sz="1100" b="0" i="0">
                <a:solidFill>
                  <a:srgbClr val="1E293B"/>
                </a:solidFill>
                <a:latin typeface="Arial"/>
              </a:rPr>
              <a:t> does that. Inji moves a credential the issuer already decided to give you, stores it safely, and hands a provable copy of part of it to a </a:t>
            </a:r>
            <a:r>
              <a:rPr sz="1100" b="1" i="0">
                <a:solidFill>
                  <a:srgbClr val="0E9488"/>
                </a:solidFill>
                <a:latin typeface="Arial"/>
              </a:rPr>
              <a:t>Verifier</a:t>
            </a:r>
            <a:r>
              <a:rPr sz="1100" b="0" i="0">
                <a:solidFill>
                  <a:srgbClr val="1E293B"/>
                </a:solidFill>
                <a:latin typeface="Arial"/>
              </a:rPr>
              <a:t> when you consent.</a:t>
            </a:r>
          </a:p>
        </p:txBody>
      </p:sp>
      <p:sp>
        <p:nvSpPr>
          <p:cNvPr id="42" name="TextBox 41"/>
          <p:cNvSpPr txBox="1"/>
          <p:nvPr/>
        </p:nvSpPr>
        <p:spPr>
          <a:xfrm>
            <a:off x="502920" y="4937760"/>
            <a:ext cx="11185855" cy="274320"/>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B31B1B"/>
                </a:solidFill>
              </a:rPr>
              <a:t>WHAT THEY ARE NOT</a:t>
            </a:r>
          </a:p>
        </p:txBody>
      </p:sp>
      <p:sp>
        <p:nvSpPr>
          <p:cNvPr id="43" name="TextBox 42"/>
          <p:cNvSpPr txBox="1"/>
          <p:nvPr/>
        </p:nvSpPr>
        <p:spPr>
          <a:xfrm>
            <a:off x="502920" y="5212080"/>
            <a:ext cx="2631871" cy="64008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B31B1B"/>
                </a:solidFill>
                <a:latin typeface="Arial"/>
              </a:rPr>
              <a:t>Not an issuer — </a:t>
            </a:r>
            <a:r>
              <a:rPr sz="950" b="0" i="0">
                <a:solidFill>
                  <a:srgbClr val="5B6B7F"/>
                </a:solidFill>
                <a:latin typeface="Arial"/>
              </a:rPr>
              <a:t>Inji never mints a credential.</a:t>
            </a:r>
          </a:p>
        </p:txBody>
      </p:sp>
      <p:sp>
        <p:nvSpPr>
          <p:cNvPr id="44" name="TextBox 43"/>
          <p:cNvSpPr txBox="1"/>
          <p:nvPr/>
        </p:nvSpPr>
        <p:spPr>
          <a:xfrm>
            <a:off x="3299383" y="5212080"/>
            <a:ext cx="2631871" cy="64008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B31B1B"/>
                </a:solidFill>
                <a:latin typeface="Arial"/>
              </a:rPr>
              <a:t>Not a verifier — </a:t>
            </a:r>
            <a:r>
              <a:rPr sz="950" b="0" i="0">
                <a:solidFill>
                  <a:srgbClr val="5B6B7F"/>
                </a:solidFill>
                <a:latin typeface="Arial"/>
              </a:rPr>
              <a:t>Inji never decides whether to let someone through a gate.</a:t>
            </a:r>
          </a:p>
        </p:txBody>
      </p:sp>
      <p:sp>
        <p:nvSpPr>
          <p:cNvPr id="45" name="TextBox 44"/>
          <p:cNvSpPr txBox="1"/>
          <p:nvPr/>
        </p:nvSpPr>
        <p:spPr>
          <a:xfrm>
            <a:off x="6095847" y="5212080"/>
            <a:ext cx="2631871" cy="64008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B31B1B"/>
                </a:solidFill>
                <a:latin typeface="Arial"/>
              </a:rPr>
              <a:t>Not an IdP — </a:t>
            </a:r>
            <a:r>
              <a:rPr sz="950" b="0" i="0">
                <a:solidFill>
                  <a:srgbClr val="5B6B7F"/>
                </a:solidFill>
                <a:latin typeface="Arial"/>
              </a:rPr>
              <a:t>Authentication is done by eSignet, Keycloak, gov.br — whatever you plug in.</a:t>
            </a:r>
          </a:p>
        </p:txBody>
      </p:sp>
      <p:sp>
        <p:nvSpPr>
          <p:cNvPr id="46" name="TextBox 45"/>
          <p:cNvSpPr txBox="1"/>
          <p:nvPr/>
        </p:nvSpPr>
        <p:spPr>
          <a:xfrm>
            <a:off x="8892311" y="5212080"/>
            <a:ext cx="2631871" cy="64008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B31B1B"/>
                </a:solidFill>
                <a:latin typeface="Arial"/>
              </a:rPr>
              <a:t>Not a database of people — </a:t>
            </a:r>
            <a:r>
              <a:rPr sz="950" b="0" i="0">
                <a:solidFill>
                  <a:srgbClr val="5B6B7F"/>
                </a:solidFill>
                <a:latin typeface="Arial"/>
              </a:rPr>
              <a:t>Mimoto stores credentials for Web users, not an identity registry.</a:t>
            </a:r>
          </a:p>
        </p:txBody>
      </p:sp>
      <p:sp>
        <p:nvSpPr>
          <p:cNvPr id="47" name="TextBox 4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technical enablement</a:t>
            </a:r>
          </a:p>
        </p:txBody>
      </p:sp>
      <p:sp>
        <p:nvSpPr>
          <p:cNvPr id="48" name="TextBox 4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AGENDA AND TIMING</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How the session runs</a:t>
            </a:r>
          </a:p>
        </p:txBody>
      </p:sp>
      <p:sp>
        <p:nvSpPr>
          <p:cNvPr id="4" name="TextBox 3"/>
          <p:cNvSpPr txBox="1"/>
          <p:nvPr/>
        </p:nvSpPr>
        <p:spPr>
          <a:xfrm>
            <a:off x="502920" y="1078992"/>
            <a:ext cx="11185855" cy="304640"/>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Twelve teaching blocks, eight demo checkpoints, nine exercises. Timings are targets — the facilitator will re-balance live.</a:t>
            </a:r>
          </a:p>
        </p:txBody>
      </p:sp>
      <p:cxnSp>
        <p:nvCxnSpPr>
          <p:cNvPr id="5" name="Connector 4"/>
          <p:cNvCxnSpPr/>
          <p:nvPr/>
        </p:nvCxnSpPr>
        <p:spPr>
          <a:xfrm>
            <a:off x="502920" y="1475072"/>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72192"/>
          <a:ext cx="11185853" cy="4090240"/>
        </p:xfrm>
        <a:graphic>
          <a:graphicData uri="http://schemas.openxmlformats.org/drawingml/2006/table">
            <a:tbl>
              <a:tblPr firstRow="1">
                <a:tableStyleId>{2D5ABB26-0587-4C30-8999-92F81FD0307C}</a:tableStyleId>
              </a:tblPr>
              <a:tblGrid>
                <a:gridCol w="451042"/>
                <a:gridCol w="2796463"/>
                <a:gridCol w="902085"/>
                <a:gridCol w="5683136"/>
                <a:gridCol w="1353127"/>
              </a:tblGrid>
              <a:tr h="304640">
                <a:tc>
                  <a:txBody>
                    <a:bodyPr wrap="square"/>
                    <a:lstStyle/>
                    <a:p>
                      <a:pPr algn="l"/>
                      <a:r>
                        <a:rPr sz="940" b="1">
                          <a:solidFill>
                            <a:srgbClr val="FFFFFF"/>
                          </a:solidFill>
                          <a:latin typeface="Arial"/>
                        </a:rPr>
                        <a:t>#</a:t>
                      </a:r>
                    </a:p>
                  </a:txBody>
                  <a:tcPr marL="64008" marR="54864" marT="27432" marB="27432" anchor="ctr">
                    <a:solidFill>
                      <a:srgbClr val="1D4E89"/>
                    </a:solidFill>
                  </a:tcPr>
                </a:tc>
                <a:tc>
                  <a:txBody>
                    <a:bodyPr wrap="square"/>
                    <a:lstStyle/>
                    <a:p>
                      <a:pPr algn="l"/>
                      <a:r>
                        <a:rPr sz="940" b="1">
                          <a:solidFill>
                            <a:srgbClr val="FFFFFF"/>
                          </a:solidFill>
                          <a:latin typeface="Arial"/>
                        </a:rPr>
                        <a:t>Block</a:t>
                      </a:r>
                    </a:p>
                  </a:txBody>
                  <a:tcPr marL="64008" marR="54864" marT="27432" marB="27432" anchor="ctr">
                    <a:solidFill>
                      <a:srgbClr val="1D4E89"/>
                    </a:solidFill>
                  </a:tcPr>
                </a:tc>
                <a:tc>
                  <a:txBody>
                    <a:bodyPr wrap="square"/>
                    <a:lstStyle/>
                    <a:p>
                      <a:pPr algn="l"/>
                      <a:r>
                        <a:rPr sz="940" b="1">
                          <a:solidFill>
                            <a:srgbClr val="FFFFFF"/>
                          </a:solidFill>
                          <a:latin typeface="Arial"/>
                        </a:rPr>
                        <a:t>Time</a:t>
                      </a:r>
                    </a:p>
                  </a:txBody>
                  <a:tcPr marL="64008" marR="54864" marT="27432" marB="27432" anchor="ctr">
                    <a:solidFill>
                      <a:srgbClr val="1D4E89"/>
                    </a:solidFill>
                  </a:tcPr>
                </a:tc>
                <a:tc>
                  <a:txBody>
                    <a:bodyPr wrap="square"/>
                    <a:lstStyle/>
                    <a:p>
                      <a:pPr algn="l"/>
                      <a:r>
                        <a:rPr sz="940" b="1">
                          <a:solidFill>
                            <a:srgbClr val="FFFFFF"/>
                          </a:solidFill>
                          <a:latin typeface="Arial"/>
                        </a:rPr>
                        <a:t>What it covers</a:t>
                      </a:r>
                    </a:p>
                  </a:txBody>
                  <a:tcPr marL="64008" marR="54864" marT="27432" marB="27432" anchor="ctr">
                    <a:solidFill>
                      <a:srgbClr val="1D4E89"/>
                    </a:solidFill>
                  </a:tcPr>
                </a:tc>
                <a:tc>
                  <a:txBody>
                    <a:bodyPr wrap="square"/>
                    <a:lstStyle/>
                    <a:p>
                      <a:pPr algn="l"/>
                      <a:r>
                        <a:rPr sz="940" b="1">
                          <a:solidFill>
                            <a:srgbClr val="FFFFFF"/>
                          </a:solidFill>
                          <a:latin typeface="Arial"/>
                        </a:rPr>
                        <a:t>Checkpoint</a:t>
                      </a:r>
                    </a:p>
                  </a:txBody>
                  <a:tcPr marL="64008" marR="54864" marT="27432" marB="27432" anchor="ctr">
                    <a:solidFill>
                      <a:srgbClr val="1D4E89"/>
                    </a:solidFill>
                  </a:tcPr>
                </a:tc>
              </a:tr>
              <a:tr h="291200">
                <a:tc>
                  <a:txBody>
                    <a:bodyPr wrap="square"/>
                    <a:lstStyle/>
                    <a:p>
                      <a:pPr algn="l">
                        <a:lnSpc>
                          <a:spcPct val="105000"/>
                        </a:lnSpc>
                      </a:pPr>
                      <a:r>
                        <a:rPr sz="919" b="0">
                          <a:solidFill>
                            <a:srgbClr val="1E293B"/>
                          </a:solidFill>
                          <a:latin typeface="Arial"/>
                        </a:rPr>
                        <a:t>1</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Introduction + Inji ecosystem</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20 min</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Architecture, roles, trust boundaries, where the protocols sit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r>
              <a:tr h="291200">
                <a:tc>
                  <a:txBody>
                    <a:bodyPr wrap="square"/>
                    <a:lstStyle/>
                    <a:p>
                      <a:pPr algn="l">
                        <a:lnSpc>
                          <a:spcPct val="105000"/>
                        </a:lnSpc>
                      </a:pPr>
                      <a:r>
                        <a:rPr sz="919" b="0">
                          <a:solidFill>
                            <a:srgbClr val="1E293B"/>
                          </a:solidFill>
                          <a:latin typeface="Arial"/>
                        </a:rPr>
                        <a:t>2</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End-to-end demo first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20 min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One full issuance and one full presentation, then we explain it</a:t>
                      </a:r>
                    </a:p>
                  </a:txBody>
                  <a:tcPr marL="64008" marR="54864" marT="18288" marB="18288" anchor="ctr">
                    <a:solidFill>
                      <a:srgbClr val="F3F6F9"/>
                    </a:solidFill>
                  </a:tcPr>
                </a:tc>
                <a:tc>
                  <a:txBody>
                    <a:bodyPr wrap="square"/>
                    <a:lstStyle/>
                    <a:p>
                      <a:pPr algn="l">
                        <a:lnSpc>
                          <a:spcPct val="105000"/>
                        </a:lnSpc>
                      </a:pPr>
                      <a:r>
                        <a:rPr sz="919" b="1">
                          <a:solidFill>
                            <a:srgbClr val="0F172A"/>
                          </a:solidFill>
                          <a:latin typeface="Arial"/>
                        </a:rPr>
                        <a:t>Demo 1</a:t>
                      </a:r>
                    </a:p>
                  </a:txBody>
                  <a:tcPr marL="64008" marR="54864" marT="18288" marB="18288" anchor="ctr">
                    <a:solidFill>
                      <a:srgbClr val="F3F6F9"/>
                    </a:solidFill>
                  </a:tcPr>
                </a:tc>
              </a:tr>
              <a:tr h="291200">
                <a:tc>
                  <a:txBody>
                    <a:bodyPr wrap="square"/>
                    <a:lstStyle/>
                    <a:p>
                      <a:pPr algn="l">
                        <a:lnSpc>
                          <a:spcPct val="105000"/>
                        </a:lnSpc>
                      </a:pPr>
                      <a:r>
                        <a:rPr sz="919" b="0">
                          <a:solidFill>
                            <a:srgbClr val="1E293B"/>
                          </a:solidFill>
                          <a:latin typeface="Arial"/>
                        </a:rPr>
                        <a:t>3</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OpenID4VCI and issuance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35 min</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Offer, metadata, both grant flows, token, credential request</a:t>
                      </a:r>
                    </a:p>
                  </a:txBody>
                  <a:tcPr marL="64008" marR="54864" marT="18288" marB="18288" anchor="ctr">
                    <a:solidFill>
                      <a:srgbClr val="FFFFFF"/>
                    </a:solidFill>
                  </a:tcPr>
                </a:tc>
                <a:tc>
                  <a:txBody>
                    <a:bodyPr wrap="square"/>
                    <a:lstStyle/>
                    <a:p>
                      <a:pPr algn="l">
                        <a:lnSpc>
                          <a:spcPct val="105000"/>
                        </a:lnSpc>
                      </a:pPr>
                      <a:r>
                        <a:rPr sz="919" b="1">
                          <a:solidFill>
                            <a:srgbClr val="0F172A"/>
                          </a:solidFill>
                          <a:latin typeface="Arial"/>
                        </a:rPr>
                        <a:t>Demo 2</a:t>
                      </a:r>
                    </a:p>
                  </a:txBody>
                  <a:tcPr marL="64008" marR="54864" marT="18288" marB="18288" anchor="ctr">
                    <a:solidFill>
                      <a:srgbClr val="FFFFFF"/>
                    </a:solidFill>
                  </a:tcPr>
                </a:tc>
              </a:tr>
              <a:tr h="291200">
                <a:tc>
                  <a:txBody>
                    <a:bodyPr wrap="square"/>
                    <a:lstStyle/>
                    <a:p>
                      <a:pPr algn="l">
                        <a:lnSpc>
                          <a:spcPct val="105000"/>
                        </a:lnSpc>
                      </a:pPr>
                      <a:r>
                        <a:rPr sz="919" b="0">
                          <a:solidFill>
                            <a:srgbClr val="1E293B"/>
                          </a:solidFill>
                          <a:latin typeface="Arial"/>
                        </a:rPr>
                        <a:t>4</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PKCE, DPoP, proofs and binding</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25 min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What each mechanism actually protects, and how they differ</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Exercise 3</a:t>
                      </a:r>
                    </a:p>
                  </a:txBody>
                  <a:tcPr marL="64008" marR="54864" marT="18288" marB="18288" anchor="ctr">
                    <a:solidFill>
                      <a:srgbClr val="F3F6F9"/>
                    </a:solidFill>
                  </a:tcPr>
                </a:tc>
              </a:tr>
              <a:tr h="291200">
                <a:tc>
                  <a:txBody>
                    <a:bodyPr wrap="square"/>
                    <a:lstStyle/>
                    <a:p>
                      <a:pPr algn="l">
                        <a:lnSpc>
                          <a:spcPct val="105000"/>
                        </a:lnSpc>
                      </a:pPr>
                      <a:r>
                        <a:rPr sz="919" b="0">
                          <a:solidFill>
                            <a:srgbClr val="1E293B"/>
                          </a:solidFill>
                          <a:latin typeface="Arial"/>
                        </a:rPr>
                        <a:t>5</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Credential formats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30 min</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SD-JWT VC, mDoc, JSON-LD — data model to verification</a:t>
                      </a:r>
                    </a:p>
                  </a:txBody>
                  <a:tcPr marL="64008" marR="54864" marT="18288" marB="18288" anchor="ctr">
                    <a:solidFill>
                      <a:srgbClr val="FFFFFF"/>
                    </a:solidFill>
                  </a:tcPr>
                </a:tc>
                <a:tc>
                  <a:txBody>
                    <a:bodyPr wrap="square"/>
                    <a:lstStyle/>
                    <a:p>
                      <a:pPr algn="l">
                        <a:lnSpc>
                          <a:spcPct val="105000"/>
                        </a:lnSpc>
                      </a:pPr>
                      <a:r>
                        <a:rPr sz="919" b="1">
                          <a:solidFill>
                            <a:srgbClr val="0F172A"/>
                          </a:solidFill>
                          <a:latin typeface="Arial"/>
                        </a:rPr>
                        <a:t>Demo 3</a:t>
                      </a:r>
                    </a:p>
                  </a:txBody>
                  <a:tcPr marL="64008" marR="54864" marT="18288" marB="18288" anchor="ctr">
                    <a:solidFill>
                      <a:srgbClr val="FFFFFF"/>
                    </a:solidFill>
                  </a:tcPr>
                </a:tc>
              </a:tr>
              <a:tr h="291200">
                <a:tc>
                  <a:txBody>
                    <a:bodyPr wrap="square"/>
                    <a:lstStyle/>
                    <a:p>
                      <a:pPr algn="l">
                        <a:lnSpc>
                          <a:spcPct val="105000"/>
                        </a:lnSpc>
                      </a:pPr>
                      <a:r>
                        <a:rPr sz="919" b="0">
                          <a:solidFill>
                            <a:srgbClr val="1E293B"/>
                          </a:solidFill>
                          <a:latin typeface="Arial"/>
                        </a:rPr>
                        <a:t>6</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Inji Wallet architecture</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35 min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Modules, native bridge, storage, keys, deep links, config</a:t>
                      </a:r>
                    </a:p>
                  </a:txBody>
                  <a:tcPr marL="64008" marR="54864" marT="18288" marB="18288" anchor="ctr">
                    <a:solidFill>
                      <a:srgbClr val="F3F6F9"/>
                    </a:solidFill>
                  </a:tcPr>
                </a:tc>
                <a:tc>
                  <a:txBody>
                    <a:bodyPr wrap="square"/>
                    <a:lstStyle/>
                    <a:p>
                      <a:pPr algn="l">
                        <a:lnSpc>
                          <a:spcPct val="105000"/>
                        </a:lnSpc>
                      </a:pPr>
                      <a:r>
                        <a:rPr sz="919" b="1">
                          <a:solidFill>
                            <a:srgbClr val="0F172A"/>
                          </a:solidFill>
                          <a:latin typeface="Arial"/>
                        </a:rPr>
                        <a:t>Demo 4</a:t>
                      </a:r>
                    </a:p>
                  </a:txBody>
                  <a:tcPr marL="64008" marR="54864" marT="18288" marB="18288" anchor="ctr">
                    <a:solidFill>
                      <a:srgbClr val="F3F6F9"/>
                    </a:solidFill>
                  </a:tcPr>
                </a:tc>
              </a:tr>
              <a:tr h="291200">
                <a:tc>
                  <a:txBody>
                    <a:bodyPr wrap="square"/>
                    <a:lstStyle/>
                    <a:p>
                      <a:pPr algn="l">
                        <a:lnSpc>
                          <a:spcPct val="105000"/>
                        </a:lnSpc>
                      </a:pPr>
                      <a:r>
                        <a:rPr sz="919" b="0">
                          <a:solidFill>
                            <a:srgbClr val="1E293B"/>
                          </a:solidFill>
                          <a:latin typeface="Arial"/>
                        </a:rPr>
                        <a:t>7</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Mimoto</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25 min</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Responsibilities, API surface, issuer and verifier configuration</a:t>
                      </a:r>
                    </a:p>
                  </a:txBody>
                  <a:tcPr marL="64008" marR="54864" marT="18288" marB="18288" anchor="ctr">
                    <a:solidFill>
                      <a:srgbClr val="FFFFFF"/>
                    </a:solidFill>
                  </a:tcPr>
                </a:tc>
                <a:tc>
                  <a:txBody>
                    <a:bodyPr wrap="square"/>
                    <a:lstStyle/>
                    <a:p>
                      <a:pPr algn="l">
                        <a:lnSpc>
                          <a:spcPct val="105000"/>
                        </a:lnSpc>
                      </a:pPr>
                      <a:r>
                        <a:rPr sz="919" b="1">
                          <a:solidFill>
                            <a:srgbClr val="0F172A"/>
                          </a:solidFill>
                          <a:latin typeface="Arial"/>
                        </a:rPr>
                        <a:t>Demo 7</a:t>
                      </a:r>
                    </a:p>
                  </a:txBody>
                  <a:tcPr marL="64008" marR="54864" marT="18288" marB="18288" anchor="ctr">
                    <a:solidFill>
                      <a:srgbClr val="FFFFFF"/>
                    </a:solidFill>
                  </a:tcPr>
                </a:tc>
              </a:tr>
              <a:tr h="291200">
                <a:tc>
                  <a:txBody>
                    <a:bodyPr wrap="square"/>
                    <a:lstStyle/>
                    <a:p>
                      <a:pPr algn="l">
                        <a:lnSpc>
                          <a:spcPct val="105000"/>
                        </a:lnSpc>
                      </a:pPr>
                      <a:r>
                        <a:rPr sz="919" b="0">
                          <a:solidFill>
                            <a:srgbClr val="1E293B"/>
                          </a:solidFill>
                          <a:latin typeface="Arial"/>
                        </a:rPr>
                        <a:t>8</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OpenID4VP and presentation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30 min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Request, matching, consent, VP token, verifier validation</a:t>
                      </a:r>
                    </a:p>
                  </a:txBody>
                  <a:tcPr marL="64008" marR="54864" marT="18288" marB="18288" anchor="ctr">
                    <a:solidFill>
                      <a:srgbClr val="F3F6F9"/>
                    </a:solidFill>
                  </a:tcPr>
                </a:tc>
                <a:tc>
                  <a:txBody>
                    <a:bodyPr wrap="square"/>
                    <a:lstStyle/>
                    <a:p>
                      <a:pPr algn="l">
                        <a:lnSpc>
                          <a:spcPct val="105000"/>
                        </a:lnSpc>
                      </a:pPr>
                      <a:r>
                        <a:rPr sz="919" b="1">
                          <a:solidFill>
                            <a:srgbClr val="0F172A"/>
                          </a:solidFill>
                          <a:latin typeface="Arial"/>
                        </a:rPr>
                        <a:t>Demo 5</a:t>
                      </a:r>
                    </a:p>
                  </a:txBody>
                  <a:tcPr marL="64008" marR="54864" marT="18288" marB="18288" anchor="ctr">
                    <a:solidFill>
                      <a:srgbClr val="F3F6F9"/>
                    </a:solidFill>
                  </a:tcPr>
                </a:tc>
              </a:tr>
              <a:tr h="291200">
                <a:tc>
                  <a:txBody>
                    <a:bodyPr wrap="square"/>
                    <a:lstStyle/>
                    <a:p>
                      <a:pPr algn="l">
                        <a:lnSpc>
                          <a:spcPct val="105000"/>
                        </a:lnSpc>
                      </a:pPr>
                      <a:r>
                        <a:rPr sz="919" b="0">
                          <a:solidFill>
                            <a:srgbClr val="1E293B"/>
                          </a:solidFill>
                          <a:latin typeface="Arial"/>
                        </a:rPr>
                        <a:t>9</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Inji Web + device flows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25 min</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Same-device, cross-device, QR, handoff</a:t>
                      </a:r>
                    </a:p>
                  </a:txBody>
                  <a:tcPr marL="64008" marR="54864" marT="18288" marB="18288" anchor="ctr">
                    <a:solidFill>
                      <a:srgbClr val="FFFFFF"/>
                    </a:solidFill>
                  </a:tcPr>
                </a:tc>
                <a:tc>
                  <a:txBody>
                    <a:bodyPr wrap="square"/>
                    <a:lstStyle/>
                    <a:p>
                      <a:pPr algn="l">
                        <a:lnSpc>
                          <a:spcPct val="105000"/>
                        </a:lnSpc>
                      </a:pPr>
                      <a:r>
                        <a:rPr sz="919" b="1">
                          <a:solidFill>
                            <a:srgbClr val="0F172A"/>
                          </a:solidFill>
                          <a:latin typeface="Arial"/>
                        </a:rPr>
                        <a:t>Demo 6</a:t>
                      </a:r>
                    </a:p>
                  </a:txBody>
                  <a:tcPr marL="64008" marR="54864" marT="18288" marB="18288" anchor="ctr">
                    <a:solidFill>
                      <a:srgbClr val="FFFFFF"/>
                    </a:solidFill>
                  </a:tcPr>
                </a:tc>
              </a:tr>
              <a:tr h="291200">
                <a:tc>
                  <a:txBody>
                    <a:bodyPr wrap="square"/>
                    <a:lstStyle/>
                    <a:p>
                      <a:pPr algn="l">
                        <a:lnSpc>
                          <a:spcPct val="105000"/>
                        </a:lnSpc>
                      </a:pPr>
                      <a:r>
                        <a:rPr sz="919" b="0">
                          <a:solidFill>
                            <a:srgbClr val="1E293B"/>
                          </a:solidFill>
                          <a:latin typeface="Arial"/>
                        </a:rPr>
                        <a:t>10</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Security + key resolution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25 min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Threat model, kid/JWKS, mitigations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Exercise 9</a:t>
                      </a:r>
                    </a:p>
                  </a:txBody>
                  <a:tcPr marL="64008" marR="54864" marT="18288" marB="18288" anchor="ctr">
                    <a:solidFill>
                      <a:srgbClr val="F3F6F9"/>
                    </a:solidFill>
                  </a:tcPr>
                </a:tc>
              </a:tr>
              <a:tr h="291200">
                <a:tc>
                  <a:txBody>
                    <a:bodyPr wrap="square"/>
                    <a:lstStyle/>
                    <a:p>
                      <a:pPr algn="l">
                        <a:lnSpc>
                          <a:spcPct val="105000"/>
                        </a:lnSpc>
                      </a:pPr>
                      <a:r>
                        <a:rPr sz="919" b="0">
                          <a:solidFill>
                            <a:srgbClr val="1E293B"/>
                          </a:solidFill>
                          <a:latin typeface="Arial"/>
                        </a:rPr>
                        <a:t>11</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Config, deployment, dev walkthrough</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30 min</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Repos, builds, tracing a request through code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r>
              <a:tr h="291200">
                <a:tc>
                  <a:txBody>
                    <a:bodyPr wrap="square"/>
                    <a:lstStyle/>
                    <a:p>
                      <a:pPr algn="l">
                        <a:lnSpc>
                          <a:spcPct val="105000"/>
                        </a:lnSpc>
                      </a:pPr>
                      <a:r>
                        <a:rPr sz="919" b="0">
                          <a:solidFill>
                            <a:srgbClr val="1E293B"/>
                          </a:solidFill>
                          <a:latin typeface="Arial"/>
                        </a:rPr>
                        <a:t>12</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Troubleshooting + interoperability</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30 min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Failure catalogue and triage</a:t>
                      </a:r>
                    </a:p>
                  </a:txBody>
                  <a:tcPr marL="64008" marR="54864" marT="18288" marB="18288" anchor="ctr">
                    <a:solidFill>
                      <a:srgbClr val="F3F6F9"/>
                    </a:solidFill>
                  </a:tcPr>
                </a:tc>
                <a:tc>
                  <a:txBody>
                    <a:bodyPr wrap="square"/>
                    <a:lstStyle/>
                    <a:p>
                      <a:pPr algn="l">
                        <a:lnSpc>
                          <a:spcPct val="105000"/>
                        </a:lnSpc>
                      </a:pPr>
                      <a:r>
                        <a:rPr sz="919" b="1">
                          <a:solidFill>
                            <a:srgbClr val="0F172A"/>
                          </a:solidFill>
                          <a:latin typeface="Arial"/>
                        </a:rPr>
                        <a:t>Demo 8</a:t>
                      </a:r>
                    </a:p>
                  </a:txBody>
                  <a:tcPr marL="64008" marR="54864" marT="18288" marB="18288" anchor="ctr">
                    <a:solidFill>
                      <a:srgbClr val="F3F6F9"/>
                    </a:solidFill>
                  </a:tcPr>
                </a:tc>
              </a:tr>
              <a:tr h="291200">
                <a:tc>
                  <a:txBody>
                    <a:bodyPr wrap="square"/>
                    <a:lstStyle/>
                    <a:p>
                      <a:pPr algn="l">
                        <a:lnSpc>
                          <a:spcPct val="105000"/>
                        </a:lnSpc>
                      </a:pPr>
                      <a:r>
                        <a:rPr sz="919" b="0">
                          <a:solidFill>
                            <a:srgbClr val="1E293B"/>
                          </a:solidFill>
                          <a:latin typeface="Arial"/>
                        </a:rPr>
                        <a:t>13</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Brazil discussion, exercises, Q&amp;A</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30–45 min</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Open technical decisions for Brazil</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r>
            </a:tbl>
          </a:graphicData>
        </a:graphic>
      </p:graphicFrame>
      <p:sp>
        <p:nvSpPr>
          <p:cNvPr id="7" name="Rounded Rectangle 6"/>
          <p:cNvSpPr/>
          <p:nvPr/>
        </p:nvSpPr>
        <p:spPr>
          <a:xfrm>
            <a:off x="502920" y="5923716"/>
            <a:ext cx="11185855" cy="349067"/>
          </a:xfrm>
          <a:prstGeom prst="roundRect">
            <a:avLst>
              <a:gd name="adj" fmla="val 90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923716"/>
            <a:ext cx="45720" cy="349067"/>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6013317"/>
            <a:ext cx="10820095" cy="205706"/>
          </a:xfrm>
          <a:prstGeom prst="rect">
            <a:avLst/>
          </a:prstGeom>
          <a:noFill/>
        </p:spPr>
        <p:txBody>
          <a:bodyPr wrap="square" lIns="0" rIns="0" tIns="0" bIns="0" anchor="t">
            <a:spAutoFit/>
          </a:bodyPr>
          <a:lstStyle/>
          <a:p>
            <a:pPr algn="l">
              <a:lnSpc>
                <a:spcPct val="122000"/>
              </a:lnSpc>
              <a:spcBef>
                <a:spcPts val="0"/>
              </a:spcBef>
              <a:spcAft>
                <a:spcPts val="0"/>
              </a:spcAft>
            </a:pPr>
            <a:r>
              <a:rPr sz="1040" b="0" i="0">
                <a:solidFill>
                  <a:srgbClr val="1E293B"/>
                </a:solidFill>
                <a:latin typeface="Arial"/>
              </a:rPr>
              <a:t>Total teaching ≈ 3 h 10 m. Demos, exercises and discussion ≈ 1 h 15 m. Plus two breaks of 10 minutes — take them, this is dense material.</a:t>
            </a:r>
          </a:p>
        </p:txBody>
      </p:sp>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technical enablement</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1</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Inji ecosystem overview</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Before any protocol detail: who the actors are, what each one is allowed to do, and where the trust boundaries fall.</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20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 recurring architecture diagram</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Issuer, Holder, Verifier</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Mimoto, Wallet, Web, libraries</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Trust boundaries</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Online and offline</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Where OpenID4VCI and OpenID4VP sit</a:t>
            </a:r>
          </a:p>
        </p:txBody>
      </p:sp>
      <p:sp>
        <p:nvSpPr>
          <p:cNvPr id="23" name="TextBox 2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Inji ecosystem overview</a:t>
            </a:r>
          </a:p>
        </p:txBody>
      </p:sp>
      <p:sp>
        <p:nvSpPr>
          <p:cNvPr id="24" name="TextBox 2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REFERENCE ARCHITECTURE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one diagram to remember</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Everything else today is a zoom-in on one of these boxes or one of these arrows.</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783080"/>
            <a:ext cx="1754367" cy="960120"/>
          </a:xfrm>
          <a:prstGeom prst="roundRect">
            <a:avLst>
              <a:gd name="adj" fmla="val 10000"/>
            </a:avLst>
          </a:prstGeom>
          <a:solidFill>
            <a:srgbClr val="F3F6F9"/>
          </a:solidFill>
          <a:ln w="1397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E293B"/>
                </a:solidFill>
                <a:latin typeface="Arial"/>
              </a:rPr>
              <a:t>Issuer</a:t>
            </a:r>
          </a:p>
          <a:p>
            <a:pPr algn="ctr">
              <a:spcBef>
                <a:spcPts val="200"/>
              </a:spcBef>
            </a:pPr>
            <a:r>
              <a:rPr sz="850">
                <a:solidFill>
                  <a:srgbClr val="5B6B7F"/>
                </a:solidFill>
                <a:latin typeface="Arial"/>
              </a:rPr>
              <a:t>Inji Certify / national system</a:t>
            </a:r>
          </a:p>
        </p:txBody>
      </p:sp>
      <p:sp>
        <p:nvSpPr>
          <p:cNvPr id="7" name="Rounded Rectangle 6"/>
          <p:cNvSpPr/>
          <p:nvPr/>
        </p:nvSpPr>
        <p:spPr>
          <a:xfrm>
            <a:off x="2860791" y="1783080"/>
            <a:ext cx="1754367" cy="960120"/>
          </a:xfrm>
          <a:prstGeom prst="roundRect">
            <a:avLst>
              <a:gd name="adj" fmla="val 10000"/>
            </a:avLst>
          </a:prstGeom>
          <a:solidFill>
            <a:srgbClr val="F3F6F9"/>
          </a:solidFill>
          <a:ln w="1397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E293B"/>
                </a:solidFill>
                <a:latin typeface="Arial"/>
              </a:rPr>
              <a:t>Mimoto</a:t>
            </a:r>
          </a:p>
          <a:p>
            <a:pPr algn="ctr">
              <a:spcBef>
                <a:spcPts val="200"/>
              </a:spcBef>
            </a:pPr>
            <a:r>
              <a:rPr sz="850">
                <a:solidFill>
                  <a:srgbClr val="5B6B7F"/>
                </a:solidFill>
                <a:latin typeface="Arial"/>
              </a:rPr>
              <a:t>wallet backend (BFF)</a:t>
            </a:r>
          </a:p>
        </p:txBody>
      </p:sp>
      <p:sp>
        <p:nvSpPr>
          <p:cNvPr id="8" name="Rounded Rectangle 7"/>
          <p:cNvSpPr/>
          <p:nvPr/>
        </p:nvSpPr>
        <p:spPr>
          <a:xfrm>
            <a:off x="5218663" y="1783080"/>
            <a:ext cx="1754367" cy="960120"/>
          </a:xfrm>
          <a:prstGeom prst="roundRect">
            <a:avLst>
              <a:gd name="adj" fmla="val 10000"/>
            </a:avLst>
          </a:prstGeom>
          <a:solidFill>
            <a:srgbClr val="F3F6F9"/>
          </a:solidFill>
          <a:ln w="1397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E293B"/>
                </a:solidFill>
                <a:latin typeface="Arial"/>
              </a:rPr>
              <a:t>Inji Wallet</a:t>
            </a:r>
          </a:p>
          <a:p>
            <a:pPr algn="ctr">
              <a:spcBef>
                <a:spcPts val="200"/>
              </a:spcBef>
            </a:pPr>
            <a:r>
              <a:rPr sz="850">
                <a:solidFill>
                  <a:srgbClr val="5B6B7F"/>
                </a:solidFill>
                <a:latin typeface="Arial"/>
              </a:rPr>
              <a:t>holder app  |  Inji Web</a:t>
            </a:r>
          </a:p>
        </p:txBody>
      </p:sp>
      <p:sp>
        <p:nvSpPr>
          <p:cNvPr id="9" name="Rounded Rectangle 8"/>
          <p:cNvSpPr/>
          <p:nvPr/>
        </p:nvSpPr>
        <p:spPr>
          <a:xfrm>
            <a:off x="7576535" y="1783080"/>
            <a:ext cx="1754367" cy="960120"/>
          </a:xfrm>
          <a:prstGeom prst="roundRect">
            <a:avLst>
              <a:gd name="adj" fmla="val 10000"/>
            </a:avLst>
          </a:prstGeom>
          <a:solidFill>
            <a:srgbClr val="F3F6F9"/>
          </a:solidFill>
          <a:ln w="1397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E293B"/>
                </a:solidFill>
                <a:latin typeface="Arial"/>
              </a:rPr>
              <a:t>Credential Store</a:t>
            </a:r>
          </a:p>
          <a:p>
            <a:pPr algn="ctr">
              <a:spcBef>
                <a:spcPts val="200"/>
              </a:spcBef>
            </a:pPr>
            <a:r>
              <a:rPr sz="850">
                <a:solidFill>
                  <a:srgbClr val="5B6B7F"/>
                </a:solidFill>
                <a:latin typeface="Arial"/>
              </a:rPr>
              <a:t>encrypted, on device / DB</a:t>
            </a:r>
          </a:p>
        </p:txBody>
      </p:sp>
      <p:sp>
        <p:nvSpPr>
          <p:cNvPr id="10" name="Rounded Rectangle 9"/>
          <p:cNvSpPr/>
          <p:nvPr/>
        </p:nvSpPr>
        <p:spPr>
          <a:xfrm>
            <a:off x="9934407" y="1783080"/>
            <a:ext cx="1754367" cy="960120"/>
          </a:xfrm>
          <a:prstGeom prst="roundRect">
            <a:avLst>
              <a:gd name="adj" fmla="val 10000"/>
            </a:avLst>
          </a:prstGeom>
          <a:solidFill>
            <a:srgbClr val="F3F6F9"/>
          </a:solidFill>
          <a:ln w="1397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E293B"/>
                </a:solidFill>
                <a:latin typeface="Arial"/>
              </a:rPr>
              <a:t>Verifier</a:t>
            </a:r>
          </a:p>
          <a:p>
            <a:pPr algn="ctr">
              <a:spcBef>
                <a:spcPts val="200"/>
              </a:spcBef>
            </a:pPr>
            <a:r>
              <a:rPr sz="850">
                <a:solidFill>
                  <a:srgbClr val="5B6B7F"/>
                </a:solidFill>
                <a:latin typeface="Arial"/>
              </a:rPr>
              <a:t>Inji Verify / relying party</a:t>
            </a:r>
          </a:p>
        </p:txBody>
      </p:sp>
      <p:cxnSp>
        <p:nvCxnSpPr>
          <p:cNvPr id="11" name="Connector 10"/>
          <p:cNvCxnSpPr/>
          <p:nvPr/>
        </p:nvCxnSpPr>
        <p:spPr>
          <a:xfrm>
            <a:off x="2312151" y="2263140"/>
            <a:ext cx="493776"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964679" y="1417319"/>
            <a:ext cx="1188720" cy="246888"/>
          </a:xfrm>
          <a:prstGeom prst="roundRect">
            <a:avLst>
              <a:gd name="adj" fmla="val 22000"/>
            </a:avLst>
          </a:prstGeom>
          <a:solidFill>
            <a:srgbClr val="D6F0ED"/>
          </a:solidFill>
          <a:ln w="1143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0E9488"/>
                </a:solidFill>
                <a:latin typeface="Arial"/>
              </a:rPr>
              <a:t>OpenID4VCI</a:t>
            </a:r>
          </a:p>
        </p:txBody>
      </p:sp>
      <p:cxnSp>
        <p:nvCxnSpPr>
          <p:cNvPr id="13" name="Connector 12"/>
          <p:cNvCxnSpPr/>
          <p:nvPr/>
        </p:nvCxnSpPr>
        <p:spPr>
          <a:xfrm>
            <a:off x="2559039" y="1664207"/>
            <a:ext cx="0" cy="580645"/>
          </a:xfrm>
          <a:prstGeom prst="line">
            <a:avLst/>
          </a:prstGeom>
          <a:ln w="1143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670023" y="2263140"/>
            <a:ext cx="493776"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59711" y="1417319"/>
            <a:ext cx="914400" cy="246888"/>
          </a:xfrm>
          <a:prstGeom prst="roundRect">
            <a:avLst>
              <a:gd name="adj" fmla="val 22000"/>
            </a:avLst>
          </a:prstGeom>
          <a:solidFill>
            <a:srgbClr val="FFFFFF"/>
          </a:solidFill>
          <a:ln w="1143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0">
                <a:solidFill>
                  <a:srgbClr val="5B6B7F"/>
                </a:solidFill>
                <a:latin typeface="Arial"/>
              </a:rPr>
              <a:t>downloads</a:t>
            </a:r>
          </a:p>
        </p:txBody>
      </p:sp>
      <p:cxnSp>
        <p:nvCxnSpPr>
          <p:cNvPr id="16" name="Connector 15"/>
          <p:cNvCxnSpPr/>
          <p:nvPr/>
        </p:nvCxnSpPr>
        <p:spPr>
          <a:xfrm>
            <a:off x="4916911" y="1664207"/>
            <a:ext cx="0" cy="580645"/>
          </a:xfrm>
          <a:prstGeom prst="line">
            <a:avLst/>
          </a:prstGeom>
          <a:ln w="1143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027895" y="2263140"/>
            <a:ext cx="493776"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17583" y="1417319"/>
            <a:ext cx="914400" cy="246888"/>
          </a:xfrm>
          <a:prstGeom prst="roundRect">
            <a:avLst>
              <a:gd name="adj" fmla="val 22000"/>
            </a:avLst>
          </a:prstGeom>
          <a:solidFill>
            <a:srgbClr val="FFFFFF"/>
          </a:solidFill>
          <a:ln w="1143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0">
                <a:solidFill>
                  <a:srgbClr val="5B6B7F"/>
                </a:solidFill>
                <a:latin typeface="Arial"/>
              </a:rPr>
              <a:t>writes</a:t>
            </a:r>
          </a:p>
        </p:txBody>
      </p:sp>
      <p:cxnSp>
        <p:nvCxnSpPr>
          <p:cNvPr id="19" name="Connector 18"/>
          <p:cNvCxnSpPr/>
          <p:nvPr/>
        </p:nvCxnSpPr>
        <p:spPr>
          <a:xfrm>
            <a:off x="7274783" y="1664207"/>
            <a:ext cx="0" cy="580645"/>
          </a:xfrm>
          <a:prstGeom prst="line">
            <a:avLst/>
          </a:prstGeom>
          <a:ln w="1143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385767" y="2263140"/>
            <a:ext cx="493776"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38295" y="1417319"/>
            <a:ext cx="1188720" cy="246888"/>
          </a:xfrm>
          <a:prstGeom prst="roundRect">
            <a:avLst>
              <a:gd name="adj" fmla="val 22000"/>
            </a:avLst>
          </a:prstGeom>
          <a:solidFill>
            <a:srgbClr val="D6F0ED"/>
          </a:solidFill>
          <a:ln w="1143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0E9488"/>
                </a:solidFill>
                <a:latin typeface="Arial"/>
              </a:rPr>
              <a:t>OpenID4VP</a:t>
            </a:r>
          </a:p>
        </p:txBody>
      </p:sp>
      <p:cxnSp>
        <p:nvCxnSpPr>
          <p:cNvPr id="22" name="Connector 21"/>
          <p:cNvCxnSpPr/>
          <p:nvPr/>
        </p:nvCxnSpPr>
        <p:spPr>
          <a:xfrm>
            <a:off x="9632655" y="1664207"/>
            <a:ext cx="0" cy="580645"/>
          </a:xfrm>
          <a:prstGeom prst="line">
            <a:avLst/>
          </a:prstGeom>
          <a:ln w="1143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218663" y="3218688"/>
            <a:ext cx="1754367" cy="548640"/>
          </a:xfrm>
          <a:prstGeom prst="roundRect">
            <a:avLst>
              <a:gd name="adj" fmla="val 16000"/>
            </a:avLst>
          </a:prstGeom>
          <a:solidFill>
            <a:srgbClr val="FFFFFF"/>
          </a:solidFill>
          <a:ln w="16510">
            <a:solidFill>
              <a:srgbClr val="0E948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E9488"/>
                </a:solidFill>
                <a:latin typeface="Arial"/>
              </a:rPr>
              <a:t>Inji Web  (browser holder)</a:t>
            </a:r>
          </a:p>
        </p:txBody>
      </p:sp>
      <p:cxnSp>
        <p:nvCxnSpPr>
          <p:cNvPr id="24" name="Connector 23"/>
          <p:cNvCxnSpPr/>
          <p:nvPr/>
        </p:nvCxnSpPr>
        <p:spPr>
          <a:xfrm>
            <a:off x="6095847" y="2743200"/>
            <a:ext cx="0" cy="475488"/>
          </a:xfrm>
          <a:prstGeom prst="line">
            <a:avLst/>
          </a:prstGeom>
          <a:ln w="13970">
            <a:solidFill>
              <a:srgbClr val="0E9488"/>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737975" y="3493008"/>
            <a:ext cx="1480688" cy="0"/>
          </a:xfrm>
          <a:prstGeom prst="line">
            <a:avLst/>
          </a:prstGeom>
          <a:ln w="13970">
            <a:solidFill>
              <a:srgbClr val="0E9488"/>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7975" y="2743200"/>
            <a:ext cx="0" cy="749808"/>
          </a:xfrm>
          <a:prstGeom prst="line">
            <a:avLst/>
          </a:prstGeom>
          <a:ln w="13970">
            <a:solidFill>
              <a:srgbClr val="0E9488"/>
            </a:solidFill>
            <a:prstDash val="sys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29415" y="3529584"/>
            <a:ext cx="1297807" cy="219456"/>
          </a:xfrm>
          <a:prstGeom prst="rect">
            <a:avLst/>
          </a:prstGeom>
          <a:noFill/>
        </p:spPr>
        <p:txBody>
          <a:bodyPr wrap="square" lIns="0" rIns="0" tIns="0" bIns="0" anchor="t">
            <a:spAutoFit/>
          </a:bodyPr>
          <a:lstStyle/>
          <a:p>
            <a:pPr algn="ctr">
              <a:lnSpc>
                <a:spcPct val="114000"/>
              </a:lnSpc>
              <a:spcBef>
                <a:spcPts val="0"/>
              </a:spcBef>
              <a:spcAft>
                <a:spcPts val="0"/>
              </a:spcAft>
            </a:pPr>
            <a:r>
              <a:rPr sz="800" b="0" i="1">
                <a:solidFill>
                  <a:srgbClr val="0E9488"/>
                </a:solidFill>
              </a:rPr>
              <a:t>Inji Web uses Mimoto as its BFF</a:t>
            </a:r>
          </a:p>
        </p:txBody>
      </p:sp>
      <p:sp>
        <p:nvSpPr>
          <p:cNvPr id="28" name="Rectangle 27"/>
          <p:cNvSpPr/>
          <p:nvPr/>
        </p:nvSpPr>
        <p:spPr>
          <a:xfrm>
            <a:off x="502920" y="4160520"/>
            <a:ext cx="2061606" cy="50292"/>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288536"/>
            <a:ext cx="2061606" cy="256032"/>
          </a:xfrm>
          <a:prstGeom prst="rect">
            <a:avLst/>
          </a:prstGeom>
          <a:noFill/>
        </p:spPr>
        <p:txBody>
          <a:bodyPr wrap="square" lIns="0" rIns="0" tIns="0" bIns="0" anchor="t">
            <a:spAutoFit/>
          </a:bodyPr>
          <a:lstStyle/>
          <a:p>
            <a:pPr algn="l">
              <a:lnSpc>
                <a:spcPct val="114000"/>
              </a:lnSpc>
              <a:spcBef>
                <a:spcPts val="0"/>
              </a:spcBef>
              <a:spcAft>
                <a:spcPts val="0"/>
              </a:spcAft>
            </a:pPr>
            <a:r>
              <a:rPr sz="1050" b="1" i="0">
                <a:solidFill>
                  <a:srgbClr val="1D4E89"/>
                </a:solidFill>
              </a:rPr>
              <a:t>Issuer</a:t>
            </a:r>
          </a:p>
        </p:txBody>
      </p:sp>
      <p:sp>
        <p:nvSpPr>
          <p:cNvPr id="30" name="TextBox 29"/>
          <p:cNvSpPr txBox="1"/>
          <p:nvPr/>
        </p:nvSpPr>
        <p:spPr>
          <a:xfrm>
            <a:off x="502920" y="4562856"/>
            <a:ext cx="2061606" cy="100584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5B6B7F"/>
                </a:solidFill>
              </a:rPr>
              <a:t>Decides the person deserves the credential, signs it. Inji Certify, or Brazil's own system.</a:t>
            </a:r>
          </a:p>
        </p:txBody>
      </p:sp>
      <p:sp>
        <p:nvSpPr>
          <p:cNvPr id="31" name="Rectangle 30"/>
          <p:cNvSpPr/>
          <p:nvPr/>
        </p:nvSpPr>
        <p:spPr>
          <a:xfrm>
            <a:off x="2783982" y="4160520"/>
            <a:ext cx="2061606" cy="5029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3982" y="4288536"/>
            <a:ext cx="2061606" cy="256032"/>
          </a:xfrm>
          <a:prstGeom prst="rect">
            <a:avLst/>
          </a:prstGeom>
          <a:noFill/>
        </p:spPr>
        <p:txBody>
          <a:bodyPr wrap="square" lIns="0" rIns="0" tIns="0" bIns="0" anchor="t">
            <a:spAutoFit/>
          </a:bodyPr>
          <a:lstStyle/>
          <a:p>
            <a:pPr algn="l">
              <a:lnSpc>
                <a:spcPct val="114000"/>
              </a:lnSpc>
              <a:spcBef>
                <a:spcPts val="0"/>
              </a:spcBef>
              <a:spcAft>
                <a:spcPts val="0"/>
              </a:spcAft>
            </a:pPr>
            <a:r>
              <a:rPr sz="1050" b="1" i="0">
                <a:solidFill>
                  <a:srgbClr val="6D28D9"/>
                </a:solidFill>
              </a:rPr>
              <a:t>Mimoto</a:t>
            </a:r>
          </a:p>
        </p:txBody>
      </p:sp>
      <p:sp>
        <p:nvSpPr>
          <p:cNvPr id="33" name="TextBox 32"/>
          <p:cNvSpPr txBox="1"/>
          <p:nvPr/>
        </p:nvSpPr>
        <p:spPr>
          <a:xfrm>
            <a:off x="2783982" y="4562856"/>
            <a:ext cx="2061606" cy="100584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5B6B7F"/>
                </a:solidFill>
              </a:rPr>
              <a:t>Wallet backend. Issuer list, token exchange, storage for Web. Never signs credentials.</a:t>
            </a:r>
          </a:p>
        </p:txBody>
      </p:sp>
      <p:sp>
        <p:nvSpPr>
          <p:cNvPr id="34" name="Rectangle 33"/>
          <p:cNvSpPr/>
          <p:nvPr/>
        </p:nvSpPr>
        <p:spPr>
          <a:xfrm>
            <a:off x="5065044" y="4160520"/>
            <a:ext cx="2061606" cy="50292"/>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65044" y="4288536"/>
            <a:ext cx="2061606" cy="256032"/>
          </a:xfrm>
          <a:prstGeom prst="rect">
            <a:avLst/>
          </a:prstGeom>
          <a:noFill/>
        </p:spPr>
        <p:txBody>
          <a:bodyPr wrap="square" lIns="0" rIns="0" tIns="0" bIns="0" anchor="t">
            <a:spAutoFit/>
          </a:bodyPr>
          <a:lstStyle/>
          <a:p>
            <a:pPr algn="l">
              <a:lnSpc>
                <a:spcPct val="114000"/>
              </a:lnSpc>
              <a:spcBef>
                <a:spcPts val="0"/>
              </a:spcBef>
              <a:spcAft>
                <a:spcPts val="0"/>
              </a:spcAft>
            </a:pPr>
            <a:r>
              <a:rPr sz="1050" b="1" i="0">
                <a:solidFill>
                  <a:srgbClr val="0E9488"/>
                </a:solidFill>
              </a:rPr>
              <a:t>Inji Wallet / Web</a:t>
            </a:r>
          </a:p>
        </p:txBody>
      </p:sp>
      <p:sp>
        <p:nvSpPr>
          <p:cNvPr id="36" name="TextBox 35"/>
          <p:cNvSpPr txBox="1"/>
          <p:nvPr/>
        </p:nvSpPr>
        <p:spPr>
          <a:xfrm>
            <a:off x="5065044" y="4562856"/>
            <a:ext cx="2061606" cy="100584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5B6B7F"/>
                </a:solidFill>
              </a:rPr>
              <a:t>The holder. Requests, stores, chooses what to disclose, presents.</a:t>
            </a:r>
          </a:p>
        </p:txBody>
      </p:sp>
      <p:sp>
        <p:nvSpPr>
          <p:cNvPr id="37" name="Rectangle 36"/>
          <p:cNvSpPr/>
          <p:nvPr/>
        </p:nvSpPr>
        <p:spPr>
          <a:xfrm>
            <a:off x="7346106" y="4160520"/>
            <a:ext cx="2061606"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46106" y="4288536"/>
            <a:ext cx="2061606" cy="256032"/>
          </a:xfrm>
          <a:prstGeom prst="rect">
            <a:avLst/>
          </a:prstGeom>
          <a:noFill/>
        </p:spPr>
        <p:txBody>
          <a:bodyPr wrap="square" lIns="0" rIns="0" tIns="0" bIns="0" anchor="t">
            <a:spAutoFit/>
          </a:bodyPr>
          <a:lstStyle/>
          <a:p>
            <a:pPr algn="l">
              <a:lnSpc>
                <a:spcPct val="114000"/>
              </a:lnSpc>
              <a:spcBef>
                <a:spcPts val="0"/>
              </a:spcBef>
              <a:spcAft>
                <a:spcPts val="0"/>
              </a:spcAft>
            </a:pPr>
            <a:r>
              <a:rPr sz="1050" b="1" i="0">
                <a:solidFill>
                  <a:srgbClr val="B45309"/>
                </a:solidFill>
              </a:rPr>
              <a:t>Credential Store</a:t>
            </a:r>
          </a:p>
        </p:txBody>
      </p:sp>
      <p:sp>
        <p:nvSpPr>
          <p:cNvPr id="39" name="TextBox 38"/>
          <p:cNvSpPr txBox="1"/>
          <p:nvPr/>
        </p:nvSpPr>
        <p:spPr>
          <a:xfrm>
            <a:off x="7346106" y="4562856"/>
            <a:ext cx="2061606" cy="100584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5B6B7F"/>
                </a:solidFill>
              </a:rPr>
              <a:t>Encrypted at rest. On device for Wallet; in Mimoto's DB for Web.</a:t>
            </a:r>
          </a:p>
        </p:txBody>
      </p:sp>
      <p:sp>
        <p:nvSpPr>
          <p:cNvPr id="40" name="Rectangle 39"/>
          <p:cNvSpPr/>
          <p:nvPr/>
        </p:nvSpPr>
        <p:spPr>
          <a:xfrm>
            <a:off x="9627168" y="4160520"/>
            <a:ext cx="2061606" cy="50292"/>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27168" y="4288536"/>
            <a:ext cx="2061606" cy="256032"/>
          </a:xfrm>
          <a:prstGeom prst="rect">
            <a:avLst/>
          </a:prstGeom>
          <a:noFill/>
        </p:spPr>
        <p:txBody>
          <a:bodyPr wrap="square" lIns="0" rIns="0" tIns="0" bIns="0" anchor="t">
            <a:spAutoFit/>
          </a:bodyPr>
          <a:lstStyle/>
          <a:p>
            <a:pPr algn="l">
              <a:lnSpc>
                <a:spcPct val="114000"/>
              </a:lnSpc>
              <a:spcBef>
                <a:spcPts val="0"/>
              </a:spcBef>
              <a:spcAft>
                <a:spcPts val="0"/>
              </a:spcAft>
            </a:pPr>
            <a:r>
              <a:rPr sz="1050" b="1" i="0">
                <a:solidFill>
                  <a:srgbClr val="15703D"/>
                </a:solidFill>
              </a:rPr>
              <a:t>Verifier</a:t>
            </a:r>
          </a:p>
        </p:txBody>
      </p:sp>
      <p:sp>
        <p:nvSpPr>
          <p:cNvPr id="42" name="TextBox 41"/>
          <p:cNvSpPr txBox="1"/>
          <p:nvPr/>
        </p:nvSpPr>
        <p:spPr>
          <a:xfrm>
            <a:off x="9627168" y="4562856"/>
            <a:ext cx="2061606" cy="100584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5B6B7F"/>
                </a:solidFill>
              </a:rPr>
              <a:t>Asks for specific claims, checks the signatures, decides. Inji Verify or a third party.</a:t>
            </a:r>
          </a:p>
        </p:txBody>
      </p:sp>
      <p:sp>
        <p:nvSpPr>
          <p:cNvPr id="43" name="Rounded Rectangle 42"/>
          <p:cNvSpPr/>
          <p:nvPr/>
        </p:nvSpPr>
        <p:spPr>
          <a:xfrm>
            <a:off x="502920" y="5650992"/>
            <a:ext cx="11185855" cy="529590"/>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2920" y="5650992"/>
            <a:ext cx="45720" cy="52959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5742431"/>
            <a:ext cx="10820095" cy="383286"/>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1E293B"/>
                </a:solidFill>
                <a:latin typeface="Arial"/>
              </a:rPr>
              <a:t>Read the arrows as </a:t>
            </a:r>
            <a:r>
              <a:rPr sz="1050" b="1" i="0">
                <a:solidFill>
                  <a:srgbClr val="0E9488"/>
                </a:solidFill>
                <a:latin typeface="Arial"/>
              </a:rPr>
              <a:t>protocols, not as network hops</a:t>
            </a:r>
            <a:r>
              <a:rPr sz="1050" b="0" i="0">
                <a:solidFill>
                  <a:srgbClr val="1E293B"/>
                </a:solidFill>
                <a:latin typeface="Arial"/>
              </a:rPr>
              <a:t>. OpenID4VCI is how a credential is obtained. OpenID4VP is how one is shown. Everything else — Mimoto's REST API, the native bridge inside the Wallet — is implementation, and can be changed without breaking interoperability.</a:t>
            </a:r>
          </a:p>
        </p:txBody>
      </p:sp>
      <p:sp>
        <p:nvSpPr>
          <p:cNvPr id="46" name="TextBox 4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ecosystem overview</a:t>
            </a:r>
          </a:p>
        </p:txBody>
      </p:sp>
      <p:sp>
        <p:nvSpPr>
          <p:cNvPr id="47" name="TextBox 4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THE TRUST TRIANGLE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Three roles, and only three</a:t>
            </a:r>
          </a:p>
        </p:txBody>
      </p:sp>
      <p:sp>
        <p:nvSpPr>
          <p:cNvPr id="4" name="TextBox 3"/>
          <p:cNvSpPr txBox="1"/>
          <p:nvPr/>
        </p:nvSpPr>
        <p:spPr>
          <a:xfrm>
            <a:off x="502920" y="1078992"/>
            <a:ext cx="11185855" cy="297564"/>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5B6B7F"/>
                </a:solidFill>
                <a:latin typeface="Arial"/>
              </a:rPr>
              <a:t>Every VC system in the world is this triangle. Inji is an implementation of the middle corner.</a:t>
            </a:r>
          </a:p>
        </p:txBody>
      </p:sp>
      <p:cxnSp>
        <p:nvCxnSpPr>
          <p:cNvPr id="5" name="Connector 4"/>
          <p:cNvCxnSpPr/>
          <p:nvPr/>
        </p:nvCxnSpPr>
        <p:spPr>
          <a:xfrm>
            <a:off x="502920" y="1467996"/>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325880" y="1748056"/>
            <a:ext cx="2651760" cy="918948"/>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19" y="1905590"/>
            <a:ext cx="2468880" cy="612632"/>
          </a:xfrm>
          <a:prstGeom prst="rect">
            <a:avLst/>
          </a:prstGeom>
          <a:noFill/>
        </p:spPr>
        <p:txBody>
          <a:bodyPr wrap="square" lIns="0" rIns="0" tIns="0" bIns="0" anchor="ctr">
            <a:spAutoFit/>
          </a:bodyPr>
          <a:lstStyle/>
          <a:p>
            <a:pPr algn="ctr">
              <a:lnSpc>
                <a:spcPct val="114000"/>
              </a:lnSpc>
              <a:spcBef>
                <a:spcPts val="0"/>
              </a:spcBef>
              <a:spcAft>
                <a:spcPts val="0"/>
              </a:spcAft>
            </a:pPr>
            <a:r>
              <a:rPr sz="1270" b="1" i="0">
                <a:solidFill>
                  <a:srgbClr val="FFFFFF"/>
                </a:solidFill>
              </a:rPr>
              <a:t>ISSUER</a:t>
            </a:r>
          </a:p>
          <a:p>
            <a:pPr algn="ctr">
              <a:lnSpc>
                <a:spcPct val="114000"/>
              </a:lnSpc>
              <a:spcBef>
                <a:spcPts val="0"/>
              </a:spcBef>
              <a:spcAft>
                <a:spcPts val="0"/>
              </a:spcAft>
            </a:pPr>
            <a:r>
              <a:rPr sz="880" b="0" i="0">
                <a:solidFill>
                  <a:srgbClr val="DCE7F4"/>
                </a:solidFill>
              </a:rPr>
              <a:t>signs the credential</a:t>
            </a:r>
          </a:p>
        </p:txBody>
      </p:sp>
      <p:sp>
        <p:nvSpPr>
          <p:cNvPr id="8" name="Rounded Rectangle 7"/>
          <p:cNvSpPr/>
          <p:nvPr/>
        </p:nvSpPr>
        <p:spPr>
          <a:xfrm>
            <a:off x="8183880" y="1748056"/>
            <a:ext cx="2651760" cy="918948"/>
          </a:xfrm>
          <a:prstGeom prst="roundRect">
            <a:avLst>
              <a:gd name="adj" fmla="val 10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905590"/>
            <a:ext cx="2468880" cy="612632"/>
          </a:xfrm>
          <a:prstGeom prst="rect">
            <a:avLst/>
          </a:prstGeom>
          <a:noFill/>
        </p:spPr>
        <p:txBody>
          <a:bodyPr wrap="square" lIns="0" rIns="0" tIns="0" bIns="0" anchor="ctr">
            <a:spAutoFit/>
          </a:bodyPr>
          <a:lstStyle/>
          <a:p>
            <a:pPr algn="ctr">
              <a:lnSpc>
                <a:spcPct val="114000"/>
              </a:lnSpc>
              <a:spcBef>
                <a:spcPts val="0"/>
              </a:spcBef>
              <a:spcAft>
                <a:spcPts val="0"/>
              </a:spcAft>
            </a:pPr>
            <a:r>
              <a:rPr sz="1270" b="1" i="0">
                <a:solidFill>
                  <a:srgbClr val="FFFFFF"/>
                </a:solidFill>
              </a:rPr>
              <a:t>VERIFIER</a:t>
            </a:r>
          </a:p>
          <a:p>
            <a:pPr algn="ctr">
              <a:lnSpc>
                <a:spcPct val="114000"/>
              </a:lnSpc>
              <a:spcBef>
                <a:spcPts val="0"/>
              </a:spcBef>
              <a:spcAft>
                <a:spcPts val="0"/>
              </a:spcAft>
            </a:pPr>
            <a:r>
              <a:rPr sz="880" b="0" i="0">
                <a:solidFill>
                  <a:srgbClr val="DFF1E5"/>
                </a:solidFill>
              </a:rPr>
              <a:t>checks and decides</a:t>
            </a:r>
          </a:p>
        </p:txBody>
      </p:sp>
      <p:sp>
        <p:nvSpPr>
          <p:cNvPr id="10" name="Rounded Rectangle 9"/>
          <p:cNvSpPr/>
          <p:nvPr/>
        </p:nvSpPr>
        <p:spPr>
          <a:xfrm>
            <a:off x="4480560" y="3340900"/>
            <a:ext cx="3200400" cy="918948"/>
          </a:xfrm>
          <a:prstGeom prst="roundRect">
            <a:avLst>
              <a:gd name="adj" fmla="val 10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463427"/>
            <a:ext cx="3017520" cy="682647"/>
          </a:xfrm>
          <a:prstGeom prst="rect">
            <a:avLst/>
          </a:prstGeom>
          <a:noFill/>
        </p:spPr>
        <p:txBody>
          <a:bodyPr wrap="square" lIns="0" rIns="0" tIns="0" bIns="0" anchor="ctr">
            <a:spAutoFit/>
          </a:bodyPr>
          <a:lstStyle/>
          <a:p>
            <a:pPr algn="ctr">
              <a:lnSpc>
                <a:spcPct val="114000"/>
              </a:lnSpc>
              <a:spcBef>
                <a:spcPts val="0"/>
              </a:spcBef>
              <a:spcAft>
                <a:spcPts val="0"/>
              </a:spcAft>
            </a:pPr>
            <a:r>
              <a:rPr sz="1230" b="1" i="0">
                <a:solidFill>
                  <a:srgbClr val="FFFFFF"/>
                </a:solidFill>
              </a:rPr>
              <a:t>HOLDER  —  Inji Wallet / Inji Web</a:t>
            </a:r>
          </a:p>
          <a:p>
            <a:pPr algn="ctr">
              <a:lnSpc>
                <a:spcPct val="114000"/>
              </a:lnSpc>
              <a:spcBef>
                <a:spcPts val="0"/>
              </a:spcBef>
              <a:spcAft>
                <a:spcPts val="0"/>
              </a:spcAft>
            </a:pPr>
            <a:r>
              <a:rPr sz="880" b="0" i="0">
                <a:solidFill>
                  <a:srgbClr val="D6F0ED"/>
                </a:solidFill>
              </a:rPr>
              <a:t>stores, chooses, consents, presents</a:t>
            </a:r>
          </a:p>
        </p:txBody>
      </p:sp>
      <p:cxnSp>
        <p:nvCxnSpPr>
          <p:cNvPr id="12" name="Connector 11"/>
          <p:cNvCxnSpPr/>
          <p:nvPr/>
        </p:nvCxnSpPr>
        <p:spPr>
          <a:xfrm>
            <a:off x="2788920" y="2710764"/>
            <a:ext cx="2057400" cy="656391"/>
          </a:xfrm>
          <a:prstGeom prst="line">
            <a:avLst/>
          </a:prstGeom>
          <a:ln w="20320">
            <a:solidFill>
              <a:srgbClr val="1D4E8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315200" y="2710764"/>
            <a:ext cx="2057400" cy="656391"/>
          </a:xfrm>
          <a:prstGeom prst="line">
            <a:avLst/>
          </a:prstGeom>
          <a:ln w="20320">
            <a:solidFill>
              <a:srgbClr val="15703D"/>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69080" y="2203155"/>
            <a:ext cx="4023360" cy="0"/>
          </a:xfrm>
          <a:prstGeom prst="line">
            <a:avLst/>
          </a:prstGeom>
          <a:ln w="16510">
            <a:solidFill>
              <a:srgbClr val="5B6B7F"/>
            </a:solidFill>
            <a:prstDash val="sys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114800" y="1538011"/>
            <a:ext cx="5394960" cy="262556"/>
          </a:xfrm>
          <a:prstGeom prst="rect">
            <a:avLst/>
          </a:prstGeom>
          <a:noFill/>
        </p:spPr>
        <p:txBody>
          <a:bodyPr wrap="square" lIns="0" rIns="0" tIns="0" bIns="0" anchor="t">
            <a:spAutoFit/>
          </a:bodyPr>
          <a:lstStyle/>
          <a:p>
            <a:pPr algn="ctr">
              <a:lnSpc>
                <a:spcPct val="114000"/>
              </a:lnSpc>
              <a:spcBef>
                <a:spcPts val="0"/>
              </a:spcBef>
              <a:spcAft>
                <a:spcPts val="0"/>
              </a:spcAft>
            </a:pPr>
            <a:r>
              <a:rPr sz="860" b="0" i="1">
                <a:solidFill>
                  <a:srgbClr val="5B6B7F"/>
                </a:solidFill>
              </a:rPr>
              <a:t>verifier fetches issuer keys only — never asks the issuer about the person</a:t>
            </a:r>
          </a:p>
        </p:txBody>
      </p:sp>
      <p:sp>
        <p:nvSpPr>
          <p:cNvPr id="16" name="TextBox 15"/>
          <p:cNvSpPr txBox="1"/>
          <p:nvPr/>
        </p:nvSpPr>
        <p:spPr>
          <a:xfrm>
            <a:off x="2651760" y="2850794"/>
            <a:ext cx="2468880" cy="262556"/>
          </a:xfrm>
          <a:prstGeom prst="rect">
            <a:avLst/>
          </a:prstGeom>
          <a:noFill/>
        </p:spPr>
        <p:txBody>
          <a:bodyPr wrap="square" lIns="0" rIns="0" tIns="0" bIns="0" anchor="t">
            <a:spAutoFit/>
          </a:bodyPr>
          <a:lstStyle/>
          <a:p>
            <a:pPr algn="l">
              <a:lnSpc>
                <a:spcPct val="114000"/>
              </a:lnSpc>
              <a:spcBef>
                <a:spcPts val="0"/>
              </a:spcBef>
              <a:spcAft>
                <a:spcPts val="0"/>
              </a:spcAft>
            </a:pPr>
            <a:r>
              <a:rPr sz="930" b="1" i="0">
                <a:solidFill>
                  <a:srgbClr val="1D4E89"/>
                </a:solidFill>
              </a:rPr>
              <a:t>OpenID4VCI</a:t>
            </a:r>
          </a:p>
        </p:txBody>
      </p:sp>
      <p:sp>
        <p:nvSpPr>
          <p:cNvPr id="17" name="TextBox 16"/>
          <p:cNvSpPr txBox="1"/>
          <p:nvPr/>
        </p:nvSpPr>
        <p:spPr>
          <a:xfrm>
            <a:off x="7406640" y="2850794"/>
            <a:ext cx="2468880" cy="262556"/>
          </a:xfrm>
          <a:prstGeom prst="rect">
            <a:avLst/>
          </a:prstGeom>
          <a:noFill/>
        </p:spPr>
        <p:txBody>
          <a:bodyPr wrap="square" lIns="0" rIns="0" tIns="0" bIns="0" anchor="t">
            <a:spAutoFit/>
          </a:bodyPr>
          <a:lstStyle/>
          <a:p>
            <a:pPr algn="r">
              <a:lnSpc>
                <a:spcPct val="114000"/>
              </a:lnSpc>
              <a:spcBef>
                <a:spcPts val="0"/>
              </a:spcBef>
              <a:spcAft>
                <a:spcPts val="0"/>
              </a:spcAft>
            </a:pPr>
            <a:r>
              <a:rPr sz="930" b="1" i="0">
                <a:solidFill>
                  <a:srgbClr val="15703D"/>
                </a:solidFill>
              </a:rPr>
              <a:t>OpenID4VP</a:t>
            </a:r>
          </a:p>
        </p:txBody>
      </p:sp>
      <p:graphicFrame>
        <p:nvGraphicFramePr>
          <p:cNvPr id="18" name="Table 17"/>
          <p:cNvGraphicFramePr>
            <a:graphicFrameLocks noGrp="1"/>
          </p:cNvGraphicFramePr>
          <p:nvPr/>
        </p:nvGraphicFramePr>
        <p:xfrm>
          <a:off x="502920" y="4548661"/>
          <a:ext cx="11185854" cy="1724119"/>
        </p:xfrm>
        <a:graphic>
          <a:graphicData uri="http://schemas.openxmlformats.org/drawingml/2006/table">
            <a:tbl>
              <a:tblPr firstRow="1">
                <a:tableStyleId>{2D5ABB26-0587-4C30-8999-92F81FD0307C}</a:tableStyleId>
              </a:tblPr>
              <a:tblGrid>
                <a:gridCol w="1925434"/>
                <a:gridCol w="5134490"/>
                <a:gridCol w="4125930"/>
              </a:tblGrid>
              <a:tr h="280060">
                <a:tc>
                  <a:txBody>
                    <a:bodyPr wrap="square"/>
                    <a:lstStyle/>
                    <a:p>
                      <a:pPr algn="l"/>
                      <a:r>
                        <a:rPr sz="930" b="1">
                          <a:solidFill>
                            <a:srgbClr val="FFFFFF"/>
                          </a:solidFill>
                          <a:latin typeface="Arial"/>
                        </a:rPr>
                        <a:t>Role</a:t>
                      </a:r>
                    </a:p>
                  </a:txBody>
                  <a:tcPr marL="64008" marR="54864" marT="27432" marB="27432" anchor="ctr">
                    <a:solidFill>
                      <a:srgbClr val="1D4E89"/>
                    </a:solidFill>
                  </a:tcPr>
                </a:tc>
                <a:tc>
                  <a:txBody>
                    <a:bodyPr wrap="square"/>
                    <a:lstStyle/>
                    <a:p>
                      <a:pPr algn="l"/>
                      <a:r>
                        <a:rPr sz="930" b="1">
                          <a:solidFill>
                            <a:srgbClr val="FFFFFF"/>
                          </a:solidFill>
                          <a:latin typeface="Arial"/>
                        </a:rPr>
                        <a:t>Must do</a:t>
                      </a:r>
                    </a:p>
                  </a:txBody>
                  <a:tcPr marL="64008" marR="54864" marT="27432" marB="27432" anchor="ctr">
                    <a:solidFill>
                      <a:srgbClr val="1D4E89"/>
                    </a:solidFill>
                  </a:tcPr>
                </a:tc>
                <a:tc>
                  <a:txBody>
                    <a:bodyPr wrap="square"/>
                    <a:lstStyle/>
                    <a:p>
                      <a:pPr algn="l"/>
                      <a:r>
                        <a:rPr sz="930" b="1">
                          <a:solidFill>
                            <a:srgbClr val="FFFFFF"/>
                          </a:solidFill>
                          <a:latin typeface="Arial"/>
                        </a:rPr>
                        <a:t>Must not do</a:t>
                      </a:r>
                    </a:p>
                  </a:txBody>
                  <a:tcPr marL="64008" marR="54864" marT="27432" marB="27432" anchor="ctr">
                    <a:solidFill>
                      <a:srgbClr val="1D4E89"/>
                    </a:solidFill>
                  </a:tcPr>
                </a:tc>
              </a:tr>
              <a:tr h="481353">
                <a:tc>
                  <a:txBody>
                    <a:bodyPr wrap="square"/>
                    <a:lstStyle/>
                    <a:p>
                      <a:pPr algn="l">
                        <a:lnSpc>
                          <a:spcPct val="105000"/>
                        </a:lnSpc>
                      </a:pPr>
                      <a:r>
                        <a:rPr sz="930" b="1">
                          <a:solidFill>
                            <a:srgbClr val="0F172A"/>
                          </a:solidFill>
                          <a:latin typeface="Arial"/>
                        </a:rPr>
                        <a:t>Issuer</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Authenticates the person, decides eligibility, signs the credential, publishes its metadata and public keys.</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Decide who the holder may show it to. Track where it is used.</a:t>
                      </a:r>
                    </a:p>
                  </a:txBody>
                  <a:tcPr marL="64008" marR="54864" marT="18288" marB="18288" anchor="ctr">
                    <a:solidFill>
                      <a:srgbClr val="FFFFFF"/>
                    </a:solidFill>
                  </a:tcPr>
                </a:tc>
              </a:tr>
              <a:tr h="481353">
                <a:tc>
                  <a:txBody>
                    <a:bodyPr wrap="square"/>
                    <a:lstStyle/>
                    <a:p>
                      <a:pPr algn="l">
                        <a:lnSpc>
                          <a:spcPct val="105000"/>
                        </a:lnSpc>
                      </a:pPr>
                      <a:r>
                        <a:rPr sz="930" b="1">
                          <a:solidFill>
                            <a:srgbClr val="0F172A"/>
                          </a:solidFill>
                          <a:latin typeface="Arial"/>
                        </a:rPr>
                        <a:t>Holder</a:t>
                      </a:r>
                      <a:r>
                        <a:rPr sz="930" b="0">
                          <a:solidFill>
                            <a:srgbClr val="1E293B"/>
                          </a:solidFill>
                          <a:latin typeface="Arial"/>
                        </a:rPr>
                        <a:t> (Wallet / Web)</a:t>
                      </a:r>
                    </a:p>
                  </a:txBody>
                  <a:tcPr marL="64008" marR="54864" marT="18288" marB="18288" anchor="ctr">
                    <a:solidFill>
                      <a:srgbClr val="F3F6F9"/>
                    </a:solidFill>
                  </a:tcPr>
                </a:tc>
                <a:tc>
                  <a:txBody>
                    <a:bodyPr wrap="square"/>
                    <a:lstStyle/>
                    <a:p>
                      <a:pPr algn="l">
                        <a:lnSpc>
                          <a:spcPct val="105000"/>
                        </a:lnSpc>
                      </a:pPr>
                      <a:r>
                        <a:rPr sz="930" b="0">
                          <a:solidFill>
                            <a:srgbClr val="1E293B"/>
                          </a:solidFill>
                          <a:latin typeface="Arial"/>
                        </a:rPr>
                        <a:t>Requests, stores, protects the private key, shows the user what is being asked, gets consent, builds the presentation.</a:t>
                      </a:r>
                    </a:p>
                  </a:txBody>
                  <a:tcPr marL="64008" marR="54864" marT="18288" marB="18288" anchor="ctr">
                    <a:solidFill>
                      <a:srgbClr val="F3F6F9"/>
                    </a:solidFill>
                  </a:tcPr>
                </a:tc>
                <a:tc>
                  <a:txBody>
                    <a:bodyPr wrap="square"/>
                    <a:lstStyle/>
                    <a:p>
                      <a:pPr algn="l">
                        <a:lnSpc>
                          <a:spcPct val="105000"/>
                        </a:lnSpc>
                      </a:pPr>
                      <a:r>
                        <a:rPr sz="930" b="0">
                          <a:solidFill>
                            <a:srgbClr val="1E293B"/>
                          </a:solidFill>
                          <a:latin typeface="Arial"/>
                        </a:rPr>
                        <a:t>Alter claims. Vouch for the issuer's decision. Verify on the verifier's behalf.</a:t>
                      </a:r>
                    </a:p>
                  </a:txBody>
                  <a:tcPr marL="64008" marR="54864" marT="18288" marB="18288" anchor="ctr">
                    <a:solidFill>
                      <a:srgbClr val="F3F6F9"/>
                    </a:solidFill>
                  </a:tcPr>
                </a:tc>
              </a:tr>
              <a:tr h="481353">
                <a:tc>
                  <a:txBody>
                    <a:bodyPr wrap="square"/>
                    <a:lstStyle/>
                    <a:p>
                      <a:pPr algn="l">
                        <a:lnSpc>
                          <a:spcPct val="105000"/>
                        </a:lnSpc>
                      </a:pPr>
                      <a:r>
                        <a:rPr sz="930" b="1">
                          <a:solidFill>
                            <a:srgbClr val="0F172A"/>
                          </a:solidFill>
                          <a:latin typeface="Arial"/>
                        </a:rPr>
                        <a:t>Verifier</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Builds the request, checks the issuer signature, checks holder binding, checks freshness, applies its own policy.</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See claims it did not ask for. Assume the wallet is honest.</a:t>
                      </a:r>
                    </a:p>
                  </a:txBody>
                  <a:tcPr marL="64008" marR="54864" marT="18288" marB="18288" anchor="ctr">
                    <a:solidFill>
                      <a:srgbClr val="FFFFFF"/>
                    </a:solidFill>
                  </a:tcPr>
                </a:tc>
              </a:tr>
            </a:tbl>
          </a:graphicData>
        </a:graphic>
      </p:graphicFrame>
      <p:sp>
        <p:nvSpPr>
          <p:cNvPr id="19" name="TextBox 1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ecosystem overview</a:t>
            </a:r>
          </a:p>
        </p:txBody>
      </p:sp>
      <p:sp>
        <p:nvSpPr>
          <p:cNvPr id="20" name="TextBox 1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WHAT ACTUALLY RUNS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component inventory</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Repository, language, where it runs, and who owns it operationally. Memorise the middle column.</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82496"/>
          <a:ext cx="11185853" cy="3877056"/>
        </p:xfrm>
        <a:graphic>
          <a:graphicData uri="http://schemas.openxmlformats.org/drawingml/2006/table">
            <a:tbl>
              <a:tblPr firstRow="1">
                <a:tableStyleId>{2D5ABB26-0587-4C30-8999-92F81FD0307C}</a:tableStyleId>
              </a:tblPr>
              <a:tblGrid>
                <a:gridCol w="2091663"/>
                <a:gridCol w="2728257"/>
                <a:gridCol w="3546734"/>
                <a:gridCol w="1818838"/>
                <a:gridCol w="1000361"/>
              </a:tblGrid>
              <a:tr h="310896">
                <a:tc>
                  <a:txBody>
                    <a:bodyPr wrap="square"/>
                    <a:lstStyle/>
                    <a:p>
                      <a:pPr algn="l"/>
                      <a:r>
                        <a:rPr sz="950" b="1">
                          <a:solidFill>
                            <a:srgbClr val="FFFFFF"/>
                          </a:solidFill>
                          <a:latin typeface="Arial"/>
                        </a:rPr>
                        <a:t>Repository</a:t>
                      </a:r>
                    </a:p>
                  </a:txBody>
                  <a:tcPr marL="64008" marR="54864" marT="27432" marB="27432" anchor="ctr">
                    <a:solidFill>
                      <a:srgbClr val="1D4E89"/>
                    </a:solidFill>
                  </a:tcPr>
                </a:tc>
                <a:tc>
                  <a:txBody>
                    <a:bodyPr wrap="square"/>
                    <a:lstStyle/>
                    <a:p>
                      <a:pPr algn="l"/>
                      <a:r>
                        <a:rPr sz="950" b="1">
                          <a:solidFill>
                            <a:srgbClr val="FFFFFF"/>
                          </a:solidFill>
                          <a:latin typeface="Arial"/>
                        </a:rPr>
                        <a:t>What it is</a:t>
                      </a:r>
                    </a:p>
                  </a:txBody>
                  <a:tcPr marL="64008" marR="54864" marT="27432" marB="27432" anchor="ctr">
                    <a:solidFill>
                      <a:srgbClr val="1D4E89"/>
                    </a:solidFill>
                  </a:tcPr>
                </a:tc>
                <a:tc>
                  <a:txBody>
                    <a:bodyPr wrap="square"/>
                    <a:lstStyle/>
                    <a:p>
                      <a:pPr algn="l"/>
                      <a:r>
                        <a:rPr sz="950" b="1">
                          <a:solidFill>
                            <a:srgbClr val="FFFFFF"/>
                          </a:solidFill>
                          <a:latin typeface="Arial"/>
                        </a:rPr>
                        <a:t>Built with</a:t>
                      </a:r>
                    </a:p>
                  </a:txBody>
                  <a:tcPr marL="64008" marR="54864" marT="27432" marB="27432" anchor="ctr">
                    <a:solidFill>
                      <a:srgbClr val="1D4E89"/>
                    </a:solidFill>
                  </a:tcPr>
                </a:tc>
                <a:tc>
                  <a:txBody>
                    <a:bodyPr wrap="square"/>
                    <a:lstStyle/>
                    <a:p>
                      <a:pPr algn="l"/>
                      <a:r>
                        <a:rPr sz="950" b="1">
                          <a:solidFill>
                            <a:srgbClr val="FFFFFF"/>
                          </a:solidFill>
                          <a:latin typeface="Arial"/>
                        </a:rPr>
                        <a:t>Runs on</a:t>
                      </a:r>
                    </a:p>
                  </a:txBody>
                  <a:tcPr marL="64008" marR="54864" marT="27432" marB="27432" anchor="ctr">
                    <a:solidFill>
                      <a:srgbClr val="1D4E89"/>
                    </a:solidFill>
                  </a:tcPr>
                </a:tc>
                <a:tc>
                  <a:txBody>
                    <a:bodyPr wrap="square"/>
                    <a:lstStyle/>
                    <a:p>
                      <a:pPr algn="l"/>
                      <a:r>
                        <a:rPr sz="950" b="1">
                          <a:solidFill>
                            <a:srgbClr val="FFFFFF"/>
                          </a:solidFill>
                          <a:latin typeface="Arial"/>
                        </a:rPr>
                        <a:t>Class</a:t>
                      </a:r>
                    </a:p>
                  </a:txBody>
                  <a:tcPr marL="64008" marR="54864" marT="27432" marB="27432" anchor="ctr">
                    <a:solidFill>
                      <a:srgbClr val="1D4E89"/>
                    </a:solidFill>
                  </a:tcPr>
                </a:tc>
              </a:tr>
              <a:tr h="297180">
                <a:tc>
                  <a:txBody>
                    <a:bodyPr wrap="square"/>
                    <a:lstStyle/>
                    <a:p>
                      <a:pPr algn="l">
                        <a:lnSpc>
                          <a:spcPct val="105000"/>
                        </a:lnSpc>
                      </a:pPr>
                      <a:r>
                        <a:rPr sz="919" b="0">
                          <a:solidFill>
                            <a:srgbClr val="1D4E89"/>
                          </a:solidFill>
                          <a:latin typeface="Consolas"/>
                        </a:rPr>
                        <a:t>inji-wallet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Inji Wallet (mobile)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React Native 0.74 / Expo 51, Kotlin, Swift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User's phone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Holder app</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inji-web</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Inji Web (browser)</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React + TypeScript, Tailwind</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Your cluster / CDN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Holder app</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mimoto</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Wallet backend (BFF)</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Java 21, Spring Boot, Postgres, Redis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Your cluster</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Backend</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inji-certify</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Issuer (reference)</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Java, Spring Boot, plugin-based</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Issuer's cluster</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Issuer</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inji-verify</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Verifier (reference)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React + Java</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Verifier's cluster</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Verifier</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inji-vci-client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OpenID4VCI client library</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Kotlin (AAR) + Swift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Inside Wallet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Library</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inji-openid4vp</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OpenID4VP library</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Kotlin Multiplatform (AAR/JAR) + Swift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Inside Wallet, Mimoto</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Library</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vc-verifier</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Credential verification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Kotlin/Java (AAR/JAR)</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Inside Wallet, Mimoto</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Library</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pixelpass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QR encode/decode, CBOR→JSON</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Kotlin/JS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Inside Wallet, Web</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Library</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secure-keystore</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Android/iOS key storage</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Kotlin / Swift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Inside Wallet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Library</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inji-vc-renderer</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SVG / display rendering</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Kotlin/JS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Inside Wallet, Web</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Library</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tuvali</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BLE offline sharing transport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Kotlin / Swift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Inside Wallet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Library</a:t>
                      </a:r>
                    </a:p>
                  </a:txBody>
                  <a:tcPr marL="64008" marR="54864" marT="18288" marB="18288" anchor="ctr">
                    <a:solidFill>
                      <a:srgbClr val="F3F6F9"/>
                    </a:solidFill>
                  </a:tcPr>
                </a:tc>
              </a:tr>
            </a:tbl>
          </a:graphicData>
        </a:graphic>
      </p:graphicFrame>
      <p:sp>
        <p:nvSpPr>
          <p:cNvPr id="7" name="Rounded Rectangle 6"/>
          <p:cNvSpPr/>
          <p:nvPr/>
        </p:nvSpPr>
        <p:spPr>
          <a:xfrm>
            <a:off x="502920" y="5687568"/>
            <a:ext cx="11185855" cy="522986"/>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687568"/>
            <a:ext cx="45720" cy="522986"/>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779008"/>
            <a:ext cx="10820095" cy="376682"/>
          </a:xfrm>
          <a:prstGeom prst="rect">
            <a:avLst/>
          </a:prstGeom>
          <a:noFill/>
        </p:spPr>
        <p:txBody>
          <a:bodyPr wrap="square" lIns="0" rIns="0" tIns="0" bIns="0" anchor="t">
            <a:spAutoFit/>
          </a:bodyPr>
          <a:lstStyle/>
          <a:p>
            <a:pPr algn="l">
              <a:lnSpc>
                <a:spcPct val="122000"/>
              </a:lnSpc>
              <a:spcBef>
                <a:spcPts val="0"/>
              </a:spcBef>
              <a:spcAft>
                <a:spcPts val="0"/>
              </a:spcAft>
            </a:pPr>
            <a:r>
              <a:rPr sz="1030" b="0" i="0">
                <a:solidFill>
                  <a:srgbClr val="1E293B"/>
                </a:solidFill>
                <a:latin typeface="Arial"/>
              </a:rPr>
              <a:t>The Wallet is a </a:t>
            </a:r>
            <a:r>
              <a:rPr sz="1030" b="1" i="0">
                <a:solidFill>
                  <a:srgbClr val="0E9488"/>
                </a:solidFill>
                <a:latin typeface="Arial"/>
              </a:rPr>
              <a:t>thin React Native shell over native libraries</a:t>
            </a:r>
            <a:r>
              <a:rPr sz="1030" b="0" i="0">
                <a:solidFill>
                  <a:srgbClr val="1E293B"/>
                </a:solidFill>
                <a:latin typeface="Arial"/>
              </a:rPr>
              <a:t>. The protocol logic is not in JavaScript — it is in Kotlin and Swift, shipped as versioned artefacts. That is why a wallet bug is often a library bug, and why you must track library versions, not just the app version.</a:t>
            </a:r>
          </a:p>
        </p:txBody>
      </p:sp>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ecosystem overview</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SECURITY FRAMING</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Trust boundaries — who can hurt you, and how</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Draw the boxes you control. Everything crossing a boundary line is attacker-reachable input.</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2645587" cy="2331720"/>
          </a:xfrm>
          <a:prstGeom prst="roundRect">
            <a:avLst>
              <a:gd name="adj" fmla="val 5000"/>
            </a:avLst>
          </a:prstGeom>
          <a:solidFill>
            <a:srgbClr val="DCE7F4"/>
          </a:solidFill>
          <a:ln w="17780">
            <a:solidFill>
              <a:srgbClr val="1D4E89"/>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847088"/>
            <a:ext cx="2316403" cy="274320"/>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1D4E89"/>
                </a:solidFill>
              </a:rPr>
              <a:t>ISSUER DOMAIN</a:t>
            </a:r>
          </a:p>
        </p:txBody>
      </p:sp>
      <p:sp>
        <p:nvSpPr>
          <p:cNvPr id="8" name="TextBox 7"/>
          <p:cNvSpPr txBox="1"/>
          <p:nvPr/>
        </p:nvSpPr>
        <p:spPr>
          <a:xfrm>
            <a:off x="667512" y="2194560"/>
            <a:ext cx="2316403" cy="1005840"/>
          </a:xfrm>
          <a:prstGeom prst="rect">
            <a:avLst/>
          </a:prstGeom>
          <a:noFill/>
        </p:spPr>
        <p:txBody>
          <a:bodyPr wrap="square" lIns="0" rIns="0" tIns="0" bIns="0" anchor="t">
            <a:spAutoFit/>
          </a:bodyPr>
          <a:lstStyle/>
          <a:p>
            <a:pPr algn="l">
              <a:lnSpc>
                <a:spcPct val="128000"/>
              </a:lnSpc>
              <a:spcBef>
                <a:spcPts val="0"/>
              </a:spcBef>
              <a:spcAft>
                <a:spcPts val="0"/>
              </a:spcAft>
            </a:pPr>
            <a:r>
              <a:rPr sz="960" b="0" i="0">
                <a:solidFill>
                  <a:srgbClr val="1E293B"/>
                </a:solidFill>
              </a:rPr>
              <a:t>Issuer service, signing keys, JWKS or DID document, issuer metadata endpoint.</a:t>
            </a:r>
          </a:p>
        </p:txBody>
      </p:sp>
      <p:cxnSp>
        <p:nvCxnSpPr>
          <p:cNvPr id="9" name="Connector 8"/>
          <p:cNvCxnSpPr/>
          <p:nvPr/>
        </p:nvCxnSpPr>
        <p:spPr>
          <a:xfrm>
            <a:off x="667512" y="3291840"/>
            <a:ext cx="2316403" cy="0"/>
          </a:xfrm>
          <a:prstGeom prst="line">
            <a:avLst/>
          </a:prstGeom>
          <a:ln w="12700">
            <a:solidFill>
              <a:srgbClr val="1D4E89"/>
            </a:solidFill>
            <a:prstDash val="sysDash"/>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7512" y="3401568"/>
            <a:ext cx="2316403" cy="548640"/>
          </a:xfrm>
          <a:prstGeom prst="rect">
            <a:avLst/>
          </a:prstGeom>
          <a:noFill/>
        </p:spPr>
        <p:txBody>
          <a:bodyPr wrap="square" lIns="0" rIns="0" tIns="0" bIns="0" anchor="t">
            <a:spAutoFit/>
          </a:bodyPr>
          <a:lstStyle/>
          <a:p>
            <a:pPr algn="l">
              <a:lnSpc>
                <a:spcPct val="125000"/>
              </a:lnSpc>
              <a:spcBef>
                <a:spcPts val="0"/>
              </a:spcBef>
              <a:spcAft>
                <a:spcPts val="0"/>
              </a:spcAft>
            </a:pPr>
            <a:r>
              <a:rPr sz="919" b="1" i="0">
                <a:solidFill>
                  <a:srgbClr val="1D4E89"/>
                </a:solidFill>
              </a:rPr>
              <a:t>You trust the signature, not the connection.</a:t>
            </a:r>
          </a:p>
        </p:txBody>
      </p:sp>
      <p:sp>
        <p:nvSpPr>
          <p:cNvPr id="11" name="Rounded Rectangle 10"/>
          <p:cNvSpPr/>
          <p:nvPr/>
        </p:nvSpPr>
        <p:spPr>
          <a:xfrm>
            <a:off x="3349675" y="1682496"/>
            <a:ext cx="2645587" cy="2331720"/>
          </a:xfrm>
          <a:prstGeom prst="roundRect">
            <a:avLst>
              <a:gd name="adj" fmla="val 5000"/>
            </a:avLst>
          </a:prstGeom>
          <a:solidFill>
            <a:srgbClr val="EEE8FD"/>
          </a:solidFill>
          <a:ln w="17780">
            <a:solidFill>
              <a:srgbClr val="6D28D9"/>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14267" y="1847088"/>
            <a:ext cx="2316403" cy="274320"/>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6D28D9"/>
                </a:solidFill>
              </a:rPr>
              <a:t>YOUR DOMAIN</a:t>
            </a:r>
          </a:p>
        </p:txBody>
      </p:sp>
      <p:sp>
        <p:nvSpPr>
          <p:cNvPr id="13" name="TextBox 12"/>
          <p:cNvSpPr txBox="1"/>
          <p:nvPr/>
        </p:nvSpPr>
        <p:spPr>
          <a:xfrm>
            <a:off x="3514267" y="2194560"/>
            <a:ext cx="2316403" cy="1005840"/>
          </a:xfrm>
          <a:prstGeom prst="rect">
            <a:avLst/>
          </a:prstGeom>
          <a:noFill/>
        </p:spPr>
        <p:txBody>
          <a:bodyPr wrap="square" lIns="0" rIns="0" tIns="0" bIns="0" anchor="t">
            <a:spAutoFit/>
          </a:bodyPr>
          <a:lstStyle/>
          <a:p>
            <a:pPr algn="l">
              <a:lnSpc>
                <a:spcPct val="128000"/>
              </a:lnSpc>
              <a:spcBef>
                <a:spcPts val="0"/>
              </a:spcBef>
              <a:spcAft>
                <a:spcPts val="0"/>
              </a:spcAft>
            </a:pPr>
            <a:r>
              <a:rPr sz="960" b="0" i="0">
                <a:solidFill>
                  <a:srgbClr val="1E293B"/>
                </a:solidFill>
              </a:rPr>
              <a:t>Mimoto, Inji Web, issuer catalogue, trusted-verifier list, Postgres, Redis.</a:t>
            </a:r>
          </a:p>
        </p:txBody>
      </p:sp>
      <p:cxnSp>
        <p:nvCxnSpPr>
          <p:cNvPr id="14" name="Connector 13"/>
          <p:cNvCxnSpPr/>
          <p:nvPr/>
        </p:nvCxnSpPr>
        <p:spPr>
          <a:xfrm>
            <a:off x="3514267" y="3291840"/>
            <a:ext cx="2316404" cy="0"/>
          </a:xfrm>
          <a:prstGeom prst="line">
            <a:avLst/>
          </a:prstGeom>
          <a:ln w="12700">
            <a:solidFill>
              <a:srgbClr val="6D28D9"/>
            </a:solidFill>
            <a:prstDash val="sysDash"/>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514267" y="3401568"/>
            <a:ext cx="2316403" cy="548640"/>
          </a:xfrm>
          <a:prstGeom prst="rect">
            <a:avLst/>
          </a:prstGeom>
          <a:noFill/>
        </p:spPr>
        <p:txBody>
          <a:bodyPr wrap="square" lIns="0" rIns="0" tIns="0" bIns="0" anchor="t">
            <a:spAutoFit/>
          </a:bodyPr>
          <a:lstStyle/>
          <a:p>
            <a:pPr algn="l">
              <a:lnSpc>
                <a:spcPct val="125000"/>
              </a:lnSpc>
              <a:spcBef>
                <a:spcPts val="0"/>
              </a:spcBef>
              <a:spcAft>
                <a:spcPts val="0"/>
              </a:spcAft>
            </a:pPr>
            <a:r>
              <a:rPr sz="919" b="1" i="0">
                <a:solidFill>
                  <a:srgbClr val="6D28D9"/>
                </a:solidFill>
              </a:rPr>
              <a:t>You own patching, TLS, data residency, logs.</a:t>
            </a:r>
          </a:p>
        </p:txBody>
      </p:sp>
      <p:sp>
        <p:nvSpPr>
          <p:cNvPr id="16" name="Rounded Rectangle 15"/>
          <p:cNvSpPr/>
          <p:nvPr/>
        </p:nvSpPr>
        <p:spPr>
          <a:xfrm>
            <a:off x="6196431" y="1682496"/>
            <a:ext cx="2645587" cy="2331720"/>
          </a:xfrm>
          <a:prstGeom prst="roundRect">
            <a:avLst>
              <a:gd name="adj" fmla="val 5000"/>
            </a:avLst>
          </a:prstGeom>
          <a:solidFill>
            <a:srgbClr val="D6F0ED"/>
          </a:solidFill>
          <a:ln w="17780">
            <a:solidFill>
              <a:srgbClr val="0E948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1847088"/>
            <a:ext cx="2316403" cy="274320"/>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0E9488"/>
                </a:solidFill>
              </a:rPr>
              <a:t>USER'S DEVICE</a:t>
            </a:r>
          </a:p>
        </p:txBody>
      </p:sp>
      <p:sp>
        <p:nvSpPr>
          <p:cNvPr id="18" name="TextBox 17"/>
          <p:cNvSpPr txBox="1"/>
          <p:nvPr/>
        </p:nvSpPr>
        <p:spPr>
          <a:xfrm>
            <a:off x="6361023" y="2194560"/>
            <a:ext cx="2316403" cy="1005840"/>
          </a:xfrm>
          <a:prstGeom prst="rect">
            <a:avLst/>
          </a:prstGeom>
          <a:noFill/>
        </p:spPr>
        <p:txBody>
          <a:bodyPr wrap="square" lIns="0" rIns="0" tIns="0" bIns="0" anchor="t">
            <a:spAutoFit/>
          </a:bodyPr>
          <a:lstStyle/>
          <a:p>
            <a:pPr algn="l">
              <a:lnSpc>
                <a:spcPct val="128000"/>
              </a:lnSpc>
              <a:spcBef>
                <a:spcPts val="0"/>
              </a:spcBef>
              <a:spcAft>
                <a:spcPts val="0"/>
              </a:spcAft>
            </a:pPr>
            <a:r>
              <a:rPr sz="960" b="0" i="0">
                <a:solidFill>
                  <a:srgbClr val="1E293B"/>
                </a:solidFill>
              </a:rPr>
              <a:t>Inji Wallet, OS keystore, encrypted credential store, camera, browser.</a:t>
            </a:r>
          </a:p>
        </p:txBody>
      </p:sp>
      <p:cxnSp>
        <p:nvCxnSpPr>
          <p:cNvPr id="19" name="Connector 18"/>
          <p:cNvCxnSpPr/>
          <p:nvPr/>
        </p:nvCxnSpPr>
        <p:spPr>
          <a:xfrm>
            <a:off x="6361023" y="3291840"/>
            <a:ext cx="2316404" cy="0"/>
          </a:xfrm>
          <a:prstGeom prst="line">
            <a:avLst/>
          </a:prstGeom>
          <a:ln w="12700">
            <a:solidFill>
              <a:srgbClr val="0E9488"/>
            </a:solidFill>
            <a:prstDash val="sysDash"/>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61023" y="3401568"/>
            <a:ext cx="2316403" cy="548640"/>
          </a:xfrm>
          <a:prstGeom prst="rect">
            <a:avLst/>
          </a:prstGeom>
          <a:noFill/>
        </p:spPr>
        <p:txBody>
          <a:bodyPr wrap="square" lIns="0" rIns="0" tIns="0" bIns="0" anchor="t">
            <a:spAutoFit/>
          </a:bodyPr>
          <a:lstStyle/>
          <a:p>
            <a:pPr algn="l">
              <a:lnSpc>
                <a:spcPct val="125000"/>
              </a:lnSpc>
              <a:spcBef>
                <a:spcPts val="0"/>
              </a:spcBef>
              <a:spcAft>
                <a:spcPts val="0"/>
              </a:spcAft>
            </a:pPr>
            <a:r>
              <a:rPr sz="919" b="1" i="0">
                <a:solidFill>
                  <a:srgbClr val="0E9488"/>
                </a:solidFill>
              </a:rPr>
              <a:t>Assume it can be rooted. Keys in hardware where possible.</a:t>
            </a:r>
          </a:p>
        </p:txBody>
      </p:sp>
      <p:sp>
        <p:nvSpPr>
          <p:cNvPr id="21" name="Rounded Rectangle 20"/>
          <p:cNvSpPr/>
          <p:nvPr/>
        </p:nvSpPr>
        <p:spPr>
          <a:xfrm>
            <a:off x="9043187" y="1682496"/>
            <a:ext cx="2645587" cy="2331720"/>
          </a:xfrm>
          <a:prstGeom prst="roundRect">
            <a:avLst>
              <a:gd name="adj" fmla="val 5000"/>
            </a:avLst>
          </a:prstGeom>
          <a:solidFill>
            <a:srgbClr val="DFF1E5"/>
          </a:solidFill>
          <a:ln w="17780">
            <a:solidFill>
              <a:srgbClr val="15703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07779" y="1847088"/>
            <a:ext cx="2316403" cy="274320"/>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15703D"/>
                </a:solidFill>
              </a:rPr>
              <a:t>VERIFIER DOMAIN</a:t>
            </a:r>
          </a:p>
        </p:txBody>
      </p:sp>
      <p:sp>
        <p:nvSpPr>
          <p:cNvPr id="23" name="TextBox 22"/>
          <p:cNvSpPr txBox="1"/>
          <p:nvPr/>
        </p:nvSpPr>
        <p:spPr>
          <a:xfrm>
            <a:off x="9207779" y="2194560"/>
            <a:ext cx="2316403" cy="1005840"/>
          </a:xfrm>
          <a:prstGeom prst="rect">
            <a:avLst/>
          </a:prstGeom>
          <a:noFill/>
        </p:spPr>
        <p:txBody>
          <a:bodyPr wrap="square" lIns="0" rIns="0" tIns="0" bIns="0" anchor="t">
            <a:spAutoFit/>
          </a:bodyPr>
          <a:lstStyle/>
          <a:p>
            <a:pPr algn="l">
              <a:lnSpc>
                <a:spcPct val="128000"/>
              </a:lnSpc>
              <a:spcBef>
                <a:spcPts val="0"/>
              </a:spcBef>
              <a:spcAft>
                <a:spcPts val="0"/>
              </a:spcAft>
            </a:pPr>
            <a:r>
              <a:rPr sz="960" b="0" i="0">
                <a:solidFill>
                  <a:srgbClr val="1E293B"/>
                </a:solidFill>
              </a:rPr>
              <a:t>Verifier app, its response_uri, its client metadata and keys.</a:t>
            </a:r>
          </a:p>
        </p:txBody>
      </p:sp>
      <p:cxnSp>
        <p:nvCxnSpPr>
          <p:cNvPr id="24" name="Connector 23"/>
          <p:cNvCxnSpPr/>
          <p:nvPr/>
        </p:nvCxnSpPr>
        <p:spPr>
          <a:xfrm>
            <a:off x="9207779" y="3291840"/>
            <a:ext cx="2316404" cy="0"/>
          </a:xfrm>
          <a:prstGeom prst="line">
            <a:avLst/>
          </a:prstGeom>
          <a:ln w="12700">
            <a:solidFill>
              <a:srgbClr val="15703D"/>
            </a:solidFill>
            <a:prstDash val="sys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207779" y="3401568"/>
            <a:ext cx="2316403" cy="548640"/>
          </a:xfrm>
          <a:prstGeom prst="rect">
            <a:avLst/>
          </a:prstGeom>
          <a:noFill/>
        </p:spPr>
        <p:txBody>
          <a:bodyPr wrap="square" lIns="0" rIns="0" tIns="0" bIns="0" anchor="t">
            <a:spAutoFit/>
          </a:bodyPr>
          <a:lstStyle/>
          <a:p>
            <a:pPr algn="l">
              <a:lnSpc>
                <a:spcPct val="125000"/>
              </a:lnSpc>
              <a:spcBef>
                <a:spcPts val="0"/>
              </a:spcBef>
              <a:spcAft>
                <a:spcPts val="0"/>
              </a:spcAft>
            </a:pPr>
            <a:r>
              <a:rPr sz="919" b="1" i="0">
                <a:solidFill>
                  <a:srgbClr val="15703D"/>
                </a:solidFill>
              </a:rPr>
              <a:t>Any QR can claim to be a verifier. Validate before you send.</a:t>
            </a:r>
          </a:p>
        </p:txBody>
      </p:sp>
      <p:sp>
        <p:nvSpPr>
          <p:cNvPr id="26" name="TextBox 25"/>
          <p:cNvSpPr txBox="1"/>
          <p:nvPr/>
        </p:nvSpPr>
        <p:spPr>
          <a:xfrm>
            <a:off x="502920" y="4242816"/>
            <a:ext cx="11185855" cy="274320"/>
          </a:xfrm>
          <a:prstGeom prst="rect">
            <a:avLst/>
          </a:prstGeom>
          <a:noFill/>
        </p:spPr>
        <p:txBody>
          <a:bodyPr wrap="square" lIns="0" rIns="0" tIns="0" bIns="0" anchor="t">
            <a:spAutoFit/>
          </a:bodyPr>
          <a:lstStyle/>
          <a:p>
            <a:pPr algn="l">
              <a:lnSpc>
                <a:spcPct val="114000"/>
              </a:lnSpc>
              <a:spcBef>
                <a:spcPts val="0"/>
              </a:spcBef>
              <a:spcAft>
                <a:spcPts val="0"/>
              </a:spcAft>
            </a:pPr>
            <a:r>
              <a:rPr sz="950" b="1" i="0">
                <a:solidFill>
                  <a:srgbClr val="B31B1B"/>
                </a:solidFill>
              </a:rPr>
              <a:t>FOUR THINGS THAT CROSS A BOUNDARY — AND THEREFORE NEED VALIDATION</a:t>
            </a:r>
          </a:p>
        </p:txBody>
      </p:sp>
      <p:sp>
        <p:nvSpPr>
          <p:cNvPr id="27" name="Rectangle 26"/>
          <p:cNvSpPr/>
          <p:nvPr/>
        </p:nvSpPr>
        <p:spPr>
          <a:xfrm>
            <a:off x="502920" y="4553712"/>
            <a:ext cx="45720" cy="65836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4553712"/>
            <a:ext cx="2485567" cy="256032"/>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0F172A"/>
                </a:solidFill>
              </a:rPr>
              <a:t>A scanned QR code</a:t>
            </a:r>
          </a:p>
        </p:txBody>
      </p:sp>
      <p:sp>
        <p:nvSpPr>
          <p:cNvPr id="29" name="TextBox 28"/>
          <p:cNvSpPr txBox="1"/>
          <p:nvPr/>
        </p:nvSpPr>
        <p:spPr>
          <a:xfrm>
            <a:off x="649224" y="4809744"/>
            <a:ext cx="2485567" cy="640080"/>
          </a:xfrm>
          <a:prstGeom prst="rect">
            <a:avLst/>
          </a:prstGeom>
          <a:noFill/>
        </p:spPr>
        <p:txBody>
          <a:bodyPr wrap="square" lIns="0" rIns="0" tIns="0" bIns="0" anchor="t">
            <a:spAutoFit/>
          </a:bodyPr>
          <a:lstStyle/>
          <a:p>
            <a:pPr algn="l">
              <a:lnSpc>
                <a:spcPct val="122000"/>
              </a:lnSpc>
              <a:spcBef>
                <a:spcPts val="0"/>
              </a:spcBef>
              <a:spcAft>
                <a:spcPts val="0"/>
              </a:spcAft>
            </a:pPr>
            <a:r>
              <a:rPr sz="919" b="0" i="0">
                <a:solidFill>
                  <a:srgbClr val="5B6B7F"/>
                </a:solidFill>
              </a:rPr>
              <a:t>Could encode any URL. Never auto-open, never auto-submit.</a:t>
            </a:r>
          </a:p>
        </p:txBody>
      </p:sp>
      <p:sp>
        <p:nvSpPr>
          <p:cNvPr id="30" name="Rectangle 29"/>
          <p:cNvSpPr/>
          <p:nvPr/>
        </p:nvSpPr>
        <p:spPr>
          <a:xfrm>
            <a:off x="3299383" y="4553712"/>
            <a:ext cx="45720" cy="65836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45687" y="4553712"/>
            <a:ext cx="2485567" cy="256032"/>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0F172A"/>
                </a:solidFill>
              </a:rPr>
              <a:t>Issuer metadata + keys</a:t>
            </a:r>
          </a:p>
        </p:txBody>
      </p:sp>
      <p:sp>
        <p:nvSpPr>
          <p:cNvPr id="32" name="TextBox 31"/>
          <p:cNvSpPr txBox="1"/>
          <p:nvPr/>
        </p:nvSpPr>
        <p:spPr>
          <a:xfrm>
            <a:off x="3445687" y="4809744"/>
            <a:ext cx="2485567" cy="640080"/>
          </a:xfrm>
          <a:prstGeom prst="rect">
            <a:avLst/>
          </a:prstGeom>
          <a:noFill/>
        </p:spPr>
        <p:txBody>
          <a:bodyPr wrap="square" lIns="0" rIns="0" tIns="0" bIns="0" anchor="t">
            <a:spAutoFit/>
          </a:bodyPr>
          <a:lstStyle/>
          <a:p>
            <a:pPr algn="l">
              <a:lnSpc>
                <a:spcPct val="122000"/>
              </a:lnSpc>
              <a:spcBef>
                <a:spcPts val="0"/>
              </a:spcBef>
              <a:spcAft>
                <a:spcPts val="0"/>
              </a:spcAft>
            </a:pPr>
            <a:r>
              <a:rPr sz="919" b="0" i="0">
                <a:solidFill>
                  <a:srgbClr val="5B6B7F"/>
                </a:solidFill>
              </a:rPr>
              <a:t>Fetched over the network. Pin the host; check the signature covers what you think it covers.</a:t>
            </a:r>
          </a:p>
        </p:txBody>
      </p:sp>
      <p:sp>
        <p:nvSpPr>
          <p:cNvPr id="33" name="Rectangle 32"/>
          <p:cNvSpPr/>
          <p:nvPr/>
        </p:nvSpPr>
        <p:spPr>
          <a:xfrm>
            <a:off x="6095847" y="4553712"/>
            <a:ext cx="45720" cy="65836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2151" y="4553712"/>
            <a:ext cx="2485567" cy="256032"/>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0F172A"/>
                </a:solidFill>
              </a:rPr>
              <a:t>An authorization request</a:t>
            </a:r>
          </a:p>
        </p:txBody>
      </p:sp>
      <p:sp>
        <p:nvSpPr>
          <p:cNvPr id="35" name="TextBox 34"/>
          <p:cNvSpPr txBox="1"/>
          <p:nvPr/>
        </p:nvSpPr>
        <p:spPr>
          <a:xfrm>
            <a:off x="6242151" y="4809744"/>
            <a:ext cx="2485567" cy="640080"/>
          </a:xfrm>
          <a:prstGeom prst="rect">
            <a:avLst/>
          </a:prstGeom>
          <a:noFill/>
        </p:spPr>
        <p:txBody>
          <a:bodyPr wrap="square" lIns="0" rIns="0" tIns="0" bIns="0" anchor="t">
            <a:spAutoFit/>
          </a:bodyPr>
          <a:lstStyle/>
          <a:p>
            <a:pPr algn="l">
              <a:lnSpc>
                <a:spcPct val="122000"/>
              </a:lnSpc>
              <a:spcBef>
                <a:spcPts val="0"/>
              </a:spcBef>
              <a:spcAft>
                <a:spcPts val="0"/>
              </a:spcAft>
            </a:pPr>
            <a:r>
              <a:rPr sz="919" b="0" i="0">
                <a:solidFill>
                  <a:srgbClr val="5B6B7F"/>
                </a:solidFill>
              </a:rPr>
              <a:t>A verifier you have never met. Check client_id scheme, signature and registered response_uri.</a:t>
            </a:r>
          </a:p>
        </p:txBody>
      </p:sp>
      <p:sp>
        <p:nvSpPr>
          <p:cNvPr id="36" name="Rectangle 35"/>
          <p:cNvSpPr/>
          <p:nvPr/>
        </p:nvSpPr>
        <p:spPr>
          <a:xfrm>
            <a:off x="8892311" y="4553712"/>
            <a:ext cx="45720" cy="65836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38615" y="4553712"/>
            <a:ext cx="2485567" cy="256032"/>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0F172A"/>
                </a:solidFill>
              </a:rPr>
              <a:t>A deep link into the app</a:t>
            </a:r>
          </a:p>
        </p:txBody>
      </p:sp>
      <p:sp>
        <p:nvSpPr>
          <p:cNvPr id="38" name="TextBox 37"/>
          <p:cNvSpPr txBox="1"/>
          <p:nvPr/>
        </p:nvSpPr>
        <p:spPr>
          <a:xfrm>
            <a:off x="9038615" y="4809744"/>
            <a:ext cx="2485567" cy="640080"/>
          </a:xfrm>
          <a:prstGeom prst="rect">
            <a:avLst/>
          </a:prstGeom>
          <a:noFill/>
        </p:spPr>
        <p:txBody>
          <a:bodyPr wrap="square" lIns="0" rIns="0" tIns="0" bIns="0" anchor="t">
            <a:spAutoFit/>
          </a:bodyPr>
          <a:lstStyle/>
          <a:p>
            <a:pPr algn="l">
              <a:lnSpc>
                <a:spcPct val="122000"/>
              </a:lnSpc>
              <a:spcBef>
                <a:spcPts val="0"/>
              </a:spcBef>
              <a:spcAft>
                <a:spcPts val="0"/>
              </a:spcAft>
            </a:pPr>
            <a:r>
              <a:rPr sz="919" b="0" i="0">
                <a:solidFill>
                  <a:srgbClr val="5B6B7F"/>
                </a:solidFill>
              </a:rPr>
              <a:t>Any installed app or web page can fire it. Treat parameters as hostile.</a:t>
            </a:r>
          </a:p>
        </p:txBody>
      </p:sp>
      <p:sp>
        <p:nvSpPr>
          <p:cNvPr id="39" name="TextBox 3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ecosystem overview</a:t>
            </a:r>
          </a:p>
        </p:txBody>
      </p:sp>
      <p:sp>
        <p:nvSpPr>
          <p:cNvPr id="40" name="TextBox 3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PROTOCOL MAP</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Where OpenID4VCI and OpenID4VP actually sit</a:t>
            </a:r>
          </a:p>
        </p:txBody>
      </p:sp>
      <p:sp>
        <p:nvSpPr>
          <p:cNvPr id="4" name="TextBox 3"/>
          <p:cNvSpPr txBox="1"/>
          <p:nvPr/>
        </p:nvSpPr>
        <p:spPr>
          <a:xfrm>
            <a:off x="502920" y="1078992"/>
            <a:ext cx="11185855" cy="279806"/>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B6B7F"/>
                </a:solidFill>
                <a:latin typeface="Arial"/>
              </a:rPr>
              <a:t>Two protocols, two directions, one holder in the middle. Learn which questions belong to which.</a:t>
            </a:r>
          </a:p>
        </p:txBody>
      </p:sp>
      <p:cxnSp>
        <p:nvCxnSpPr>
          <p:cNvPr id="5" name="Connector 4"/>
          <p:cNvCxnSpPr/>
          <p:nvPr/>
        </p:nvCxnSpPr>
        <p:spPr>
          <a:xfrm>
            <a:off x="502920" y="145023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31289"/>
            <a:ext cx="5440680" cy="2427732"/>
          </a:xfrm>
          <a:prstGeom prst="roundRect">
            <a:avLst>
              <a:gd name="adj" fmla="val 50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795881"/>
            <a:ext cx="4937760" cy="296265"/>
          </a:xfrm>
          <a:prstGeom prst="rect">
            <a:avLst/>
          </a:prstGeom>
          <a:noFill/>
        </p:spPr>
        <p:txBody>
          <a:bodyPr wrap="square" lIns="0" rIns="0" tIns="0" bIns="0" anchor="t">
            <a:spAutoFit/>
          </a:bodyPr>
          <a:lstStyle/>
          <a:p>
            <a:pPr algn="l">
              <a:lnSpc>
                <a:spcPct val="114000"/>
              </a:lnSpc>
              <a:spcBef>
                <a:spcPts val="0"/>
              </a:spcBef>
              <a:spcAft>
                <a:spcPts val="0"/>
              </a:spcAft>
            </a:pPr>
            <a:r>
              <a:rPr sz="1340" b="1" i="0">
                <a:solidFill>
                  <a:srgbClr val="1D4E89"/>
                </a:solidFill>
              </a:rPr>
              <a:t>OpenID4VCI — getting a credential</a:t>
            </a:r>
          </a:p>
        </p:txBody>
      </p:sp>
      <p:sp>
        <p:nvSpPr>
          <p:cNvPr id="8" name="TextBox 7"/>
          <p:cNvSpPr txBox="1"/>
          <p:nvPr/>
        </p:nvSpPr>
        <p:spPr>
          <a:xfrm>
            <a:off x="758952" y="2108606"/>
            <a:ext cx="4937760" cy="246888"/>
          </a:xfrm>
          <a:prstGeom prst="rect">
            <a:avLst/>
          </a:prstGeom>
          <a:noFill/>
        </p:spPr>
        <p:txBody>
          <a:bodyPr wrap="square" lIns="0" rIns="0" tIns="0" bIns="0" anchor="t">
            <a:spAutoFit/>
          </a:bodyPr>
          <a:lstStyle/>
          <a:p>
            <a:pPr algn="l">
              <a:lnSpc>
                <a:spcPct val="114000"/>
              </a:lnSpc>
              <a:spcBef>
                <a:spcPts val="0"/>
              </a:spcBef>
              <a:spcAft>
                <a:spcPts val="0"/>
              </a:spcAft>
            </a:pPr>
            <a:r>
              <a:rPr sz="910" b="0" i="1">
                <a:solidFill>
                  <a:srgbClr val="5B6B7F"/>
                </a:solidFill>
              </a:rPr>
              <a:t>OpenID for Verifiable Credential Issuance</a:t>
            </a:r>
          </a:p>
        </p:txBody>
      </p:sp>
      <p:sp>
        <p:nvSpPr>
          <p:cNvPr id="9" name="Oval 8"/>
          <p:cNvSpPr/>
          <p:nvPr/>
        </p:nvSpPr>
        <p:spPr>
          <a:xfrm>
            <a:off x="781812" y="2474320"/>
            <a:ext cx="77724" cy="69951"/>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413101"/>
            <a:ext cx="4727448" cy="395432"/>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Built on </a:t>
            </a:r>
            <a:r>
              <a:rPr sz="980" b="1" i="0">
                <a:solidFill>
                  <a:srgbClr val="0F172A"/>
                </a:solidFill>
                <a:latin typeface="Arial"/>
              </a:rPr>
              <a:t>OAuth 2.0</a:t>
            </a:r>
            <a:r>
              <a:rPr sz="980" b="0" i="0">
                <a:solidFill>
                  <a:srgbClr val="0F172A"/>
                </a:solidFill>
                <a:latin typeface="Arial"/>
              </a:rPr>
              <a:t>. Same grammar: authorization endpoint, token endpoint, scopes.</a:t>
            </a:r>
          </a:p>
        </p:txBody>
      </p:sp>
      <p:sp>
        <p:nvSpPr>
          <p:cNvPr id="11" name="Oval 10"/>
          <p:cNvSpPr/>
          <p:nvPr/>
        </p:nvSpPr>
        <p:spPr>
          <a:xfrm>
            <a:off x="781812" y="2857408"/>
            <a:ext cx="77724" cy="69951"/>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796189"/>
            <a:ext cx="4727448" cy="395432"/>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Adds: a credential endpoint, issuer metadata, credential offers, and a </a:t>
            </a:r>
            <a:r>
              <a:rPr sz="980" b="1" i="0">
                <a:solidFill>
                  <a:srgbClr val="0F172A"/>
                </a:solidFill>
                <a:latin typeface="Arial"/>
              </a:rPr>
              <a:t>proof</a:t>
            </a:r>
            <a:r>
              <a:rPr sz="980" b="0" i="0">
                <a:solidFill>
                  <a:srgbClr val="0F172A"/>
                </a:solidFill>
                <a:latin typeface="Arial"/>
              </a:rPr>
              <a:t> that the wallet holds a key.</a:t>
            </a:r>
          </a:p>
        </p:txBody>
      </p:sp>
      <p:sp>
        <p:nvSpPr>
          <p:cNvPr id="13" name="Oval 12"/>
          <p:cNvSpPr/>
          <p:nvPr/>
        </p:nvSpPr>
        <p:spPr>
          <a:xfrm>
            <a:off x="781812" y="3240495"/>
            <a:ext cx="77724" cy="69951"/>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179277"/>
            <a:ext cx="4727448" cy="395432"/>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Inji supports </a:t>
            </a:r>
            <a:r>
              <a:rPr sz="980" b="1" i="0">
                <a:solidFill>
                  <a:srgbClr val="0F172A"/>
                </a:solidFill>
                <a:latin typeface="Arial"/>
              </a:rPr>
              <a:t>draft 11 and draft 13</a:t>
            </a:r>
            <a:r>
              <a:rPr sz="980" b="0" i="0">
                <a:solidFill>
                  <a:srgbClr val="0F172A"/>
                </a:solidFill>
                <a:latin typeface="Arial"/>
              </a:rPr>
              <a:t> via </a:t>
            </a:r>
            <a:r>
              <a:rPr sz="980" b="0" i="0">
                <a:solidFill>
                  <a:srgbClr val="1D4E89"/>
                </a:solidFill>
                <a:latin typeface="Consolas"/>
              </a:rPr>
              <a:t>inji-vci-client</a:t>
            </a:r>
            <a:r>
              <a:rPr sz="980" b="0" i="0">
                <a:solidFill>
                  <a:srgbClr val="0F172A"/>
                </a:solidFill>
                <a:latin typeface="Arial"/>
              </a:rPr>
              <a:t>.</a:t>
            </a:r>
          </a:p>
        </p:txBody>
      </p:sp>
      <p:sp>
        <p:nvSpPr>
          <p:cNvPr id="15" name="Oval 14"/>
          <p:cNvSpPr/>
          <p:nvPr/>
        </p:nvSpPr>
        <p:spPr>
          <a:xfrm>
            <a:off x="781812" y="3623583"/>
            <a:ext cx="77724" cy="69951"/>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562364"/>
            <a:ext cx="4727448" cy="395432"/>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Grants: </a:t>
            </a:r>
            <a:r>
              <a:rPr sz="980" b="0" i="0">
                <a:solidFill>
                  <a:srgbClr val="1D4E89"/>
                </a:solidFill>
                <a:latin typeface="Consolas"/>
              </a:rPr>
              <a:t>authorization_code</a:t>
            </a:r>
            <a:r>
              <a:rPr sz="980" b="0" i="0">
                <a:solidFill>
                  <a:srgbClr val="0F172A"/>
                </a:solidFill>
                <a:latin typeface="Arial"/>
              </a:rPr>
              <a:t> and </a:t>
            </a:r>
            <a:r>
              <a:rPr sz="980" b="0" i="0">
                <a:solidFill>
                  <a:srgbClr val="1D4E89"/>
                </a:solidFill>
                <a:latin typeface="Consolas"/>
              </a:rPr>
              <a:t>urn:ietf:params:oauth:grant-type:pre-authorized_code</a:t>
            </a:r>
            <a:r>
              <a:rPr sz="980" b="0" i="0">
                <a:solidFill>
                  <a:srgbClr val="0F172A"/>
                </a:solidFill>
                <a:latin typeface="Arial"/>
              </a:rPr>
              <a:t>.</a:t>
            </a:r>
          </a:p>
        </p:txBody>
      </p:sp>
      <p:sp>
        <p:nvSpPr>
          <p:cNvPr id="17" name="Rounded Rectangle 16"/>
          <p:cNvSpPr/>
          <p:nvPr/>
        </p:nvSpPr>
        <p:spPr>
          <a:xfrm>
            <a:off x="6245352" y="1631289"/>
            <a:ext cx="5440680" cy="2427732"/>
          </a:xfrm>
          <a:prstGeom prst="roundRect">
            <a:avLst>
              <a:gd name="adj" fmla="val 5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4" y="1795881"/>
            <a:ext cx="4937760" cy="296265"/>
          </a:xfrm>
          <a:prstGeom prst="rect">
            <a:avLst/>
          </a:prstGeom>
          <a:noFill/>
        </p:spPr>
        <p:txBody>
          <a:bodyPr wrap="square" lIns="0" rIns="0" tIns="0" bIns="0" anchor="t">
            <a:spAutoFit/>
          </a:bodyPr>
          <a:lstStyle/>
          <a:p>
            <a:pPr algn="l">
              <a:lnSpc>
                <a:spcPct val="114000"/>
              </a:lnSpc>
              <a:spcBef>
                <a:spcPts val="0"/>
              </a:spcBef>
              <a:spcAft>
                <a:spcPts val="0"/>
              </a:spcAft>
            </a:pPr>
            <a:r>
              <a:rPr sz="1340" b="1" i="0">
                <a:solidFill>
                  <a:srgbClr val="15703D"/>
                </a:solidFill>
              </a:rPr>
              <a:t>OpenID4VP — showing a credential</a:t>
            </a:r>
          </a:p>
        </p:txBody>
      </p:sp>
      <p:sp>
        <p:nvSpPr>
          <p:cNvPr id="19" name="TextBox 18"/>
          <p:cNvSpPr txBox="1"/>
          <p:nvPr/>
        </p:nvSpPr>
        <p:spPr>
          <a:xfrm>
            <a:off x="6501384" y="2108606"/>
            <a:ext cx="4937760" cy="246888"/>
          </a:xfrm>
          <a:prstGeom prst="rect">
            <a:avLst/>
          </a:prstGeom>
          <a:noFill/>
        </p:spPr>
        <p:txBody>
          <a:bodyPr wrap="square" lIns="0" rIns="0" tIns="0" bIns="0" anchor="t">
            <a:spAutoFit/>
          </a:bodyPr>
          <a:lstStyle/>
          <a:p>
            <a:pPr algn="l">
              <a:lnSpc>
                <a:spcPct val="114000"/>
              </a:lnSpc>
              <a:spcBef>
                <a:spcPts val="0"/>
              </a:spcBef>
              <a:spcAft>
                <a:spcPts val="0"/>
              </a:spcAft>
            </a:pPr>
            <a:r>
              <a:rPr sz="910" b="0" i="1">
                <a:solidFill>
                  <a:srgbClr val="5B6B7F"/>
                </a:solidFill>
              </a:rPr>
              <a:t>OpenID for Verifiable Presentations</a:t>
            </a:r>
          </a:p>
        </p:txBody>
      </p:sp>
      <p:sp>
        <p:nvSpPr>
          <p:cNvPr id="20" name="Oval 19"/>
          <p:cNvSpPr/>
          <p:nvPr/>
        </p:nvSpPr>
        <p:spPr>
          <a:xfrm>
            <a:off x="6524244" y="2474320"/>
            <a:ext cx="77724" cy="69951"/>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11696" y="2413101"/>
            <a:ext cx="4727448" cy="395432"/>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Also OAuth-shaped, but there is no access token for the verifier — the </a:t>
            </a:r>
            <a:r>
              <a:rPr sz="980" b="1" i="0">
                <a:solidFill>
                  <a:srgbClr val="0F172A"/>
                </a:solidFill>
                <a:latin typeface="Arial"/>
              </a:rPr>
              <a:t>credential is the response</a:t>
            </a:r>
            <a:r>
              <a:rPr sz="980" b="0" i="0">
                <a:solidFill>
                  <a:srgbClr val="0F172A"/>
                </a:solidFill>
                <a:latin typeface="Arial"/>
              </a:rPr>
              <a:t>.</a:t>
            </a:r>
          </a:p>
        </p:txBody>
      </p:sp>
      <p:sp>
        <p:nvSpPr>
          <p:cNvPr id="22" name="Oval 21"/>
          <p:cNvSpPr/>
          <p:nvPr/>
        </p:nvSpPr>
        <p:spPr>
          <a:xfrm>
            <a:off x="6524244" y="2857408"/>
            <a:ext cx="77724" cy="69951"/>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11696" y="2796189"/>
            <a:ext cx="4727448" cy="395432"/>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Verifier sends an authorization request; wallet returns a </a:t>
            </a:r>
            <a:r>
              <a:rPr sz="980" b="0" i="0">
                <a:solidFill>
                  <a:srgbClr val="1D4E89"/>
                </a:solidFill>
                <a:latin typeface="Consolas"/>
              </a:rPr>
              <a:t>vp_token</a:t>
            </a:r>
            <a:r>
              <a:rPr sz="980" b="0" i="0">
                <a:solidFill>
                  <a:srgbClr val="0F172A"/>
                </a:solidFill>
                <a:latin typeface="Arial"/>
              </a:rPr>
              <a:t>.</a:t>
            </a:r>
          </a:p>
        </p:txBody>
      </p:sp>
      <p:sp>
        <p:nvSpPr>
          <p:cNvPr id="24" name="Oval 23"/>
          <p:cNvSpPr/>
          <p:nvPr/>
        </p:nvSpPr>
        <p:spPr>
          <a:xfrm>
            <a:off x="6524244" y="3240495"/>
            <a:ext cx="77724" cy="69951"/>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11696" y="3179277"/>
            <a:ext cx="4727448" cy="395432"/>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Inji supports </a:t>
            </a:r>
            <a:r>
              <a:rPr sz="980" b="1" i="0">
                <a:solidFill>
                  <a:srgbClr val="0F172A"/>
                </a:solidFill>
                <a:latin typeface="Arial"/>
              </a:rPr>
              <a:t>draft 21 and draft 23</a:t>
            </a:r>
            <a:r>
              <a:rPr sz="980" b="0" i="0">
                <a:solidFill>
                  <a:srgbClr val="0F172A"/>
                </a:solidFill>
                <a:latin typeface="Arial"/>
              </a:rPr>
              <a:t> via </a:t>
            </a:r>
            <a:r>
              <a:rPr sz="980" b="0" i="0">
                <a:solidFill>
                  <a:srgbClr val="1D4E89"/>
                </a:solidFill>
                <a:latin typeface="Consolas"/>
              </a:rPr>
              <a:t>inji-openid4vp</a:t>
            </a:r>
            <a:r>
              <a:rPr sz="980" b="0" i="0">
                <a:solidFill>
                  <a:srgbClr val="0F172A"/>
                </a:solidFill>
                <a:latin typeface="Arial"/>
              </a:rPr>
              <a:t>.</a:t>
            </a:r>
          </a:p>
        </p:txBody>
      </p:sp>
      <p:sp>
        <p:nvSpPr>
          <p:cNvPr id="26" name="Oval 25"/>
          <p:cNvSpPr/>
          <p:nvPr/>
        </p:nvSpPr>
        <p:spPr>
          <a:xfrm>
            <a:off x="6524244" y="3623583"/>
            <a:ext cx="77724" cy="69951"/>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1696" y="3562364"/>
            <a:ext cx="4727448" cy="395432"/>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Response modes: </a:t>
            </a:r>
            <a:r>
              <a:rPr sz="980" b="0" i="0">
                <a:solidFill>
                  <a:srgbClr val="1D4E89"/>
                </a:solidFill>
                <a:latin typeface="Consolas"/>
              </a:rPr>
              <a:t>direct_post</a:t>
            </a:r>
            <a:r>
              <a:rPr sz="980" b="0" i="0">
                <a:solidFill>
                  <a:srgbClr val="0F172A"/>
                </a:solidFill>
                <a:latin typeface="Arial"/>
              </a:rPr>
              <a:t>, </a:t>
            </a:r>
            <a:r>
              <a:rPr sz="980" b="0" i="0">
                <a:solidFill>
                  <a:srgbClr val="1D4E89"/>
                </a:solidFill>
                <a:latin typeface="Consolas"/>
              </a:rPr>
              <a:t>direct_post.jwt</a:t>
            </a:r>
            <a:r>
              <a:rPr sz="980" b="0" i="0">
                <a:solidFill>
                  <a:srgbClr val="0F172A"/>
                </a:solidFill>
                <a:latin typeface="Arial"/>
              </a:rPr>
              <a:t> (encrypted), plus </a:t>
            </a:r>
            <a:r>
              <a:rPr sz="980" b="0" i="0">
                <a:solidFill>
                  <a:srgbClr val="1D4E89"/>
                </a:solidFill>
                <a:latin typeface="Consolas"/>
              </a:rPr>
              <a:t>iar-post</a:t>
            </a:r>
            <a:r>
              <a:rPr sz="980" b="0" i="0">
                <a:solidFill>
                  <a:srgbClr val="0F172A"/>
                </a:solidFill>
                <a:latin typeface="Arial"/>
              </a:rPr>
              <a:t> variants.</a:t>
            </a:r>
          </a:p>
        </p:txBody>
      </p:sp>
      <p:graphicFrame>
        <p:nvGraphicFramePr>
          <p:cNvPr id="28" name="Table 27"/>
          <p:cNvGraphicFramePr>
            <a:graphicFrameLocks noGrp="1"/>
          </p:cNvGraphicFramePr>
          <p:nvPr/>
        </p:nvGraphicFramePr>
        <p:xfrm>
          <a:off x="502920" y="4264761"/>
          <a:ext cx="11185854" cy="2008021"/>
        </p:xfrm>
        <a:graphic>
          <a:graphicData uri="http://schemas.openxmlformats.org/drawingml/2006/table">
            <a:tbl>
              <a:tblPr firstRow="1">
                <a:tableStyleId>{2D5ABB26-0587-4C30-8999-92F81FD0307C}</a:tableStyleId>
              </a:tblPr>
              <a:tblGrid>
                <a:gridCol w="2383870"/>
                <a:gridCol w="4400992"/>
                <a:gridCol w="4400992"/>
              </a:tblGrid>
              <a:tr h="279806">
                <a:tc>
                  <a:txBody>
                    <a:bodyPr wrap="square"/>
                    <a:lstStyle/>
                    <a:p>
                      <a:pPr algn="l"/>
                      <a:r>
                        <a:rPr sz="910" b="1">
                          <a:solidFill>
                            <a:srgbClr val="FFFFFF"/>
                          </a:solidFill>
                          <a:latin typeface="Arial"/>
                        </a:rPr>
                        <a:t>Question</a:t>
                      </a:r>
                    </a:p>
                  </a:txBody>
                  <a:tcPr marL="64008" marR="54864" marT="27432" marB="27432" anchor="ctr">
                    <a:solidFill>
                      <a:srgbClr val="1D4E89"/>
                    </a:solidFill>
                  </a:tcPr>
                </a:tc>
                <a:tc>
                  <a:txBody>
                    <a:bodyPr wrap="square"/>
                    <a:lstStyle/>
                    <a:p>
                      <a:pPr algn="l"/>
                      <a:r>
                        <a:rPr sz="910" b="1">
                          <a:solidFill>
                            <a:srgbClr val="FFFFFF"/>
                          </a:solidFill>
                          <a:latin typeface="Arial"/>
                        </a:rPr>
                        <a:t>OpenID4VCI</a:t>
                      </a:r>
                    </a:p>
                  </a:txBody>
                  <a:tcPr marL="64008" marR="54864" marT="27432" marB="27432" anchor="ctr">
                    <a:solidFill>
                      <a:srgbClr val="1D4E89"/>
                    </a:solidFill>
                  </a:tcPr>
                </a:tc>
                <a:tc>
                  <a:txBody>
                    <a:bodyPr wrap="square"/>
                    <a:lstStyle/>
                    <a:p>
                      <a:pPr algn="l"/>
                      <a:r>
                        <a:rPr sz="910" b="1">
                          <a:solidFill>
                            <a:srgbClr val="FFFFFF"/>
                          </a:solidFill>
                          <a:latin typeface="Arial"/>
                        </a:rPr>
                        <a:t>OpenID4VP</a:t>
                      </a:r>
                    </a:p>
                  </a:txBody>
                  <a:tcPr marL="64008" marR="54864" marT="27432" marB="27432" anchor="ctr">
                    <a:solidFill>
                      <a:srgbClr val="1D4E89"/>
                    </a:solidFill>
                  </a:tcPr>
                </a:tc>
              </a:tr>
              <a:tr h="345643">
                <a:tc>
                  <a:txBody>
                    <a:bodyPr wrap="square"/>
                    <a:lstStyle/>
                    <a:p>
                      <a:pPr algn="l">
                        <a:lnSpc>
                          <a:spcPct val="105000"/>
                        </a:lnSpc>
                      </a:pPr>
                      <a:r>
                        <a:rPr sz="900" b="0">
                          <a:solidFill>
                            <a:srgbClr val="1E293B"/>
                          </a:solidFill>
                          <a:latin typeface="Arial"/>
                        </a:rPr>
                        <a:t>Who starts it?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Either the wallet (pick an issuer) or the issuer (credential offer QR)</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Always the verifier</a:t>
                      </a:r>
                    </a:p>
                  </a:txBody>
                  <a:tcPr marL="64008" marR="54864" marT="18288" marB="18288" anchor="ctr">
                    <a:solidFill>
                      <a:srgbClr val="FFFFFF"/>
                    </a:solidFill>
                  </a:tcPr>
                </a:tc>
              </a:tr>
              <a:tr h="345643">
                <a:tc>
                  <a:txBody>
                    <a:bodyPr wrap="square"/>
                    <a:lstStyle/>
                    <a:p>
                      <a:pPr algn="l">
                        <a:lnSpc>
                          <a:spcPct val="105000"/>
                        </a:lnSpc>
                      </a:pPr>
                      <a:r>
                        <a:rPr sz="900" b="0">
                          <a:solidFill>
                            <a:srgbClr val="1E293B"/>
                          </a:solidFill>
                          <a:latin typeface="Arial"/>
                        </a:rPr>
                        <a:t>What is transported?</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A credential, signed by the issuer</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A presentation, signed by the holder, containing credentials</a:t>
                      </a:r>
                    </a:p>
                  </a:txBody>
                  <a:tcPr marL="64008" marR="54864" marT="18288" marB="18288" anchor="ctr">
                    <a:solidFill>
                      <a:srgbClr val="F3F6F9"/>
                    </a:solidFill>
                  </a:tcPr>
                </a:tc>
              </a:tr>
              <a:tr h="345643">
                <a:tc>
                  <a:txBody>
                    <a:bodyPr wrap="square"/>
                    <a:lstStyle/>
                    <a:p>
                      <a:pPr algn="l">
                        <a:lnSpc>
                          <a:spcPct val="105000"/>
                        </a:lnSpc>
                      </a:pPr>
                      <a:r>
                        <a:rPr sz="900" b="0">
                          <a:solidFill>
                            <a:srgbClr val="1E293B"/>
                          </a:solidFill>
                          <a:latin typeface="Arial"/>
                        </a:rPr>
                        <a:t>Who authenticates the user?</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The issuer's authorization server (eSignet, Keycloak, gov.br…)</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Nobody — consent in the wallet is the gate</a:t>
                      </a:r>
                    </a:p>
                  </a:txBody>
                  <a:tcPr marL="64008" marR="54864" marT="18288" marB="18288" anchor="ctr">
                    <a:solidFill>
                      <a:srgbClr val="FFFFFF"/>
                    </a:solidFill>
                  </a:tcPr>
                </a:tc>
              </a:tr>
              <a:tr h="345643">
                <a:tc>
                  <a:txBody>
                    <a:bodyPr wrap="square"/>
                    <a:lstStyle/>
                    <a:p>
                      <a:pPr algn="l">
                        <a:lnSpc>
                          <a:spcPct val="105000"/>
                        </a:lnSpc>
                      </a:pPr>
                      <a:r>
                        <a:rPr sz="900" b="0">
                          <a:solidFill>
                            <a:srgbClr val="1E293B"/>
                          </a:solidFill>
                          <a:latin typeface="Arial"/>
                        </a:rPr>
                        <a:t>What stops replay?</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PKCE + one-time codes + </a:t>
                      </a:r>
                      <a:r>
                        <a:rPr sz="900" b="0">
                          <a:solidFill>
                            <a:srgbClr val="1D4E89"/>
                          </a:solidFill>
                          <a:latin typeface="Consolas"/>
                        </a:rPr>
                        <a:t>c_nonce</a:t>
                      </a:r>
                      <a:r>
                        <a:rPr sz="900" b="0">
                          <a:solidFill>
                            <a:srgbClr val="1E293B"/>
                          </a:solidFill>
                          <a:latin typeface="Arial"/>
                        </a:rPr>
                        <a:t> inside the proof</a:t>
                      </a:r>
                    </a:p>
                  </a:txBody>
                  <a:tcPr marL="64008" marR="54864" marT="18288" marB="18288" anchor="ctr">
                    <a:solidFill>
                      <a:srgbClr val="F3F6F9"/>
                    </a:solidFill>
                  </a:tcPr>
                </a:tc>
                <a:tc>
                  <a:txBody>
                    <a:bodyPr wrap="square"/>
                    <a:lstStyle/>
                    <a:p>
                      <a:pPr algn="l">
                        <a:lnSpc>
                          <a:spcPct val="105000"/>
                        </a:lnSpc>
                      </a:pPr>
                      <a:r>
                        <a:rPr sz="900" b="0">
                          <a:solidFill>
                            <a:srgbClr val="1D4E89"/>
                          </a:solidFill>
                          <a:latin typeface="Consolas"/>
                        </a:rPr>
                        <a:t>nonce</a:t>
                      </a:r>
                      <a:r>
                        <a:rPr sz="900" b="0">
                          <a:solidFill>
                            <a:srgbClr val="1E293B"/>
                          </a:solidFill>
                          <a:latin typeface="Arial"/>
                        </a:rPr>
                        <a:t> + </a:t>
                      </a:r>
                      <a:r>
                        <a:rPr sz="900" b="0">
                          <a:solidFill>
                            <a:srgbClr val="1D4E89"/>
                          </a:solidFill>
                          <a:latin typeface="Consolas"/>
                        </a:rPr>
                        <a:t>state</a:t>
                      </a:r>
                      <a:r>
                        <a:rPr sz="900" b="0">
                          <a:solidFill>
                            <a:srgbClr val="1E293B"/>
                          </a:solidFill>
                          <a:latin typeface="Arial"/>
                        </a:rPr>
                        <a:t> from the verifier, echoed in the response</a:t>
                      </a:r>
                    </a:p>
                  </a:txBody>
                  <a:tcPr marL="64008" marR="54864" marT="18288" marB="18288" anchor="ctr">
                    <a:solidFill>
                      <a:srgbClr val="F3F6F9"/>
                    </a:solidFill>
                  </a:tcPr>
                </a:tc>
              </a:tr>
              <a:tr h="345643">
                <a:tc>
                  <a:txBody>
                    <a:bodyPr wrap="square"/>
                    <a:lstStyle/>
                    <a:p>
                      <a:pPr algn="l">
                        <a:lnSpc>
                          <a:spcPct val="105000"/>
                        </a:lnSpc>
                      </a:pPr>
                      <a:r>
                        <a:rPr sz="900" b="0">
                          <a:solidFill>
                            <a:srgbClr val="1E293B"/>
                          </a:solidFill>
                          <a:latin typeface="Arial"/>
                        </a:rPr>
                        <a:t>Typical failure owner</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Issuer metadata, auth server config, proof format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Client-id scheme, matching, response_uri, encryption keys</a:t>
                      </a:r>
                    </a:p>
                  </a:txBody>
                  <a:tcPr marL="64008" marR="54864" marT="18288" marB="18288" anchor="ctr">
                    <a:solidFill>
                      <a:srgbClr val="FFFFFF"/>
                    </a:solidFill>
                  </a:tcPr>
                </a:tc>
              </a:tr>
            </a:tbl>
          </a:graphicData>
        </a:graphic>
      </p:graphicFrame>
      <p:sp>
        <p:nvSpPr>
          <p:cNvPr id="29" name="TextBox 2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ecosystem overview</a:t>
            </a:r>
          </a:p>
        </p:txBody>
      </p:sp>
      <p:sp>
        <p:nvSpPr>
          <p:cNvPr id="30" name="TextBox 2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CONNECTIVITY</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Online and offline: what needs a network, and when</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A common planning mistake is assuming the whole journey is online, or that everything works offline.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82496"/>
          <a:ext cx="11185853" cy="3383280"/>
        </p:xfrm>
        <a:graphic>
          <a:graphicData uri="http://schemas.openxmlformats.org/drawingml/2006/table">
            <a:tbl>
              <a:tblPr firstRow="1">
                <a:tableStyleId>{2D5ABB26-0587-4C30-8999-92F81FD0307C}</a:tableStyleId>
              </a:tblPr>
              <a:tblGrid>
                <a:gridCol w="2364489"/>
                <a:gridCol w="3182966"/>
                <a:gridCol w="1818838"/>
                <a:gridCol w="3819560"/>
              </a:tblGrid>
              <a:tr h="310896">
                <a:tc>
                  <a:txBody>
                    <a:bodyPr wrap="square"/>
                    <a:lstStyle/>
                    <a:p>
                      <a:pPr algn="l"/>
                      <a:r>
                        <a:rPr sz="950" b="1">
                          <a:solidFill>
                            <a:srgbClr val="FFFFFF"/>
                          </a:solidFill>
                          <a:latin typeface="Arial"/>
                        </a:rPr>
                        <a:t>Step</a:t>
                      </a:r>
                    </a:p>
                  </a:txBody>
                  <a:tcPr marL="64008" marR="54864" marT="27432" marB="27432" anchor="ctr">
                    <a:solidFill>
                      <a:srgbClr val="1D4E89"/>
                    </a:solidFill>
                  </a:tcPr>
                </a:tc>
                <a:tc>
                  <a:txBody>
                    <a:bodyPr wrap="square"/>
                    <a:lstStyle/>
                    <a:p>
                      <a:pPr algn="l"/>
                      <a:r>
                        <a:rPr sz="950" b="1">
                          <a:solidFill>
                            <a:srgbClr val="FFFFFF"/>
                          </a:solidFill>
                          <a:latin typeface="Arial"/>
                        </a:rPr>
                        <a:t>Path</a:t>
                      </a:r>
                    </a:p>
                  </a:txBody>
                  <a:tcPr marL="64008" marR="54864" marT="27432" marB="27432" anchor="ctr">
                    <a:solidFill>
                      <a:srgbClr val="1D4E89"/>
                    </a:solidFill>
                  </a:tcPr>
                </a:tc>
                <a:tc>
                  <a:txBody>
                    <a:bodyPr wrap="square"/>
                    <a:lstStyle/>
                    <a:p>
                      <a:pPr algn="l"/>
                      <a:r>
                        <a:rPr sz="950" b="1">
                          <a:solidFill>
                            <a:srgbClr val="FFFFFF"/>
                          </a:solidFill>
                          <a:latin typeface="Arial"/>
                        </a:rPr>
                        <a:t>Connectivity</a:t>
                      </a:r>
                    </a:p>
                  </a:txBody>
                  <a:tcPr marL="64008" marR="54864" marT="27432" marB="27432" anchor="ctr">
                    <a:solidFill>
                      <a:srgbClr val="1D4E89"/>
                    </a:solidFill>
                  </a:tcPr>
                </a:tc>
                <a:tc>
                  <a:txBody>
                    <a:bodyPr wrap="square"/>
                    <a:lstStyle/>
                    <a:p>
                      <a:pPr algn="l"/>
                      <a:r>
                        <a:rPr sz="950" b="1">
                          <a:solidFill>
                            <a:srgbClr val="FFFFFF"/>
                          </a:solidFill>
                          <a:latin typeface="Arial"/>
                        </a:rPr>
                        <a:t>Notes</a:t>
                      </a:r>
                    </a:p>
                  </a:txBody>
                  <a:tcPr marL="64008" marR="54864" marT="27432" marB="27432" anchor="ctr">
                    <a:solidFill>
                      <a:srgbClr val="1D4E89"/>
                    </a:solidFill>
                  </a:tcPr>
                </a:tc>
              </a:tr>
              <a:tr h="384048">
                <a:tc>
                  <a:txBody>
                    <a:bodyPr wrap="square"/>
                    <a:lstStyle/>
                    <a:p>
                      <a:pPr algn="l">
                        <a:lnSpc>
                          <a:spcPct val="105000"/>
                        </a:lnSpc>
                      </a:pPr>
                      <a:r>
                        <a:rPr sz="940" b="0">
                          <a:solidFill>
                            <a:srgbClr val="1E293B"/>
                          </a:solidFill>
                          <a:latin typeface="Arial"/>
                        </a:rPr>
                        <a:t>Discover issuers</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Wallet → Mimoto → issuer well-known</a:t>
                      </a:r>
                    </a:p>
                  </a:txBody>
                  <a:tcPr marL="64008" marR="54864" marT="18288" marB="18288" anchor="ctr">
                    <a:solidFill>
                      <a:srgbClr val="FFFFFF"/>
                    </a:solidFill>
                  </a:tcPr>
                </a:tc>
                <a:tc>
                  <a:txBody>
                    <a:bodyPr wrap="square"/>
                    <a:lstStyle/>
                    <a:p>
                      <a:pPr algn="l">
                        <a:lnSpc>
                          <a:spcPct val="105000"/>
                        </a:lnSpc>
                      </a:pPr>
                      <a:r>
                        <a:rPr sz="940" b="1">
                          <a:solidFill>
                            <a:srgbClr val="B31B1B"/>
                          </a:solidFill>
                          <a:latin typeface="Arial"/>
                        </a:rPr>
                        <a:t>Network required</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Cached in Mimoto (Caffeine/Redis, configurable TTL)</a:t>
                      </a:r>
                    </a:p>
                  </a:txBody>
                  <a:tcPr marL="64008" marR="54864" marT="18288" marB="18288" anchor="ctr">
                    <a:solidFill>
                      <a:srgbClr val="FFFFFF"/>
                    </a:solidFill>
                  </a:tcPr>
                </a:tc>
              </a:tr>
              <a:tr h="384048">
                <a:tc>
                  <a:txBody>
                    <a:bodyPr wrap="square"/>
                    <a:lstStyle/>
                    <a:p>
                      <a:pPr algn="l">
                        <a:lnSpc>
                          <a:spcPct val="105000"/>
                        </a:lnSpc>
                      </a:pPr>
                      <a:r>
                        <a:rPr sz="940" b="0">
                          <a:solidFill>
                            <a:srgbClr val="1E293B"/>
                          </a:solidFill>
                          <a:latin typeface="Arial"/>
                        </a:rPr>
                        <a:t>Authenticate the user</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Wallet → authorization server (browser)</a:t>
                      </a:r>
                    </a:p>
                  </a:txBody>
                  <a:tcPr marL="64008" marR="54864" marT="18288" marB="18288" anchor="ctr">
                    <a:solidFill>
                      <a:srgbClr val="F3F6F9"/>
                    </a:solidFill>
                  </a:tcPr>
                </a:tc>
                <a:tc>
                  <a:txBody>
                    <a:bodyPr wrap="square"/>
                    <a:lstStyle/>
                    <a:p>
                      <a:pPr algn="l">
                        <a:lnSpc>
                          <a:spcPct val="105000"/>
                        </a:lnSpc>
                      </a:pPr>
                      <a:r>
                        <a:rPr sz="940" b="1">
                          <a:solidFill>
                            <a:srgbClr val="B31B1B"/>
                          </a:solidFill>
                          <a:latin typeface="Arial"/>
                        </a:rPr>
                        <a:t>Network required</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No offline equivalent</a:t>
                      </a:r>
                    </a:p>
                  </a:txBody>
                  <a:tcPr marL="64008" marR="54864" marT="18288" marB="18288" anchor="ctr">
                    <a:solidFill>
                      <a:srgbClr val="F3F6F9"/>
                    </a:solidFill>
                  </a:tcPr>
                </a:tc>
              </a:tr>
              <a:tr h="384048">
                <a:tc>
                  <a:txBody>
                    <a:bodyPr wrap="square"/>
                    <a:lstStyle/>
                    <a:p>
                      <a:pPr algn="l">
                        <a:lnSpc>
                          <a:spcPct val="105000"/>
                        </a:lnSpc>
                      </a:pPr>
                      <a:r>
                        <a:rPr sz="940" b="0">
                          <a:solidFill>
                            <a:srgbClr val="1E293B"/>
                          </a:solidFill>
                          <a:latin typeface="Arial"/>
                        </a:rPr>
                        <a:t>Download the credential</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Wallet → issuer credential endpoint</a:t>
                      </a:r>
                    </a:p>
                  </a:txBody>
                  <a:tcPr marL="64008" marR="54864" marT="18288" marB="18288" anchor="ctr">
                    <a:solidFill>
                      <a:srgbClr val="FFFFFF"/>
                    </a:solidFill>
                  </a:tcPr>
                </a:tc>
                <a:tc>
                  <a:txBody>
                    <a:bodyPr wrap="square"/>
                    <a:lstStyle/>
                    <a:p>
                      <a:pPr algn="l">
                        <a:lnSpc>
                          <a:spcPct val="105000"/>
                        </a:lnSpc>
                      </a:pPr>
                      <a:r>
                        <a:rPr sz="940" b="1">
                          <a:solidFill>
                            <a:srgbClr val="B31B1B"/>
                          </a:solidFill>
                          <a:latin typeface="Arial"/>
                        </a:rPr>
                        <a:t>Network required</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Retry with backoff; Mimoto has a poll/retry setting</a:t>
                      </a:r>
                    </a:p>
                  </a:txBody>
                  <a:tcPr marL="64008" marR="54864" marT="18288" marB="18288" anchor="ctr">
                    <a:solidFill>
                      <a:srgbClr val="FFFFFF"/>
                    </a:solidFill>
                  </a:tcPr>
                </a:tc>
              </a:tr>
              <a:tr h="384048">
                <a:tc>
                  <a:txBody>
                    <a:bodyPr wrap="square"/>
                    <a:lstStyle/>
                    <a:p>
                      <a:pPr algn="l">
                        <a:lnSpc>
                          <a:spcPct val="105000"/>
                        </a:lnSpc>
                      </a:pPr>
                      <a:r>
                        <a:rPr sz="940" b="0">
                          <a:solidFill>
                            <a:srgbClr val="1E293B"/>
                          </a:solidFill>
                          <a:latin typeface="Arial"/>
                        </a:rPr>
                        <a:t>Verify at download</a:t>
                      </a:r>
                    </a:p>
                  </a:txBody>
                  <a:tcPr marL="64008" marR="54864" marT="18288" marB="18288" anchor="ctr">
                    <a:solidFill>
                      <a:srgbClr val="F3F6F9"/>
                    </a:solidFill>
                  </a:tcPr>
                </a:tc>
                <a:tc>
                  <a:txBody>
                    <a:bodyPr wrap="square"/>
                    <a:lstStyle/>
                    <a:p>
                      <a:pPr algn="l">
                        <a:lnSpc>
                          <a:spcPct val="105000"/>
                        </a:lnSpc>
                      </a:pPr>
                      <a:r>
                        <a:rPr sz="940" b="0">
                          <a:solidFill>
                            <a:srgbClr val="1D4E89"/>
                          </a:solidFill>
                          <a:latin typeface="Consolas"/>
                        </a:rPr>
                        <a:t>vc-verifier</a:t>
                      </a:r>
                      <a:r>
                        <a:rPr sz="940" b="0">
                          <a:solidFill>
                            <a:srgbClr val="1E293B"/>
                          </a:solidFill>
                          <a:latin typeface="Arial"/>
                        </a:rPr>
                        <a:t> in the wallet</a:t>
                      </a:r>
                    </a:p>
                  </a:txBody>
                  <a:tcPr marL="64008" marR="54864" marT="18288" marB="18288" anchor="ctr">
                    <a:solidFill>
                      <a:srgbClr val="F3F6F9"/>
                    </a:solidFill>
                  </a:tcPr>
                </a:tc>
                <a:tc>
                  <a:txBody>
                    <a:bodyPr wrap="square"/>
                    <a:lstStyle/>
                    <a:p>
                      <a:pPr algn="l">
                        <a:lnSpc>
                          <a:spcPct val="105000"/>
                        </a:lnSpc>
                      </a:pPr>
                      <a:r>
                        <a:rPr sz="940" b="1">
                          <a:solidFill>
                            <a:srgbClr val="B31B1B"/>
                          </a:solidFill>
                          <a:latin typeface="Arial"/>
                        </a:rPr>
                        <a:t>Usually network</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Needs issuer key — may hit JWKS/DID; cache keys</a:t>
                      </a:r>
                    </a:p>
                  </a:txBody>
                  <a:tcPr marL="64008" marR="54864" marT="18288" marB="18288" anchor="ctr">
                    <a:solidFill>
                      <a:srgbClr val="F3F6F9"/>
                    </a:solidFill>
                  </a:tcPr>
                </a:tc>
              </a:tr>
              <a:tr h="384048">
                <a:tc>
                  <a:txBody>
                    <a:bodyPr wrap="square"/>
                    <a:lstStyle/>
                    <a:p>
                      <a:pPr algn="l">
                        <a:lnSpc>
                          <a:spcPct val="105000"/>
                        </a:lnSpc>
                      </a:pPr>
                      <a:r>
                        <a:rPr sz="940" b="0">
                          <a:solidFill>
                            <a:srgbClr val="1E293B"/>
                          </a:solidFill>
                          <a:latin typeface="Arial"/>
                        </a:rPr>
                        <a:t>View a stored credential</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Local store only</a:t>
                      </a:r>
                    </a:p>
                  </a:txBody>
                  <a:tcPr marL="64008" marR="54864" marT="18288" marB="18288" anchor="ctr">
                    <a:solidFill>
                      <a:srgbClr val="FFFFFF"/>
                    </a:solidFill>
                  </a:tcPr>
                </a:tc>
                <a:tc>
                  <a:txBody>
                    <a:bodyPr wrap="square"/>
                    <a:lstStyle/>
                    <a:p>
                      <a:pPr algn="l">
                        <a:lnSpc>
                          <a:spcPct val="105000"/>
                        </a:lnSpc>
                      </a:pPr>
                      <a:r>
                        <a:rPr sz="940" b="1">
                          <a:solidFill>
                            <a:srgbClr val="15703D"/>
                          </a:solidFill>
                          <a:latin typeface="Arial"/>
                        </a:rPr>
                        <a:t>Fully offline</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Rendering uses cached issuer metadata</a:t>
                      </a:r>
                    </a:p>
                  </a:txBody>
                  <a:tcPr marL="64008" marR="54864" marT="18288" marB="18288" anchor="ctr">
                    <a:solidFill>
                      <a:srgbClr val="FFFFFF"/>
                    </a:solidFill>
                  </a:tcPr>
                </a:tc>
              </a:tr>
              <a:tr h="384048">
                <a:tc>
                  <a:txBody>
                    <a:bodyPr wrap="square"/>
                    <a:lstStyle/>
                    <a:p>
                      <a:pPr algn="l">
                        <a:lnSpc>
                          <a:spcPct val="105000"/>
                        </a:lnSpc>
                      </a:pPr>
                      <a:r>
                        <a:rPr sz="940" b="0">
                          <a:solidFill>
                            <a:srgbClr val="1E293B"/>
                          </a:solidFill>
                          <a:latin typeface="Arial"/>
                        </a:rPr>
                        <a:t>Show a QR of the credential</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PixelPass or Claim 169 QR</a:t>
                      </a:r>
                    </a:p>
                  </a:txBody>
                  <a:tcPr marL="64008" marR="54864" marT="18288" marB="18288" anchor="ctr">
                    <a:solidFill>
                      <a:srgbClr val="F3F6F9"/>
                    </a:solidFill>
                  </a:tcPr>
                </a:tc>
                <a:tc>
                  <a:txBody>
                    <a:bodyPr wrap="square"/>
                    <a:lstStyle/>
                    <a:p>
                      <a:pPr algn="l">
                        <a:lnSpc>
                          <a:spcPct val="105000"/>
                        </a:lnSpc>
                      </a:pPr>
                      <a:r>
                        <a:rPr sz="940" b="1">
                          <a:solidFill>
                            <a:srgbClr val="15703D"/>
                          </a:solidFill>
                          <a:latin typeface="Arial"/>
                        </a:rPr>
                        <a:t>Fully offline</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Issuer-provided Claim 169 QR is preferred when present</a:t>
                      </a:r>
                    </a:p>
                  </a:txBody>
                  <a:tcPr marL="64008" marR="54864" marT="18288" marB="18288" anchor="ctr">
                    <a:solidFill>
                      <a:srgbClr val="F3F6F9"/>
                    </a:solidFill>
                  </a:tcPr>
                </a:tc>
              </a:tr>
              <a:tr h="384048">
                <a:tc>
                  <a:txBody>
                    <a:bodyPr wrap="square"/>
                    <a:lstStyle/>
                    <a:p>
                      <a:pPr algn="l">
                        <a:lnSpc>
                          <a:spcPct val="105000"/>
                        </a:lnSpc>
                      </a:pPr>
                      <a:r>
                        <a:rPr sz="940" b="0">
                          <a:solidFill>
                            <a:srgbClr val="1E293B"/>
                          </a:solidFill>
                          <a:latin typeface="Arial"/>
                        </a:rPr>
                        <a:t>Present over OpenID4VP</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Wallet → verifier </a:t>
                      </a:r>
                      <a:r>
                        <a:rPr sz="940" b="0">
                          <a:solidFill>
                            <a:srgbClr val="1D4E89"/>
                          </a:solidFill>
                          <a:latin typeface="Consolas"/>
                        </a:rPr>
                        <a:t>response_uri</a:t>
                      </a:r>
                    </a:p>
                  </a:txBody>
                  <a:tcPr marL="64008" marR="54864" marT="18288" marB="18288" anchor="ctr">
                    <a:solidFill>
                      <a:srgbClr val="FFFFFF"/>
                    </a:solidFill>
                  </a:tcPr>
                </a:tc>
                <a:tc>
                  <a:txBody>
                    <a:bodyPr wrap="square"/>
                    <a:lstStyle/>
                    <a:p>
                      <a:pPr algn="l">
                        <a:lnSpc>
                          <a:spcPct val="105000"/>
                        </a:lnSpc>
                      </a:pPr>
                      <a:r>
                        <a:rPr sz="940" b="1">
                          <a:solidFill>
                            <a:srgbClr val="B31B1B"/>
                          </a:solidFill>
                          <a:latin typeface="Arial"/>
                        </a:rPr>
                        <a:t>Network required</a:t>
                      </a:r>
                    </a:p>
                  </a:txBody>
                  <a:tcPr marL="64008" marR="54864" marT="18288" marB="18288" anchor="ctr">
                    <a:solidFill>
                      <a:srgbClr val="FFFFFF"/>
                    </a:solidFill>
                  </a:tcPr>
                </a:tc>
                <a:tc>
                  <a:txBody>
                    <a:bodyPr wrap="square"/>
                    <a:lstStyle/>
                    <a:p>
                      <a:pPr algn="l">
                        <a:lnSpc>
                          <a:spcPct val="105000"/>
                        </a:lnSpc>
                      </a:pPr>
                      <a:r>
                        <a:rPr sz="940" b="0">
                          <a:solidFill>
                            <a:srgbClr val="1D4E89"/>
                          </a:solidFill>
                          <a:latin typeface="Consolas"/>
                        </a:rPr>
                        <a:t>direct_post</a:t>
                      </a:r>
                      <a:r>
                        <a:rPr sz="940" b="0">
                          <a:solidFill>
                            <a:srgbClr val="1E293B"/>
                          </a:solidFill>
                          <a:latin typeface="Arial"/>
                        </a:rPr>
                        <a:t> is an HTTP POST to the verifier</a:t>
                      </a:r>
                    </a:p>
                  </a:txBody>
                  <a:tcPr marL="64008" marR="54864" marT="18288" marB="18288" anchor="ctr">
                    <a:solidFill>
                      <a:srgbClr val="FFFFFF"/>
                    </a:solidFill>
                  </a:tcPr>
                </a:tc>
              </a:tr>
              <a:tr h="384048">
                <a:tc>
                  <a:txBody>
                    <a:bodyPr wrap="square"/>
                    <a:lstStyle/>
                    <a:p>
                      <a:pPr algn="l">
                        <a:lnSpc>
                          <a:spcPct val="105000"/>
                        </a:lnSpc>
                      </a:pPr>
                      <a:r>
                        <a:rPr sz="940" b="0">
                          <a:solidFill>
                            <a:srgbClr val="1E293B"/>
                          </a:solidFill>
                          <a:latin typeface="Arial"/>
                        </a:rPr>
                        <a:t>Present over BLE (proximity)</a:t>
                      </a:r>
                    </a:p>
                  </a:txBody>
                  <a:tcPr marL="64008" marR="54864" marT="18288" marB="18288" anchor="ctr">
                    <a:solidFill>
                      <a:srgbClr val="F3F6F9"/>
                    </a:solidFill>
                  </a:tcPr>
                </a:tc>
                <a:tc>
                  <a:txBody>
                    <a:bodyPr wrap="square"/>
                    <a:lstStyle/>
                    <a:p>
                      <a:pPr algn="l">
                        <a:lnSpc>
                          <a:spcPct val="105000"/>
                        </a:lnSpc>
                      </a:pPr>
                      <a:r>
                        <a:rPr sz="940" b="0">
                          <a:solidFill>
                            <a:srgbClr val="1D4E89"/>
                          </a:solidFill>
                          <a:latin typeface="Consolas"/>
                        </a:rPr>
                        <a:t>tuvali</a:t>
                      </a:r>
                      <a:r>
                        <a:rPr sz="940" b="0">
                          <a:solidFill>
                            <a:srgbClr val="1E293B"/>
                          </a:solidFill>
                          <a:latin typeface="Arial"/>
                        </a:rPr>
                        <a:t> transport</a:t>
                      </a:r>
                    </a:p>
                  </a:txBody>
                  <a:tcPr marL="64008" marR="54864" marT="18288" marB="18288" anchor="ctr">
                    <a:solidFill>
                      <a:srgbClr val="F3F6F9"/>
                    </a:solidFill>
                  </a:tcPr>
                </a:tc>
                <a:tc>
                  <a:txBody>
                    <a:bodyPr wrap="square"/>
                    <a:lstStyle/>
                    <a:p>
                      <a:pPr algn="l">
                        <a:lnSpc>
                          <a:spcPct val="105000"/>
                        </a:lnSpc>
                      </a:pPr>
                      <a:r>
                        <a:rPr sz="940" b="1">
                          <a:solidFill>
                            <a:srgbClr val="15703D"/>
                          </a:solidFill>
                          <a:latin typeface="Arial"/>
                        </a:rPr>
                        <a:t>Fully offline</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Device-to-device; separate from OpenID4VP</a:t>
                      </a:r>
                    </a:p>
                  </a:txBody>
                  <a:tcPr marL="64008" marR="54864" marT="18288" marB="18288" anchor="ctr">
                    <a:solidFill>
                      <a:srgbClr val="F3F6F9"/>
                    </a:solidFill>
                  </a:tcPr>
                </a:tc>
              </a:tr>
            </a:tbl>
          </a:graphicData>
        </a:graphic>
      </p:graphicFrame>
      <p:sp>
        <p:nvSpPr>
          <p:cNvPr id="7" name="Rounded Rectangle 6"/>
          <p:cNvSpPr/>
          <p:nvPr/>
        </p:nvSpPr>
        <p:spPr>
          <a:xfrm>
            <a:off x="502920" y="5212080"/>
            <a:ext cx="5440680" cy="693039"/>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212080"/>
            <a:ext cx="45720" cy="69303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303520"/>
            <a:ext cx="5074920" cy="546735"/>
          </a:xfrm>
          <a:prstGeom prst="rect">
            <a:avLst/>
          </a:prstGeom>
          <a:noFill/>
        </p:spPr>
        <p:txBody>
          <a:bodyPr wrap="square" lIns="0" rIns="0" tIns="0" bIns="0" anchor="t">
            <a:spAutoFit/>
          </a:bodyPr>
          <a:lstStyle/>
          <a:p>
            <a:pPr algn="l">
              <a:lnSpc>
                <a:spcPct val="122000"/>
              </a:lnSpc>
              <a:spcBef>
                <a:spcPts val="0"/>
              </a:spcBef>
              <a:spcAft>
                <a:spcPts val="0"/>
              </a:spcAft>
            </a:pPr>
            <a:r>
              <a:rPr sz="1030" b="1" i="0">
                <a:solidFill>
                  <a:srgbClr val="B45309"/>
                </a:solidFill>
                <a:latin typeface="Arial"/>
              </a:rPr>
              <a:t>Issuance is an online act.</a:t>
            </a:r>
            <a:r>
              <a:rPr sz="1030" b="0" i="0">
                <a:solidFill>
                  <a:srgbClr val="1E293B"/>
                </a:solidFill>
                <a:latin typeface="Arial"/>
              </a:rPr>
              <a:t> Plan connectivity at the point where citizens obtain credentials — a kiosk, an office, an assisted-enrolment point.</a:t>
            </a:r>
          </a:p>
        </p:txBody>
      </p:sp>
      <p:sp>
        <p:nvSpPr>
          <p:cNvPr id="10" name="Rounded Rectangle 9"/>
          <p:cNvSpPr/>
          <p:nvPr/>
        </p:nvSpPr>
        <p:spPr>
          <a:xfrm>
            <a:off x="6245352" y="5212080"/>
            <a:ext cx="5440680" cy="693039"/>
          </a:xfrm>
          <a:prstGeom prst="roundRect">
            <a:avLst>
              <a:gd name="adj" fmla="val 9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5212080"/>
            <a:ext cx="45720" cy="693039"/>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5303520"/>
            <a:ext cx="5074920" cy="546735"/>
          </a:xfrm>
          <a:prstGeom prst="rect">
            <a:avLst/>
          </a:prstGeom>
          <a:noFill/>
        </p:spPr>
        <p:txBody>
          <a:bodyPr wrap="square" lIns="0" rIns="0" tIns="0" bIns="0" anchor="t">
            <a:spAutoFit/>
          </a:bodyPr>
          <a:lstStyle/>
          <a:p>
            <a:pPr algn="l">
              <a:lnSpc>
                <a:spcPct val="122000"/>
              </a:lnSpc>
              <a:spcBef>
                <a:spcPts val="0"/>
              </a:spcBef>
              <a:spcAft>
                <a:spcPts val="0"/>
              </a:spcAft>
            </a:pPr>
            <a:r>
              <a:rPr sz="1030" b="1" i="0">
                <a:solidFill>
                  <a:srgbClr val="15703D"/>
                </a:solidFill>
                <a:latin typeface="Arial"/>
              </a:rPr>
              <a:t>Presentation can be offline</a:t>
            </a:r>
            <a:r>
              <a:rPr sz="1030" b="0" i="0">
                <a:solidFill>
                  <a:srgbClr val="1E293B"/>
                </a:solidFill>
                <a:latin typeface="Arial"/>
              </a:rPr>
              <a:t> only if you choose an offline-capable channel: a QR the verifier scans, or BLE. OpenID4VP itself always needs a network.</a:t>
            </a:r>
          </a:p>
        </p:txBody>
      </p:sp>
      <p:sp>
        <p:nvSpPr>
          <p:cNvPr id="13" name="TextBox 1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ecosystem overview</a:t>
            </a:r>
          </a:p>
        </p:txBody>
      </p:sp>
      <p:sp>
        <p:nvSpPr>
          <p:cNvPr id="14" name="TextBox 1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2</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End-to-end demo, first</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We run the whole thing before we explain any of it. Watch the screen, not the slides. Questions are welcome — answers may be deferred to the matching section.</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20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Obtain and download a credential</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Inspect what was stored</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Present it to a verifier</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Consent and selective disclosure</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 same journey on the web</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What was happening behind the glass</a:t>
            </a:r>
          </a:p>
        </p:txBody>
      </p:sp>
      <p:sp>
        <p:nvSpPr>
          <p:cNvPr id="23" name="Rounded Rectangle 22"/>
          <p:cNvSpPr/>
          <p:nvPr/>
        </p:nvSpPr>
        <p:spPr>
          <a:xfrm>
            <a:off x="50292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End-to-end demo, first</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1   •   8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Obtain a credential — the full issuance journey</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running issuer (Inji Certify or your own) with at least one credential configuration.</a:t>
            </a:r>
          </a:p>
        </p:txBody>
      </p:sp>
      <p:sp>
        <p:nvSpPr>
          <p:cNvPr id="10" name="Oval 9"/>
          <p:cNvSpPr/>
          <p:nvPr/>
        </p:nvSpPr>
        <p:spPr>
          <a:xfrm>
            <a:off x="745236" y="2143506"/>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76145"/>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Mimoto up, with the issuer present in </a:t>
            </a:r>
            <a:r>
              <a:rPr sz="1019" b="0" i="0">
                <a:solidFill>
                  <a:srgbClr val="1D4E89"/>
                </a:solidFill>
                <a:latin typeface="Consolas"/>
              </a:rPr>
              <a:t>mimoto-issuers-config.json</a:t>
            </a:r>
            <a:r>
              <a:rPr sz="1019" b="0" i="0">
                <a:solidFill>
                  <a:srgbClr val="0F172A"/>
                </a:solidFill>
                <a:latin typeface="Arial"/>
              </a:rPr>
              <a:t> and </a:t>
            </a:r>
            <a:r>
              <a:rPr sz="1019" b="0" i="0">
                <a:solidFill>
                  <a:srgbClr val="1D4E89"/>
                </a:solidFill>
                <a:latin typeface="Consolas"/>
              </a:rPr>
              <a:t>enabled: true</a:t>
            </a:r>
            <a:r>
              <a:rPr sz="1019" b="0" i="0">
                <a:solidFill>
                  <a:srgbClr val="0F172A"/>
                </a:solidFill>
                <a:latin typeface="Arial"/>
              </a:rPr>
              <a:t>.</a:t>
            </a:r>
          </a:p>
        </p:txBody>
      </p:sp>
      <p:sp>
        <p:nvSpPr>
          <p:cNvPr id="12" name="Oval 11"/>
          <p:cNvSpPr/>
          <p:nvPr/>
        </p:nvSpPr>
        <p:spPr>
          <a:xfrm>
            <a:off x="745236" y="2710891"/>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64353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Wallet build pointing at your </a:t>
            </a:r>
            <a:r>
              <a:rPr sz="1019" b="0" i="0">
                <a:solidFill>
                  <a:srgbClr val="1D4E89"/>
                </a:solidFill>
                <a:latin typeface="Consolas"/>
              </a:rPr>
              <a:t>MIMOTO_HOST</a:t>
            </a:r>
            <a:r>
              <a:rPr sz="1019" b="0" i="0">
                <a:solidFill>
                  <a:srgbClr val="0F172A"/>
                </a:solidFill>
                <a:latin typeface="Arial"/>
              </a:rPr>
              <a:t>.</a:t>
            </a:r>
          </a:p>
        </p:txBody>
      </p:sp>
      <p:sp>
        <p:nvSpPr>
          <p:cNvPr id="14" name="Oval 13"/>
          <p:cNvSpPr/>
          <p:nvPr/>
        </p:nvSpPr>
        <p:spPr>
          <a:xfrm>
            <a:off x="745236" y="3115056"/>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047695"/>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test identity that the issuer's authorization server will accept.</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User opens the Wallet and taps </a:t>
            </a:r>
            <a:r>
              <a:rPr sz="1019" b="1" i="0">
                <a:solidFill>
                  <a:srgbClr val="0F172A"/>
                </a:solidFill>
                <a:latin typeface="Arial"/>
              </a:rPr>
              <a:t>Add credential</a:t>
            </a:r>
            <a:r>
              <a:rPr sz="1019" b="0" i="0">
                <a:solidFill>
                  <a:srgbClr val="0F172A"/>
                </a:solidFill>
                <a:latin typeface="Arial"/>
              </a:rPr>
              <a:t>.</a:t>
            </a:r>
          </a:p>
        </p:txBody>
      </p:sp>
      <p:sp>
        <p:nvSpPr>
          <p:cNvPr id="21" name="Oval 20"/>
          <p:cNvSpPr/>
          <p:nvPr/>
        </p:nvSpPr>
        <p:spPr>
          <a:xfrm>
            <a:off x="4466844" y="198028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191292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list of issuers appears, each with logo and description.</a:t>
            </a:r>
          </a:p>
        </p:txBody>
      </p:sp>
      <p:sp>
        <p:nvSpPr>
          <p:cNvPr id="23" name="Oval 22"/>
          <p:cNvSpPr/>
          <p:nvPr/>
        </p:nvSpPr>
        <p:spPr>
          <a:xfrm>
            <a:off x="4466844" y="238445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317089"/>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User picks one, and picks which credential type to download.</a:t>
            </a:r>
          </a:p>
        </p:txBody>
      </p:sp>
      <p:sp>
        <p:nvSpPr>
          <p:cNvPr id="25" name="Oval 24"/>
          <p:cNvSpPr/>
          <p:nvPr/>
        </p:nvSpPr>
        <p:spPr>
          <a:xfrm>
            <a:off x="4466844" y="278861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272125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browser opens for login — OTP, biometric, whatever the AS is configured for.</a:t>
            </a:r>
          </a:p>
        </p:txBody>
      </p:sp>
      <p:sp>
        <p:nvSpPr>
          <p:cNvPr id="27" name="Oval 26"/>
          <p:cNvSpPr/>
          <p:nvPr/>
        </p:nvSpPr>
        <p:spPr>
          <a:xfrm>
            <a:off x="4466844" y="319278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54296" y="3125419"/>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browser closes, the app spins, the card appears.</a:t>
            </a:r>
          </a:p>
        </p:txBody>
      </p:sp>
      <p:sp>
        <p:nvSpPr>
          <p:cNvPr id="29" name="Rounded Rectangle 28"/>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32" name="Oval 31"/>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1508760"/>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Wallet asked Mimoto for the issuer list (</a:t>
            </a:r>
            <a:r>
              <a:rPr sz="1019" b="0" i="0">
                <a:solidFill>
                  <a:srgbClr val="1D4E89"/>
                </a:solidFill>
                <a:latin typeface="Consolas"/>
              </a:rPr>
              <a:t>GET /v2/issuers</a:t>
            </a:r>
            <a:r>
              <a:rPr sz="1019" b="0" i="0">
                <a:solidFill>
                  <a:srgbClr val="0F172A"/>
                </a:solidFill>
                <a:latin typeface="Arial"/>
              </a:rPr>
              <a:t>).</a:t>
            </a:r>
          </a:p>
        </p:txBody>
      </p:sp>
      <p:sp>
        <p:nvSpPr>
          <p:cNvPr id="34" name="Oval 33"/>
          <p:cNvSpPr/>
          <p:nvPr/>
        </p:nvSpPr>
        <p:spPr>
          <a:xfrm>
            <a:off x="8188452" y="198028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1912924"/>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Wallet fetched </a:t>
            </a:r>
            <a:r>
              <a:rPr sz="1019" b="0" i="0">
                <a:solidFill>
                  <a:srgbClr val="1D4E89"/>
                </a:solidFill>
                <a:latin typeface="Consolas"/>
              </a:rPr>
              <a:t>/.well-known/openid-credential-issuer</a:t>
            </a:r>
            <a:r>
              <a:rPr sz="1019" b="0" i="0">
                <a:solidFill>
                  <a:srgbClr val="0F172A"/>
                </a:solidFill>
                <a:latin typeface="Arial"/>
              </a:rPr>
              <a:t> for metadata.</a:t>
            </a:r>
          </a:p>
        </p:txBody>
      </p:sp>
      <p:sp>
        <p:nvSpPr>
          <p:cNvPr id="36" name="Oval 35"/>
          <p:cNvSpPr/>
          <p:nvPr/>
        </p:nvSpPr>
        <p:spPr>
          <a:xfrm>
            <a:off x="8188452" y="238445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5904" y="2317089"/>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 discovered the authorization server and built an authorization URL </a:t>
            </a:r>
            <a:r>
              <a:rPr sz="1019" b="1" i="0">
                <a:solidFill>
                  <a:srgbClr val="0F172A"/>
                </a:solidFill>
                <a:latin typeface="Arial"/>
              </a:rPr>
              <a:t>with PKCE</a:t>
            </a:r>
            <a:r>
              <a:rPr sz="1019" b="0" i="0">
                <a:solidFill>
                  <a:srgbClr val="0F172A"/>
                </a:solidFill>
                <a:latin typeface="Arial"/>
              </a:rPr>
              <a:t>.</a:t>
            </a:r>
          </a:p>
        </p:txBody>
      </p:sp>
      <p:sp>
        <p:nvSpPr>
          <p:cNvPr id="38" name="Oval 37"/>
          <p:cNvSpPr/>
          <p:nvPr/>
        </p:nvSpPr>
        <p:spPr>
          <a:xfrm>
            <a:off x="8188452" y="278861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75904" y="2721254"/>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code came back on the wallet's </a:t>
            </a:r>
            <a:r>
              <a:rPr sz="1019" b="0" i="0">
                <a:solidFill>
                  <a:srgbClr val="1D4E89"/>
                </a:solidFill>
                <a:latin typeface="Consolas"/>
              </a:rPr>
              <a:t>oauthredirect</a:t>
            </a:r>
            <a:r>
              <a:rPr sz="1019" b="0" i="0">
                <a:solidFill>
                  <a:srgbClr val="0F172A"/>
                </a:solidFill>
                <a:latin typeface="Arial"/>
              </a:rPr>
              <a:t> deep link.</a:t>
            </a:r>
          </a:p>
        </p:txBody>
      </p:sp>
      <p:sp>
        <p:nvSpPr>
          <p:cNvPr id="40" name="Oval 39"/>
          <p:cNvSpPr/>
          <p:nvPr/>
        </p:nvSpPr>
        <p:spPr>
          <a:xfrm>
            <a:off x="8188452" y="319278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75904" y="3125419"/>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Token exchange, then a </a:t>
            </a:r>
            <a:r>
              <a:rPr sz="1019" b="1" i="0">
                <a:solidFill>
                  <a:srgbClr val="0F172A"/>
                </a:solidFill>
                <a:latin typeface="Arial"/>
              </a:rPr>
              <a:t>proof JWT</a:t>
            </a:r>
            <a:r>
              <a:rPr sz="1019" b="0" i="0">
                <a:solidFill>
                  <a:srgbClr val="0F172A"/>
                </a:solidFill>
                <a:latin typeface="Arial"/>
              </a:rPr>
              <a:t> signed by a key the wallet just created, then the credential request.</a:t>
            </a:r>
          </a:p>
        </p:txBody>
      </p:sp>
      <p:sp>
        <p:nvSpPr>
          <p:cNvPr id="42" name="Rounded Rectangle 41"/>
          <p:cNvSpPr/>
          <p:nvPr/>
        </p:nvSpPr>
        <p:spPr>
          <a:xfrm>
            <a:off x="502920" y="5175504"/>
            <a:ext cx="11185855" cy="724154"/>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5175504"/>
            <a:ext cx="45720" cy="72415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266944"/>
            <a:ext cx="10820095" cy="577850"/>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The two usual suspects are (a) the redirect URI registered at the authorization server does not match the one the wallet sends, and (b) the issuer's well-known endpoint is unreachable from the phone's network. Have both ready to show.</a:t>
            </a:r>
          </a:p>
        </p:txBody>
      </p:sp>
      <p:sp>
        <p:nvSpPr>
          <p:cNvPr id="45" name="TextBox 4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End-to-end demo, first</a:t>
            </a:r>
          </a:p>
        </p:txBody>
      </p:sp>
      <p:sp>
        <p:nvSpPr>
          <p:cNvPr id="46" name="TextBox 4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2   •   8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Present a credential — the full verification journey</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verifier (Inji Verify or your own) that can render an OpenID4VP QR.</a:t>
            </a:r>
          </a:p>
        </p:txBody>
      </p:sp>
      <p:sp>
        <p:nvSpPr>
          <p:cNvPr id="10" name="Oval 9"/>
          <p:cNvSpPr/>
          <p:nvPr/>
        </p:nvSpPr>
        <p:spPr>
          <a:xfrm>
            <a:off x="745236" y="198028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12924"/>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verifier registered in </a:t>
            </a:r>
            <a:r>
              <a:rPr sz="1019" b="0" i="0">
                <a:solidFill>
                  <a:srgbClr val="1D4E89"/>
                </a:solidFill>
                <a:latin typeface="Consolas"/>
              </a:rPr>
              <a:t>mimoto-trusted-verifiers.json</a:t>
            </a:r>
            <a:r>
              <a:rPr sz="1019" b="0" i="0">
                <a:solidFill>
                  <a:srgbClr val="0F172A"/>
                </a:solidFill>
                <a:latin typeface="Arial"/>
              </a:rPr>
              <a:t> with its </a:t>
            </a:r>
            <a:r>
              <a:rPr sz="1019" b="0" i="0">
                <a:solidFill>
                  <a:srgbClr val="1D4E89"/>
                </a:solidFill>
                <a:latin typeface="Consolas"/>
              </a:rPr>
              <a:t>client_id</a:t>
            </a:r>
            <a:r>
              <a:rPr sz="1019" b="0" i="0">
                <a:solidFill>
                  <a:srgbClr val="0F172A"/>
                </a:solidFill>
                <a:latin typeface="Arial"/>
              </a:rPr>
              <a:t> and </a:t>
            </a:r>
            <a:r>
              <a:rPr sz="1019" b="0" i="0">
                <a:solidFill>
                  <a:srgbClr val="1D4E89"/>
                </a:solidFill>
                <a:latin typeface="Consolas"/>
              </a:rPr>
              <a:t>response_uri</a:t>
            </a:r>
            <a:r>
              <a:rPr sz="1019" b="0" i="0">
                <a:solidFill>
                  <a:srgbClr val="0F172A"/>
                </a:solidFill>
                <a:latin typeface="Arial"/>
              </a:rPr>
              <a:t>.</a:t>
            </a:r>
          </a:p>
        </p:txBody>
      </p:sp>
      <p:sp>
        <p:nvSpPr>
          <p:cNvPr id="12" name="Oval 11"/>
          <p:cNvSpPr/>
          <p:nvPr/>
        </p:nvSpPr>
        <p:spPr>
          <a:xfrm>
            <a:off x="745236" y="254767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48031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credential from Demo 1 already in the wallet.</a:t>
            </a:r>
          </a:p>
        </p:txBody>
      </p:sp>
      <p:sp>
        <p:nvSpPr>
          <p:cNvPr id="14" name="Oval 13"/>
          <p:cNvSpPr/>
          <p:nvPr/>
        </p:nvSpPr>
        <p:spPr>
          <a:xfrm>
            <a:off x="745236" y="295183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88447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second screen so the room sees both the verifier and the phone.</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Verifier shows a QR code and says what it wants.</a:t>
            </a:r>
          </a:p>
        </p:txBody>
      </p:sp>
      <p:sp>
        <p:nvSpPr>
          <p:cNvPr id="21" name="Oval 20"/>
          <p:cNvSpPr/>
          <p:nvPr/>
        </p:nvSpPr>
        <p:spPr>
          <a:xfrm>
            <a:off x="4466844" y="198028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1912924"/>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User scans it with the Wallet.</a:t>
            </a:r>
          </a:p>
        </p:txBody>
      </p:sp>
      <p:sp>
        <p:nvSpPr>
          <p:cNvPr id="23" name="Oval 22"/>
          <p:cNvSpPr/>
          <p:nvPr/>
        </p:nvSpPr>
        <p:spPr>
          <a:xfrm>
            <a:off x="4466844" y="222123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153869"/>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Wallet shows: </a:t>
            </a:r>
            <a:r>
              <a:rPr sz="1019" b="1" i="0">
                <a:solidFill>
                  <a:srgbClr val="0F172A"/>
                </a:solidFill>
                <a:latin typeface="Arial"/>
              </a:rPr>
              <a:t>who is asking</a:t>
            </a:r>
            <a:r>
              <a:rPr sz="1019" b="0" i="0">
                <a:solidFill>
                  <a:srgbClr val="0F172A"/>
                </a:solidFill>
                <a:latin typeface="Arial"/>
              </a:rPr>
              <a:t>, and </a:t>
            </a:r>
            <a:r>
              <a:rPr sz="1019" b="1" i="0">
                <a:solidFill>
                  <a:srgbClr val="0F172A"/>
                </a:solidFill>
                <a:latin typeface="Arial"/>
              </a:rPr>
              <a:t>exactly which claims</a:t>
            </a:r>
            <a:r>
              <a:rPr sz="1019" b="0" i="0">
                <a:solidFill>
                  <a:srgbClr val="0F172A"/>
                </a:solidFill>
                <a:latin typeface="Arial"/>
              </a:rPr>
              <a:t>.</a:t>
            </a:r>
          </a:p>
        </p:txBody>
      </p:sp>
      <p:sp>
        <p:nvSpPr>
          <p:cNvPr id="25" name="Oval 24"/>
          <p:cNvSpPr/>
          <p:nvPr/>
        </p:nvSpPr>
        <p:spPr>
          <a:xfrm>
            <a:off x="4466844" y="262539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2558034"/>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User picks a credential and taps share.</a:t>
            </a:r>
          </a:p>
        </p:txBody>
      </p:sp>
      <p:sp>
        <p:nvSpPr>
          <p:cNvPr id="27" name="Oval 26"/>
          <p:cNvSpPr/>
          <p:nvPr/>
        </p:nvSpPr>
        <p:spPr>
          <a:xfrm>
            <a:off x="4466844" y="2866339"/>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54296" y="2798978"/>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Verifier screen flips to success, showing only the claims it asked for.</a:t>
            </a:r>
          </a:p>
        </p:txBody>
      </p:sp>
      <p:sp>
        <p:nvSpPr>
          <p:cNvPr id="29" name="Rounded Rectangle 28"/>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32" name="Oval 31"/>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1508760"/>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QR carried an OpenID4VP authorization request (or a </a:t>
            </a:r>
            <a:r>
              <a:rPr sz="1019" b="0" i="0">
                <a:solidFill>
                  <a:srgbClr val="1D4E89"/>
                </a:solidFill>
                <a:latin typeface="Consolas"/>
              </a:rPr>
              <a:t>request_uri</a:t>
            </a:r>
            <a:r>
              <a:rPr sz="1019" b="0" i="0">
                <a:solidFill>
                  <a:srgbClr val="0F172A"/>
                </a:solidFill>
                <a:latin typeface="Arial"/>
              </a:rPr>
              <a:t> pointing to one).</a:t>
            </a:r>
          </a:p>
        </p:txBody>
      </p:sp>
      <p:sp>
        <p:nvSpPr>
          <p:cNvPr id="34" name="Oval 33"/>
          <p:cNvSpPr/>
          <p:nvPr/>
        </p:nvSpPr>
        <p:spPr>
          <a:xfrm>
            <a:off x="8188452" y="2143506"/>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2076145"/>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inji-openid4vp</a:t>
            </a:r>
            <a:r>
              <a:rPr sz="1019" b="0" i="0">
                <a:solidFill>
                  <a:srgbClr val="0F172A"/>
                </a:solidFill>
                <a:latin typeface="Arial"/>
              </a:rPr>
              <a:t> validated the request against the </a:t>
            </a:r>
            <a:r>
              <a:rPr sz="1019" b="0" i="0">
                <a:solidFill>
                  <a:srgbClr val="1D4E89"/>
                </a:solidFill>
                <a:latin typeface="Consolas"/>
              </a:rPr>
              <a:t>client_id</a:t>
            </a:r>
            <a:r>
              <a:rPr sz="1019" b="0" i="0">
                <a:solidFill>
                  <a:srgbClr val="0F172A"/>
                </a:solidFill>
                <a:latin typeface="Arial"/>
              </a:rPr>
              <a:t> scheme and the trusted-verifier list.</a:t>
            </a:r>
          </a:p>
        </p:txBody>
      </p:sp>
      <p:sp>
        <p:nvSpPr>
          <p:cNvPr id="36" name="Oval 35"/>
          <p:cNvSpPr/>
          <p:nvPr/>
        </p:nvSpPr>
        <p:spPr>
          <a:xfrm>
            <a:off x="8188452" y="2710891"/>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5904" y="2643530"/>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Wallet matched stored credentials against the </a:t>
            </a:r>
            <a:r>
              <a:rPr sz="1019" b="0" i="0">
                <a:solidFill>
                  <a:srgbClr val="1D4E89"/>
                </a:solidFill>
                <a:latin typeface="Consolas"/>
              </a:rPr>
              <a:t>presentation_definition</a:t>
            </a:r>
            <a:r>
              <a:rPr sz="1019" b="0" i="0">
                <a:solidFill>
                  <a:srgbClr val="0F172A"/>
                </a:solidFill>
                <a:latin typeface="Arial"/>
              </a:rPr>
              <a:t> constraints.</a:t>
            </a:r>
          </a:p>
        </p:txBody>
      </p:sp>
      <p:sp>
        <p:nvSpPr>
          <p:cNvPr id="38" name="Oval 37"/>
          <p:cNvSpPr/>
          <p:nvPr/>
        </p:nvSpPr>
        <p:spPr>
          <a:xfrm>
            <a:off x="8188452" y="3278276"/>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75904" y="3210915"/>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 built an </a:t>
            </a:r>
            <a:r>
              <a:rPr sz="1019" b="1" i="0">
                <a:solidFill>
                  <a:srgbClr val="0F172A"/>
                </a:solidFill>
                <a:latin typeface="Arial"/>
              </a:rPr>
              <a:t>unsigned VP token</a:t>
            </a:r>
            <a:r>
              <a:rPr sz="1019" b="0" i="0">
                <a:solidFill>
                  <a:srgbClr val="0F172A"/>
                </a:solidFill>
                <a:latin typeface="Arial"/>
              </a:rPr>
              <a:t>, the wallet signed it, the library POSTed it to </a:t>
            </a:r>
            <a:r>
              <a:rPr sz="1019" b="0" i="0">
                <a:solidFill>
                  <a:srgbClr val="1D4E89"/>
                </a:solidFill>
                <a:latin typeface="Consolas"/>
              </a:rPr>
              <a:t>response_uri</a:t>
            </a:r>
            <a:r>
              <a:rPr sz="1019" b="0" i="0">
                <a:solidFill>
                  <a:srgbClr val="0F172A"/>
                </a:solidFill>
                <a:latin typeface="Arial"/>
              </a:rPr>
              <a:t>.</a:t>
            </a:r>
          </a:p>
        </p:txBody>
      </p:sp>
      <p:sp>
        <p:nvSpPr>
          <p:cNvPr id="40" name="Oval 39"/>
          <p:cNvSpPr/>
          <p:nvPr/>
        </p:nvSpPr>
        <p:spPr>
          <a:xfrm>
            <a:off x="8188452" y="3845661"/>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75904" y="3778300"/>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verifier checked the issuer signature, the holder binding, and its own </a:t>
            </a:r>
            <a:r>
              <a:rPr sz="1019" b="0" i="0">
                <a:solidFill>
                  <a:srgbClr val="1D4E89"/>
                </a:solidFill>
                <a:latin typeface="Consolas"/>
              </a:rPr>
              <a:t>nonce</a:t>
            </a:r>
            <a:r>
              <a:rPr sz="1019" b="0" i="0">
                <a:solidFill>
                  <a:srgbClr val="0F172A"/>
                </a:solidFill>
                <a:latin typeface="Arial"/>
              </a:rPr>
              <a:t>.</a:t>
            </a:r>
          </a:p>
        </p:txBody>
      </p:sp>
      <p:sp>
        <p:nvSpPr>
          <p:cNvPr id="42" name="Rounded Rectangle 41"/>
          <p:cNvSpPr/>
          <p:nvPr/>
        </p:nvSpPr>
        <p:spPr>
          <a:xfrm>
            <a:off x="502920" y="5175504"/>
            <a:ext cx="11185855" cy="724154"/>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5175504"/>
            <a:ext cx="45720" cy="72415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266944"/>
            <a:ext cx="10820095" cy="577850"/>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If the verifier is not in the trusted list, the wallet refuses before showing anything. That is correct behaviour, and it is worth failing on purpose once — see Demo 8.</a:t>
            </a:r>
          </a:p>
        </p:txBody>
      </p:sp>
      <p:sp>
        <p:nvSpPr>
          <p:cNvPr id="45" name="TextBox 4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End-to-end demo, first</a:t>
            </a:r>
          </a:p>
        </p:txBody>
      </p:sp>
      <p:sp>
        <p:nvSpPr>
          <p:cNvPr id="46" name="TextBox 4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3</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Credential issuance with OpenID4VCI</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From 'I want a credential' to 'it is stored'. Every message, in order, with the fields that actually matter when something breaks.</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35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Credential Offer</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Issuer + authorization server metadata</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Pre-authorized code flow</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Authorization code flow + PKCE</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Token request and response</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Credential request, proof, response</a:t>
            </a:r>
          </a:p>
        </p:txBody>
      </p:sp>
      <p:sp>
        <p:nvSpPr>
          <p:cNvPr id="23" name="Rounded Rectangle 22"/>
          <p:cNvSpPr/>
          <p:nvPr/>
        </p:nvSpPr>
        <p:spPr>
          <a:xfrm>
            <a:off x="50292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Credential issuance with OpenID4VCI</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THE SHAPE OF THE PROTOCOL</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OpenID4VCI: five endpoints and one new idea</a:t>
            </a:r>
          </a:p>
        </p:txBody>
      </p:sp>
      <p:sp>
        <p:nvSpPr>
          <p:cNvPr id="4" name="TextBox 3"/>
          <p:cNvSpPr txBox="1"/>
          <p:nvPr/>
        </p:nvSpPr>
        <p:spPr>
          <a:xfrm>
            <a:off x="502920" y="1078992"/>
            <a:ext cx="11185855" cy="305961"/>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If you know OAuth 2.0, you already know 80% of this. The new part is the credential endpoint and the proof.</a:t>
            </a:r>
          </a:p>
        </p:txBody>
      </p:sp>
      <p:cxnSp>
        <p:nvCxnSpPr>
          <p:cNvPr id="5" name="Connector 4"/>
          <p:cNvCxnSpPr/>
          <p:nvPr/>
        </p:nvCxnSpPr>
        <p:spPr>
          <a:xfrm>
            <a:off x="502920" y="1476393"/>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74368"/>
          <a:ext cx="11185853" cy="2555676"/>
        </p:xfrm>
        <a:graphic>
          <a:graphicData uri="http://schemas.openxmlformats.org/drawingml/2006/table">
            <a:tbl>
              <a:tblPr firstRow="1">
                <a:tableStyleId>{2D5ABB26-0587-4C30-8999-92F81FD0307C}</a:tableStyleId>
              </a:tblPr>
              <a:tblGrid>
                <a:gridCol w="3667493"/>
                <a:gridCol w="2017121"/>
                <a:gridCol w="1466997"/>
                <a:gridCol w="4034242"/>
              </a:tblGrid>
              <a:tr h="305961">
                <a:tc>
                  <a:txBody>
                    <a:bodyPr wrap="square"/>
                    <a:lstStyle/>
                    <a:p>
                      <a:pPr algn="l"/>
                      <a:r>
                        <a:rPr sz="940" b="1">
                          <a:solidFill>
                            <a:srgbClr val="FFFFFF"/>
                          </a:solidFill>
                          <a:latin typeface="Arial"/>
                        </a:rPr>
                        <a:t>Endpoint</a:t>
                      </a:r>
                    </a:p>
                  </a:txBody>
                  <a:tcPr marL="64008" marR="54864" marT="27432" marB="27432" anchor="ctr">
                    <a:solidFill>
                      <a:srgbClr val="1D4E89"/>
                    </a:solidFill>
                  </a:tcPr>
                </a:tc>
                <a:tc>
                  <a:txBody>
                    <a:bodyPr wrap="square"/>
                    <a:lstStyle/>
                    <a:p>
                      <a:pPr algn="l"/>
                      <a:r>
                        <a:rPr sz="940" b="1">
                          <a:solidFill>
                            <a:srgbClr val="FFFFFF"/>
                          </a:solidFill>
                          <a:latin typeface="Arial"/>
                        </a:rPr>
                        <a:t>Who hosts it</a:t>
                      </a:r>
                    </a:p>
                  </a:txBody>
                  <a:tcPr marL="64008" marR="54864" marT="27432" marB="27432" anchor="ctr">
                    <a:solidFill>
                      <a:srgbClr val="1D4E89"/>
                    </a:solidFill>
                  </a:tcPr>
                </a:tc>
                <a:tc>
                  <a:txBody>
                    <a:bodyPr wrap="square"/>
                    <a:lstStyle/>
                    <a:p>
                      <a:pPr algn="l"/>
                      <a:r>
                        <a:rPr sz="940" b="1">
                          <a:solidFill>
                            <a:srgbClr val="FFFFFF"/>
                          </a:solidFill>
                          <a:latin typeface="Arial"/>
                        </a:rPr>
                        <a:t>Method</a:t>
                      </a:r>
                    </a:p>
                  </a:txBody>
                  <a:tcPr marL="64008" marR="54864" marT="27432" marB="27432" anchor="ctr">
                    <a:solidFill>
                      <a:srgbClr val="1D4E89"/>
                    </a:solidFill>
                  </a:tcPr>
                </a:tc>
                <a:tc>
                  <a:txBody>
                    <a:bodyPr wrap="square"/>
                    <a:lstStyle/>
                    <a:p>
                      <a:pPr algn="l"/>
                      <a:r>
                        <a:rPr sz="940" b="1">
                          <a:solidFill>
                            <a:srgbClr val="FFFFFF"/>
                          </a:solidFill>
                          <a:latin typeface="Arial"/>
                        </a:rPr>
                        <a:t>What it gives you</a:t>
                      </a:r>
                    </a:p>
                  </a:txBody>
                  <a:tcPr marL="64008" marR="54864" marT="27432" marB="27432" anchor="ctr">
                    <a:solidFill>
                      <a:srgbClr val="1D4E89"/>
                    </a:solidFill>
                  </a:tcPr>
                </a:tc>
              </a:tr>
              <a:tr h="449943">
                <a:tc>
                  <a:txBody>
                    <a:bodyPr wrap="square"/>
                    <a:lstStyle/>
                    <a:p>
                      <a:pPr algn="l">
                        <a:lnSpc>
                          <a:spcPct val="105000"/>
                        </a:lnSpc>
                      </a:pPr>
                      <a:r>
                        <a:rPr sz="940" b="0">
                          <a:solidFill>
                            <a:srgbClr val="1D4E89"/>
                          </a:solidFill>
                          <a:latin typeface="Consolas"/>
                        </a:rPr>
                        <a:t>/.well-known/openid-credential-issuer</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Credential Issuer</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GET</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What credentials exist, in what formats, at which endpoint, with what display labels</a:t>
                      </a:r>
                    </a:p>
                  </a:txBody>
                  <a:tcPr marL="64008" marR="54864" marT="18288" marB="18288" anchor="ctr">
                    <a:solidFill>
                      <a:srgbClr val="FFFFFF"/>
                    </a:solidFill>
                  </a:tcPr>
                </a:tc>
              </a:tr>
              <a:tr h="449943">
                <a:tc>
                  <a:txBody>
                    <a:bodyPr wrap="square"/>
                    <a:lstStyle/>
                    <a:p>
                      <a:pPr algn="l">
                        <a:lnSpc>
                          <a:spcPct val="105000"/>
                        </a:lnSpc>
                      </a:pPr>
                      <a:r>
                        <a:rPr sz="940" b="0">
                          <a:solidFill>
                            <a:srgbClr val="1D4E89"/>
                          </a:solidFill>
                          <a:latin typeface="Consolas"/>
                        </a:rPr>
                        <a:t>/.well-known/oauth-authorization-server</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Authorization Server</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GET</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Where to authorize, where to get tokens, which grants and response types are supported</a:t>
                      </a:r>
                    </a:p>
                  </a:txBody>
                  <a:tcPr marL="64008" marR="54864" marT="18288" marB="18288" anchor="ctr">
                    <a:solidFill>
                      <a:srgbClr val="F3F6F9"/>
                    </a:solidFill>
                  </a:tcPr>
                </a:tc>
              </a:tr>
              <a:tr h="449943">
                <a:tc>
                  <a:txBody>
                    <a:bodyPr wrap="square"/>
                    <a:lstStyle/>
                    <a:p>
                      <a:pPr algn="l">
                        <a:lnSpc>
                          <a:spcPct val="105000"/>
                        </a:lnSpc>
                      </a:pPr>
                      <a:r>
                        <a:rPr sz="940" b="0">
                          <a:solidFill>
                            <a:srgbClr val="1D4E89"/>
                          </a:solidFill>
                          <a:latin typeface="Consolas"/>
                        </a:rPr>
                        <a:t>authorization_endpoint</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Authorization Server</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GET (browser)</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Authenticate the user and issue a one-time authorization code</a:t>
                      </a:r>
                    </a:p>
                  </a:txBody>
                  <a:tcPr marL="64008" marR="54864" marT="18288" marB="18288" anchor="ctr">
                    <a:solidFill>
                      <a:srgbClr val="FFFFFF"/>
                    </a:solidFill>
                  </a:tcPr>
                </a:tc>
              </a:tr>
              <a:tr h="449943">
                <a:tc>
                  <a:txBody>
                    <a:bodyPr wrap="square"/>
                    <a:lstStyle/>
                    <a:p>
                      <a:pPr algn="l">
                        <a:lnSpc>
                          <a:spcPct val="105000"/>
                        </a:lnSpc>
                      </a:pPr>
                      <a:r>
                        <a:rPr sz="940" b="0">
                          <a:solidFill>
                            <a:srgbClr val="1D4E89"/>
                          </a:solidFill>
                          <a:latin typeface="Consolas"/>
                        </a:rPr>
                        <a:t>token_endpoint</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Authorization Server</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POST</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Exchange the code (or pre-authorized code) for an access token and a </a:t>
                      </a:r>
                      <a:r>
                        <a:rPr sz="940" b="0">
                          <a:solidFill>
                            <a:srgbClr val="1D4E89"/>
                          </a:solidFill>
                          <a:latin typeface="Consolas"/>
                        </a:rPr>
                        <a:t>c_nonce</a:t>
                      </a:r>
                    </a:p>
                  </a:txBody>
                  <a:tcPr marL="64008" marR="54864" marT="18288" marB="18288" anchor="ctr">
                    <a:solidFill>
                      <a:srgbClr val="F3F6F9"/>
                    </a:solidFill>
                  </a:tcPr>
                </a:tc>
              </a:tr>
              <a:tr h="449943">
                <a:tc>
                  <a:txBody>
                    <a:bodyPr wrap="square"/>
                    <a:lstStyle/>
                    <a:p>
                      <a:pPr algn="l">
                        <a:lnSpc>
                          <a:spcPct val="105000"/>
                        </a:lnSpc>
                      </a:pPr>
                      <a:r>
                        <a:rPr sz="940" b="0">
                          <a:solidFill>
                            <a:srgbClr val="1D4E89"/>
                          </a:solidFill>
                          <a:latin typeface="Consolas"/>
                        </a:rPr>
                        <a:t>credential_endpoint</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Credential Issuer</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POST</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The new one. Send a proof, get a credential back.</a:t>
                      </a:r>
                    </a:p>
                  </a:txBody>
                  <a:tcPr marL="64008" marR="54864" marT="18288" marB="18288" anchor="ctr">
                    <a:solidFill>
                      <a:srgbClr val="FFFFFF"/>
                    </a:solidFill>
                  </a:tcPr>
                </a:tc>
              </a:tr>
            </a:tbl>
          </a:graphicData>
        </a:graphic>
      </p:graphicFrame>
      <p:sp>
        <p:nvSpPr>
          <p:cNvPr id="7" name="Rounded Rectangle 6"/>
          <p:cNvSpPr/>
          <p:nvPr/>
        </p:nvSpPr>
        <p:spPr>
          <a:xfrm>
            <a:off x="502920" y="4428018"/>
            <a:ext cx="5440680" cy="1844765"/>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4428018"/>
            <a:ext cx="50292" cy="1844765"/>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4572001"/>
            <a:ext cx="5056632" cy="269965"/>
          </a:xfrm>
          <a:prstGeom prst="rect">
            <a:avLst/>
          </a:prstGeom>
          <a:noFill/>
        </p:spPr>
        <p:txBody>
          <a:bodyPr wrap="square" lIns="0" rIns="0" tIns="0" bIns="0" anchor="t">
            <a:spAutoFit/>
          </a:bodyPr>
          <a:lstStyle/>
          <a:p>
            <a:pPr algn="l">
              <a:lnSpc>
                <a:spcPct val="114000"/>
              </a:lnSpc>
              <a:spcBef>
                <a:spcPts val="0"/>
              </a:spcBef>
              <a:spcAft>
                <a:spcPts val="0"/>
              </a:spcAft>
            </a:pPr>
            <a:r>
              <a:rPr sz="1190" b="1" i="0">
                <a:solidFill>
                  <a:srgbClr val="1D4E89"/>
                </a:solidFill>
              </a:rPr>
              <a:t>Two ways a journey starts</a:t>
            </a:r>
          </a:p>
        </p:txBody>
      </p:sp>
      <p:sp>
        <p:nvSpPr>
          <p:cNvPr id="10" name="Oval 9"/>
          <p:cNvSpPr/>
          <p:nvPr/>
        </p:nvSpPr>
        <p:spPr>
          <a:xfrm>
            <a:off x="745236" y="4863263"/>
            <a:ext cx="77724" cy="7649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796972"/>
            <a:ext cx="4828031" cy="429244"/>
          </a:xfrm>
          <a:prstGeom prst="rect">
            <a:avLst/>
          </a:prstGeom>
          <a:noFill/>
        </p:spPr>
        <p:txBody>
          <a:bodyPr wrap="square" lIns="0" rIns="0" tIns="0" bIns="0" anchor="t">
            <a:spAutoFit/>
          </a:bodyPr>
          <a:lstStyle/>
          <a:p>
            <a:pPr algn="l">
              <a:lnSpc>
                <a:spcPct val="124000"/>
              </a:lnSpc>
              <a:spcBef>
                <a:spcPts val="0"/>
              </a:spcBef>
              <a:spcAft>
                <a:spcPts val="0"/>
              </a:spcAft>
            </a:pPr>
            <a:r>
              <a:rPr sz="1010" b="1" i="0">
                <a:solidFill>
                  <a:srgbClr val="0F172A"/>
                </a:solidFill>
                <a:latin typeface="Arial"/>
              </a:rPr>
              <a:t>Wallet-initiated</a:t>
            </a:r>
            <a:r>
              <a:rPr sz="1010" b="0" i="0">
                <a:solidFill>
                  <a:srgbClr val="0F172A"/>
                </a:solidFill>
                <a:latin typeface="Arial"/>
              </a:rPr>
              <a:t> (trusted issuer): the user browses a list of issuers the wallet already knows and picks one.</a:t>
            </a:r>
          </a:p>
        </p:txBody>
      </p:sp>
      <p:sp>
        <p:nvSpPr>
          <p:cNvPr id="12" name="Oval 11"/>
          <p:cNvSpPr/>
          <p:nvPr/>
        </p:nvSpPr>
        <p:spPr>
          <a:xfrm>
            <a:off x="745236" y="5261013"/>
            <a:ext cx="77724" cy="7649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5194721"/>
            <a:ext cx="4828031" cy="429244"/>
          </a:xfrm>
          <a:prstGeom prst="rect">
            <a:avLst/>
          </a:prstGeom>
          <a:noFill/>
        </p:spPr>
        <p:txBody>
          <a:bodyPr wrap="square" lIns="0" rIns="0" tIns="0" bIns="0" anchor="t">
            <a:spAutoFit/>
          </a:bodyPr>
          <a:lstStyle/>
          <a:p>
            <a:pPr algn="l">
              <a:lnSpc>
                <a:spcPct val="124000"/>
              </a:lnSpc>
              <a:spcBef>
                <a:spcPts val="0"/>
              </a:spcBef>
              <a:spcAft>
                <a:spcPts val="0"/>
              </a:spcAft>
            </a:pPr>
            <a:r>
              <a:rPr sz="1010" b="1" i="0">
                <a:solidFill>
                  <a:srgbClr val="0F172A"/>
                </a:solidFill>
                <a:latin typeface="Arial"/>
              </a:rPr>
              <a:t>Issuer-initiated</a:t>
            </a:r>
            <a:r>
              <a:rPr sz="1010" b="0" i="0">
                <a:solidFill>
                  <a:srgbClr val="0F172A"/>
                </a:solidFill>
                <a:latin typeface="Arial"/>
              </a:rPr>
              <a:t> (credential offer): the issuer produces a QR or a link; scanning it starts the journey.</a:t>
            </a:r>
          </a:p>
        </p:txBody>
      </p:sp>
      <p:sp>
        <p:nvSpPr>
          <p:cNvPr id="14" name="Oval 13"/>
          <p:cNvSpPr/>
          <p:nvPr/>
        </p:nvSpPr>
        <p:spPr>
          <a:xfrm>
            <a:off x="745236" y="5658763"/>
            <a:ext cx="77724" cy="7649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592471"/>
            <a:ext cx="4828031" cy="589875"/>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Inji supports both. </a:t>
            </a:r>
            <a:r>
              <a:rPr sz="1010" b="0" i="0">
                <a:solidFill>
                  <a:srgbClr val="1D4E89"/>
                </a:solidFill>
                <a:latin typeface="Consolas"/>
              </a:rPr>
              <a:t>inji-vci-client</a:t>
            </a:r>
            <a:r>
              <a:rPr sz="1010" b="0" i="0">
                <a:solidFill>
                  <a:srgbClr val="0F172A"/>
                </a:solidFill>
                <a:latin typeface="Arial"/>
              </a:rPr>
              <a:t> exposes them as </a:t>
            </a:r>
            <a:r>
              <a:rPr sz="1010" b="0" i="0">
                <a:solidFill>
                  <a:srgbClr val="1D4E89"/>
                </a:solidFill>
                <a:latin typeface="Consolas"/>
              </a:rPr>
              <a:t>requestCredentialFromTrustedIssuer</a:t>
            </a:r>
            <a:r>
              <a:rPr sz="1010" b="0" i="0">
                <a:solidFill>
                  <a:srgbClr val="0F172A"/>
                </a:solidFill>
                <a:latin typeface="Arial"/>
              </a:rPr>
              <a:t> and </a:t>
            </a:r>
            <a:r>
              <a:rPr sz="1010" b="0" i="0">
                <a:solidFill>
                  <a:srgbClr val="1D4E89"/>
                </a:solidFill>
                <a:latin typeface="Consolas"/>
              </a:rPr>
              <a:t>fetchCredentialUsingCredentialOffer</a:t>
            </a:r>
            <a:r>
              <a:rPr sz="1010" b="0" i="0">
                <a:solidFill>
                  <a:srgbClr val="0F172A"/>
                </a:solidFill>
                <a:latin typeface="Arial"/>
              </a:rPr>
              <a:t>.</a:t>
            </a:r>
          </a:p>
        </p:txBody>
      </p:sp>
      <p:sp>
        <p:nvSpPr>
          <p:cNvPr id="16" name="Rounded Rectangle 15"/>
          <p:cNvSpPr/>
          <p:nvPr/>
        </p:nvSpPr>
        <p:spPr>
          <a:xfrm>
            <a:off x="6245352" y="4428018"/>
            <a:ext cx="5440680" cy="1844765"/>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4428018"/>
            <a:ext cx="50292" cy="1844765"/>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4572001"/>
            <a:ext cx="5056632" cy="269965"/>
          </a:xfrm>
          <a:prstGeom prst="rect">
            <a:avLst/>
          </a:prstGeom>
          <a:noFill/>
        </p:spPr>
        <p:txBody>
          <a:bodyPr wrap="square" lIns="0" rIns="0" tIns="0" bIns="0" anchor="t">
            <a:spAutoFit/>
          </a:bodyPr>
          <a:lstStyle/>
          <a:p>
            <a:pPr algn="l">
              <a:lnSpc>
                <a:spcPct val="114000"/>
              </a:lnSpc>
              <a:spcBef>
                <a:spcPts val="0"/>
              </a:spcBef>
              <a:spcAft>
                <a:spcPts val="0"/>
              </a:spcAft>
            </a:pPr>
            <a:r>
              <a:rPr sz="1190" b="1" i="0">
                <a:solidFill>
                  <a:srgbClr val="0E9488"/>
                </a:solidFill>
              </a:rPr>
              <a:t>Two grant types</a:t>
            </a:r>
          </a:p>
        </p:txBody>
      </p:sp>
      <p:sp>
        <p:nvSpPr>
          <p:cNvPr id="19" name="Oval 18"/>
          <p:cNvSpPr/>
          <p:nvPr/>
        </p:nvSpPr>
        <p:spPr>
          <a:xfrm>
            <a:off x="6487668" y="4863263"/>
            <a:ext cx="77724" cy="76490"/>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4796972"/>
            <a:ext cx="4828031" cy="429244"/>
          </a:xfrm>
          <a:prstGeom prst="rect">
            <a:avLst/>
          </a:prstGeom>
          <a:noFill/>
        </p:spPr>
        <p:txBody>
          <a:bodyPr wrap="square" lIns="0" rIns="0" tIns="0" bIns="0" anchor="t">
            <a:spAutoFit/>
          </a:bodyPr>
          <a:lstStyle/>
          <a:p>
            <a:pPr algn="l">
              <a:lnSpc>
                <a:spcPct val="124000"/>
              </a:lnSpc>
              <a:spcBef>
                <a:spcPts val="0"/>
              </a:spcBef>
              <a:spcAft>
                <a:spcPts val="0"/>
              </a:spcAft>
            </a:pPr>
            <a:r>
              <a:rPr sz="1010" b="1" i="0">
                <a:solidFill>
                  <a:srgbClr val="0F172A"/>
                </a:solidFill>
                <a:latin typeface="Arial"/>
              </a:rPr>
              <a:t>Authorization code</a:t>
            </a:r>
            <a:r>
              <a:rPr sz="1010" b="0" i="0">
                <a:solidFill>
                  <a:srgbClr val="0F172A"/>
                </a:solidFill>
                <a:latin typeface="Arial"/>
              </a:rPr>
              <a:t> — the user logs in at the authorization server. Always with PKCE from a mobile wallet.</a:t>
            </a:r>
          </a:p>
        </p:txBody>
      </p:sp>
      <p:sp>
        <p:nvSpPr>
          <p:cNvPr id="21" name="Oval 20"/>
          <p:cNvSpPr/>
          <p:nvPr/>
        </p:nvSpPr>
        <p:spPr>
          <a:xfrm>
            <a:off x="6487668" y="5261013"/>
            <a:ext cx="77724" cy="76490"/>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5194721"/>
            <a:ext cx="4828031" cy="589875"/>
          </a:xfrm>
          <a:prstGeom prst="rect">
            <a:avLst/>
          </a:prstGeom>
          <a:noFill/>
        </p:spPr>
        <p:txBody>
          <a:bodyPr wrap="square" lIns="0" rIns="0" tIns="0" bIns="0" anchor="t">
            <a:spAutoFit/>
          </a:bodyPr>
          <a:lstStyle/>
          <a:p>
            <a:pPr algn="l">
              <a:lnSpc>
                <a:spcPct val="124000"/>
              </a:lnSpc>
              <a:spcBef>
                <a:spcPts val="0"/>
              </a:spcBef>
              <a:spcAft>
                <a:spcPts val="0"/>
              </a:spcAft>
            </a:pPr>
            <a:r>
              <a:rPr sz="1010" b="1" i="0">
                <a:solidFill>
                  <a:srgbClr val="0F172A"/>
                </a:solidFill>
                <a:latin typeface="Arial"/>
              </a:rPr>
              <a:t>Pre-authorized code</a:t>
            </a:r>
            <a:r>
              <a:rPr sz="1010" b="0" i="0">
                <a:solidFill>
                  <a:srgbClr val="0F172A"/>
                </a:solidFill>
                <a:latin typeface="Arial"/>
              </a:rPr>
              <a:t> — the issuer already authenticated the user out-of-band, so no login happens in the wallet. Optionally protected by a </a:t>
            </a:r>
            <a:r>
              <a:rPr sz="1010" b="0" i="0">
                <a:solidFill>
                  <a:srgbClr val="1D4E89"/>
                </a:solidFill>
                <a:latin typeface="Consolas"/>
              </a:rPr>
              <a:t>tx_code</a:t>
            </a:r>
            <a:r>
              <a:rPr sz="1010" b="0" i="0">
                <a:solidFill>
                  <a:srgbClr val="0F172A"/>
                </a:solidFill>
                <a:latin typeface="Arial"/>
              </a:rPr>
              <a:t>.</a:t>
            </a:r>
          </a:p>
        </p:txBody>
      </p:sp>
      <p:sp>
        <p:nvSpPr>
          <p:cNvPr id="23" name="Oval 22"/>
          <p:cNvSpPr/>
          <p:nvPr/>
        </p:nvSpPr>
        <p:spPr>
          <a:xfrm>
            <a:off x="6487668" y="5819392"/>
            <a:ext cx="77724" cy="76490"/>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5753101"/>
            <a:ext cx="4828031" cy="429244"/>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Which one you use is the issuer's decision, announced in the credential offer.</a:t>
            </a:r>
          </a:p>
        </p:txBody>
      </p:sp>
      <p:sp>
        <p:nvSpPr>
          <p:cNvPr id="25" name="TextBox 2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issuance with OpenID4VCI</a:t>
            </a:r>
          </a:p>
        </p:txBody>
      </p:sp>
      <p:sp>
        <p:nvSpPr>
          <p:cNvPr id="26" name="TextBox 2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MESSAGE 1</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Credential Offer</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A small JSON object, delivered by QR or deep link, that says: this issuer, this credential, this grant.</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63040"/>
            <a:ext cx="553212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CREDENTIAL OFFER — BY VALUE</a:t>
            </a:r>
          </a:p>
        </p:txBody>
      </p:sp>
      <p:sp>
        <p:nvSpPr>
          <p:cNvPr id="7" name="Rounded Rectangle 6"/>
          <p:cNvSpPr/>
          <p:nvPr/>
        </p:nvSpPr>
        <p:spPr>
          <a:xfrm>
            <a:off x="502920" y="1682496"/>
            <a:ext cx="5532120" cy="269748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801368"/>
            <a:ext cx="5239512" cy="2459736"/>
          </a:xfrm>
          <a:prstGeom prst="rect">
            <a:avLst/>
          </a:prstGeom>
          <a:noFill/>
        </p:spPr>
        <p:txBody>
          <a:bodyPr wrap="square" lIns="0" rIns="0" tIns="0" bIns="0" anchor="t">
            <a:spAutoFit/>
          </a:bodyPr>
          <a:lstStyle/>
          <a:p>
            <a:pPr>
              <a:lnSpc>
                <a:spcPct val="116000"/>
              </a:lnSpc>
              <a:spcBef>
                <a:spcPts val="0"/>
              </a:spcBef>
              <a:spcAft>
                <a:spcPts val="0"/>
              </a:spcAft>
            </a:pPr>
            <a:r>
              <a:rPr sz="940">
                <a:solidFill>
                  <a:srgbClr val="CBD9E8"/>
                </a:solidFill>
                <a:latin typeface="Consolas"/>
              </a:rPr>
              <a:t>{</a:t>
            </a:r>
          </a:p>
          <a:p>
            <a:pPr>
              <a:lnSpc>
                <a:spcPct val="116000"/>
              </a:lnSpc>
              <a:spcBef>
                <a:spcPts val="0"/>
              </a:spcBef>
              <a:spcAft>
                <a:spcPts val="0"/>
              </a:spcAft>
            </a:pPr>
            <a:r>
              <a:rPr sz="940" b="1">
                <a:solidFill>
                  <a:srgbClr val="FFD56B"/>
                </a:solidFill>
                <a:latin typeface="Consolas"/>
              </a:rPr>
              <a:t>  </a:t>
            </a:r>
            <a:r>
              <a:rPr sz="940" b="1">
                <a:solidFill>
                  <a:srgbClr val="FFD56B"/>
                </a:solidFill>
                <a:latin typeface="Consolas"/>
              </a:rPr>
              <a:t>"credential_issuer"</a:t>
            </a:r>
            <a:r>
              <a:rPr sz="940" b="1">
                <a:solidFill>
                  <a:srgbClr val="FFD56B"/>
                </a:solidFill>
                <a:latin typeface="Consolas"/>
              </a:rPr>
              <a:t>: </a:t>
            </a:r>
            <a:r>
              <a:rPr sz="940" b="1">
                <a:solidFill>
                  <a:srgbClr val="FFD56B"/>
                </a:solidFill>
                <a:latin typeface="Consolas"/>
              </a:rPr>
              <a:t>"https://certify.example.gov.br"</a:t>
            </a:r>
            <a:r>
              <a:rPr sz="940" b="1">
                <a:solidFill>
                  <a:srgbClr val="FFD56B"/>
                </a:solidFill>
                <a:latin typeface="Consolas"/>
              </a:rPr>
              <a:t>,</a:t>
            </a:r>
          </a:p>
          <a:p>
            <a:pPr>
              <a:lnSpc>
                <a:spcPct val="116000"/>
              </a:lnSpc>
              <a:spcBef>
                <a:spcPts val="0"/>
              </a:spcBef>
              <a:spcAft>
                <a:spcPts val="0"/>
              </a:spcAft>
            </a:pPr>
            <a:r>
              <a:rPr sz="940">
                <a:solidFill>
                  <a:srgbClr val="CBD9E8"/>
                </a:solidFill>
                <a:latin typeface="Consolas"/>
              </a:rPr>
              <a:t>  </a:t>
            </a:r>
            <a:r>
              <a:rPr sz="940">
                <a:solidFill>
                  <a:srgbClr val="7DD3C8"/>
                </a:solidFill>
                <a:latin typeface="Consolas"/>
              </a:rPr>
              <a:t>"credential_configuration_ids"</a:t>
            </a:r>
            <a:r>
              <a:rPr sz="940">
                <a:solidFill>
                  <a:srgbClr val="CBD9E8"/>
                </a:solidFill>
                <a:latin typeface="Consolas"/>
              </a:rPr>
              <a:t>: [</a:t>
            </a:r>
          </a:p>
          <a:p>
            <a:pPr>
              <a:lnSpc>
                <a:spcPct val="116000"/>
              </a:lnSpc>
              <a:spcBef>
                <a:spcPts val="0"/>
              </a:spcBef>
              <a:spcAft>
                <a:spcPts val="0"/>
              </a:spcAft>
            </a:pPr>
            <a:r>
              <a:rPr sz="940" b="1">
                <a:solidFill>
                  <a:srgbClr val="FFD56B"/>
                </a:solidFill>
                <a:latin typeface="Consolas"/>
              </a:rPr>
              <a:t>    </a:t>
            </a:r>
            <a:r>
              <a:rPr sz="940" b="1">
                <a:solidFill>
                  <a:srgbClr val="FFD56B"/>
                </a:solidFill>
                <a:latin typeface="Consolas"/>
              </a:rPr>
              <a:t>"CPFCredentialSdJwt"</a:t>
            </a:r>
          </a:p>
          <a:p>
            <a:pPr>
              <a:lnSpc>
                <a:spcPct val="116000"/>
              </a:lnSpc>
              <a:spcBef>
                <a:spcPts val="0"/>
              </a:spcBef>
              <a:spcAft>
                <a:spcPts val="0"/>
              </a:spcAft>
            </a:pPr>
            <a:r>
              <a:rPr sz="940">
                <a:solidFill>
                  <a:srgbClr val="CBD9E8"/>
                </a:solidFill>
                <a:latin typeface="Consolas"/>
              </a:rPr>
              <a:t>  ],</a:t>
            </a:r>
          </a:p>
          <a:p>
            <a:pPr>
              <a:lnSpc>
                <a:spcPct val="116000"/>
              </a:lnSpc>
              <a:spcBef>
                <a:spcPts val="0"/>
              </a:spcBef>
              <a:spcAft>
                <a:spcPts val="0"/>
              </a:spcAft>
            </a:pPr>
            <a:r>
              <a:rPr sz="940">
                <a:solidFill>
                  <a:srgbClr val="CBD9E8"/>
                </a:solidFill>
                <a:latin typeface="Consolas"/>
              </a:rPr>
              <a:t>  </a:t>
            </a:r>
            <a:r>
              <a:rPr sz="940">
                <a:solidFill>
                  <a:srgbClr val="7DD3C8"/>
                </a:solidFill>
                <a:latin typeface="Consolas"/>
              </a:rPr>
              <a:t>"grants"</a:t>
            </a:r>
            <a:r>
              <a:rPr sz="940">
                <a:solidFill>
                  <a:srgbClr val="CBD9E8"/>
                </a:solidFill>
                <a:latin typeface="Consolas"/>
              </a:rPr>
              <a:t>: {</a:t>
            </a:r>
          </a:p>
          <a:p>
            <a:pPr>
              <a:lnSpc>
                <a:spcPct val="116000"/>
              </a:lnSpc>
              <a:spcBef>
                <a:spcPts val="0"/>
              </a:spcBef>
              <a:spcAft>
                <a:spcPts val="0"/>
              </a:spcAft>
            </a:pPr>
            <a:r>
              <a:rPr sz="940">
                <a:solidFill>
                  <a:srgbClr val="CBD9E8"/>
                </a:solidFill>
                <a:latin typeface="Consolas"/>
              </a:rPr>
              <a:t>    </a:t>
            </a:r>
            <a:r>
              <a:rPr sz="940">
                <a:solidFill>
                  <a:srgbClr val="7DD3C8"/>
                </a:solidFill>
                <a:latin typeface="Consolas"/>
              </a:rPr>
              <a:t>"urn:ietf:params:oauth:grant-type:pre-authorized_code"</a:t>
            </a:r>
            <a:r>
              <a:rPr sz="940">
                <a:solidFill>
                  <a:srgbClr val="CBD9E8"/>
                </a:solidFill>
                <a:latin typeface="Consolas"/>
              </a:rPr>
              <a:t>: {</a:t>
            </a:r>
          </a:p>
          <a:p>
            <a:pPr>
              <a:lnSpc>
                <a:spcPct val="116000"/>
              </a:lnSpc>
              <a:spcBef>
                <a:spcPts val="0"/>
              </a:spcBef>
              <a:spcAft>
                <a:spcPts val="0"/>
              </a:spcAft>
            </a:pPr>
            <a:r>
              <a:rPr sz="940" b="1">
                <a:solidFill>
                  <a:srgbClr val="FFD56B"/>
                </a:solidFill>
                <a:latin typeface="Consolas"/>
              </a:rPr>
              <a:t>      </a:t>
            </a:r>
            <a:r>
              <a:rPr sz="940" b="1">
                <a:solidFill>
                  <a:srgbClr val="FFD56B"/>
                </a:solidFill>
                <a:latin typeface="Consolas"/>
              </a:rPr>
              <a:t>"pre-authorized_code"</a:t>
            </a:r>
            <a:r>
              <a:rPr sz="940" b="1">
                <a:solidFill>
                  <a:srgbClr val="FFD56B"/>
                </a:solidFill>
                <a:latin typeface="Consolas"/>
              </a:rPr>
              <a:t>: </a:t>
            </a:r>
            <a:r>
              <a:rPr sz="940" b="1">
                <a:solidFill>
                  <a:srgbClr val="FFD56B"/>
                </a:solidFill>
                <a:latin typeface="Consolas"/>
              </a:rPr>
              <a:t>"412350404962811318869516"</a:t>
            </a:r>
            <a:r>
              <a:rPr sz="940" b="1">
                <a:solidFill>
                  <a:srgbClr val="FFD56B"/>
                </a:solidFill>
                <a:latin typeface="Consolas"/>
              </a:rPr>
              <a:t>,</a:t>
            </a:r>
          </a:p>
          <a:p>
            <a:pPr>
              <a:lnSpc>
                <a:spcPct val="116000"/>
              </a:lnSpc>
              <a:spcBef>
                <a:spcPts val="0"/>
              </a:spcBef>
              <a:spcAft>
                <a:spcPts val="0"/>
              </a:spcAft>
            </a:pPr>
            <a:r>
              <a:rPr sz="940">
                <a:solidFill>
                  <a:srgbClr val="CBD9E8"/>
                </a:solidFill>
                <a:latin typeface="Consolas"/>
              </a:rPr>
              <a:t>      </a:t>
            </a:r>
            <a:r>
              <a:rPr sz="940">
                <a:solidFill>
                  <a:srgbClr val="7DD3C8"/>
                </a:solidFill>
                <a:latin typeface="Consolas"/>
              </a:rPr>
              <a:t>"tx_code"</a:t>
            </a:r>
            <a:r>
              <a:rPr sz="940">
                <a:solidFill>
                  <a:srgbClr val="CBD9E8"/>
                </a:solidFill>
                <a:latin typeface="Consolas"/>
              </a:rPr>
              <a:t>: { </a:t>
            </a:r>
            <a:r>
              <a:rPr sz="940">
                <a:solidFill>
                  <a:srgbClr val="7DD3C8"/>
                </a:solidFill>
                <a:latin typeface="Consolas"/>
              </a:rPr>
              <a:t>"input_mode"</a:t>
            </a:r>
            <a:r>
              <a:rPr sz="940">
                <a:solidFill>
                  <a:srgbClr val="CBD9E8"/>
                </a:solidFill>
                <a:latin typeface="Consolas"/>
              </a:rPr>
              <a:t>: </a:t>
            </a:r>
            <a:r>
              <a:rPr sz="940">
                <a:solidFill>
                  <a:srgbClr val="F6C67A"/>
                </a:solidFill>
                <a:latin typeface="Consolas"/>
              </a:rPr>
              <a:t>"numeric"</a:t>
            </a:r>
            <a:r>
              <a:rPr sz="940">
                <a:solidFill>
                  <a:srgbClr val="CBD9E8"/>
                </a:solidFill>
                <a:latin typeface="Consolas"/>
              </a:rPr>
              <a:t>, </a:t>
            </a:r>
            <a:r>
              <a:rPr sz="940">
                <a:solidFill>
                  <a:srgbClr val="7DD3C8"/>
                </a:solidFill>
                <a:latin typeface="Consolas"/>
              </a:rPr>
              <a:t>"length"</a:t>
            </a:r>
            <a:r>
              <a:rPr sz="940">
                <a:solidFill>
                  <a:srgbClr val="CBD9E8"/>
                </a:solidFill>
                <a:latin typeface="Consolas"/>
              </a:rPr>
              <a:t>: 6 },</a:t>
            </a:r>
          </a:p>
          <a:p>
            <a:pPr>
              <a:lnSpc>
                <a:spcPct val="116000"/>
              </a:lnSpc>
              <a:spcBef>
                <a:spcPts val="0"/>
              </a:spcBef>
              <a:spcAft>
                <a:spcPts val="0"/>
              </a:spcAft>
            </a:pPr>
            <a:r>
              <a:rPr sz="940">
                <a:solidFill>
                  <a:srgbClr val="CBD9E8"/>
                </a:solidFill>
                <a:latin typeface="Consolas"/>
              </a:rPr>
              <a:t>      </a:t>
            </a:r>
            <a:r>
              <a:rPr sz="940">
                <a:solidFill>
                  <a:srgbClr val="7DD3C8"/>
                </a:solidFill>
                <a:latin typeface="Consolas"/>
              </a:rPr>
              <a:t>"authorization_server"</a:t>
            </a:r>
            <a:r>
              <a:rPr sz="940">
                <a:solidFill>
                  <a:srgbClr val="CBD9E8"/>
                </a:solidFill>
                <a:latin typeface="Consolas"/>
              </a:rPr>
              <a:t>: </a:t>
            </a:r>
            <a:r>
              <a:rPr sz="940">
                <a:solidFill>
                  <a:srgbClr val="F6C67A"/>
                </a:solidFill>
                <a:latin typeface="Consolas"/>
              </a:rPr>
              <a:t>"https://as.example.gov.br"</a:t>
            </a:r>
          </a:p>
          <a:p>
            <a:pPr>
              <a:lnSpc>
                <a:spcPct val="116000"/>
              </a:lnSpc>
              <a:spcBef>
                <a:spcPts val="0"/>
              </a:spcBef>
              <a:spcAft>
                <a:spcPts val="0"/>
              </a:spcAft>
            </a:pPr>
            <a:r>
              <a:rPr sz="940">
                <a:solidFill>
                  <a:srgbClr val="CBD9E8"/>
                </a:solidFill>
                <a:latin typeface="Consolas"/>
              </a:rPr>
              <a:t>    }</a:t>
            </a:r>
          </a:p>
          <a:p>
            <a:pPr>
              <a:lnSpc>
                <a:spcPct val="116000"/>
              </a:lnSpc>
              <a:spcBef>
                <a:spcPts val="0"/>
              </a:spcBef>
              <a:spcAft>
                <a:spcPts val="0"/>
              </a:spcAft>
            </a:pPr>
            <a:r>
              <a:rPr sz="940">
                <a:solidFill>
                  <a:srgbClr val="CBD9E8"/>
                </a:solidFill>
                <a:latin typeface="Consolas"/>
              </a:rPr>
              <a:t>  }</a:t>
            </a:r>
          </a:p>
          <a:p>
            <a:pPr>
              <a:lnSpc>
                <a:spcPct val="116000"/>
              </a:lnSpc>
              <a:spcBef>
                <a:spcPts val="0"/>
              </a:spcBef>
              <a:spcAft>
                <a:spcPts val="0"/>
              </a:spcAft>
            </a:pPr>
            <a:r>
              <a:rPr sz="940">
                <a:solidFill>
                  <a:srgbClr val="CBD9E8"/>
                </a:solidFill>
                <a:latin typeface="Consolas"/>
              </a:rPr>
              <a:t>}</a:t>
            </a:r>
          </a:p>
        </p:txBody>
      </p:sp>
      <p:sp>
        <p:nvSpPr>
          <p:cNvPr id="9" name="TextBox 8"/>
          <p:cNvSpPr txBox="1"/>
          <p:nvPr/>
        </p:nvSpPr>
        <p:spPr>
          <a:xfrm>
            <a:off x="6309359" y="1463040"/>
            <a:ext cx="5376672"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CREDENTIAL OFFER — BY REFERENCE</a:t>
            </a:r>
          </a:p>
        </p:txBody>
      </p:sp>
      <p:sp>
        <p:nvSpPr>
          <p:cNvPr id="10" name="Rounded Rectangle 9"/>
          <p:cNvSpPr/>
          <p:nvPr/>
        </p:nvSpPr>
        <p:spPr>
          <a:xfrm>
            <a:off x="6309359" y="1682496"/>
            <a:ext cx="5376672" cy="109728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1801368"/>
            <a:ext cx="5084064" cy="859536"/>
          </a:xfrm>
          <a:prstGeom prst="rect">
            <a:avLst/>
          </a:prstGeom>
          <a:noFill/>
        </p:spPr>
        <p:txBody>
          <a:bodyPr wrap="square" lIns="0" rIns="0" tIns="0" bIns="0" anchor="t">
            <a:spAutoFit/>
          </a:bodyPr>
          <a:lstStyle/>
          <a:p>
            <a:pPr>
              <a:lnSpc>
                <a:spcPct val="116000"/>
              </a:lnSpc>
              <a:spcBef>
                <a:spcPts val="0"/>
              </a:spcBef>
              <a:spcAft>
                <a:spcPts val="0"/>
              </a:spcAft>
            </a:pPr>
            <a:r>
              <a:rPr sz="940">
                <a:solidFill>
                  <a:srgbClr val="CBD9E8"/>
                </a:solidFill>
                <a:latin typeface="Consolas"/>
              </a:rPr>
              <a:t>openid-credential-offer://?credential_offer_uri=</a:t>
            </a:r>
          </a:p>
          <a:p>
            <a:pPr>
              <a:lnSpc>
                <a:spcPct val="116000"/>
              </a:lnSpc>
              <a:spcBef>
                <a:spcPts val="0"/>
              </a:spcBef>
              <a:spcAft>
                <a:spcPts val="0"/>
              </a:spcAft>
            </a:pPr>
            <a:r>
              <a:rPr sz="940">
                <a:solidFill>
                  <a:srgbClr val="CBD9E8"/>
                </a:solidFill>
                <a:latin typeface="Consolas"/>
              </a:rPr>
              <a:t>  https%3A%2F%2Fcertify.example.gov.br%2Foffer%2Fabc123</a:t>
            </a:r>
          </a:p>
        </p:txBody>
      </p:sp>
      <p:sp>
        <p:nvSpPr>
          <p:cNvPr id="12" name="Oval 11"/>
          <p:cNvSpPr/>
          <p:nvPr/>
        </p:nvSpPr>
        <p:spPr>
          <a:xfrm>
            <a:off x="6332220" y="313974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3072384"/>
            <a:ext cx="5166359"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credential_issuer</a:t>
            </a:r>
            <a:r>
              <a:rPr sz="1019" b="0" i="0">
                <a:solidFill>
                  <a:srgbClr val="0F172A"/>
                </a:solidFill>
                <a:latin typeface="Arial"/>
              </a:rPr>
              <a:t> is the </a:t>
            </a:r>
            <a:r>
              <a:rPr sz="1019" b="1" i="0">
                <a:solidFill>
                  <a:srgbClr val="0F172A"/>
                </a:solidFill>
                <a:latin typeface="Arial"/>
              </a:rPr>
              <a:t>identity</a:t>
            </a:r>
            <a:r>
              <a:rPr sz="1019" b="0" i="0">
                <a:solidFill>
                  <a:srgbClr val="0F172A"/>
                </a:solidFill>
                <a:latin typeface="Arial"/>
              </a:rPr>
              <a:t> of the issuer. Everything else is derived from it by fetching metadata.</a:t>
            </a:r>
          </a:p>
        </p:txBody>
      </p:sp>
      <p:sp>
        <p:nvSpPr>
          <p:cNvPr id="14" name="Oval 13"/>
          <p:cNvSpPr/>
          <p:nvPr/>
        </p:nvSpPr>
        <p:spPr>
          <a:xfrm>
            <a:off x="6332220" y="3562197"/>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3494836"/>
            <a:ext cx="5166359"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credential_configuration_ids</a:t>
            </a:r>
            <a:r>
              <a:rPr sz="1019" b="0" i="0">
                <a:solidFill>
                  <a:srgbClr val="0F172A"/>
                </a:solidFill>
                <a:latin typeface="Arial"/>
              </a:rPr>
              <a:t> must match keys in the issuer's metadata. A typo here produces an unhelpful error.</a:t>
            </a:r>
          </a:p>
        </p:txBody>
      </p:sp>
      <p:sp>
        <p:nvSpPr>
          <p:cNvPr id="16" name="Oval 15"/>
          <p:cNvSpPr/>
          <p:nvPr/>
        </p:nvSpPr>
        <p:spPr>
          <a:xfrm>
            <a:off x="6332220" y="398465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3917289"/>
            <a:ext cx="5166359"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grants</a:t>
            </a:r>
            <a:r>
              <a:rPr sz="1019" b="0" i="0">
                <a:solidFill>
                  <a:srgbClr val="0F172A"/>
                </a:solidFill>
                <a:latin typeface="Arial"/>
              </a:rPr>
              <a:t> tells the wallet which flow to run. Absent grants means: fall back to authorization code.</a:t>
            </a:r>
          </a:p>
        </p:txBody>
      </p:sp>
      <p:sp>
        <p:nvSpPr>
          <p:cNvPr id="18" name="Oval 17"/>
          <p:cNvSpPr/>
          <p:nvPr/>
        </p:nvSpPr>
        <p:spPr>
          <a:xfrm>
            <a:off x="6332220" y="4407103"/>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4339742"/>
            <a:ext cx="5166359"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tx_code</a:t>
            </a:r>
            <a:r>
              <a:rPr sz="1019" b="0" i="0">
                <a:solidFill>
                  <a:srgbClr val="0F172A"/>
                </a:solidFill>
                <a:latin typeface="Arial"/>
              </a:rPr>
              <a:t> is a short code the issuer gives the user separately (SMS, printed slip). It stops a stolen QR from being redeemed.</a:t>
            </a:r>
          </a:p>
        </p:txBody>
      </p:sp>
      <p:sp>
        <p:nvSpPr>
          <p:cNvPr id="20" name="Oval 19"/>
          <p:cNvSpPr/>
          <p:nvPr/>
        </p:nvSpPr>
        <p:spPr>
          <a:xfrm>
            <a:off x="6332220" y="4829556"/>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9672" y="4762195"/>
            <a:ext cx="5166359"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By reference keeps the QR small and keeps the pre-authorized code off the printed page.</a:t>
            </a:r>
          </a:p>
        </p:txBody>
      </p:sp>
      <p:sp>
        <p:nvSpPr>
          <p:cNvPr id="22" name="Rounded Rectangle 21"/>
          <p:cNvSpPr/>
          <p:nvPr/>
        </p:nvSpPr>
        <p:spPr>
          <a:xfrm>
            <a:off x="502920" y="4608576"/>
            <a:ext cx="5532120" cy="519684"/>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08576"/>
            <a:ext cx="45720" cy="519684"/>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 y="4700016"/>
            <a:ext cx="5166359" cy="373380"/>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E293B"/>
                </a:solidFill>
                <a:latin typeface="Arial"/>
              </a:rPr>
              <a:t>Inji Wallet scans this, hands it straight to </a:t>
            </a:r>
            <a:r>
              <a:rPr sz="1019" b="0" i="0">
                <a:solidFill>
                  <a:srgbClr val="1D4E89"/>
                </a:solidFill>
                <a:latin typeface="Consolas"/>
              </a:rPr>
              <a:t>inji-vci-client</a:t>
            </a:r>
            <a:r>
              <a:rPr sz="1019" b="0" i="0">
                <a:solidFill>
                  <a:srgbClr val="1E293B"/>
                </a:solidFill>
                <a:latin typeface="Arial"/>
              </a:rPr>
              <a:t>, and the library decides the flow. The app does not parse the offer itself.</a:t>
            </a:r>
          </a:p>
        </p:txBody>
      </p:sp>
      <p:sp>
        <p:nvSpPr>
          <p:cNvPr id="25" name="TextBox 2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issuance with OpenID4VCI</a:t>
            </a:r>
          </a:p>
        </p:txBody>
      </p:sp>
      <p:sp>
        <p:nvSpPr>
          <p:cNvPr id="26" name="TextBox 2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DISCOVERY</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Issuer metadata and authorization server metadata</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Two GETs that decide whether the rest of the flow is even possible. Most 'the wallet does not work' tickets end here.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63040"/>
            <a:ext cx="553212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CREDENTIAL ISSUER METADATA</a:t>
            </a:r>
          </a:p>
        </p:txBody>
      </p:sp>
      <p:sp>
        <p:nvSpPr>
          <p:cNvPr id="7" name="Rounded Rectangle 6"/>
          <p:cNvSpPr/>
          <p:nvPr/>
        </p:nvSpPr>
        <p:spPr>
          <a:xfrm>
            <a:off x="502920" y="1682496"/>
            <a:ext cx="5532120" cy="324612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801368"/>
            <a:ext cx="5239512" cy="3008376"/>
          </a:xfrm>
          <a:prstGeom prst="rect">
            <a:avLst/>
          </a:prstGeom>
          <a:noFill/>
        </p:spPr>
        <p:txBody>
          <a:bodyPr wrap="square" lIns="0" rIns="0" tIns="0" bIns="0" anchor="t">
            <a:spAutoFit/>
          </a:bodyPr>
          <a:lstStyle/>
          <a:p>
            <a:pPr>
              <a:lnSpc>
                <a:spcPct val="116000"/>
              </a:lnSpc>
              <a:spcBef>
                <a:spcPts val="0"/>
              </a:spcBef>
              <a:spcAft>
                <a:spcPts val="0"/>
              </a:spcAft>
            </a:pPr>
            <a:r>
              <a:rPr sz="890">
                <a:solidFill>
                  <a:srgbClr val="CBD9E8"/>
                </a:solidFill>
                <a:latin typeface="Consolas"/>
              </a:rPr>
              <a:t>GET https://certify.example.gov.br</a:t>
            </a:r>
          </a:p>
          <a:p>
            <a:pPr>
              <a:lnSpc>
                <a:spcPct val="116000"/>
              </a:lnSpc>
              <a:spcBef>
                <a:spcPts val="0"/>
              </a:spcBef>
              <a:spcAft>
                <a:spcPts val="0"/>
              </a:spcAft>
            </a:pPr>
            <a:r>
              <a:rPr sz="890">
                <a:solidFill>
                  <a:srgbClr val="CBD9E8"/>
                </a:solidFill>
                <a:latin typeface="Consolas"/>
              </a:rPr>
              <a:t>      /.well-known/openid-credential-issuer</a:t>
            </a:r>
          </a:p>
          <a:p>
            <a:pPr>
              <a:lnSpc>
                <a:spcPct val="116000"/>
              </a:lnSpc>
              <a:spcBef>
                <a:spcPts val="0"/>
              </a:spcBef>
              <a:spcAft>
                <a:spcPts val="0"/>
              </a:spcAft>
            </a:pPr>
          </a:p>
          <a:p>
            <a:pPr>
              <a:lnSpc>
                <a:spcPct val="116000"/>
              </a:lnSpc>
              <a:spcBef>
                <a:spcPts val="0"/>
              </a:spcBef>
              <a:spcAft>
                <a:spcPts val="0"/>
              </a:spcAft>
            </a:pPr>
            <a:r>
              <a:rPr sz="890">
                <a:solidFill>
                  <a:srgbClr val="CBD9E8"/>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"credential_issuer"</a:t>
            </a:r>
            <a:r>
              <a:rPr sz="890">
                <a:solidFill>
                  <a:srgbClr val="CBD9E8"/>
                </a:solidFill>
                <a:latin typeface="Consolas"/>
              </a:rPr>
              <a:t>: </a:t>
            </a:r>
            <a:r>
              <a:rPr sz="890">
                <a:solidFill>
                  <a:srgbClr val="F6C67A"/>
                </a:solidFill>
                <a:latin typeface="Consolas"/>
              </a:rPr>
              <a:t>"https://certify.example.gov.br"</a:t>
            </a:r>
            <a:r>
              <a:rPr sz="890">
                <a:solidFill>
                  <a:srgbClr val="CBD9E8"/>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"credential_endpoint"</a:t>
            </a:r>
            <a:r>
              <a:rPr sz="890">
                <a:solidFill>
                  <a:srgbClr val="CBD9E8"/>
                </a:solidFill>
                <a:latin typeface="Consolas"/>
              </a:rPr>
              <a:t>: </a:t>
            </a:r>
            <a:r>
              <a:rPr sz="890">
                <a:solidFill>
                  <a:srgbClr val="F6C67A"/>
                </a:solidFill>
                <a:latin typeface="Consolas"/>
              </a:rPr>
              <a:t>".../credential"</a:t>
            </a:r>
            <a:r>
              <a:rPr sz="890">
                <a:solidFill>
                  <a:srgbClr val="CBD9E8"/>
                </a:solidFill>
                <a:latin typeface="Consolas"/>
              </a:rPr>
              <a:t>,</a:t>
            </a:r>
          </a:p>
          <a:p>
            <a:pPr>
              <a:lnSpc>
                <a:spcPct val="116000"/>
              </a:lnSpc>
              <a:spcBef>
                <a:spcPts val="0"/>
              </a:spcBef>
              <a:spcAft>
                <a:spcPts val="0"/>
              </a:spcAft>
            </a:pPr>
            <a:r>
              <a:rPr sz="890" b="1">
                <a:solidFill>
                  <a:srgbClr val="FFD56B"/>
                </a:solidFill>
                <a:latin typeface="Consolas"/>
              </a:rPr>
              <a:t>  </a:t>
            </a:r>
            <a:r>
              <a:rPr sz="890" b="1">
                <a:solidFill>
                  <a:srgbClr val="FFD56B"/>
                </a:solidFill>
                <a:latin typeface="Consolas"/>
              </a:rPr>
              <a:t>"authorization_servers"</a:t>
            </a:r>
            <a:r>
              <a:rPr sz="890" b="1">
                <a:solidFill>
                  <a:srgbClr val="FFD56B"/>
                </a:solidFill>
                <a:latin typeface="Consolas"/>
              </a:rPr>
              <a:t>: [</a:t>
            </a:r>
            <a:r>
              <a:rPr sz="890" b="1">
                <a:solidFill>
                  <a:srgbClr val="FFD56B"/>
                </a:solidFill>
                <a:latin typeface="Consolas"/>
              </a:rPr>
              <a:t>"https://as.example.gov.br"</a:t>
            </a:r>
            <a:r>
              <a:rPr sz="890" b="1">
                <a:solidFill>
                  <a:srgbClr val="FFD56B"/>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"credential_configurations_supported"</a:t>
            </a:r>
            <a:r>
              <a:rPr sz="890">
                <a:solidFill>
                  <a:srgbClr val="CBD9E8"/>
                </a:solidFill>
                <a:latin typeface="Consolas"/>
              </a:rPr>
              <a:t>: {</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"CPFCredentialSdJwt"</a:t>
            </a:r>
            <a:r>
              <a:rPr sz="890">
                <a:solidFill>
                  <a:srgbClr val="CBD9E8"/>
                </a:solidFill>
                <a:latin typeface="Consolas"/>
              </a:rPr>
              <a:t>: {</a:t>
            </a:r>
          </a:p>
          <a:p>
            <a:pPr>
              <a:lnSpc>
                <a:spcPct val="116000"/>
              </a:lnSpc>
              <a:spcBef>
                <a:spcPts val="0"/>
              </a:spcBef>
              <a:spcAft>
                <a:spcPts val="0"/>
              </a:spcAft>
            </a:pPr>
            <a:r>
              <a:rPr sz="890" b="1">
                <a:solidFill>
                  <a:srgbClr val="FFD56B"/>
                </a:solidFill>
                <a:latin typeface="Consolas"/>
              </a:rPr>
              <a:t>      </a:t>
            </a:r>
            <a:r>
              <a:rPr sz="890" b="1">
                <a:solidFill>
                  <a:srgbClr val="FFD56B"/>
                </a:solidFill>
                <a:latin typeface="Consolas"/>
              </a:rPr>
              <a:t>"format"</a:t>
            </a:r>
            <a:r>
              <a:rPr sz="890" b="1">
                <a:solidFill>
                  <a:srgbClr val="FFD56B"/>
                </a:solidFill>
                <a:latin typeface="Consolas"/>
              </a:rPr>
              <a:t>: </a:t>
            </a:r>
            <a:r>
              <a:rPr sz="890" b="1">
                <a:solidFill>
                  <a:srgbClr val="FFD56B"/>
                </a:solidFill>
                <a:latin typeface="Consolas"/>
              </a:rPr>
              <a:t>"vc+sd-jwt"</a:t>
            </a:r>
            <a:r>
              <a:rPr sz="890" b="1">
                <a:solidFill>
                  <a:srgbClr val="FFD56B"/>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"vct"</a:t>
            </a:r>
            <a:r>
              <a:rPr sz="890">
                <a:solidFill>
                  <a:srgbClr val="CBD9E8"/>
                </a:solidFill>
                <a:latin typeface="Consolas"/>
              </a:rPr>
              <a:t>: </a:t>
            </a:r>
            <a:r>
              <a:rPr sz="890">
                <a:solidFill>
                  <a:srgbClr val="F6C67A"/>
                </a:solidFill>
                <a:latin typeface="Consolas"/>
              </a:rPr>
              <a:t>"CPFCredential"</a:t>
            </a:r>
            <a:r>
              <a:rPr sz="890">
                <a:solidFill>
                  <a:srgbClr val="CBD9E8"/>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"scope"</a:t>
            </a:r>
            <a:r>
              <a:rPr sz="890">
                <a:solidFill>
                  <a:srgbClr val="CBD9E8"/>
                </a:solidFill>
                <a:latin typeface="Consolas"/>
              </a:rPr>
              <a:t>: </a:t>
            </a:r>
            <a:r>
              <a:rPr sz="890">
                <a:solidFill>
                  <a:srgbClr val="F6C67A"/>
                </a:solidFill>
                <a:latin typeface="Consolas"/>
              </a:rPr>
              <a:t>"cpf_vc_ldp"</a:t>
            </a:r>
            <a:r>
              <a:rPr sz="890">
                <a:solidFill>
                  <a:srgbClr val="CBD9E8"/>
                </a:solidFill>
                <a:latin typeface="Consolas"/>
              </a:rPr>
              <a:t>,</a:t>
            </a:r>
          </a:p>
          <a:p>
            <a:pPr>
              <a:lnSpc>
                <a:spcPct val="116000"/>
              </a:lnSpc>
              <a:spcBef>
                <a:spcPts val="0"/>
              </a:spcBef>
              <a:spcAft>
                <a:spcPts val="0"/>
              </a:spcAft>
            </a:pPr>
            <a:r>
              <a:rPr sz="890" b="1">
                <a:solidFill>
                  <a:srgbClr val="FFD56B"/>
                </a:solidFill>
                <a:latin typeface="Consolas"/>
              </a:rPr>
              <a:t>      </a:t>
            </a:r>
            <a:r>
              <a:rPr sz="890" b="1">
                <a:solidFill>
                  <a:srgbClr val="FFD56B"/>
                </a:solidFill>
                <a:latin typeface="Consolas"/>
              </a:rPr>
              <a:t>"proof_types_supported"</a:t>
            </a:r>
            <a:r>
              <a:rPr sz="890" b="1">
                <a:solidFill>
                  <a:srgbClr val="FFD56B"/>
                </a:solidFill>
                <a:latin typeface="Consolas"/>
              </a:rPr>
              <a:t>: {</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"jwt"</a:t>
            </a:r>
            <a:r>
              <a:rPr sz="890">
                <a:solidFill>
                  <a:srgbClr val="CBD9E8"/>
                </a:solidFill>
                <a:latin typeface="Consolas"/>
              </a:rPr>
              <a:t>: { </a:t>
            </a:r>
            <a:r>
              <a:rPr sz="890">
                <a:solidFill>
                  <a:srgbClr val="7DD3C8"/>
                </a:solidFill>
                <a:latin typeface="Consolas"/>
              </a:rPr>
              <a:t>"proof_signing_alg_values_supported"</a:t>
            </a:r>
            <a:r>
              <a:rPr sz="890">
                <a:solidFill>
                  <a:srgbClr val="CBD9E8"/>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F6C67A"/>
                </a:solidFill>
                <a:latin typeface="Consolas"/>
              </a:rPr>
              <a:t>"RS256"</a:t>
            </a:r>
            <a:r>
              <a:rPr sz="890">
                <a:solidFill>
                  <a:srgbClr val="CBD9E8"/>
                </a:solidFill>
                <a:latin typeface="Consolas"/>
              </a:rPr>
              <a:t>, </a:t>
            </a:r>
            <a:r>
              <a:rPr sz="890">
                <a:solidFill>
                  <a:srgbClr val="F6C67A"/>
                </a:solidFill>
                <a:latin typeface="Consolas"/>
              </a:rPr>
              <a:t>"ES256"</a:t>
            </a:r>
            <a:r>
              <a:rPr sz="890">
                <a:solidFill>
                  <a:srgbClr val="CBD9E8"/>
                </a:solidFill>
                <a:latin typeface="Consolas"/>
              </a:rPr>
              <a:t>] } },</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"claims"</a:t>
            </a:r>
            <a:r>
              <a:rPr sz="890">
                <a:solidFill>
                  <a:srgbClr val="CBD9E8"/>
                </a:solidFill>
                <a:latin typeface="Consolas"/>
              </a:rPr>
              <a:t>: { </a:t>
            </a:r>
            <a:r>
              <a:rPr sz="890">
                <a:solidFill>
                  <a:srgbClr val="7DD3C8"/>
                </a:solidFill>
                <a:latin typeface="Consolas"/>
              </a:rPr>
              <a:t>"nome"</a:t>
            </a:r>
            <a:r>
              <a:rPr sz="890">
                <a:solidFill>
                  <a:srgbClr val="CBD9E8"/>
                </a:solidFill>
                <a:latin typeface="Consolas"/>
              </a:rPr>
              <a:t>: {</a:t>
            </a:r>
            <a:r>
              <a:rPr sz="890">
                <a:solidFill>
                  <a:srgbClr val="7DD3C8"/>
                </a:solidFill>
                <a:latin typeface="Consolas"/>
              </a:rPr>
              <a:t>"display"</a:t>
            </a:r>
            <a:r>
              <a:rPr sz="890">
                <a:solidFill>
                  <a:srgbClr val="CBD9E8"/>
                </a:solidFill>
                <a:latin typeface="Consolas"/>
              </a:rPr>
              <a:t>:[{</a:t>
            </a:r>
            <a:r>
              <a:rPr sz="890">
                <a:solidFill>
                  <a:srgbClr val="7DD3C8"/>
                </a:solidFill>
                <a:latin typeface="Consolas"/>
              </a:rPr>
              <a:t>"name"</a:t>
            </a:r>
            <a:r>
              <a:rPr sz="890">
                <a:solidFill>
                  <a:srgbClr val="CBD9E8"/>
                </a:solidFill>
                <a:latin typeface="Consolas"/>
              </a:rPr>
              <a:t>:</a:t>
            </a:r>
            <a:r>
              <a:rPr sz="890">
                <a:solidFill>
                  <a:srgbClr val="F6C67A"/>
                </a:solidFill>
                <a:latin typeface="Consolas"/>
              </a:rPr>
              <a:t>"Nome"</a:t>
            </a:r>
            <a:r>
              <a:rPr sz="890">
                <a:solidFill>
                  <a:srgbClr val="CBD9E8"/>
                </a:solidFill>
                <a:latin typeface="Consolas"/>
              </a:rPr>
              <a:t>}]} },</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"display"</a:t>
            </a:r>
            <a:r>
              <a:rPr sz="890">
                <a:solidFill>
                  <a:srgbClr val="CBD9E8"/>
                </a:solidFill>
                <a:latin typeface="Consolas"/>
              </a:rPr>
              <a:t>: [{ </a:t>
            </a:r>
            <a:r>
              <a:rPr sz="890">
                <a:solidFill>
                  <a:srgbClr val="7DD3C8"/>
                </a:solidFill>
                <a:latin typeface="Consolas"/>
              </a:rPr>
              <a:t>"name"</a:t>
            </a:r>
            <a:r>
              <a:rPr sz="890">
                <a:solidFill>
                  <a:srgbClr val="CBD9E8"/>
                </a:solidFill>
                <a:latin typeface="Consolas"/>
              </a:rPr>
              <a:t>: </a:t>
            </a:r>
            <a:r>
              <a:rPr sz="890">
                <a:solidFill>
                  <a:srgbClr val="F6C67A"/>
                </a:solidFill>
                <a:latin typeface="Consolas"/>
              </a:rPr>
              <a:t>"CPF"</a:t>
            </a:r>
            <a:r>
              <a:rPr sz="890">
                <a:solidFill>
                  <a:srgbClr val="CBD9E8"/>
                </a:solidFill>
                <a:latin typeface="Consolas"/>
              </a:rPr>
              <a:t>, </a:t>
            </a:r>
            <a:r>
              <a:rPr sz="890">
                <a:solidFill>
                  <a:srgbClr val="7DD3C8"/>
                </a:solidFill>
                <a:latin typeface="Consolas"/>
              </a:rPr>
              <a:t>"locale"</a:t>
            </a:r>
            <a:r>
              <a:rPr sz="890">
                <a:solidFill>
                  <a:srgbClr val="CBD9E8"/>
                </a:solidFill>
                <a:latin typeface="Consolas"/>
              </a:rPr>
              <a:t>: </a:t>
            </a:r>
            <a:r>
              <a:rPr sz="890">
                <a:solidFill>
                  <a:srgbClr val="F6C67A"/>
                </a:solidFill>
                <a:latin typeface="Consolas"/>
              </a:rPr>
              <a:t>"pt-BR"</a:t>
            </a:r>
            <a:r>
              <a:rPr sz="890">
                <a:solidFill>
                  <a:srgbClr val="CBD9E8"/>
                </a:solidFill>
                <a:latin typeface="Consolas"/>
              </a:rPr>
              <a:t> }]</a:t>
            </a:r>
          </a:p>
          <a:p>
            <a:pPr>
              <a:lnSpc>
                <a:spcPct val="116000"/>
              </a:lnSpc>
              <a:spcBef>
                <a:spcPts val="0"/>
              </a:spcBef>
              <a:spcAft>
                <a:spcPts val="0"/>
              </a:spcAft>
            </a:pPr>
            <a:r>
              <a:rPr sz="890">
                <a:solidFill>
                  <a:srgbClr val="CBD9E8"/>
                </a:solidFill>
                <a:latin typeface="Consolas"/>
              </a:rPr>
              <a:t>    }</a:t>
            </a:r>
          </a:p>
          <a:p>
            <a:pPr>
              <a:lnSpc>
                <a:spcPct val="116000"/>
              </a:lnSpc>
              <a:spcBef>
                <a:spcPts val="0"/>
              </a:spcBef>
              <a:spcAft>
                <a:spcPts val="0"/>
              </a:spcAft>
            </a:pPr>
            <a:r>
              <a:rPr sz="890">
                <a:solidFill>
                  <a:srgbClr val="CBD9E8"/>
                </a:solidFill>
                <a:latin typeface="Consolas"/>
              </a:rPr>
              <a:t>  }</a:t>
            </a:r>
          </a:p>
          <a:p>
            <a:pPr>
              <a:lnSpc>
                <a:spcPct val="116000"/>
              </a:lnSpc>
              <a:spcBef>
                <a:spcPts val="0"/>
              </a:spcBef>
              <a:spcAft>
                <a:spcPts val="0"/>
              </a:spcAft>
            </a:pPr>
            <a:r>
              <a:rPr sz="890">
                <a:solidFill>
                  <a:srgbClr val="CBD9E8"/>
                </a:solidFill>
                <a:latin typeface="Consolas"/>
              </a:rPr>
              <a:t>}</a:t>
            </a:r>
          </a:p>
        </p:txBody>
      </p:sp>
      <p:sp>
        <p:nvSpPr>
          <p:cNvPr id="9" name="TextBox 8"/>
          <p:cNvSpPr txBox="1"/>
          <p:nvPr/>
        </p:nvSpPr>
        <p:spPr>
          <a:xfrm>
            <a:off x="6309359" y="1463040"/>
            <a:ext cx="5376672"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AUTHORIZATION SERVER METADATA</a:t>
            </a:r>
          </a:p>
        </p:txBody>
      </p:sp>
      <p:sp>
        <p:nvSpPr>
          <p:cNvPr id="10" name="Rounded Rectangle 9"/>
          <p:cNvSpPr/>
          <p:nvPr/>
        </p:nvSpPr>
        <p:spPr>
          <a:xfrm>
            <a:off x="6309359" y="1682496"/>
            <a:ext cx="5376672" cy="173736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1801368"/>
            <a:ext cx="5084064" cy="1499616"/>
          </a:xfrm>
          <a:prstGeom prst="rect">
            <a:avLst/>
          </a:prstGeom>
          <a:noFill/>
        </p:spPr>
        <p:txBody>
          <a:bodyPr wrap="square" lIns="0" rIns="0" tIns="0" bIns="0" anchor="t">
            <a:spAutoFit/>
          </a:bodyPr>
          <a:lstStyle/>
          <a:p>
            <a:pPr>
              <a:lnSpc>
                <a:spcPct val="116000"/>
              </a:lnSpc>
              <a:spcBef>
                <a:spcPts val="0"/>
              </a:spcBef>
              <a:spcAft>
                <a:spcPts val="0"/>
              </a:spcAft>
            </a:pPr>
            <a:r>
              <a:rPr sz="890">
                <a:solidFill>
                  <a:srgbClr val="CBD9E8"/>
                </a:solidFill>
                <a:latin typeface="Consolas"/>
              </a:rPr>
              <a:t>GET https://as.example.gov.br</a:t>
            </a:r>
          </a:p>
          <a:p>
            <a:pPr>
              <a:lnSpc>
                <a:spcPct val="116000"/>
              </a:lnSpc>
              <a:spcBef>
                <a:spcPts val="0"/>
              </a:spcBef>
              <a:spcAft>
                <a:spcPts val="0"/>
              </a:spcAft>
            </a:pPr>
            <a:r>
              <a:rPr sz="890">
                <a:solidFill>
                  <a:srgbClr val="CBD9E8"/>
                </a:solidFill>
                <a:latin typeface="Consolas"/>
              </a:rPr>
              <a:t>      /.well-known/oauth-authorization-server</a:t>
            </a:r>
          </a:p>
          <a:p>
            <a:pPr>
              <a:lnSpc>
                <a:spcPct val="116000"/>
              </a:lnSpc>
              <a:spcBef>
                <a:spcPts val="0"/>
              </a:spcBef>
              <a:spcAft>
                <a:spcPts val="0"/>
              </a:spcAft>
            </a:pP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"issuer"</a:t>
            </a:r>
            <a:r>
              <a:rPr sz="890">
                <a:solidFill>
                  <a:srgbClr val="CBD9E8"/>
                </a:solidFill>
                <a:latin typeface="Consolas"/>
              </a:rPr>
              <a:t>: </a:t>
            </a:r>
            <a:r>
              <a:rPr sz="890">
                <a:solidFill>
                  <a:srgbClr val="F6C67A"/>
                </a:solidFill>
                <a:latin typeface="Consolas"/>
              </a:rPr>
              <a:t>"https://as.example.gov.br"</a:t>
            </a:r>
            <a:r>
              <a:rPr sz="890">
                <a:solidFill>
                  <a:srgbClr val="CBD9E8"/>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"authorization_endpoint"</a:t>
            </a:r>
            <a:r>
              <a:rPr sz="890">
                <a:solidFill>
                  <a:srgbClr val="CBD9E8"/>
                </a:solidFill>
                <a:latin typeface="Consolas"/>
              </a:rPr>
              <a:t>: </a:t>
            </a:r>
            <a:r>
              <a:rPr sz="890">
                <a:solidFill>
                  <a:srgbClr val="F6C67A"/>
                </a:solidFill>
                <a:latin typeface="Consolas"/>
              </a:rPr>
              <a:t>".../authorize"</a:t>
            </a:r>
            <a:r>
              <a:rPr sz="890">
                <a:solidFill>
                  <a:srgbClr val="CBD9E8"/>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"token_endpoint"</a:t>
            </a:r>
            <a:r>
              <a:rPr sz="890">
                <a:solidFill>
                  <a:srgbClr val="CBD9E8"/>
                </a:solidFill>
                <a:latin typeface="Consolas"/>
              </a:rPr>
              <a:t>: </a:t>
            </a:r>
            <a:r>
              <a:rPr sz="890">
                <a:solidFill>
                  <a:srgbClr val="F6C67A"/>
                </a:solidFill>
                <a:latin typeface="Consolas"/>
              </a:rPr>
              <a:t>".../token"</a:t>
            </a:r>
            <a:r>
              <a:rPr sz="890">
                <a:solidFill>
                  <a:srgbClr val="CBD9E8"/>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"grant_types_supported"</a:t>
            </a:r>
            <a:r>
              <a:rPr sz="890">
                <a:solidFill>
                  <a:srgbClr val="CBD9E8"/>
                </a:solidFill>
                <a:latin typeface="Consolas"/>
              </a:rPr>
              <a:t>: [</a:t>
            </a:r>
            <a:r>
              <a:rPr sz="890">
                <a:solidFill>
                  <a:srgbClr val="F6C67A"/>
                </a:solidFill>
                <a:latin typeface="Consolas"/>
              </a:rPr>
              <a:t>"authorization_code"</a:t>
            </a:r>
            <a:r>
              <a:rPr sz="890">
                <a:solidFill>
                  <a:srgbClr val="CBD9E8"/>
                </a:solidFill>
                <a:latin typeface="Consolas"/>
              </a:rPr>
              <a:t>],</a:t>
            </a:r>
          </a:p>
          <a:p>
            <a:pPr>
              <a:lnSpc>
                <a:spcPct val="116000"/>
              </a:lnSpc>
              <a:spcBef>
                <a:spcPts val="0"/>
              </a:spcBef>
              <a:spcAft>
                <a:spcPts val="0"/>
              </a:spcAft>
            </a:pPr>
            <a:r>
              <a:rPr sz="890">
                <a:solidFill>
                  <a:srgbClr val="CBD9E8"/>
                </a:solidFill>
                <a:latin typeface="Consolas"/>
              </a:rPr>
              <a:t>  </a:t>
            </a:r>
            <a:r>
              <a:rPr sz="890">
                <a:solidFill>
                  <a:srgbClr val="7DD3C8"/>
                </a:solidFill>
                <a:latin typeface="Consolas"/>
              </a:rPr>
              <a:t>"response_types_supported"</a:t>
            </a:r>
            <a:r>
              <a:rPr sz="890">
                <a:solidFill>
                  <a:srgbClr val="CBD9E8"/>
                </a:solidFill>
                <a:latin typeface="Consolas"/>
              </a:rPr>
              <a:t>: [</a:t>
            </a:r>
            <a:r>
              <a:rPr sz="890">
                <a:solidFill>
                  <a:srgbClr val="F6C67A"/>
                </a:solidFill>
                <a:latin typeface="Consolas"/>
              </a:rPr>
              <a:t>"code"</a:t>
            </a:r>
            <a:r>
              <a:rPr sz="890">
                <a:solidFill>
                  <a:srgbClr val="CBD9E8"/>
                </a:solidFill>
                <a:latin typeface="Consolas"/>
              </a:rPr>
              <a:t>] }</a:t>
            </a:r>
          </a:p>
        </p:txBody>
      </p:sp>
      <p:sp>
        <p:nvSpPr>
          <p:cNvPr id="12" name="Oval 11"/>
          <p:cNvSpPr/>
          <p:nvPr/>
        </p:nvSpPr>
        <p:spPr>
          <a:xfrm>
            <a:off x="6332220" y="3741928"/>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3675888"/>
            <a:ext cx="5166359" cy="58978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The wallet reads </a:t>
            </a:r>
            <a:r>
              <a:rPr sz="1000" b="0" i="0">
                <a:solidFill>
                  <a:srgbClr val="1D4E89"/>
                </a:solidFill>
                <a:latin typeface="Consolas"/>
              </a:rPr>
              <a:t>authorization_servers</a:t>
            </a:r>
            <a:r>
              <a:rPr sz="1000" b="0" i="0">
                <a:solidFill>
                  <a:srgbClr val="0F172A"/>
                </a:solidFill>
                <a:latin typeface="Arial"/>
              </a:rPr>
              <a:t> from the issuer metadata and takes the </a:t>
            </a:r>
            <a:r>
              <a:rPr sz="1000" b="1" i="0">
                <a:solidFill>
                  <a:srgbClr val="0F172A"/>
                </a:solidFill>
                <a:latin typeface="Arial"/>
              </a:rPr>
              <a:t>first entry</a:t>
            </a:r>
            <a:r>
              <a:rPr sz="1000" b="0" i="0">
                <a:solidFill>
                  <a:srgbClr val="0F172A"/>
                </a:solidFill>
                <a:latin typeface="Arial"/>
              </a:rPr>
              <a:t>. Multiple-server negotiation is not implemented.</a:t>
            </a:r>
          </a:p>
        </p:txBody>
      </p:sp>
      <p:sp>
        <p:nvSpPr>
          <p:cNvPr id="14" name="Oval 13"/>
          <p:cNvSpPr/>
          <p:nvPr/>
        </p:nvSpPr>
        <p:spPr>
          <a:xfrm>
            <a:off x="6332220" y="431800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4251960"/>
            <a:ext cx="5166359" cy="42976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It then checks </a:t>
            </a:r>
            <a:r>
              <a:rPr sz="1000" b="0" i="0">
                <a:solidFill>
                  <a:srgbClr val="1D4E89"/>
                </a:solidFill>
                <a:latin typeface="Consolas"/>
              </a:rPr>
              <a:t>grant_types_supported</a:t>
            </a:r>
            <a:r>
              <a:rPr sz="1000" b="0" i="0">
                <a:solidFill>
                  <a:srgbClr val="0F172A"/>
                </a:solidFill>
                <a:latin typeface="Arial"/>
              </a:rPr>
              <a:t> contains a grant it can run — today, </a:t>
            </a:r>
            <a:r>
              <a:rPr sz="1000" b="0" i="0">
                <a:solidFill>
                  <a:srgbClr val="1D4E89"/>
                </a:solidFill>
                <a:latin typeface="Consolas"/>
              </a:rPr>
              <a:t>authorization_code</a:t>
            </a:r>
            <a:r>
              <a:rPr sz="1000" b="0" i="0">
                <a:solidFill>
                  <a:srgbClr val="0F172A"/>
                </a:solidFill>
                <a:latin typeface="Arial"/>
              </a:rPr>
              <a:t>. If not, it stops with a clear error.</a:t>
            </a:r>
          </a:p>
        </p:txBody>
      </p:sp>
      <p:sp>
        <p:nvSpPr>
          <p:cNvPr id="16" name="Oval 15"/>
          <p:cNvSpPr/>
          <p:nvPr/>
        </p:nvSpPr>
        <p:spPr>
          <a:xfrm>
            <a:off x="6332220" y="4734052"/>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4668012"/>
            <a:ext cx="5166359" cy="58978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1D4E89"/>
                </a:solidFill>
                <a:latin typeface="Consolas"/>
              </a:rPr>
              <a:t>display</a:t>
            </a:r>
            <a:r>
              <a:rPr sz="1000" b="0" i="0">
                <a:solidFill>
                  <a:srgbClr val="0F172A"/>
                </a:solidFill>
                <a:latin typeface="Arial"/>
              </a:rPr>
              <a:t> and </a:t>
            </a:r>
            <a:r>
              <a:rPr sz="1000" b="0" i="0">
                <a:solidFill>
                  <a:srgbClr val="1D4E89"/>
                </a:solidFill>
                <a:latin typeface="Consolas"/>
              </a:rPr>
              <a:t>claims[].display</a:t>
            </a:r>
            <a:r>
              <a:rPr sz="1000" b="0" i="0">
                <a:solidFill>
                  <a:srgbClr val="0F172A"/>
                </a:solidFill>
                <a:latin typeface="Arial"/>
              </a:rPr>
              <a:t> drive the labels and field order on the card. If your card looks wrong, fix the metadata, not the app.</a:t>
            </a:r>
          </a:p>
        </p:txBody>
      </p:sp>
      <p:sp>
        <p:nvSpPr>
          <p:cNvPr id="18" name="Oval 17"/>
          <p:cNvSpPr/>
          <p:nvPr/>
        </p:nvSpPr>
        <p:spPr>
          <a:xfrm>
            <a:off x="6332220" y="531012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5244084"/>
            <a:ext cx="5166359" cy="58978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Mimoto caches both documents (</a:t>
            </a:r>
            <a:r>
              <a:rPr sz="1000" b="0" i="0">
                <a:solidFill>
                  <a:srgbClr val="1D4E89"/>
                </a:solidFill>
                <a:latin typeface="Consolas"/>
              </a:rPr>
              <a:t>cache.credential-issuer.wellknown.expiry-time-in-min</a:t>
            </a:r>
            <a:r>
              <a:rPr sz="1000" b="0" i="0">
                <a:solidFill>
                  <a:srgbClr val="0F172A"/>
                </a:solidFill>
                <a:latin typeface="Arial"/>
              </a:rPr>
              <a:t>). After changing metadata, </a:t>
            </a:r>
            <a:r>
              <a:rPr sz="1000" b="1" i="0">
                <a:solidFill>
                  <a:srgbClr val="0F172A"/>
                </a:solidFill>
                <a:latin typeface="Arial"/>
              </a:rPr>
              <a:t>expect a stale window</a:t>
            </a:r>
            <a:r>
              <a:rPr sz="1000" b="0" i="0">
                <a:solidFill>
                  <a:srgbClr val="0F172A"/>
                </a:solidFill>
                <a:latin typeface="Arial"/>
              </a:rPr>
              <a:t>.</a:t>
            </a:r>
          </a:p>
        </p:txBody>
      </p:sp>
      <p:sp>
        <p:nvSpPr>
          <p:cNvPr id="20" name="TextBox 1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issuance with OpenID4VCI</a:t>
            </a:r>
          </a:p>
        </p:txBody>
      </p:sp>
      <p:sp>
        <p:nvSpPr>
          <p:cNvPr id="21" name="TextBox 2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SEQUENCE — ISSUER-INITIATED</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Pre-authorized code flow, step by step</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No login inside the wallet. The issuer already knows who the user is.</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2241"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User</a:t>
            </a:r>
          </a:p>
        </p:txBody>
      </p:sp>
      <p:cxnSp>
        <p:nvCxnSpPr>
          <p:cNvPr id="7" name="Connector 6"/>
          <p:cNvCxnSpPr/>
          <p:nvPr/>
        </p:nvCxnSpPr>
        <p:spPr>
          <a:xfrm>
            <a:off x="1621505"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75785"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75785"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9412"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Inji Wallet</a:t>
            </a:r>
          </a:p>
        </p:txBody>
      </p:sp>
      <p:cxnSp>
        <p:nvCxnSpPr>
          <p:cNvPr id="11" name="Connector 10"/>
          <p:cNvCxnSpPr/>
          <p:nvPr/>
        </p:nvCxnSpPr>
        <p:spPr>
          <a:xfrm>
            <a:off x="3858676"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812956"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12956"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6583"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inji-vci-client</a:t>
            </a:r>
          </a:p>
        </p:txBody>
      </p:sp>
      <p:cxnSp>
        <p:nvCxnSpPr>
          <p:cNvPr id="15" name="Connector 14"/>
          <p:cNvCxnSpPr/>
          <p:nvPr/>
        </p:nvCxnSpPr>
        <p:spPr>
          <a:xfrm>
            <a:off x="6095847"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050127"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50127"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63754"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Authorization Server</a:t>
            </a:r>
          </a:p>
        </p:txBody>
      </p:sp>
      <p:cxnSp>
        <p:nvCxnSpPr>
          <p:cNvPr id="19" name="Connector 18"/>
          <p:cNvCxnSpPr/>
          <p:nvPr/>
        </p:nvCxnSpPr>
        <p:spPr>
          <a:xfrm>
            <a:off x="8333018"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87298"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7298"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00925"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Credential Issuer</a:t>
            </a:r>
          </a:p>
        </p:txBody>
      </p:sp>
      <p:cxnSp>
        <p:nvCxnSpPr>
          <p:cNvPr id="23" name="Connector 22"/>
          <p:cNvCxnSpPr/>
          <p:nvPr/>
        </p:nvCxnSpPr>
        <p:spPr>
          <a:xfrm>
            <a:off x="10570189"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0524469"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24469"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H="1">
            <a:off x="1648937" y="2041586"/>
            <a:ext cx="8893820"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912518" y="1851660"/>
            <a:ext cx="2366657"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8238" y="1865376"/>
            <a:ext cx="2275217"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  </a:t>
            </a:r>
            <a:r>
              <a:rPr sz="869" b="0" i="0">
                <a:solidFill>
                  <a:srgbClr val="5B6B7F"/>
                </a:solidFill>
                <a:latin typeface="Arial"/>
              </a:rPr>
              <a:t>Issuer shows a Credential Offer QR</a:t>
            </a:r>
          </a:p>
        </p:txBody>
      </p:sp>
      <p:cxnSp>
        <p:nvCxnSpPr>
          <p:cNvPr id="29" name="Connector 28"/>
          <p:cNvCxnSpPr/>
          <p:nvPr/>
        </p:nvCxnSpPr>
        <p:spPr>
          <a:xfrm>
            <a:off x="1648937" y="2284709"/>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223845" y="2094782"/>
            <a:ext cx="1032490"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69565" y="2108498"/>
            <a:ext cx="941050"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2  </a:t>
            </a:r>
            <a:r>
              <a:rPr sz="869" b="0" i="0">
                <a:solidFill>
                  <a:srgbClr val="1E293B"/>
                </a:solidFill>
                <a:latin typeface="Arial"/>
              </a:rPr>
              <a:t>Scan the QR</a:t>
            </a:r>
          </a:p>
        </p:txBody>
      </p:sp>
      <p:cxnSp>
        <p:nvCxnSpPr>
          <p:cNvPr id="32" name="Connector 31"/>
          <p:cNvCxnSpPr/>
          <p:nvPr/>
        </p:nvCxnSpPr>
        <p:spPr>
          <a:xfrm>
            <a:off x="3886108" y="2527831"/>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3353078" y="2337905"/>
            <a:ext cx="3248367"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98798" y="2351621"/>
            <a:ext cx="3156927"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3  </a:t>
            </a:r>
            <a:r>
              <a:rPr sz="869" b="0" i="0">
                <a:solidFill>
                  <a:srgbClr val="1D4E89"/>
                </a:solidFill>
                <a:latin typeface="Consolas"/>
              </a:rPr>
              <a:t>fetchCredentialUsingCredentialOffer(offer)</a:t>
            </a:r>
          </a:p>
        </p:txBody>
      </p:sp>
      <p:cxnSp>
        <p:nvCxnSpPr>
          <p:cNvPr id="35" name="Connector 34"/>
          <p:cNvCxnSpPr/>
          <p:nvPr/>
        </p:nvCxnSpPr>
        <p:spPr>
          <a:xfrm>
            <a:off x="6123279" y="2770954"/>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742810" y="2581028"/>
            <a:ext cx="3180416"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88530" y="2594744"/>
            <a:ext cx="3088976"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4  </a:t>
            </a:r>
            <a:r>
              <a:rPr sz="869" b="0" i="0">
                <a:solidFill>
                  <a:srgbClr val="1D4E89"/>
                </a:solidFill>
                <a:latin typeface="Consolas"/>
              </a:rPr>
              <a:t>GET /.well-known/openid-credential-issuer</a:t>
            </a:r>
          </a:p>
        </p:txBody>
      </p:sp>
      <p:cxnSp>
        <p:nvCxnSpPr>
          <p:cNvPr id="38" name="Connector 37"/>
          <p:cNvCxnSpPr/>
          <p:nvPr/>
        </p:nvCxnSpPr>
        <p:spPr>
          <a:xfrm flipH="1">
            <a:off x="6123279" y="3014077"/>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7439726" y="2824151"/>
            <a:ext cx="1786585"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85446" y="2837867"/>
            <a:ext cx="1695145"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5  </a:t>
            </a:r>
            <a:r>
              <a:rPr sz="869" b="0" i="0">
                <a:solidFill>
                  <a:srgbClr val="5B6B7F"/>
                </a:solidFill>
                <a:latin typeface="Arial"/>
              </a:rPr>
              <a:t>issuer metadata (cached)</a:t>
            </a:r>
          </a:p>
        </p:txBody>
      </p:sp>
      <p:cxnSp>
        <p:nvCxnSpPr>
          <p:cNvPr id="41" name="Connector 40"/>
          <p:cNvCxnSpPr/>
          <p:nvPr/>
        </p:nvCxnSpPr>
        <p:spPr>
          <a:xfrm>
            <a:off x="6123279" y="3257200"/>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5556273" y="3067274"/>
            <a:ext cx="3316319"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01993" y="3080990"/>
            <a:ext cx="3224879"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6  </a:t>
            </a:r>
            <a:r>
              <a:rPr sz="869" b="0" i="0">
                <a:solidFill>
                  <a:srgbClr val="1D4E89"/>
                </a:solidFill>
                <a:latin typeface="Consolas"/>
              </a:rPr>
              <a:t>GET /.well-known/oauth-authorization-server</a:t>
            </a:r>
          </a:p>
        </p:txBody>
      </p:sp>
      <p:cxnSp>
        <p:nvCxnSpPr>
          <p:cNvPr id="44" name="Connector 43"/>
          <p:cNvCxnSpPr/>
          <p:nvPr/>
        </p:nvCxnSpPr>
        <p:spPr>
          <a:xfrm flipH="1">
            <a:off x="6123279" y="3500323"/>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089111" y="3310396"/>
            <a:ext cx="2250643"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34831" y="3324112"/>
            <a:ext cx="2159203"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7  </a:t>
            </a:r>
            <a:r>
              <a:rPr sz="869" b="0" i="0">
                <a:solidFill>
                  <a:srgbClr val="5B6B7F"/>
                </a:solidFill>
                <a:latin typeface="Arial"/>
              </a:rPr>
              <a:t>token endpoint, grants supported</a:t>
            </a:r>
          </a:p>
        </p:txBody>
      </p:sp>
      <p:cxnSp>
        <p:nvCxnSpPr>
          <p:cNvPr id="47" name="Connector 46"/>
          <p:cNvCxnSpPr/>
          <p:nvPr/>
        </p:nvCxnSpPr>
        <p:spPr>
          <a:xfrm flipH="1">
            <a:off x="3886108" y="3743446"/>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3681233" y="3553519"/>
            <a:ext cx="2592057"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26953" y="3567235"/>
            <a:ext cx="2500617"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8  </a:t>
            </a:r>
            <a:r>
              <a:rPr sz="869" b="0" i="0">
                <a:solidFill>
                  <a:srgbClr val="5B6B7F"/>
                </a:solidFill>
                <a:latin typeface="Consolas"/>
              </a:rPr>
              <a:t>getTxCode()</a:t>
            </a:r>
            <a:r>
              <a:rPr sz="869" b="0" i="0">
                <a:solidFill>
                  <a:srgbClr val="5B6B7F"/>
                </a:solidFill>
                <a:latin typeface="Arial"/>
              </a:rPr>
              <a:t> — only if the offer asks</a:t>
            </a:r>
          </a:p>
        </p:txBody>
      </p:sp>
      <p:cxnSp>
        <p:nvCxnSpPr>
          <p:cNvPr id="50" name="Connector 49"/>
          <p:cNvCxnSpPr/>
          <p:nvPr/>
        </p:nvCxnSpPr>
        <p:spPr>
          <a:xfrm>
            <a:off x="1648937" y="3986568"/>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672776" y="3796642"/>
            <a:ext cx="2134628"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718496" y="3810358"/>
            <a:ext cx="2043188"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9  </a:t>
            </a:r>
            <a:r>
              <a:rPr sz="869" b="0" i="0">
                <a:solidFill>
                  <a:srgbClr val="1E293B"/>
                </a:solidFill>
                <a:latin typeface="Arial"/>
              </a:rPr>
              <a:t>User types the 6-digit tx_code</a:t>
            </a:r>
          </a:p>
        </p:txBody>
      </p:sp>
      <p:cxnSp>
        <p:nvCxnSpPr>
          <p:cNvPr id="53" name="Connector 52"/>
          <p:cNvCxnSpPr/>
          <p:nvPr/>
        </p:nvCxnSpPr>
        <p:spPr>
          <a:xfrm flipH="1">
            <a:off x="3886108" y="4229691"/>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3499753" y="4039765"/>
            <a:ext cx="2955016"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545473" y="4053481"/>
            <a:ext cx="2863576"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10  </a:t>
            </a:r>
            <a:r>
              <a:rPr sz="869" b="0" i="0">
                <a:solidFill>
                  <a:srgbClr val="5B6B7F"/>
                </a:solidFill>
                <a:latin typeface="Consolas"/>
              </a:rPr>
              <a:t>getTokenResponse(tokenRequest)</a:t>
            </a:r>
            <a:r>
              <a:rPr sz="869" b="0" i="0">
                <a:solidFill>
                  <a:srgbClr val="5B6B7F"/>
                </a:solidFill>
                <a:latin typeface="Arial"/>
              </a:rPr>
              <a:t> callback</a:t>
            </a:r>
          </a:p>
        </p:txBody>
      </p:sp>
      <p:cxnSp>
        <p:nvCxnSpPr>
          <p:cNvPr id="56" name="Connector 55"/>
          <p:cNvCxnSpPr/>
          <p:nvPr/>
        </p:nvCxnSpPr>
        <p:spPr>
          <a:xfrm>
            <a:off x="3886108" y="4472814"/>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4654800" y="4282888"/>
            <a:ext cx="2882093"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00520" y="4296604"/>
            <a:ext cx="2790653"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11  </a:t>
            </a:r>
            <a:r>
              <a:rPr sz="869" b="0" i="0">
                <a:solidFill>
                  <a:srgbClr val="1D4E89"/>
                </a:solidFill>
                <a:latin typeface="Consolas"/>
              </a:rPr>
              <a:t>POST /token</a:t>
            </a:r>
            <a:r>
              <a:rPr sz="869" b="0" i="0">
                <a:solidFill>
                  <a:srgbClr val="1E293B"/>
                </a:solidFill>
                <a:latin typeface="Arial"/>
              </a:rPr>
              <a:t> pre-authorized_code + tx_code</a:t>
            </a:r>
          </a:p>
        </p:txBody>
      </p:sp>
      <p:cxnSp>
        <p:nvCxnSpPr>
          <p:cNvPr id="59" name="Connector 58"/>
          <p:cNvCxnSpPr/>
          <p:nvPr/>
        </p:nvCxnSpPr>
        <p:spPr>
          <a:xfrm flipH="1">
            <a:off x="3886108" y="4715937"/>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5166093" y="4526011"/>
            <a:ext cx="1859508"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211813" y="4539727"/>
            <a:ext cx="1768068"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12  </a:t>
            </a:r>
            <a:r>
              <a:rPr sz="869" b="0" i="0">
                <a:solidFill>
                  <a:srgbClr val="5B6B7F"/>
                </a:solidFill>
                <a:latin typeface="Consolas"/>
              </a:rPr>
              <a:t>access_token</a:t>
            </a:r>
            <a:r>
              <a:rPr sz="869" b="0" i="0">
                <a:solidFill>
                  <a:srgbClr val="5B6B7F"/>
                </a:solidFill>
                <a:latin typeface="Arial"/>
              </a:rPr>
              <a:t> + </a:t>
            </a:r>
            <a:r>
              <a:rPr sz="869" b="0" i="0">
                <a:solidFill>
                  <a:srgbClr val="5B6B7F"/>
                </a:solidFill>
                <a:latin typeface="Consolas"/>
              </a:rPr>
              <a:t>c_nonce</a:t>
            </a:r>
          </a:p>
        </p:txBody>
      </p:sp>
      <p:cxnSp>
        <p:nvCxnSpPr>
          <p:cNvPr id="62" name="Connector 61"/>
          <p:cNvCxnSpPr/>
          <p:nvPr/>
        </p:nvCxnSpPr>
        <p:spPr>
          <a:xfrm flipH="1">
            <a:off x="3886108" y="4959060"/>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3363850" y="4769133"/>
            <a:ext cx="3226822"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09570" y="4782849"/>
            <a:ext cx="3135382"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13  </a:t>
            </a:r>
            <a:r>
              <a:rPr sz="869" b="0" i="0">
                <a:solidFill>
                  <a:srgbClr val="5B6B7F"/>
                </a:solidFill>
                <a:latin typeface="Consolas"/>
              </a:rPr>
              <a:t>getProofJwt(issuer, c_nonce, algs)</a:t>
            </a:r>
            <a:r>
              <a:rPr sz="869" b="0" i="0">
                <a:solidFill>
                  <a:srgbClr val="5B6B7F"/>
                </a:solidFill>
                <a:latin typeface="Arial"/>
              </a:rPr>
              <a:t> callback</a:t>
            </a:r>
          </a:p>
        </p:txBody>
      </p:sp>
      <p:sp>
        <p:nvSpPr>
          <p:cNvPr id="65" name="Rectangle 64"/>
          <p:cNvSpPr/>
          <p:nvPr/>
        </p:nvSpPr>
        <p:spPr>
          <a:xfrm>
            <a:off x="3858676" y="5110742"/>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flipH="1">
            <a:off x="3876964" y="5257046"/>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4169572" y="5012256"/>
            <a:ext cx="2714701"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15292" y="5025972"/>
            <a:ext cx="2623261" cy="150736"/>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0E9488"/>
                </a:solidFill>
                <a:latin typeface="Arial"/>
              </a:rPr>
              <a:t>14  </a:t>
            </a:r>
            <a:r>
              <a:rPr sz="869" b="0" i="0">
                <a:solidFill>
                  <a:srgbClr val="1E293B"/>
                </a:solidFill>
                <a:latin typeface="Arial"/>
              </a:rPr>
              <a:t>Generate key, sign proof JWT in keystore</a:t>
            </a:r>
          </a:p>
        </p:txBody>
      </p:sp>
      <p:cxnSp>
        <p:nvCxnSpPr>
          <p:cNvPr id="69" name="Connector 68"/>
          <p:cNvCxnSpPr/>
          <p:nvPr/>
        </p:nvCxnSpPr>
        <p:spPr>
          <a:xfrm>
            <a:off x="6123279" y="5445305"/>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7099140" y="5255379"/>
            <a:ext cx="2467756"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44860" y="5269095"/>
            <a:ext cx="2376316"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15  </a:t>
            </a:r>
            <a:r>
              <a:rPr sz="869" b="0" i="0">
                <a:solidFill>
                  <a:srgbClr val="1D4E89"/>
                </a:solidFill>
                <a:latin typeface="Consolas"/>
              </a:rPr>
              <a:t>POST /credential</a:t>
            </a:r>
            <a:r>
              <a:rPr sz="869" b="0" i="0">
                <a:solidFill>
                  <a:srgbClr val="1E293B"/>
                </a:solidFill>
                <a:latin typeface="Arial"/>
              </a:rPr>
              <a:t> + Bearer + proof</a:t>
            </a:r>
          </a:p>
        </p:txBody>
      </p:sp>
      <p:cxnSp>
        <p:nvCxnSpPr>
          <p:cNvPr id="72" name="Connector 71"/>
          <p:cNvCxnSpPr/>
          <p:nvPr/>
        </p:nvCxnSpPr>
        <p:spPr>
          <a:xfrm flipH="1">
            <a:off x="6123279" y="5688428"/>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7845776" y="5498502"/>
            <a:ext cx="974483"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891496" y="5512218"/>
            <a:ext cx="883043"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16  </a:t>
            </a:r>
            <a:r>
              <a:rPr sz="869" b="0" i="0">
                <a:solidFill>
                  <a:srgbClr val="5B6B7F"/>
                </a:solidFill>
                <a:latin typeface="Arial"/>
              </a:rPr>
              <a:t>credential</a:t>
            </a:r>
          </a:p>
        </p:txBody>
      </p:sp>
      <p:cxnSp>
        <p:nvCxnSpPr>
          <p:cNvPr id="75" name="Connector 74"/>
          <p:cNvCxnSpPr/>
          <p:nvPr/>
        </p:nvCxnSpPr>
        <p:spPr>
          <a:xfrm flipH="1">
            <a:off x="3886108" y="5931551"/>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3675432" y="5741625"/>
            <a:ext cx="2603658"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721152" y="5755341"/>
            <a:ext cx="2512218"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17  </a:t>
            </a:r>
            <a:r>
              <a:rPr sz="869" b="0" i="0">
                <a:solidFill>
                  <a:srgbClr val="5B6B7F"/>
                </a:solidFill>
                <a:latin typeface="Consolas"/>
              </a:rPr>
              <a:t>CredentialResponse</a:t>
            </a:r>
            <a:r>
              <a:rPr sz="869" b="0" i="0">
                <a:solidFill>
                  <a:srgbClr val="5B6B7F"/>
                </a:solidFill>
                <a:latin typeface="Arial"/>
              </a:rPr>
              <a:t> → verify → store</a:t>
            </a:r>
          </a:p>
        </p:txBody>
      </p:sp>
      <p:sp>
        <p:nvSpPr>
          <p:cNvPr id="78" name="TextBox 7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issuance with OpenID4VCI</a:t>
            </a:r>
          </a:p>
        </p:txBody>
      </p:sp>
      <p:sp>
        <p:nvSpPr>
          <p:cNvPr id="79" name="TextBox 7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SEQUENCE — WALLET-INITIATED</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Authorization code flow with PKCE, step by step</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The user logs in at the authorization server, in a real browser, not inside the app's UI.</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2241"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User</a:t>
            </a:r>
          </a:p>
        </p:txBody>
      </p:sp>
      <p:cxnSp>
        <p:nvCxnSpPr>
          <p:cNvPr id="7" name="Connector 6"/>
          <p:cNvCxnSpPr/>
          <p:nvPr/>
        </p:nvCxnSpPr>
        <p:spPr>
          <a:xfrm>
            <a:off x="1621505"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75785"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75785"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9412"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Inji Wallet</a:t>
            </a:r>
          </a:p>
        </p:txBody>
      </p:sp>
      <p:cxnSp>
        <p:nvCxnSpPr>
          <p:cNvPr id="11" name="Connector 10"/>
          <p:cNvCxnSpPr/>
          <p:nvPr/>
        </p:nvCxnSpPr>
        <p:spPr>
          <a:xfrm>
            <a:off x="3858676"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812956"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12956"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6583"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inji-vci-client</a:t>
            </a:r>
          </a:p>
        </p:txBody>
      </p:sp>
      <p:cxnSp>
        <p:nvCxnSpPr>
          <p:cNvPr id="15" name="Connector 14"/>
          <p:cNvCxnSpPr/>
          <p:nvPr/>
        </p:nvCxnSpPr>
        <p:spPr>
          <a:xfrm>
            <a:off x="6095847"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050127"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50127"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63754"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Authorization Server</a:t>
            </a:r>
          </a:p>
        </p:txBody>
      </p:sp>
      <p:cxnSp>
        <p:nvCxnSpPr>
          <p:cNvPr id="19" name="Connector 18"/>
          <p:cNvCxnSpPr/>
          <p:nvPr/>
        </p:nvCxnSpPr>
        <p:spPr>
          <a:xfrm>
            <a:off x="8333018"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87298"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7298"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00925"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Credential Issuer</a:t>
            </a:r>
          </a:p>
        </p:txBody>
      </p:sp>
      <p:cxnSp>
        <p:nvCxnSpPr>
          <p:cNvPr id="23" name="Connector 22"/>
          <p:cNvCxnSpPr/>
          <p:nvPr/>
        </p:nvCxnSpPr>
        <p:spPr>
          <a:xfrm>
            <a:off x="10570189"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0524469"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24469"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3886108" y="2041586"/>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013321" y="1851660"/>
            <a:ext cx="3927881"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59041" y="1865376"/>
            <a:ext cx="3836441"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  </a:t>
            </a:r>
            <a:r>
              <a:rPr sz="869" b="0" i="0">
                <a:solidFill>
                  <a:srgbClr val="1D4E89"/>
                </a:solidFill>
                <a:latin typeface="Consolas"/>
              </a:rPr>
              <a:t>requestCredentialFromTrustedIssuer(issuer, configId)</a:t>
            </a:r>
          </a:p>
        </p:txBody>
      </p:sp>
      <p:cxnSp>
        <p:nvCxnSpPr>
          <p:cNvPr id="29" name="Connector 28"/>
          <p:cNvCxnSpPr/>
          <p:nvPr/>
        </p:nvCxnSpPr>
        <p:spPr>
          <a:xfrm>
            <a:off x="6123279" y="2284709"/>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742810" y="2094782"/>
            <a:ext cx="3180416"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88530" y="2108498"/>
            <a:ext cx="3088976"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2  </a:t>
            </a:r>
            <a:r>
              <a:rPr sz="869" b="0" i="0">
                <a:solidFill>
                  <a:srgbClr val="1D4E89"/>
                </a:solidFill>
                <a:latin typeface="Consolas"/>
              </a:rPr>
              <a:t>GET /.well-known/openid-credential-issuer</a:t>
            </a:r>
          </a:p>
        </p:txBody>
      </p:sp>
      <p:cxnSp>
        <p:nvCxnSpPr>
          <p:cNvPr id="32" name="Connector 31"/>
          <p:cNvCxnSpPr/>
          <p:nvPr/>
        </p:nvCxnSpPr>
        <p:spPr>
          <a:xfrm>
            <a:off x="6123279" y="2527831"/>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556273" y="2337905"/>
            <a:ext cx="3316319"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01993" y="2351621"/>
            <a:ext cx="3224879"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3  </a:t>
            </a:r>
            <a:r>
              <a:rPr sz="869" b="0" i="0">
                <a:solidFill>
                  <a:srgbClr val="1D4E89"/>
                </a:solidFill>
                <a:latin typeface="Consolas"/>
              </a:rPr>
              <a:t>GET /.well-known/oauth-authorization-server</a:t>
            </a:r>
          </a:p>
        </p:txBody>
      </p:sp>
      <p:sp>
        <p:nvSpPr>
          <p:cNvPr id="35" name="Rectangle 34"/>
          <p:cNvSpPr/>
          <p:nvPr/>
        </p:nvSpPr>
        <p:spPr>
          <a:xfrm>
            <a:off x="6095847" y="2679514"/>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H="1">
            <a:off x="6114135" y="2825818"/>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406743" y="2581028"/>
            <a:ext cx="3004737"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52463" y="2594744"/>
            <a:ext cx="2913297" cy="150736"/>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0E9488"/>
                </a:solidFill>
                <a:latin typeface="Arial"/>
              </a:rPr>
              <a:t>4  </a:t>
            </a:r>
            <a:r>
              <a:rPr sz="869" b="0" i="0">
                <a:solidFill>
                  <a:srgbClr val="1E293B"/>
                </a:solidFill>
                <a:latin typeface="Arial"/>
              </a:rPr>
              <a:t>PKCE session: verifier, challenge=S256, state</a:t>
            </a:r>
          </a:p>
        </p:txBody>
      </p:sp>
      <p:cxnSp>
        <p:nvCxnSpPr>
          <p:cNvPr id="39" name="Connector 38"/>
          <p:cNvCxnSpPr/>
          <p:nvPr/>
        </p:nvCxnSpPr>
        <p:spPr>
          <a:xfrm flipH="1">
            <a:off x="3886108" y="3014077"/>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465777" y="2824151"/>
            <a:ext cx="3022968"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11497" y="2837867"/>
            <a:ext cx="2931528"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5  </a:t>
            </a:r>
            <a:r>
              <a:rPr sz="869" b="0" i="0">
                <a:solidFill>
                  <a:srgbClr val="5B6B7F"/>
                </a:solidFill>
                <a:latin typeface="Consolas"/>
              </a:rPr>
              <a:t>authorizeUser(authorizationUrl)</a:t>
            </a:r>
            <a:r>
              <a:rPr sz="869" b="0" i="0">
                <a:solidFill>
                  <a:srgbClr val="5B6B7F"/>
                </a:solidFill>
                <a:latin typeface="Arial"/>
              </a:rPr>
              <a:t> callback</a:t>
            </a:r>
          </a:p>
        </p:txBody>
      </p:sp>
      <p:cxnSp>
        <p:nvCxnSpPr>
          <p:cNvPr id="42" name="Connector 41"/>
          <p:cNvCxnSpPr/>
          <p:nvPr/>
        </p:nvCxnSpPr>
        <p:spPr>
          <a:xfrm>
            <a:off x="3886108" y="3257200"/>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4503153" y="3067274"/>
            <a:ext cx="3185388"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48873" y="3080990"/>
            <a:ext cx="3093948"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6  </a:t>
            </a:r>
            <a:r>
              <a:rPr sz="869" b="0" i="0">
                <a:solidFill>
                  <a:srgbClr val="1E293B"/>
                </a:solidFill>
                <a:latin typeface="Arial"/>
              </a:rPr>
              <a:t>System browser → </a:t>
            </a:r>
            <a:r>
              <a:rPr sz="869" b="0" i="0">
                <a:solidFill>
                  <a:srgbClr val="1D4E89"/>
                </a:solidFill>
                <a:latin typeface="Consolas"/>
              </a:rPr>
              <a:t>/authorize</a:t>
            </a:r>
            <a:r>
              <a:rPr sz="869" b="0" i="0">
                <a:solidFill>
                  <a:srgbClr val="1E293B"/>
                </a:solidFill>
                <a:latin typeface="Arial"/>
              </a:rPr>
              <a:t> + </a:t>
            </a:r>
            <a:r>
              <a:rPr sz="869" b="0" i="0">
                <a:solidFill>
                  <a:srgbClr val="1D4E89"/>
                </a:solidFill>
                <a:latin typeface="Consolas"/>
              </a:rPr>
              <a:t>code_challenge</a:t>
            </a:r>
          </a:p>
        </p:txBody>
      </p:sp>
      <p:cxnSp>
        <p:nvCxnSpPr>
          <p:cNvPr id="45" name="Connector 44"/>
          <p:cNvCxnSpPr/>
          <p:nvPr/>
        </p:nvCxnSpPr>
        <p:spPr>
          <a:xfrm>
            <a:off x="1648937" y="3500323"/>
            <a:ext cx="6656649"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3735925" y="3310396"/>
            <a:ext cx="2482672"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781645" y="3324112"/>
            <a:ext cx="2391232"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7  </a:t>
            </a:r>
            <a:r>
              <a:rPr sz="869" b="0" i="0">
                <a:solidFill>
                  <a:srgbClr val="1E293B"/>
                </a:solidFill>
                <a:latin typeface="Arial"/>
              </a:rPr>
              <a:t>User authenticates (OTP / biometric)</a:t>
            </a:r>
          </a:p>
        </p:txBody>
      </p:sp>
      <p:cxnSp>
        <p:nvCxnSpPr>
          <p:cNvPr id="48" name="Connector 47"/>
          <p:cNvCxnSpPr/>
          <p:nvPr/>
        </p:nvCxnSpPr>
        <p:spPr>
          <a:xfrm flipH="1">
            <a:off x="3886108" y="3743446"/>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773301" y="3553519"/>
            <a:ext cx="2645092"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19021" y="3567235"/>
            <a:ext cx="2553652"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8  </a:t>
            </a:r>
            <a:r>
              <a:rPr sz="869" b="0" i="0">
                <a:solidFill>
                  <a:srgbClr val="5B6B7F"/>
                </a:solidFill>
                <a:latin typeface="Arial"/>
              </a:rPr>
              <a:t>302 → </a:t>
            </a:r>
            <a:r>
              <a:rPr sz="869" b="0" i="0">
                <a:solidFill>
                  <a:srgbClr val="5B6B7F"/>
                </a:solidFill>
                <a:latin typeface="Consolas"/>
              </a:rPr>
              <a:t>…inji://oauthredirect?code=…</a:t>
            </a:r>
          </a:p>
        </p:txBody>
      </p:sp>
      <p:cxnSp>
        <p:nvCxnSpPr>
          <p:cNvPr id="51" name="Connector 50"/>
          <p:cNvCxnSpPr/>
          <p:nvPr/>
        </p:nvCxnSpPr>
        <p:spPr>
          <a:xfrm>
            <a:off x="3886108" y="3986568"/>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4168494" y="3796642"/>
            <a:ext cx="1617535"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14214" y="3810358"/>
            <a:ext cx="1526095"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9  </a:t>
            </a:r>
            <a:r>
              <a:rPr sz="869" b="0" i="0">
                <a:solidFill>
                  <a:srgbClr val="1D4E89"/>
                </a:solidFill>
                <a:latin typeface="Consolas"/>
              </a:rPr>
              <a:t>sendAuthCode(code)</a:t>
            </a:r>
          </a:p>
        </p:txBody>
      </p:sp>
      <p:cxnSp>
        <p:nvCxnSpPr>
          <p:cNvPr id="54" name="Connector 53"/>
          <p:cNvCxnSpPr/>
          <p:nvPr/>
        </p:nvCxnSpPr>
        <p:spPr>
          <a:xfrm flipH="1">
            <a:off x="3886108" y="4229691"/>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3407770" y="4039765"/>
            <a:ext cx="3138982"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453490" y="4053481"/>
            <a:ext cx="3047542"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10  </a:t>
            </a:r>
            <a:r>
              <a:rPr sz="869" b="0" i="0">
                <a:solidFill>
                  <a:srgbClr val="5B6B7F"/>
                </a:solidFill>
                <a:latin typeface="Consolas"/>
              </a:rPr>
              <a:t>getTokenResponse()</a:t>
            </a:r>
            <a:r>
              <a:rPr sz="869" b="0" i="0">
                <a:solidFill>
                  <a:srgbClr val="5B6B7F"/>
                </a:solidFill>
                <a:latin typeface="Arial"/>
              </a:rPr>
              <a:t> — carries </a:t>
            </a:r>
            <a:r>
              <a:rPr sz="869" b="0" i="0">
                <a:solidFill>
                  <a:srgbClr val="5B6B7F"/>
                </a:solidFill>
                <a:latin typeface="Consolas"/>
              </a:rPr>
              <a:t>code_verifier</a:t>
            </a:r>
          </a:p>
        </p:txBody>
      </p:sp>
      <p:cxnSp>
        <p:nvCxnSpPr>
          <p:cNvPr id="57" name="Connector 56"/>
          <p:cNvCxnSpPr/>
          <p:nvPr/>
        </p:nvCxnSpPr>
        <p:spPr>
          <a:xfrm>
            <a:off x="3886108" y="4472814"/>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4567789" y="4282888"/>
            <a:ext cx="3056115"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13509" y="4296604"/>
            <a:ext cx="2964675"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11  </a:t>
            </a:r>
            <a:r>
              <a:rPr sz="869" b="0" i="0">
                <a:solidFill>
                  <a:srgbClr val="1D4E89"/>
                </a:solidFill>
                <a:latin typeface="Consolas"/>
              </a:rPr>
              <a:t>POST /token</a:t>
            </a:r>
            <a:r>
              <a:rPr sz="869" b="0" i="0">
                <a:solidFill>
                  <a:srgbClr val="1E293B"/>
                </a:solidFill>
                <a:latin typeface="Arial"/>
              </a:rPr>
              <a:t> code + code_verifier + client_id</a:t>
            </a:r>
          </a:p>
        </p:txBody>
      </p:sp>
      <p:cxnSp>
        <p:nvCxnSpPr>
          <p:cNvPr id="60" name="Connector 59"/>
          <p:cNvCxnSpPr/>
          <p:nvPr/>
        </p:nvCxnSpPr>
        <p:spPr>
          <a:xfrm flipH="1">
            <a:off x="3886108" y="4715937"/>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4905060" y="4526011"/>
            <a:ext cx="2381573"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950780" y="4539727"/>
            <a:ext cx="2290133"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12  </a:t>
            </a:r>
            <a:r>
              <a:rPr sz="869" b="0" i="0">
                <a:solidFill>
                  <a:srgbClr val="5B6B7F"/>
                </a:solidFill>
                <a:latin typeface="Consolas"/>
              </a:rPr>
              <a:t>access_token</a:t>
            </a:r>
            <a:r>
              <a:rPr sz="869" b="0" i="0">
                <a:solidFill>
                  <a:srgbClr val="5B6B7F"/>
                </a:solidFill>
                <a:latin typeface="Arial"/>
              </a:rPr>
              <a:t> (Bearer) + </a:t>
            </a:r>
            <a:r>
              <a:rPr sz="869" b="0" i="0">
                <a:solidFill>
                  <a:srgbClr val="5B6B7F"/>
                </a:solidFill>
                <a:latin typeface="Consolas"/>
              </a:rPr>
              <a:t>c_nonce</a:t>
            </a:r>
          </a:p>
        </p:txBody>
      </p:sp>
      <p:cxnSp>
        <p:nvCxnSpPr>
          <p:cNvPr id="63" name="Connector 62"/>
          <p:cNvCxnSpPr/>
          <p:nvPr/>
        </p:nvCxnSpPr>
        <p:spPr>
          <a:xfrm flipH="1">
            <a:off x="3886108" y="4959060"/>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3624883" y="4769133"/>
            <a:ext cx="2704757"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670603" y="4782849"/>
            <a:ext cx="2613317"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13  </a:t>
            </a:r>
            <a:r>
              <a:rPr sz="869" b="0" i="0">
                <a:solidFill>
                  <a:srgbClr val="5B6B7F"/>
                </a:solidFill>
                <a:latin typeface="Consolas"/>
              </a:rPr>
              <a:t>getProofJwt(issuer, c_nonce, algs)</a:t>
            </a:r>
          </a:p>
        </p:txBody>
      </p:sp>
      <p:sp>
        <p:nvSpPr>
          <p:cNvPr id="66" name="Rectangle 65"/>
          <p:cNvSpPr/>
          <p:nvPr/>
        </p:nvSpPr>
        <p:spPr>
          <a:xfrm>
            <a:off x="3858676" y="5110742"/>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flipH="1">
            <a:off x="3876964" y="5257046"/>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4169572" y="5012256"/>
            <a:ext cx="2424664"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15292" y="5025972"/>
            <a:ext cx="2333224" cy="150736"/>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0E9488"/>
                </a:solidFill>
                <a:latin typeface="Arial"/>
              </a:rPr>
              <a:t>14  </a:t>
            </a:r>
            <a:r>
              <a:rPr sz="869" b="0" i="0">
                <a:solidFill>
                  <a:srgbClr val="1E293B"/>
                </a:solidFill>
                <a:latin typeface="Arial"/>
              </a:rPr>
              <a:t>Sign proof JWT with device-held key</a:t>
            </a:r>
          </a:p>
        </p:txBody>
      </p:sp>
      <p:cxnSp>
        <p:nvCxnSpPr>
          <p:cNvPr id="70" name="Connector 69"/>
          <p:cNvCxnSpPr/>
          <p:nvPr/>
        </p:nvCxnSpPr>
        <p:spPr>
          <a:xfrm>
            <a:off x="6123279" y="5445305"/>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6896115" y="5255379"/>
            <a:ext cx="2873806"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941835" y="5269095"/>
            <a:ext cx="2782366"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15  </a:t>
            </a:r>
            <a:r>
              <a:rPr sz="869" b="0" i="0">
                <a:solidFill>
                  <a:srgbClr val="1D4E89"/>
                </a:solidFill>
                <a:latin typeface="Consolas"/>
              </a:rPr>
              <a:t>POST /credential</a:t>
            </a:r>
            <a:r>
              <a:rPr sz="869" b="0" i="0">
                <a:solidFill>
                  <a:srgbClr val="1E293B"/>
                </a:solidFill>
                <a:latin typeface="Arial"/>
              </a:rPr>
              <a:t> format + proof + Bearer</a:t>
            </a:r>
          </a:p>
        </p:txBody>
      </p:sp>
      <p:cxnSp>
        <p:nvCxnSpPr>
          <p:cNvPr id="73" name="Connector 72"/>
          <p:cNvCxnSpPr/>
          <p:nvPr/>
        </p:nvCxnSpPr>
        <p:spPr>
          <a:xfrm flipH="1">
            <a:off x="6123279" y="5688428"/>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6975668" y="5498502"/>
            <a:ext cx="2714701"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021388" y="5512218"/>
            <a:ext cx="2623261"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16  </a:t>
            </a:r>
            <a:r>
              <a:rPr sz="869" b="0" i="0">
                <a:solidFill>
                  <a:srgbClr val="5B6B7F"/>
                </a:solidFill>
                <a:latin typeface="Arial"/>
              </a:rPr>
              <a:t>credential (JSON / JWT / base64url CBOR)</a:t>
            </a:r>
          </a:p>
        </p:txBody>
      </p:sp>
      <p:cxnSp>
        <p:nvCxnSpPr>
          <p:cNvPr id="76" name="Connector 75"/>
          <p:cNvCxnSpPr/>
          <p:nvPr/>
        </p:nvCxnSpPr>
        <p:spPr>
          <a:xfrm flipH="1">
            <a:off x="3886108" y="5931551"/>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3536215" y="5741625"/>
            <a:ext cx="2882093" cy="150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581935" y="5755341"/>
            <a:ext cx="2790653" cy="150736"/>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17  </a:t>
            </a:r>
            <a:r>
              <a:rPr sz="869" b="0" i="0">
                <a:solidFill>
                  <a:srgbClr val="5B6B7F"/>
                </a:solidFill>
                <a:latin typeface="Arial"/>
              </a:rPr>
              <a:t>verify with </a:t>
            </a:r>
            <a:r>
              <a:rPr sz="869" b="0" i="0">
                <a:solidFill>
                  <a:srgbClr val="5B6B7F"/>
                </a:solidFill>
                <a:latin typeface="Consolas"/>
              </a:rPr>
              <a:t>vc-verifier</a:t>
            </a:r>
            <a:r>
              <a:rPr sz="869" b="0" i="0">
                <a:solidFill>
                  <a:srgbClr val="5B6B7F"/>
                </a:solidFill>
                <a:latin typeface="Arial"/>
              </a:rPr>
              <a:t> → encrypted store</a:t>
            </a:r>
          </a:p>
        </p:txBody>
      </p:sp>
      <p:sp>
        <p:nvSpPr>
          <p:cNvPr id="79" name="TextBox 7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issuance with OpenID4VCI</a:t>
            </a:r>
          </a:p>
        </p:txBody>
      </p:sp>
      <p:sp>
        <p:nvSpPr>
          <p:cNvPr id="80" name="TextBox 7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MESSAGES 2, 3 AND 4</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Token request, credential request, credential response</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Three HTTP exchanges. Learn the field names — they are what appears in your logs.</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63040"/>
            <a:ext cx="544068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TOKEN REQUEST</a:t>
            </a:r>
          </a:p>
        </p:txBody>
      </p:sp>
      <p:sp>
        <p:nvSpPr>
          <p:cNvPr id="7" name="Rounded Rectangle 6"/>
          <p:cNvSpPr/>
          <p:nvPr/>
        </p:nvSpPr>
        <p:spPr>
          <a:xfrm>
            <a:off x="502920" y="1682496"/>
            <a:ext cx="5440680" cy="148132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801368"/>
            <a:ext cx="5148072" cy="1243584"/>
          </a:xfrm>
          <a:prstGeom prst="rect">
            <a:avLst/>
          </a:prstGeom>
          <a:noFill/>
        </p:spPr>
        <p:txBody>
          <a:bodyPr wrap="square" lIns="0" rIns="0" tIns="0" bIns="0" anchor="t">
            <a:spAutoFit/>
          </a:bodyPr>
          <a:lstStyle/>
          <a:p>
            <a:pPr>
              <a:lnSpc>
                <a:spcPct val="116000"/>
              </a:lnSpc>
              <a:spcBef>
                <a:spcPts val="0"/>
              </a:spcBef>
              <a:spcAft>
                <a:spcPts val="0"/>
              </a:spcAft>
            </a:pPr>
            <a:r>
              <a:rPr sz="869">
                <a:solidFill>
                  <a:srgbClr val="CBD9E8"/>
                </a:solidFill>
                <a:latin typeface="Consolas"/>
              </a:rPr>
              <a:t>POST /token   Content-Type: application/x-www-form-urlencoded</a:t>
            </a:r>
          </a:p>
          <a:p>
            <a:pPr>
              <a:lnSpc>
                <a:spcPct val="116000"/>
              </a:lnSpc>
              <a:spcBef>
                <a:spcPts val="0"/>
              </a:spcBef>
              <a:spcAft>
                <a:spcPts val="0"/>
              </a:spcAft>
            </a:pPr>
          </a:p>
          <a:p>
            <a:pPr>
              <a:lnSpc>
                <a:spcPct val="116000"/>
              </a:lnSpc>
              <a:spcBef>
                <a:spcPts val="0"/>
              </a:spcBef>
              <a:spcAft>
                <a:spcPts val="0"/>
              </a:spcAft>
            </a:pPr>
            <a:r>
              <a:rPr sz="869">
                <a:solidFill>
                  <a:srgbClr val="CBD9E8"/>
                </a:solidFill>
                <a:latin typeface="Consolas"/>
              </a:rPr>
              <a:t>grant_type=authorization_code</a:t>
            </a:r>
          </a:p>
          <a:p>
            <a:pPr>
              <a:lnSpc>
                <a:spcPct val="116000"/>
              </a:lnSpc>
              <a:spcBef>
                <a:spcPts val="0"/>
              </a:spcBef>
              <a:spcAft>
                <a:spcPts val="0"/>
              </a:spcAft>
            </a:pPr>
            <a:r>
              <a:rPr sz="869">
                <a:solidFill>
                  <a:srgbClr val="CBD9E8"/>
                </a:solidFill>
                <a:latin typeface="Consolas"/>
              </a:rPr>
              <a:t>&amp;code=SplxlOBeZQQYbYS6WxSbIA</a:t>
            </a:r>
          </a:p>
          <a:p>
            <a:pPr>
              <a:lnSpc>
                <a:spcPct val="116000"/>
              </a:lnSpc>
              <a:spcBef>
                <a:spcPts val="0"/>
              </a:spcBef>
              <a:spcAft>
                <a:spcPts val="0"/>
              </a:spcAft>
            </a:pPr>
            <a:r>
              <a:rPr sz="869" b="1">
                <a:solidFill>
                  <a:srgbClr val="FFD56B"/>
                </a:solidFill>
                <a:latin typeface="Consolas"/>
              </a:rPr>
              <a:t>&amp;code_verifier=dBjftJeZ4CVP-mB92K27uhbUJU1p1r_wW1gFWFOEjXk</a:t>
            </a:r>
          </a:p>
          <a:p>
            <a:pPr>
              <a:lnSpc>
                <a:spcPct val="116000"/>
              </a:lnSpc>
              <a:spcBef>
                <a:spcPts val="0"/>
              </a:spcBef>
              <a:spcAft>
                <a:spcPts val="0"/>
              </a:spcAft>
            </a:pPr>
            <a:r>
              <a:rPr sz="869">
                <a:solidFill>
                  <a:srgbClr val="CBD9E8"/>
                </a:solidFill>
                <a:latin typeface="Consolas"/>
              </a:rPr>
              <a:t>&amp;client_id=inji-wallet&amp;redirect_uri=io.mosip…://oauthredirect</a:t>
            </a:r>
          </a:p>
        </p:txBody>
      </p:sp>
      <p:sp>
        <p:nvSpPr>
          <p:cNvPr id="9" name="TextBox 8"/>
          <p:cNvSpPr txBox="1"/>
          <p:nvPr/>
        </p:nvSpPr>
        <p:spPr>
          <a:xfrm>
            <a:off x="502920" y="3218687"/>
            <a:ext cx="544068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TOKEN RESPONSE</a:t>
            </a:r>
          </a:p>
        </p:txBody>
      </p:sp>
      <p:sp>
        <p:nvSpPr>
          <p:cNvPr id="10" name="Rounded Rectangle 9"/>
          <p:cNvSpPr/>
          <p:nvPr/>
        </p:nvSpPr>
        <p:spPr>
          <a:xfrm>
            <a:off x="502920" y="3438144"/>
            <a:ext cx="5440680" cy="128016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3557015"/>
            <a:ext cx="5148072" cy="1042415"/>
          </a:xfrm>
          <a:prstGeom prst="rect">
            <a:avLst/>
          </a:prstGeom>
          <a:noFill/>
        </p:spPr>
        <p:txBody>
          <a:bodyPr wrap="square" lIns="0" rIns="0" tIns="0" bIns="0" anchor="t">
            <a:spAutoFit/>
          </a:bodyPr>
          <a:lstStyle/>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"access_token"</a:t>
            </a:r>
            <a:r>
              <a:rPr sz="869">
                <a:solidFill>
                  <a:srgbClr val="CBD9E8"/>
                </a:solidFill>
                <a:latin typeface="Consolas"/>
              </a:rPr>
              <a:t>: </a:t>
            </a:r>
            <a:r>
              <a:rPr sz="869">
                <a:solidFill>
                  <a:srgbClr val="F6C67A"/>
                </a:solidFill>
                <a:latin typeface="Consolas"/>
              </a:rPr>
              <a:t>"eyJhbGciOi…"</a:t>
            </a:r>
            <a:r>
              <a:rPr sz="869">
                <a:solidFill>
                  <a:srgbClr val="CBD9E8"/>
                </a:solidFill>
                <a:latin typeface="Consolas"/>
              </a:rPr>
              <a:t>,</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"token_type"</a:t>
            </a:r>
            <a:r>
              <a:rPr sz="869">
                <a:solidFill>
                  <a:srgbClr val="CBD9E8"/>
                </a:solidFill>
                <a:latin typeface="Consolas"/>
              </a:rPr>
              <a:t>: </a:t>
            </a:r>
            <a:r>
              <a:rPr sz="869">
                <a:solidFill>
                  <a:srgbClr val="F6C67A"/>
                </a:solidFill>
                <a:latin typeface="Consolas"/>
              </a:rPr>
              <a:t>"Bearer"</a:t>
            </a:r>
            <a:r>
              <a:rPr sz="869">
                <a:solidFill>
                  <a:srgbClr val="CBD9E8"/>
                </a:solidFill>
                <a:latin typeface="Consolas"/>
              </a:rPr>
              <a:t>,</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"expires_in"</a:t>
            </a:r>
            <a:r>
              <a:rPr sz="869">
                <a:solidFill>
                  <a:srgbClr val="CBD9E8"/>
                </a:solidFill>
                <a:latin typeface="Consolas"/>
              </a:rPr>
              <a:t>: 3600,</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"c_nonce"</a:t>
            </a:r>
            <a:r>
              <a:rPr sz="869" b="1">
                <a:solidFill>
                  <a:srgbClr val="FFD56B"/>
                </a:solidFill>
                <a:latin typeface="Consolas"/>
              </a:rPr>
              <a:t>: </a:t>
            </a:r>
            <a:r>
              <a:rPr sz="869" b="1">
                <a:solidFill>
                  <a:srgbClr val="FFD56B"/>
                </a:solidFill>
                <a:latin typeface="Consolas"/>
              </a:rPr>
              <a:t>"tZignsnFbp"</a:t>
            </a:r>
            <a:r>
              <a:rPr sz="869" b="1">
                <a:solidFill>
                  <a:srgbClr val="FFD56B"/>
                </a:solidFill>
                <a:latin typeface="Consolas"/>
              </a:rPr>
              <a:t>,</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"c_nonce_expires_in"</a:t>
            </a:r>
            <a:r>
              <a:rPr sz="869">
                <a:solidFill>
                  <a:srgbClr val="CBD9E8"/>
                </a:solidFill>
                <a:latin typeface="Consolas"/>
              </a:rPr>
              <a:t>: 86400 }</a:t>
            </a:r>
          </a:p>
        </p:txBody>
      </p:sp>
      <p:sp>
        <p:nvSpPr>
          <p:cNvPr id="12" name="TextBox 11"/>
          <p:cNvSpPr txBox="1"/>
          <p:nvPr/>
        </p:nvSpPr>
        <p:spPr>
          <a:xfrm>
            <a:off x="6245352" y="1463040"/>
            <a:ext cx="544068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CREDENTIAL REQUEST</a:t>
            </a:r>
          </a:p>
        </p:txBody>
      </p:sp>
      <p:sp>
        <p:nvSpPr>
          <p:cNvPr id="13" name="Rounded Rectangle 12"/>
          <p:cNvSpPr/>
          <p:nvPr/>
        </p:nvSpPr>
        <p:spPr>
          <a:xfrm>
            <a:off x="6245352" y="1682496"/>
            <a:ext cx="5440680" cy="201168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1656" y="1801368"/>
            <a:ext cx="5148072" cy="1773936"/>
          </a:xfrm>
          <a:prstGeom prst="rect">
            <a:avLst/>
          </a:prstGeom>
          <a:noFill/>
        </p:spPr>
        <p:txBody>
          <a:bodyPr wrap="square" lIns="0" rIns="0" tIns="0" bIns="0" anchor="t">
            <a:spAutoFit/>
          </a:bodyPr>
          <a:lstStyle/>
          <a:p>
            <a:pPr>
              <a:lnSpc>
                <a:spcPct val="116000"/>
              </a:lnSpc>
              <a:spcBef>
                <a:spcPts val="0"/>
              </a:spcBef>
              <a:spcAft>
                <a:spcPts val="0"/>
              </a:spcAft>
            </a:pPr>
            <a:r>
              <a:rPr sz="869">
                <a:solidFill>
                  <a:srgbClr val="CBD9E8"/>
                </a:solidFill>
                <a:latin typeface="Consolas"/>
              </a:rPr>
              <a:t>POST /credential   Authorization: Bearer eyJhbGciOi…</a:t>
            </a:r>
          </a:p>
          <a:p>
            <a:pPr>
              <a:lnSpc>
                <a:spcPct val="116000"/>
              </a:lnSpc>
              <a:spcBef>
                <a:spcPts val="0"/>
              </a:spcBef>
              <a:spcAft>
                <a:spcPts val="0"/>
              </a:spcAft>
            </a:pP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"format"</a:t>
            </a:r>
            <a:r>
              <a:rPr sz="869">
                <a:solidFill>
                  <a:srgbClr val="CBD9E8"/>
                </a:solidFill>
                <a:latin typeface="Consolas"/>
              </a:rPr>
              <a:t>: </a:t>
            </a:r>
            <a:r>
              <a:rPr sz="869">
                <a:solidFill>
                  <a:srgbClr val="F6C67A"/>
                </a:solidFill>
                <a:latin typeface="Consolas"/>
              </a:rPr>
              <a:t>"vc+sd-jwt"</a:t>
            </a:r>
            <a:r>
              <a:rPr sz="869">
                <a:solidFill>
                  <a:srgbClr val="CBD9E8"/>
                </a:solidFill>
                <a:latin typeface="Consolas"/>
              </a:rPr>
              <a:t>,</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"vct"</a:t>
            </a:r>
            <a:r>
              <a:rPr sz="869">
                <a:solidFill>
                  <a:srgbClr val="CBD9E8"/>
                </a:solidFill>
                <a:latin typeface="Consolas"/>
              </a:rPr>
              <a:t>: </a:t>
            </a:r>
            <a:r>
              <a:rPr sz="869">
                <a:solidFill>
                  <a:srgbClr val="F6C67A"/>
                </a:solidFill>
                <a:latin typeface="Consolas"/>
              </a:rPr>
              <a:t>"CPFCredential"</a:t>
            </a:r>
            <a:r>
              <a:rPr sz="869">
                <a:solidFill>
                  <a:srgbClr val="CBD9E8"/>
                </a:solidFill>
                <a:latin typeface="Consolas"/>
              </a:rPr>
              <a:t>,</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"proof"</a:t>
            </a:r>
            <a:r>
              <a:rPr sz="869" b="1">
                <a:solidFill>
                  <a:srgbClr val="FFD56B"/>
                </a:solidFill>
                <a:latin typeface="Consolas"/>
              </a:rPr>
              <a:t>: {</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"proof_type"</a:t>
            </a:r>
            <a:r>
              <a:rPr sz="869" b="1">
                <a:solidFill>
                  <a:srgbClr val="FFD56B"/>
                </a:solidFill>
                <a:latin typeface="Consolas"/>
              </a:rPr>
              <a:t>: </a:t>
            </a:r>
            <a:r>
              <a:rPr sz="869" b="1">
                <a:solidFill>
                  <a:srgbClr val="FFD56B"/>
                </a:solidFill>
                <a:latin typeface="Consolas"/>
              </a:rPr>
              <a:t>"jwt"</a:t>
            </a:r>
            <a:r>
              <a:rPr sz="869" b="1">
                <a:solidFill>
                  <a:srgbClr val="FFD56B"/>
                </a:solidFill>
                <a:latin typeface="Consolas"/>
              </a:rPr>
              <a:t>,</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"jwt"</a:t>
            </a:r>
            <a:r>
              <a:rPr sz="869" b="1">
                <a:solidFill>
                  <a:srgbClr val="FFD56B"/>
                </a:solidFill>
                <a:latin typeface="Consolas"/>
              </a:rPr>
              <a:t>: </a:t>
            </a:r>
            <a:r>
              <a:rPr sz="869" b="1">
                <a:solidFill>
                  <a:srgbClr val="FFD56B"/>
                </a:solidFill>
                <a:latin typeface="Consolas"/>
              </a:rPr>
              <a:t>"eyJ0eXAiOiJvcGVuaWQ0dmNpLXByb29mK2p3dCI…"</a:t>
            </a:r>
          </a:p>
          <a:p>
            <a:pPr>
              <a:lnSpc>
                <a:spcPct val="116000"/>
              </a:lnSpc>
              <a:spcBef>
                <a:spcPts val="0"/>
              </a:spcBef>
              <a:spcAft>
                <a:spcPts val="0"/>
              </a:spcAft>
            </a:pPr>
            <a:r>
              <a:rPr sz="869">
                <a:solidFill>
                  <a:srgbClr val="CBD9E8"/>
                </a:solidFill>
                <a:latin typeface="Consolas"/>
              </a:rPr>
              <a:t>  } }</a:t>
            </a:r>
          </a:p>
        </p:txBody>
      </p:sp>
      <p:sp>
        <p:nvSpPr>
          <p:cNvPr id="15" name="TextBox 14"/>
          <p:cNvSpPr txBox="1"/>
          <p:nvPr/>
        </p:nvSpPr>
        <p:spPr>
          <a:xfrm>
            <a:off x="6245352" y="3749039"/>
            <a:ext cx="544068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CREDENTIAL RESPONSE</a:t>
            </a:r>
          </a:p>
        </p:txBody>
      </p:sp>
      <p:sp>
        <p:nvSpPr>
          <p:cNvPr id="16" name="Rounded Rectangle 15"/>
          <p:cNvSpPr/>
          <p:nvPr/>
        </p:nvSpPr>
        <p:spPr>
          <a:xfrm>
            <a:off x="6245352" y="3968496"/>
            <a:ext cx="5440680" cy="1133856"/>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6" y="4087368"/>
            <a:ext cx="5148072" cy="896112"/>
          </a:xfrm>
          <a:prstGeom prst="rect">
            <a:avLst/>
          </a:prstGeom>
          <a:noFill/>
        </p:spPr>
        <p:txBody>
          <a:bodyPr wrap="square" lIns="0" rIns="0" tIns="0" bIns="0" anchor="t">
            <a:spAutoFit/>
          </a:bodyPr>
          <a:lstStyle/>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"credential"</a:t>
            </a:r>
            <a:r>
              <a:rPr sz="869">
                <a:solidFill>
                  <a:srgbClr val="CBD9E8"/>
                </a:solidFill>
                <a:latin typeface="Consolas"/>
              </a:rPr>
              <a:t>: </a:t>
            </a:r>
            <a:r>
              <a:rPr sz="869">
                <a:solidFill>
                  <a:srgbClr val="F6C67A"/>
                </a:solidFill>
                <a:latin typeface="Consolas"/>
              </a:rPr>
              <a:t>"eyJraWQiOiJ…~WyJzYWx0Iiwibm9tZS…~"</a:t>
            </a:r>
            <a:r>
              <a:rPr sz="869">
                <a:solidFill>
                  <a:srgbClr val="CBD9E8"/>
                </a:solidFill>
                <a:latin typeface="Consolas"/>
              </a:rPr>
              <a:t> }</a:t>
            </a:r>
          </a:p>
          <a:p>
            <a:pPr>
              <a:lnSpc>
                <a:spcPct val="116000"/>
              </a:lnSpc>
              <a:spcBef>
                <a:spcPts val="0"/>
              </a:spcBef>
              <a:spcAft>
                <a:spcPts val="0"/>
              </a:spcAft>
            </a:pPr>
          </a:p>
          <a:p>
            <a:pPr>
              <a:lnSpc>
                <a:spcPct val="116000"/>
              </a:lnSpc>
              <a:spcBef>
                <a:spcPts val="0"/>
              </a:spcBef>
              <a:spcAft>
                <a:spcPts val="0"/>
              </a:spcAft>
            </a:pPr>
            <a:r>
              <a:rPr sz="869">
                <a:solidFill>
                  <a:srgbClr val="7E93A8"/>
                </a:solidFill>
                <a:latin typeface="Consolas"/>
              </a:rPr>
              <a:t>// ldp_vc  -&gt; a JSON-LD object</a:t>
            </a:r>
          </a:p>
          <a:p>
            <a:pPr>
              <a:lnSpc>
                <a:spcPct val="116000"/>
              </a:lnSpc>
              <a:spcBef>
                <a:spcPts val="0"/>
              </a:spcBef>
              <a:spcAft>
                <a:spcPts val="0"/>
              </a:spcAft>
            </a:pPr>
            <a:r>
              <a:rPr sz="869">
                <a:solidFill>
                  <a:srgbClr val="7E93A8"/>
                </a:solidFill>
                <a:latin typeface="Consolas"/>
              </a:rPr>
              <a:t>// vc+sd-jwt -&gt; compact JWT + "~" separated disclosures</a:t>
            </a:r>
          </a:p>
          <a:p>
            <a:pPr>
              <a:lnSpc>
                <a:spcPct val="116000"/>
              </a:lnSpc>
              <a:spcBef>
                <a:spcPts val="0"/>
              </a:spcBef>
              <a:spcAft>
                <a:spcPts val="0"/>
              </a:spcAft>
            </a:pPr>
            <a:r>
              <a:rPr sz="869">
                <a:solidFill>
                  <a:srgbClr val="7E93A8"/>
                </a:solidFill>
                <a:latin typeface="Consolas"/>
              </a:rPr>
              <a:t>// mso_mdoc -&gt; base64url-encoded CBOR</a:t>
            </a:r>
          </a:p>
        </p:txBody>
      </p:sp>
      <p:sp>
        <p:nvSpPr>
          <p:cNvPr id="18" name="Rounded Rectangle 17"/>
          <p:cNvSpPr/>
          <p:nvPr/>
        </p:nvSpPr>
        <p:spPr>
          <a:xfrm>
            <a:off x="502920" y="4882896"/>
            <a:ext cx="5440680" cy="519684"/>
          </a:xfrm>
          <a:prstGeom prst="roundRect">
            <a:avLst>
              <a:gd name="adj" fmla="val 90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882896"/>
            <a:ext cx="45720" cy="51968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4974336"/>
            <a:ext cx="5074920" cy="373380"/>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D4E89"/>
                </a:solidFill>
                <a:latin typeface="Consolas"/>
              </a:rPr>
              <a:t>code_verifier</a:t>
            </a:r>
            <a:r>
              <a:rPr sz="1019" b="0" i="0">
                <a:solidFill>
                  <a:srgbClr val="1E293B"/>
                </a:solidFill>
                <a:latin typeface="Arial"/>
              </a:rPr>
              <a:t> is the PKCE secret. </a:t>
            </a:r>
            <a:r>
              <a:rPr sz="1019" b="0" i="0">
                <a:solidFill>
                  <a:srgbClr val="1D4E89"/>
                </a:solidFill>
                <a:latin typeface="Consolas"/>
              </a:rPr>
              <a:t>c_nonce</a:t>
            </a:r>
            <a:r>
              <a:rPr sz="1019" b="0" i="0">
                <a:solidFill>
                  <a:srgbClr val="1E293B"/>
                </a:solidFill>
                <a:latin typeface="Arial"/>
              </a:rPr>
              <a:t> is the issuer's freshness challenge and must be echoed inside the proof JWT.</a:t>
            </a:r>
          </a:p>
        </p:txBody>
      </p:sp>
      <p:sp>
        <p:nvSpPr>
          <p:cNvPr id="21" name="Rounded Rectangle 20"/>
          <p:cNvSpPr/>
          <p:nvPr/>
        </p:nvSpPr>
        <p:spPr>
          <a:xfrm>
            <a:off x="6245352" y="5212080"/>
            <a:ext cx="5440680" cy="519684"/>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5352" y="5212080"/>
            <a:ext cx="45720" cy="51968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5303520"/>
            <a:ext cx="5074920" cy="373380"/>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E293B"/>
                </a:solidFill>
                <a:latin typeface="Arial"/>
              </a:rPr>
              <a:t>The </a:t>
            </a:r>
            <a:r>
              <a:rPr sz="1019" b="1" i="0">
                <a:solidFill>
                  <a:srgbClr val="B45309"/>
                </a:solidFill>
                <a:latin typeface="Arial"/>
              </a:rPr>
              <a:t>shape of the credential depends entirely on the format.</a:t>
            </a:r>
            <a:r>
              <a:rPr sz="1019" b="0" i="0">
                <a:solidFill>
                  <a:srgbClr val="1E293B"/>
                </a:solidFill>
                <a:latin typeface="Arial"/>
              </a:rPr>
              <a:t> Your storage, rendering and verification code all branch here.</a:t>
            </a:r>
          </a:p>
        </p:txBody>
      </p:sp>
      <p:sp>
        <p:nvSpPr>
          <p:cNvPr id="24" name="TextBox 23"/>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issuance with OpenID4VCI</a:t>
            </a:r>
          </a:p>
        </p:txBody>
      </p:sp>
      <p:sp>
        <p:nvSpPr>
          <p:cNvPr id="25" name="TextBox 24"/>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MAPPING PROTOCOL TO CODE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Who does what, in Inji's implementation</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The library orchestrates the protocol. The application owns keys, screens and the network. That split is deliberate.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82496"/>
          <a:ext cx="11185853" cy="3881628"/>
        </p:xfrm>
        <a:graphic>
          <a:graphicData uri="http://schemas.openxmlformats.org/drawingml/2006/table">
            <a:tbl>
              <a:tblPr firstRow="1">
                <a:tableStyleId>{2D5ABB26-0587-4C30-8999-92F81FD0307C}</a:tableStyleId>
              </a:tblPr>
              <a:tblGrid>
                <a:gridCol w="2475558"/>
                <a:gridCol w="2017121"/>
                <a:gridCol w="1833746"/>
                <a:gridCol w="1191935"/>
                <a:gridCol w="3667493"/>
              </a:tblGrid>
              <a:tr h="310896">
                <a:tc>
                  <a:txBody>
                    <a:bodyPr wrap="square"/>
                    <a:lstStyle/>
                    <a:p>
                      <a:pPr algn="l"/>
                      <a:r>
                        <a:rPr sz="950" b="1">
                          <a:solidFill>
                            <a:srgbClr val="FFFFFF"/>
                          </a:solidFill>
                          <a:latin typeface="Arial"/>
                        </a:rPr>
                        <a:t>Step</a:t>
                      </a:r>
                    </a:p>
                  </a:txBody>
                  <a:tcPr marL="64008" marR="54864" marT="27432" marB="27432" anchor="ctr">
                    <a:solidFill>
                      <a:srgbClr val="1D4E89"/>
                    </a:solidFill>
                  </a:tcPr>
                </a:tc>
                <a:tc>
                  <a:txBody>
                    <a:bodyPr wrap="square"/>
                    <a:lstStyle/>
                    <a:p>
                      <a:pPr algn="l"/>
                      <a:r>
                        <a:rPr sz="950" b="1">
                          <a:solidFill>
                            <a:srgbClr val="FFFFFF"/>
                          </a:solidFill>
                          <a:latin typeface="Arial"/>
                        </a:rPr>
                        <a:t>Wallet side</a:t>
                      </a:r>
                    </a:p>
                  </a:txBody>
                  <a:tcPr marL="64008" marR="54864" marT="27432" marB="27432" anchor="ctr">
                    <a:solidFill>
                      <a:srgbClr val="1D4E89"/>
                    </a:solidFill>
                  </a:tcPr>
                </a:tc>
                <a:tc>
                  <a:txBody>
                    <a:bodyPr wrap="square"/>
                    <a:lstStyle/>
                    <a:p>
                      <a:pPr algn="l"/>
                      <a:r>
                        <a:rPr sz="950" b="1">
                          <a:solidFill>
                            <a:srgbClr val="FFFFFF"/>
                          </a:solidFill>
                          <a:latin typeface="Arial"/>
                        </a:rPr>
                        <a:t>Mimoto</a:t>
                      </a:r>
                    </a:p>
                  </a:txBody>
                  <a:tcPr marL="64008" marR="54864" marT="27432" marB="27432" anchor="ctr">
                    <a:solidFill>
                      <a:srgbClr val="1D4E89"/>
                    </a:solidFill>
                  </a:tcPr>
                </a:tc>
                <a:tc>
                  <a:txBody>
                    <a:bodyPr wrap="square"/>
                    <a:lstStyle/>
                    <a:p>
                      <a:pPr algn="l"/>
                      <a:r>
                        <a:rPr sz="950" b="1">
                          <a:solidFill>
                            <a:srgbClr val="FFFFFF"/>
                          </a:solidFill>
                          <a:latin typeface="Arial"/>
                        </a:rPr>
                        <a:t>Issuer</a:t>
                      </a:r>
                    </a:p>
                  </a:txBody>
                  <a:tcPr marL="64008" marR="54864" marT="27432" marB="27432" anchor="ctr">
                    <a:solidFill>
                      <a:srgbClr val="1D4E89"/>
                    </a:solidFill>
                  </a:tcPr>
                </a:tc>
                <a:tc>
                  <a:txBody>
                    <a:bodyPr wrap="square"/>
                    <a:lstStyle/>
                    <a:p>
                      <a:pPr algn="l"/>
                      <a:r>
                        <a:rPr sz="950" b="1">
                          <a:solidFill>
                            <a:srgbClr val="FFFFFF"/>
                          </a:solidFill>
                          <a:latin typeface="Arial"/>
                        </a:rPr>
                        <a:t>Notes</a:t>
                      </a:r>
                    </a:p>
                  </a:txBody>
                  <a:tcPr marL="64008" marR="54864" marT="27432" marB="27432" anchor="ctr">
                    <a:solidFill>
                      <a:srgbClr val="1D4E89"/>
                    </a:solidFill>
                  </a:tcPr>
                </a:tc>
              </a:tr>
              <a:tr h="324612">
                <a:tc>
                  <a:txBody>
                    <a:bodyPr wrap="square"/>
                    <a:lstStyle/>
                    <a:p>
                      <a:pPr algn="l">
                        <a:lnSpc>
                          <a:spcPct val="105000"/>
                        </a:lnSpc>
                      </a:pPr>
                      <a:r>
                        <a:rPr sz="919" b="0">
                          <a:solidFill>
                            <a:srgbClr val="1E293B"/>
                          </a:solidFill>
                          <a:latin typeface="Arial"/>
                        </a:rPr>
                        <a:t>Read the credential offer</a:t>
                      </a:r>
                    </a:p>
                  </a:txBody>
                  <a:tcPr marL="64008" marR="54864" marT="18288" marB="18288" anchor="ctr">
                    <a:solidFill>
                      <a:srgbClr val="FFFFFF"/>
                    </a:solidFill>
                  </a:tcPr>
                </a:tc>
                <a:tc>
                  <a:txBody>
                    <a:bodyPr wrap="square"/>
                    <a:lstStyle/>
                    <a:p>
                      <a:pPr algn="l">
                        <a:lnSpc>
                          <a:spcPct val="105000"/>
                        </a:lnSpc>
                      </a:pPr>
                      <a:r>
                        <a:rPr sz="919" b="0">
                          <a:solidFill>
                            <a:srgbClr val="1D4E89"/>
                          </a:solidFill>
                          <a:latin typeface="Consolas"/>
                        </a:rPr>
                        <a:t>inji-vci-client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Library parses by value or by </a:t>
                      </a:r>
                      <a:r>
                        <a:rPr sz="919" b="0">
                          <a:solidFill>
                            <a:srgbClr val="1D4E89"/>
                          </a:solidFill>
                          <a:latin typeface="Consolas"/>
                        </a:rPr>
                        <a:t>credential_offer_uri</a:t>
                      </a:r>
                    </a:p>
                  </a:txBody>
                  <a:tcPr marL="64008" marR="54864" marT="18288" marB="18288" anchor="ctr">
                    <a:solidFill>
                      <a:srgbClr val="FFFFFF"/>
                    </a:solidFill>
                  </a:tcPr>
                </a:tc>
              </a:tr>
              <a:tr h="324612">
                <a:tc>
                  <a:txBody>
                    <a:bodyPr wrap="square"/>
                    <a:lstStyle/>
                    <a:p>
                      <a:pPr algn="l">
                        <a:lnSpc>
                          <a:spcPct val="105000"/>
                        </a:lnSpc>
                      </a:pPr>
                      <a:r>
                        <a:rPr sz="919" b="0">
                          <a:solidFill>
                            <a:srgbClr val="1E293B"/>
                          </a:solidFill>
                          <a:latin typeface="Arial"/>
                        </a:rPr>
                        <a:t>Fetch issuer metadata</a:t>
                      </a:r>
                    </a:p>
                  </a:txBody>
                  <a:tcPr marL="64008" marR="54864" marT="18288" marB="18288" anchor="ctr">
                    <a:solidFill>
                      <a:srgbClr val="F3F6F9"/>
                    </a:solidFill>
                  </a:tcPr>
                </a:tc>
                <a:tc>
                  <a:txBody>
                    <a:bodyPr wrap="square"/>
                    <a:lstStyle/>
                    <a:p>
                      <a:pPr algn="l">
                        <a:lnSpc>
                          <a:spcPct val="105000"/>
                        </a:lnSpc>
                      </a:pPr>
                      <a:r>
                        <a:rPr sz="919" b="0">
                          <a:solidFill>
                            <a:srgbClr val="1D4E89"/>
                          </a:solidFill>
                          <a:latin typeface="Consolas"/>
                        </a:rPr>
                        <a:t>inji-vci-client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caches copy for Web</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hosts it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Wallet may also read it via Mimoto for the issuer list</a:t>
                      </a:r>
                    </a:p>
                  </a:txBody>
                  <a:tcPr marL="64008" marR="54864" marT="18288" marB="18288" anchor="ctr">
                    <a:solidFill>
                      <a:srgbClr val="F3F6F9"/>
                    </a:solidFill>
                  </a:tcPr>
                </a:tc>
              </a:tr>
              <a:tr h="324612">
                <a:tc>
                  <a:txBody>
                    <a:bodyPr wrap="square"/>
                    <a:lstStyle/>
                    <a:p>
                      <a:pPr algn="l">
                        <a:lnSpc>
                          <a:spcPct val="105000"/>
                        </a:lnSpc>
                      </a:pPr>
                      <a:r>
                        <a:rPr sz="919" b="0">
                          <a:solidFill>
                            <a:srgbClr val="1E293B"/>
                          </a:solidFill>
                          <a:latin typeface="Arial"/>
                        </a:rPr>
                        <a:t>Discover the auth server</a:t>
                      </a:r>
                    </a:p>
                  </a:txBody>
                  <a:tcPr marL="64008" marR="54864" marT="18288" marB="18288" anchor="ctr">
                    <a:solidFill>
                      <a:srgbClr val="FFFFFF"/>
                    </a:solidFill>
                  </a:tcPr>
                </a:tc>
                <a:tc>
                  <a:txBody>
                    <a:bodyPr wrap="square"/>
                    <a:lstStyle/>
                    <a:p>
                      <a:pPr algn="l">
                        <a:lnSpc>
                          <a:spcPct val="105000"/>
                        </a:lnSpc>
                      </a:pPr>
                      <a:r>
                        <a:rPr sz="919" b="0">
                          <a:solidFill>
                            <a:srgbClr val="1D4E89"/>
                          </a:solidFill>
                          <a:latin typeface="Consolas"/>
                        </a:rPr>
                        <a:t>inji-vci-client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caches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First entry of </a:t>
                      </a:r>
                      <a:r>
                        <a:rPr sz="919" b="0">
                          <a:solidFill>
                            <a:srgbClr val="1D4E89"/>
                          </a:solidFill>
                          <a:latin typeface="Consolas"/>
                        </a:rPr>
                        <a:t>authorization_servers</a:t>
                      </a:r>
                      <a:r>
                        <a:rPr sz="919" b="0">
                          <a:solidFill>
                            <a:srgbClr val="1E293B"/>
                          </a:solidFill>
                          <a:latin typeface="Arial"/>
                        </a:rPr>
                        <a:t> only</a:t>
                      </a:r>
                    </a:p>
                  </a:txBody>
                  <a:tcPr marL="64008" marR="54864" marT="18288" marB="18288" anchor="ctr">
                    <a:solidFill>
                      <a:srgbClr val="FFFFFF"/>
                    </a:solidFill>
                  </a:tcPr>
                </a:tc>
              </a:tr>
              <a:tr h="324612">
                <a:tc>
                  <a:txBody>
                    <a:bodyPr wrap="square"/>
                    <a:lstStyle/>
                    <a:p>
                      <a:pPr algn="l">
                        <a:lnSpc>
                          <a:spcPct val="105000"/>
                        </a:lnSpc>
                      </a:pPr>
                      <a:r>
                        <a:rPr sz="919" b="0">
                          <a:solidFill>
                            <a:srgbClr val="1E293B"/>
                          </a:solidFill>
                          <a:latin typeface="Arial"/>
                        </a:rPr>
                        <a:t>Build the PKCE session</a:t>
                      </a:r>
                    </a:p>
                  </a:txBody>
                  <a:tcPr marL="64008" marR="54864" marT="18288" marB="18288" anchor="ctr">
                    <a:solidFill>
                      <a:srgbClr val="F3F6F9"/>
                    </a:solidFill>
                  </a:tcPr>
                </a:tc>
                <a:tc>
                  <a:txBody>
                    <a:bodyPr wrap="square"/>
                    <a:lstStyle/>
                    <a:p>
                      <a:pPr algn="l">
                        <a:lnSpc>
                          <a:spcPct val="105000"/>
                        </a:lnSpc>
                      </a:pPr>
                      <a:r>
                        <a:rPr sz="919" b="0">
                          <a:solidFill>
                            <a:srgbClr val="1D4E89"/>
                          </a:solidFill>
                          <a:latin typeface="Consolas"/>
                        </a:rPr>
                        <a:t>inji-vci-client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3F6F9"/>
                    </a:solidFill>
                  </a:tcPr>
                </a:tc>
                <a:tc>
                  <a:txBody>
                    <a:bodyPr wrap="square"/>
                    <a:lstStyle/>
                    <a:p>
                      <a:pPr algn="l">
                        <a:lnSpc>
                          <a:spcPct val="105000"/>
                        </a:lnSpc>
                      </a:pPr>
                      <a:r>
                        <a:rPr sz="919" b="0">
                          <a:solidFill>
                            <a:srgbClr val="1D4E89"/>
                          </a:solidFill>
                          <a:latin typeface="Consolas"/>
                        </a:rPr>
                        <a:t>PKCESessionManager</a:t>
                      </a:r>
                      <a:r>
                        <a:rPr sz="919" b="0">
                          <a:solidFill>
                            <a:srgbClr val="1E293B"/>
                          </a:solidFill>
                          <a:latin typeface="Arial"/>
                        </a:rPr>
                        <a:t>, SHA-256, </a:t>
                      </a:r>
                      <a:r>
                        <a:rPr sz="919" b="0">
                          <a:solidFill>
                            <a:srgbClr val="1D4E89"/>
                          </a:solidFill>
                          <a:latin typeface="Consolas"/>
                        </a:rPr>
                        <a:t>S256</a:t>
                      </a:r>
                    </a:p>
                  </a:txBody>
                  <a:tcPr marL="64008" marR="54864" marT="18288" marB="18288" anchor="ctr">
                    <a:solidFill>
                      <a:srgbClr val="F3F6F9"/>
                    </a:solidFill>
                  </a:tcPr>
                </a:tc>
              </a:tr>
              <a:tr h="324612">
                <a:tc>
                  <a:txBody>
                    <a:bodyPr wrap="square"/>
                    <a:lstStyle/>
                    <a:p>
                      <a:pPr algn="l">
                        <a:lnSpc>
                          <a:spcPct val="105000"/>
                        </a:lnSpc>
                      </a:pPr>
                      <a:r>
                        <a:rPr sz="919" b="0">
                          <a:solidFill>
                            <a:srgbClr val="1E293B"/>
                          </a:solidFill>
                          <a:latin typeface="Arial"/>
                        </a:rPr>
                        <a:t>Open the browser</a:t>
                      </a:r>
                    </a:p>
                  </a:txBody>
                  <a:tcPr marL="64008" marR="54864" marT="18288" marB="18288" anchor="ctr">
                    <a:solidFill>
                      <a:srgbClr val="FFFFFF"/>
                    </a:solidFill>
                  </a:tcPr>
                </a:tc>
                <a:tc>
                  <a:txBody>
                    <a:bodyPr wrap="square"/>
                    <a:lstStyle/>
                    <a:p>
                      <a:pPr algn="l">
                        <a:lnSpc>
                          <a:spcPct val="105000"/>
                        </a:lnSpc>
                      </a:pPr>
                      <a:r>
                        <a:rPr sz="919" b="1">
                          <a:solidFill>
                            <a:srgbClr val="0F172A"/>
                          </a:solidFill>
                          <a:latin typeface="Arial"/>
                        </a:rPr>
                        <a:t>Wallet app</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System browser via </a:t>
                      </a:r>
                      <a:r>
                        <a:rPr sz="919" b="0">
                          <a:solidFill>
                            <a:srgbClr val="1D4E89"/>
                          </a:solidFill>
                          <a:latin typeface="Consolas"/>
                        </a:rPr>
                        <a:t>authorizeUser</a:t>
                      </a:r>
                      <a:r>
                        <a:rPr sz="919" b="0">
                          <a:solidFill>
                            <a:srgbClr val="1E293B"/>
                          </a:solidFill>
                          <a:latin typeface="Arial"/>
                        </a:rPr>
                        <a:t> callback</a:t>
                      </a:r>
                    </a:p>
                  </a:txBody>
                  <a:tcPr marL="64008" marR="54864" marT="18288" marB="18288" anchor="ctr">
                    <a:solidFill>
                      <a:srgbClr val="FFFFFF"/>
                    </a:solidFill>
                  </a:tcPr>
                </a:tc>
              </a:tr>
              <a:tr h="324612">
                <a:tc>
                  <a:txBody>
                    <a:bodyPr wrap="square"/>
                    <a:lstStyle/>
                    <a:p>
                      <a:pPr algn="l">
                        <a:lnSpc>
                          <a:spcPct val="105000"/>
                        </a:lnSpc>
                      </a:pPr>
                      <a:r>
                        <a:rPr sz="919" b="0">
                          <a:solidFill>
                            <a:srgbClr val="1E293B"/>
                          </a:solidFill>
                          <a:latin typeface="Arial"/>
                        </a:rPr>
                        <a:t>Exchange code for token</a:t>
                      </a:r>
                    </a:p>
                  </a:txBody>
                  <a:tcPr marL="64008" marR="54864" marT="18288" marB="18288" anchor="ctr">
                    <a:solidFill>
                      <a:srgbClr val="F3F6F9"/>
                    </a:solidFill>
                  </a:tcPr>
                </a:tc>
                <a:tc>
                  <a:txBody>
                    <a:bodyPr wrap="square"/>
                    <a:lstStyle/>
                    <a:p>
                      <a:pPr algn="l">
                        <a:lnSpc>
                          <a:spcPct val="105000"/>
                        </a:lnSpc>
                      </a:pPr>
                      <a:r>
                        <a:rPr sz="919" b="1">
                          <a:solidFill>
                            <a:srgbClr val="0F172A"/>
                          </a:solidFill>
                          <a:latin typeface="Arial"/>
                        </a:rPr>
                        <a:t>Wallet app</a:t>
                      </a:r>
                    </a:p>
                  </a:txBody>
                  <a:tcPr marL="64008" marR="54864" marT="18288" marB="18288" anchor="ctr">
                    <a:solidFill>
                      <a:srgbClr val="F3F6F9"/>
                    </a:solidFill>
                  </a:tcPr>
                </a:tc>
                <a:tc>
                  <a:txBody>
                    <a:bodyPr wrap="square"/>
                    <a:lstStyle/>
                    <a:p>
                      <a:pPr algn="l">
                        <a:lnSpc>
                          <a:spcPct val="105000"/>
                        </a:lnSpc>
                      </a:pPr>
                      <a:r>
                        <a:rPr sz="919" b="0">
                          <a:solidFill>
                            <a:srgbClr val="1D4E89"/>
                          </a:solidFill>
                          <a:latin typeface="Consolas"/>
                        </a:rPr>
                        <a:t>POST /get-token/{issuer}</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validates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Routed via Mimoto so secrets stay server-side</a:t>
                      </a:r>
                    </a:p>
                  </a:txBody>
                  <a:tcPr marL="64008" marR="54864" marT="18288" marB="18288" anchor="ctr">
                    <a:solidFill>
                      <a:srgbClr val="F3F6F9"/>
                    </a:solidFill>
                  </a:tcPr>
                </a:tc>
              </a:tr>
              <a:tr h="324612">
                <a:tc>
                  <a:txBody>
                    <a:bodyPr wrap="square"/>
                    <a:lstStyle/>
                    <a:p>
                      <a:pPr algn="l">
                        <a:lnSpc>
                          <a:spcPct val="105000"/>
                        </a:lnSpc>
                      </a:pPr>
                      <a:r>
                        <a:rPr sz="919" b="0">
                          <a:solidFill>
                            <a:srgbClr val="1E293B"/>
                          </a:solidFill>
                          <a:latin typeface="Arial"/>
                        </a:rPr>
                        <a:t>Create the key pair</a:t>
                      </a:r>
                    </a:p>
                  </a:txBody>
                  <a:tcPr marL="64008" marR="54864" marT="18288" marB="18288" anchor="ctr">
                    <a:solidFill>
                      <a:srgbClr val="FFFFFF"/>
                    </a:solidFill>
                  </a:tcPr>
                </a:tc>
                <a:tc>
                  <a:txBody>
                    <a:bodyPr wrap="square"/>
                    <a:lstStyle/>
                    <a:p>
                      <a:pPr algn="l">
                        <a:lnSpc>
                          <a:spcPct val="105000"/>
                        </a:lnSpc>
                      </a:pPr>
                      <a:r>
                        <a:rPr sz="919" b="1">
                          <a:solidFill>
                            <a:srgbClr val="0F172A"/>
                          </a:solidFill>
                          <a:latin typeface="Arial"/>
                        </a:rPr>
                        <a:t>Wallet app</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D4E89"/>
                          </a:solidFill>
                          <a:latin typeface="Consolas"/>
                        </a:rPr>
                        <a:t>secure-keystore</a:t>
                      </a:r>
                      <a:r>
                        <a:rPr sz="919" b="0">
                          <a:solidFill>
                            <a:srgbClr val="1E293B"/>
                          </a:solidFill>
                          <a:latin typeface="Arial"/>
                        </a:rPr>
                        <a:t>, Android Keystore / iOS Keychain</a:t>
                      </a:r>
                    </a:p>
                  </a:txBody>
                  <a:tcPr marL="64008" marR="54864" marT="18288" marB="18288" anchor="ctr">
                    <a:solidFill>
                      <a:srgbClr val="FFFFFF"/>
                    </a:solidFill>
                  </a:tcPr>
                </a:tc>
              </a:tr>
              <a:tr h="324612">
                <a:tc>
                  <a:txBody>
                    <a:bodyPr wrap="square"/>
                    <a:lstStyle/>
                    <a:p>
                      <a:pPr algn="l">
                        <a:lnSpc>
                          <a:spcPct val="105000"/>
                        </a:lnSpc>
                      </a:pPr>
                      <a:r>
                        <a:rPr sz="919" b="0">
                          <a:solidFill>
                            <a:srgbClr val="1E293B"/>
                          </a:solidFill>
                          <a:latin typeface="Arial"/>
                        </a:rPr>
                        <a:t>Sign the proof JWT</a:t>
                      </a:r>
                    </a:p>
                  </a:txBody>
                  <a:tcPr marL="64008" marR="54864" marT="18288" marB="18288" anchor="ctr">
                    <a:solidFill>
                      <a:srgbClr val="F3F6F9"/>
                    </a:solidFill>
                  </a:tcPr>
                </a:tc>
                <a:tc>
                  <a:txBody>
                    <a:bodyPr wrap="square"/>
                    <a:lstStyle/>
                    <a:p>
                      <a:pPr algn="l">
                        <a:lnSpc>
                          <a:spcPct val="105000"/>
                        </a:lnSpc>
                      </a:pPr>
                      <a:r>
                        <a:rPr sz="919" b="1">
                          <a:solidFill>
                            <a:srgbClr val="0F172A"/>
                          </a:solidFill>
                          <a:latin typeface="Arial"/>
                        </a:rPr>
                        <a:t>Wallet app</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3F6F9"/>
                    </a:solidFill>
                  </a:tcPr>
                </a:tc>
                <a:tc>
                  <a:txBody>
                    <a:bodyPr wrap="square"/>
                    <a:lstStyle/>
                    <a:p>
                      <a:pPr algn="l">
                        <a:lnSpc>
                          <a:spcPct val="105000"/>
                        </a:lnSpc>
                      </a:pPr>
                      <a:r>
                        <a:rPr sz="919" b="0">
                          <a:solidFill>
                            <a:srgbClr val="1D4E89"/>
                          </a:solidFill>
                          <a:latin typeface="Consolas"/>
                        </a:rPr>
                        <a:t>getProofJwt</a:t>
                      </a:r>
                      <a:r>
                        <a:rPr sz="919" b="0">
                          <a:solidFill>
                            <a:srgbClr val="1E293B"/>
                          </a:solidFill>
                          <a:latin typeface="Arial"/>
                        </a:rPr>
                        <a:t> callback; library never sees the key</a:t>
                      </a:r>
                    </a:p>
                  </a:txBody>
                  <a:tcPr marL="64008" marR="54864" marT="18288" marB="18288" anchor="ctr">
                    <a:solidFill>
                      <a:srgbClr val="F3F6F9"/>
                    </a:solidFill>
                  </a:tcPr>
                </a:tc>
              </a:tr>
              <a:tr h="324612">
                <a:tc>
                  <a:txBody>
                    <a:bodyPr wrap="square"/>
                    <a:lstStyle/>
                    <a:p>
                      <a:pPr algn="l">
                        <a:lnSpc>
                          <a:spcPct val="105000"/>
                        </a:lnSpc>
                      </a:pPr>
                      <a:r>
                        <a:rPr sz="919" b="0">
                          <a:solidFill>
                            <a:srgbClr val="1E293B"/>
                          </a:solidFill>
                          <a:latin typeface="Arial"/>
                        </a:rPr>
                        <a:t>Send the credential request</a:t>
                      </a:r>
                    </a:p>
                  </a:txBody>
                  <a:tcPr marL="64008" marR="54864" marT="18288" marB="18288" anchor="ctr">
                    <a:solidFill>
                      <a:srgbClr val="FFFFFF"/>
                    </a:solidFill>
                  </a:tcPr>
                </a:tc>
                <a:tc>
                  <a:txBody>
                    <a:bodyPr wrap="square"/>
                    <a:lstStyle/>
                    <a:p>
                      <a:pPr algn="l">
                        <a:lnSpc>
                          <a:spcPct val="105000"/>
                        </a:lnSpc>
                      </a:pPr>
                      <a:r>
                        <a:rPr sz="919" b="0">
                          <a:solidFill>
                            <a:srgbClr val="1D4E89"/>
                          </a:solidFill>
                          <a:latin typeface="Consolas"/>
                        </a:rPr>
                        <a:t>inji-vci-client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issues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Format-specific request builder</a:t>
                      </a:r>
                    </a:p>
                  </a:txBody>
                  <a:tcPr marL="64008" marR="54864" marT="18288" marB="18288" anchor="ctr">
                    <a:solidFill>
                      <a:srgbClr val="FFFFFF"/>
                    </a:solidFill>
                  </a:tcPr>
                </a:tc>
              </a:tr>
              <a:tr h="324612">
                <a:tc>
                  <a:txBody>
                    <a:bodyPr wrap="square"/>
                    <a:lstStyle/>
                    <a:p>
                      <a:pPr algn="l">
                        <a:lnSpc>
                          <a:spcPct val="105000"/>
                        </a:lnSpc>
                      </a:pPr>
                      <a:r>
                        <a:rPr sz="919" b="0">
                          <a:solidFill>
                            <a:srgbClr val="1E293B"/>
                          </a:solidFill>
                          <a:latin typeface="Arial"/>
                        </a:rPr>
                        <a:t>Verify the credential</a:t>
                      </a:r>
                    </a:p>
                  </a:txBody>
                  <a:tcPr marL="64008" marR="54864" marT="18288" marB="18288" anchor="ctr">
                    <a:solidFill>
                      <a:srgbClr val="F3F6F9"/>
                    </a:solidFill>
                  </a:tcPr>
                </a:tc>
                <a:tc>
                  <a:txBody>
                    <a:bodyPr wrap="square"/>
                    <a:lstStyle/>
                    <a:p>
                      <a:pPr algn="l">
                        <a:lnSpc>
                          <a:spcPct val="105000"/>
                        </a:lnSpc>
                      </a:pPr>
                      <a:r>
                        <a:rPr sz="919" b="0">
                          <a:solidFill>
                            <a:srgbClr val="1D4E89"/>
                          </a:solidFill>
                          <a:latin typeface="Consolas"/>
                        </a:rPr>
                        <a:t>vc-verifier</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same library</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Signature, and for SD-JWT the disclosure digests</a:t>
                      </a:r>
                    </a:p>
                  </a:txBody>
                  <a:tcPr marL="64008" marR="54864" marT="18288" marB="18288" anchor="ctr">
                    <a:solidFill>
                      <a:srgbClr val="F3F6F9"/>
                    </a:solidFill>
                  </a:tcPr>
                </a:tc>
              </a:tr>
              <a:tr h="324612">
                <a:tc>
                  <a:txBody>
                    <a:bodyPr wrap="square"/>
                    <a:lstStyle/>
                    <a:p>
                      <a:pPr algn="l">
                        <a:lnSpc>
                          <a:spcPct val="105000"/>
                        </a:lnSpc>
                      </a:pPr>
                      <a:r>
                        <a:rPr sz="919" b="0">
                          <a:solidFill>
                            <a:srgbClr val="1E293B"/>
                          </a:solidFill>
                          <a:latin typeface="Arial"/>
                        </a:rPr>
                        <a:t>Store it</a:t>
                      </a:r>
                    </a:p>
                  </a:txBody>
                  <a:tcPr marL="64008" marR="54864" marT="18288" marB="18288" anchor="ctr">
                    <a:solidFill>
                      <a:srgbClr val="FFFFFF"/>
                    </a:solidFill>
                  </a:tcPr>
                </a:tc>
                <a:tc>
                  <a:txBody>
                    <a:bodyPr wrap="square"/>
                    <a:lstStyle/>
                    <a:p>
                      <a:pPr algn="l">
                        <a:lnSpc>
                          <a:spcPct val="105000"/>
                        </a:lnSpc>
                      </a:pPr>
                      <a:r>
                        <a:rPr sz="919" b="1">
                          <a:solidFill>
                            <a:srgbClr val="0F172A"/>
                          </a:solidFill>
                          <a:latin typeface="Arial"/>
                        </a:rPr>
                        <a:t>Wallet app</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Postgres for Web</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MMKV + encryption on device; AES-GCM in DB for Web</a:t>
                      </a:r>
                    </a:p>
                  </a:txBody>
                  <a:tcPr marL="64008" marR="54864" marT="18288" marB="18288" anchor="ctr">
                    <a:solidFill>
                      <a:srgbClr val="FFFFFF"/>
                    </a:solidFill>
                  </a:tcPr>
                </a:tc>
              </a:tr>
            </a:tbl>
          </a:graphicData>
        </a:graphic>
      </p:graphicFrame>
      <p:sp>
        <p:nvSpPr>
          <p:cNvPr id="7" name="Rounded Rectangle 6"/>
          <p:cNvSpPr/>
          <p:nvPr/>
        </p:nvSpPr>
        <p:spPr>
          <a:xfrm>
            <a:off x="502920" y="5710428"/>
            <a:ext cx="11185855" cy="522986"/>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710428"/>
            <a:ext cx="45720" cy="522986"/>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801868"/>
            <a:ext cx="10820095" cy="376682"/>
          </a:xfrm>
          <a:prstGeom prst="rect">
            <a:avLst/>
          </a:prstGeom>
          <a:noFill/>
        </p:spPr>
        <p:txBody>
          <a:bodyPr wrap="square" lIns="0" rIns="0" tIns="0" bIns="0" anchor="t">
            <a:spAutoFit/>
          </a:bodyPr>
          <a:lstStyle/>
          <a:p>
            <a:pPr algn="l">
              <a:lnSpc>
                <a:spcPct val="122000"/>
              </a:lnSpc>
              <a:spcBef>
                <a:spcPts val="0"/>
              </a:spcBef>
              <a:spcAft>
                <a:spcPts val="0"/>
              </a:spcAft>
            </a:pPr>
            <a:r>
              <a:rPr sz="1030" b="0" i="0">
                <a:solidFill>
                  <a:srgbClr val="1E293B"/>
                </a:solidFill>
                <a:latin typeface="Arial"/>
              </a:rPr>
              <a:t>Read the bold rows: </a:t>
            </a:r>
            <a:r>
              <a:rPr sz="1030" b="1" i="0">
                <a:solidFill>
                  <a:srgbClr val="0E9488"/>
                </a:solidFill>
                <a:latin typeface="Arial"/>
              </a:rPr>
              <a:t>every operation that touches a private key or a user-facing screen is in the application, not the library.</a:t>
            </a:r>
            <a:r>
              <a:rPr sz="1030" b="0" i="0">
                <a:solidFill>
                  <a:srgbClr val="1E293B"/>
                </a:solidFill>
                <a:latin typeface="Arial"/>
              </a:rPr>
              <a:t> When you port Inji to a new platform, that is the boundary you re-implement.</a:t>
            </a:r>
          </a:p>
        </p:txBody>
      </p:sp>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issuance with OpenID4VCI</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3   •   5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Inspect what was actually stored</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credential downloaded in Demo 1.</a:t>
            </a:r>
          </a:p>
        </p:txBody>
      </p:sp>
      <p:sp>
        <p:nvSpPr>
          <p:cNvPr id="10" name="Oval 9"/>
          <p:cNvSpPr/>
          <p:nvPr/>
        </p:nvSpPr>
        <p:spPr>
          <a:xfrm>
            <a:off x="745236" y="181706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749704"/>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Android: </a:t>
            </a:r>
            <a:r>
              <a:rPr sz="1019" b="0" i="0">
                <a:solidFill>
                  <a:srgbClr val="1D4E89"/>
                </a:solidFill>
                <a:latin typeface="Consolas"/>
              </a:rPr>
              <a:t>adb logcat</a:t>
            </a:r>
            <a:r>
              <a:rPr sz="1019" b="0" i="0">
                <a:solidFill>
                  <a:srgbClr val="0F172A"/>
                </a:solidFill>
                <a:latin typeface="Arial"/>
              </a:rPr>
              <a:t> filtered on the app, or Flipper (the repo ships an </a:t>
            </a:r>
            <a:r>
              <a:rPr sz="1019" b="0" i="0">
                <a:solidFill>
                  <a:srgbClr val="1D4E89"/>
                </a:solidFill>
                <a:latin typeface="Consolas"/>
              </a:rPr>
              <a:t>inji.flipper</a:t>
            </a:r>
            <a:r>
              <a:rPr sz="1019" b="0" i="0">
                <a:solidFill>
                  <a:srgbClr val="0F172A"/>
                </a:solidFill>
                <a:latin typeface="Arial"/>
              </a:rPr>
              <a:t> config).</a:t>
            </a:r>
          </a:p>
        </p:txBody>
      </p:sp>
      <p:sp>
        <p:nvSpPr>
          <p:cNvPr id="12" name="Oval 11"/>
          <p:cNvSpPr/>
          <p:nvPr/>
        </p:nvSpPr>
        <p:spPr>
          <a:xfrm>
            <a:off x="745236" y="238445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317089"/>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For Inji Web: access to Mimoto's Postgres, or the </a:t>
            </a:r>
            <a:r>
              <a:rPr sz="1019" b="0" i="0">
                <a:solidFill>
                  <a:srgbClr val="1D4E89"/>
                </a:solidFill>
                <a:latin typeface="Consolas"/>
              </a:rPr>
              <a:t>GET /wallets/{id}/credentials</a:t>
            </a:r>
            <a:r>
              <a:rPr sz="1019" b="0" i="0">
                <a:solidFill>
                  <a:srgbClr val="0F172A"/>
                </a:solidFill>
                <a:latin typeface="Arial"/>
              </a:rPr>
              <a:t> response.</a:t>
            </a:r>
          </a:p>
        </p:txBody>
      </p:sp>
      <p:sp>
        <p:nvSpPr>
          <p:cNvPr id="14" name="Oval 13"/>
          <p:cNvSpPr/>
          <p:nvPr/>
        </p:nvSpPr>
        <p:spPr>
          <a:xfrm>
            <a:off x="745236" y="295183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88447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JWT decoder and a CBOR decoder open in a browser tab.</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Open the credential detail view in the wallet.</a:t>
            </a:r>
          </a:p>
        </p:txBody>
      </p:sp>
      <p:sp>
        <p:nvSpPr>
          <p:cNvPr id="21" name="Oval 20"/>
          <p:cNvSpPr/>
          <p:nvPr/>
        </p:nvSpPr>
        <p:spPr>
          <a:xfrm>
            <a:off x="4466844" y="198028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191292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Field labels are in the issuer's language, in the issuer's order.</a:t>
            </a:r>
          </a:p>
        </p:txBody>
      </p:sp>
      <p:sp>
        <p:nvSpPr>
          <p:cNvPr id="23" name="Oval 22"/>
          <p:cNvSpPr/>
          <p:nvPr/>
        </p:nvSpPr>
        <p:spPr>
          <a:xfrm>
            <a:off x="4466844" y="238445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317089"/>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QR code appears on the card.</a:t>
            </a:r>
          </a:p>
        </p:txBody>
      </p:sp>
      <p:sp>
        <p:nvSpPr>
          <p:cNvPr id="25" name="Oval 24"/>
          <p:cNvSpPr/>
          <p:nvPr/>
        </p:nvSpPr>
        <p:spPr>
          <a:xfrm>
            <a:off x="4466844" y="262539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255803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Delete and re-download to show the whole cycle is repeatable.</a:t>
            </a:r>
          </a:p>
        </p:txBody>
      </p:sp>
      <p:sp>
        <p:nvSpPr>
          <p:cNvPr id="27" name="Rounded Rectangle 26"/>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30" name="Oval 29"/>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1508760"/>
            <a:ext cx="3118104" cy="76260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Labels and order came from </a:t>
            </a:r>
            <a:r>
              <a:rPr sz="1019" b="0" i="0">
                <a:solidFill>
                  <a:srgbClr val="1D4E89"/>
                </a:solidFill>
                <a:latin typeface="Consolas"/>
              </a:rPr>
              <a:t>credential_configurations_supported[..].claims[..].display</a:t>
            </a:r>
            <a:r>
              <a:rPr sz="1019" b="0" i="0">
                <a:solidFill>
                  <a:srgbClr val="0F172A"/>
                </a:solidFill>
                <a:latin typeface="Arial"/>
              </a:rPr>
              <a:t> and the </a:t>
            </a:r>
            <a:r>
              <a:rPr sz="1019" b="0" i="0">
                <a:solidFill>
                  <a:srgbClr val="1D4E89"/>
                </a:solidFill>
                <a:latin typeface="Consolas"/>
              </a:rPr>
              <a:t>order</a:t>
            </a:r>
            <a:r>
              <a:rPr sz="1019" b="0" i="0">
                <a:solidFill>
                  <a:srgbClr val="0F172A"/>
                </a:solidFill>
                <a:latin typeface="Arial"/>
              </a:rPr>
              <a:t> property — </a:t>
            </a:r>
            <a:r>
              <a:rPr sz="1019" b="1" i="0">
                <a:solidFill>
                  <a:srgbClr val="0F172A"/>
                </a:solidFill>
                <a:latin typeface="Arial"/>
              </a:rPr>
              <a:t>not</a:t>
            </a:r>
            <a:r>
              <a:rPr sz="1019" b="0" i="0">
                <a:solidFill>
                  <a:srgbClr val="0F172A"/>
                </a:solidFill>
                <a:latin typeface="Arial"/>
              </a:rPr>
              <a:t> from app code.</a:t>
            </a:r>
          </a:p>
        </p:txBody>
      </p:sp>
      <p:sp>
        <p:nvSpPr>
          <p:cNvPr id="32" name="Oval 31"/>
          <p:cNvSpPr/>
          <p:nvPr/>
        </p:nvSpPr>
        <p:spPr>
          <a:xfrm>
            <a:off x="8188452" y="2306726"/>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2239365"/>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stored blob is encrypted with a key held in the OS keystore; MMKV holds the ciphertext.</a:t>
            </a:r>
          </a:p>
        </p:txBody>
      </p:sp>
      <p:sp>
        <p:nvSpPr>
          <p:cNvPr id="34" name="Oval 33"/>
          <p:cNvSpPr/>
          <p:nvPr/>
        </p:nvSpPr>
        <p:spPr>
          <a:xfrm>
            <a:off x="8188452" y="2874111"/>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2806750"/>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QR is the issuer's Claim 169 QR if the credential carries one, otherwise generated by </a:t>
            </a:r>
            <a:r>
              <a:rPr sz="1019" b="0" i="0">
                <a:solidFill>
                  <a:srgbClr val="1D4E89"/>
                </a:solidFill>
                <a:latin typeface="Consolas"/>
              </a:rPr>
              <a:t>pixelpass</a:t>
            </a:r>
            <a:r>
              <a:rPr sz="1019" b="0" i="0">
                <a:solidFill>
                  <a:srgbClr val="0F172A"/>
                </a:solidFill>
                <a:latin typeface="Arial"/>
              </a:rPr>
              <a:t>.</a:t>
            </a:r>
          </a:p>
        </p:txBody>
      </p:sp>
      <p:sp>
        <p:nvSpPr>
          <p:cNvPr id="36" name="Oval 35"/>
          <p:cNvSpPr/>
          <p:nvPr/>
        </p:nvSpPr>
        <p:spPr>
          <a:xfrm>
            <a:off x="8188452" y="3441496"/>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5904" y="3374135"/>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For mDoc the wallet keeps the decoded JSON only in memory, never on disk.</a:t>
            </a:r>
          </a:p>
        </p:txBody>
      </p:sp>
      <p:sp>
        <p:nvSpPr>
          <p:cNvPr id="38" name="Rounded Rectangle 37"/>
          <p:cNvSpPr/>
          <p:nvPr/>
        </p:nvSpPr>
        <p:spPr>
          <a:xfrm>
            <a:off x="502920" y="5175504"/>
            <a:ext cx="11185855" cy="554101"/>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175504"/>
            <a:ext cx="45720" cy="55410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266944"/>
            <a:ext cx="10820095" cy="407797"/>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If the labels appear as raw claim names, the issuer metadata is missing display entries — or Mimoto is serving a cached copy from before you fixed them.</a:t>
            </a:r>
          </a:p>
        </p:txBody>
      </p:sp>
      <p:sp>
        <p:nvSpPr>
          <p:cNvPr id="41" name="TextBox 4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issuance with OpenID4VCI</a:t>
            </a:r>
          </a:p>
        </p:txBody>
      </p:sp>
      <p:sp>
        <p:nvSpPr>
          <p:cNvPr id="42" name="TextBox 4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4</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PKCE, DPoP, proofs and binding</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Four mechanisms that all involve signing something. They protect completely different things, and mixing them up leads to bad architecture decisions.</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25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Why PKCE exists, and what it does not do</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Why DPoP exists — and Inji's current position</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Bearer vs sender-constrained tokens</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Proof type vs cryptographic binding method</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Holder binding vs key binding</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Key attestation, and what it does not replace</a:t>
            </a:r>
          </a:p>
        </p:txBody>
      </p:sp>
      <p:sp>
        <p:nvSpPr>
          <p:cNvPr id="23" name="Rounded Rectangle 22"/>
          <p:cNvSpPr/>
          <p:nvPr/>
        </p:nvSpPr>
        <p:spPr>
          <a:xfrm>
            <a:off x="50292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PKCE, DPoP, proofs and binding</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RFC 7636</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PKCE — proving the app that finished is the app that started</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Proof Key for Code Exchange. It protects the authorization code, and nothing else.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63040"/>
            <a:ext cx="544068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WHAT THE WALLET DOES</a:t>
            </a:r>
          </a:p>
        </p:txBody>
      </p:sp>
      <p:sp>
        <p:nvSpPr>
          <p:cNvPr id="7" name="Rounded Rectangle 6"/>
          <p:cNvSpPr/>
          <p:nvPr/>
        </p:nvSpPr>
        <p:spPr>
          <a:xfrm>
            <a:off x="502920" y="1682496"/>
            <a:ext cx="5440680" cy="155448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801368"/>
            <a:ext cx="5148072" cy="1316736"/>
          </a:xfrm>
          <a:prstGeom prst="rect">
            <a:avLst/>
          </a:prstGeom>
          <a:noFill/>
        </p:spPr>
        <p:txBody>
          <a:bodyPr wrap="square" lIns="0" rIns="0" tIns="0" bIns="0" anchor="t">
            <a:spAutoFit/>
          </a:bodyPr>
          <a:lstStyle/>
          <a:p>
            <a:pPr>
              <a:lnSpc>
                <a:spcPct val="116000"/>
              </a:lnSpc>
              <a:spcBef>
                <a:spcPts val="0"/>
              </a:spcBef>
              <a:spcAft>
                <a:spcPts val="0"/>
              </a:spcAft>
            </a:pPr>
            <a:r>
              <a:rPr sz="890">
                <a:solidFill>
                  <a:srgbClr val="7E93A8"/>
                </a:solidFill>
                <a:latin typeface="Consolas"/>
              </a:rPr>
              <a:t>// 1. before opening the browser</a:t>
            </a:r>
          </a:p>
          <a:p>
            <a:pPr>
              <a:lnSpc>
                <a:spcPct val="116000"/>
              </a:lnSpc>
              <a:spcBef>
                <a:spcPts val="0"/>
              </a:spcBef>
              <a:spcAft>
                <a:spcPts val="0"/>
              </a:spcAft>
            </a:pPr>
            <a:r>
              <a:rPr sz="890">
                <a:solidFill>
                  <a:srgbClr val="CBD9E8"/>
                </a:solidFill>
                <a:latin typeface="Consolas"/>
              </a:rPr>
              <a:t>code_verifier  = random 43-128 char string</a:t>
            </a:r>
          </a:p>
          <a:p>
            <a:pPr>
              <a:lnSpc>
                <a:spcPct val="116000"/>
              </a:lnSpc>
              <a:spcBef>
                <a:spcPts val="0"/>
              </a:spcBef>
              <a:spcAft>
                <a:spcPts val="0"/>
              </a:spcAft>
            </a:pPr>
            <a:r>
              <a:rPr sz="890">
                <a:solidFill>
                  <a:srgbClr val="CBD9E8"/>
                </a:solidFill>
                <a:latin typeface="Consolas"/>
              </a:rPr>
              <a:t>code_challenge = BASE64URL(SHA-256(code_verifier))</a:t>
            </a:r>
          </a:p>
          <a:p>
            <a:pPr>
              <a:lnSpc>
                <a:spcPct val="116000"/>
              </a:lnSpc>
              <a:spcBef>
                <a:spcPts val="0"/>
              </a:spcBef>
              <a:spcAft>
                <a:spcPts val="0"/>
              </a:spcAft>
            </a:pPr>
          </a:p>
          <a:p>
            <a:pPr>
              <a:lnSpc>
                <a:spcPct val="116000"/>
              </a:lnSpc>
              <a:spcBef>
                <a:spcPts val="0"/>
              </a:spcBef>
              <a:spcAft>
                <a:spcPts val="0"/>
              </a:spcAft>
            </a:pPr>
            <a:r>
              <a:rPr sz="890">
                <a:solidFill>
                  <a:srgbClr val="7E93A8"/>
                </a:solidFill>
                <a:latin typeface="Consolas"/>
              </a:rPr>
              <a:t>// 2. in the authorization URL</a:t>
            </a:r>
          </a:p>
          <a:p>
            <a:pPr>
              <a:lnSpc>
                <a:spcPct val="116000"/>
              </a:lnSpc>
              <a:spcBef>
                <a:spcPts val="0"/>
              </a:spcBef>
              <a:spcAft>
                <a:spcPts val="0"/>
              </a:spcAft>
            </a:pPr>
            <a:r>
              <a:rPr sz="890">
                <a:solidFill>
                  <a:srgbClr val="CBD9E8"/>
                </a:solidFill>
                <a:latin typeface="Consolas"/>
              </a:rPr>
              <a:t>?code_challenge=E9Melhoa…&amp;code_challenge_method=S256</a:t>
            </a:r>
          </a:p>
        </p:txBody>
      </p:sp>
      <p:sp>
        <p:nvSpPr>
          <p:cNvPr id="9" name="TextBox 8"/>
          <p:cNvSpPr txBox="1"/>
          <p:nvPr/>
        </p:nvSpPr>
        <p:spPr>
          <a:xfrm>
            <a:off x="502920" y="3310128"/>
            <a:ext cx="544068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AND THEN</a:t>
            </a:r>
          </a:p>
        </p:txBody>
      </p:sp>
      <p:sp>
        <p:nvSpPr>
          <p:cNvPr id="10" name="Rounded Rectangle 9"/>
          <p:cNvSpPr/>
          <p:nvPr/>
        </p:nvSpPr>
        <p:spPr>
          <a:xfrm>
            <a:off x="502920" y="3529584"/>
            <a:ext cx="5440680" cy="109728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3648456"/>
            <a:ext cx="5148072" cy="859536"/>
          </a:xfrm>
          <a:prstGeom prst="rect">
            <a:avLst/>
          </a:prstGeom>
          <a:noFill/>
        </p:spPr>
        <p:txBody>
          <a:bodyPr wrap="square" lIns="0" rIns="0" tIns="0" bIns="0" anchor="t">
            <a:spAutoFit/>
          </a:bodyPr>
          <a:lstStyle/>
          <a:p>
            <a:pPr>
              <a:lnSpc>
                <a:spcPct val="116000"/>
              </a:lnSpc>
              <a:spcBef>
                <a:spcPts val="0"/>
              </a:spcBef>
              <a:spcAft>
                <a:spcPts val="0"/>
              </a:spcAft>
            </a:pPr>
            <a:r>
              <a:rPr sz="890">
                <a:solidFill>
                  <a:srgbClr val="7E93A8"/>
                </a:solidFill>
                <a:latin typeface="Consolas"/>
              </a:rPr>
              <a:t>// 3. in the token request, the original secret</a:t>
            </a:r>
          </a:p>
          <a:p>
            <a:pPr>
              <a:lnSpc>
                <a:spcPct val="116000"/>
              </a:lnSpc>
              <a:spcBef>
                <a:spcPts val="0"/>
              </a:spcBef>
              <a:spcAft>
                <a:spcPts val="0"/>
              </a:spcAft>
            </a:pPr>
            <a:r>
              <a:rPr sz="890">
                <a:solidFill>
                  <a:srgbClr val="CBD9E8"/>
                </a:solidFill>
                <a:latin typeface="Consolas"/>
              </a:rPr>
              <a:t>code_verifier=dBjftJeZ4CVP-mB92K27uhbUJU1p1r_wW1gFWFOEjXk</a:t>
            </a:r>
          </a:p>
          <a:p>
            <a:pPr>
              <a:lnSpc>
                <a:spcPct val="116000"/>
              </a:lnSpc>
              <a:spcBef>
                <a:spcPts val="0"/>
              </a:spcBef>
              <a:spcAft>
                <a:spcPts val="0"/>
              </a:spcAft>
            </a:pPr>
          </a:p>
          <a:p>
            <a:pPr>
              <a:lnSpc>
                <a:spcPct val="116000"/>
              </a:lnSpc>
              <a:spcBef>
                <a:spcPts val="0"/>
              </a:spcBef>
              <a:spcAft>
                <a:spcPts val="0"/>
              </a:spcAft>
            </a:pPr>
            <a:r>
              <a:rPr sz="890">
                <a:solidFill>
                  <a:srgbClr val="7E93A8"/>
                </a:solidFill>
                <a:latin typeface="Consolas"/>
              </a:rPr>
              <a:t>// the AS recomputes the hash and compares</a:t>
            </a:r>
          </a:p>
        </p:txBody>
      </p:sp>
      <p:sp>
        <p:nvSpPr>
          <p:cNvPr id="12" name="Rounded Rectangle 11"/>
          <p:cNvSpPr/>
          <p:nvPr/>
        </p:nvSpPr>
        <p:spPr>
          <a:xfrm>
            <a:off x="6245352" y="1682496"/>
            <a:ext cx="5440680" cy="1627632"/>
          </a:xfrm>
          <a:prstGeom prst="roundRect">
            <a:avLst>
              <a:gd name="adj" fmla="val 45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682496"/>
            <a:ext cx="50292" cy="1627632"/>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1828800"/>
            <a:ext cx="505663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B31B1B"/>
                </a:solidFill>
              </a:rPr>
              <a:t>The attack it stops</a:t>
            </a:r>
          </a:p>
        </p:txBody>
      </p:sp>
      <p:sp>
        <p:nvSpPr>
          <p:cNvPr id="15" name="Oval 14"/>
          <p:cNvSpPr/>
          <p:nvPr/>
        </p:nvSpPr>
        <p:spPr>
          <a:xfrm>
            <a:off x="6487668" y="2124760"/>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2057400"/>
            <a:ext cx="482803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malicious app on the same phone registers the same custom URI scheme and intercepts the redirect.</a:t>
            </a:r>
          </a:p>
        </p:txBody>
      </p:sp>
      <p:sp>
        <p:nvSpPr>
          <p:cNvPr id="17" name="Oval 16"/>
          <p:cNvSpPr/>
          <p:nvPr/>
        </p:nvSpPr>
        <p:spPr>
          <a:xfrm>
            <a:off x="6487668" y="2528925"/>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461564"/>
            <a:ext cx="4828031"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 now holds a valid authorization </a:t>
            </a:r>
            <a:r>
              <a:rPr sz="1019" b="1" i="0">
                <a:solidFill>
                  <a:srgbClr val="0F172A"/>
                </a:solidFill>
                <a:latin typeface="Arial"/>
              </a:rPr>
              <a:t>code</a:t>
            </a:r>
            <a:r>
              <a:rPr sz="1019" b="0" i="0">
                <a:solidFill>
                  <a:srgbClr val="0F172A"/>
                </a:solidFill>
                <a:latin typeface="Arial"/>
              </a:rPr>
              <a:t>.</a:t>
            </a:r>
          </a:p>
        </p:txBody>
      </p:sp>
      <p:sp>
        <p:nvSpPr>
          <p:cNvPr id="19" name="Oval 18"/>
          <p:cNvSpPr/>
          <p:nvPr/>
        </p:nvSpPr>
        <p:spPr>
          <a:xfrm>
            <a:off x="6487668" y="2769870"/>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2702509"/>
            <a:ext cx="482803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Without PKCE it can exchange that code for an access token. With PKCE it cannot — it never had the </a:t>
            </a:r>
            <a:r>
              <a:rPr sz="1019" b="0" i="0">
                <a:solidFill>
                  <a:srgbClr val="1D4E89"/>
                </a:solidFill>
                <a:latin typeface="Consolas"/>
              </a:rPr>
              <a:t>code_verifier</a:t>
            </a:r>
            <a:r>
              <a:rPr sz="1019" b="0" i="0">
                <a:solidFill>
                  <a:srgbClr val="0F172A"/>
                </a:solidFill>
                <a:latin typeface="Arial"/>
              </a:rPr>
              <a:t>.</a:t>
            </a:r>
          </a:p>
        </p:txBody>
      </p:sp>
      <p:sp>
        <p:nvSpPr>
          <p:cNvPr id="21" name="Rounded Rectangle 20"/>
          <p:cNvSpPr/>
          <p:nvPr/>
        </p:nvSpPr>
        <p:spPr>
          <a:xfrm>
            <a:off x="6245352" y="3529584"/>
            <a:ext cx="5440680" cy="2240280"/>
          </a:xfrm>
          <a:prstGeom prst="roundRect">
            <a:avLst>
              <a:gd name="adj" fmla="val 45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5352" y="3529584"/>
            <a:ext cx="50292" cy="22402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3675888"/>
            <a:ext cx="505663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B45309"/>
                </a:solidFill>
              </a:rPr>
              <a:t>What PKCE does NOT do</a:t>
            </a:r>
          </a:p>
        </p:txBody>
      </p:sp>
      <p:sp>
        <p:nvSpPr>
          <p:cNvPr id="24" name="Oval 23"/>
          <p:cNvSpPr/>
          <p:nvPr/>
        </p:nvSpPr>
        <p:spPr>
          <a:xfrm>
            <a:off x="6487668" y="3971848"/>
            <a:ext cx="77724" cy="7772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3904488"/>
            <a:ext cx="482803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 does not protect the </a:t>
            </a:r>
            <a:r>
              <a:rPr sz="1019" b="1" i="0">
                <a:solidFill>
                  <a:srgbClr val="0F172A"/>
                </a:solidFill>
                <a:latin typeface="Arial"/>
              </a:rPr>
              <a:t>access token</a:t>
            </a:r>
            <a:r>
              <a:rPr sz="1019" b="0" i="0">
                <a:solidFill>
                  <a:srgbClr val="0F172A"/>
                </a:solidFill>
                <a:latin typeface="Arial"/>
              </a:rPr>
              <a:t> after it is issued. A stolen bearer token is still usable.</a:t>
            </a:r>
          </a:p>
        </p:txBody>
      </p:sp>
      <p:sp>
        <p:nvSpPr>
          <p:cNvPr id="26" name="Oval 25"/>
          <p:cNvSpPr/>
          <p:nvPr/>
        </p:nvSpPr>
        <p:spPr>
          <a:xfrm>
            <a:off x="6487668" y="4376013"/>
            <a:ext cx="77724" cy="7772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4308652"/>
            <a:ext cx="4828031"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 does not authenticate the user, the app, or the device.</a:t>
            </a:r>
          </a:p>
        </p:txBody>
      </p:sp>
      <p:sp>
        <p:nvSpPr>
          <p:cNvPr id="28" name="Oval 27"/>
          <p:cNvSpPr/>
          <p:nvPr/>
        </p:nvSpPr>
        <p:spPr>
          <a:xfrm>
            <a:off x="6487668" y="4616958"/>
            <a:ext cx="77724" cy="7772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4549597"/>
            <a:ext cx="482803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 does not apply to the pre-authorized code flow — there is no authorization code there.</a:t>
            </a:r>
          </a:p>
        </p:txBody>
      </p:sp>
      <p:sp>
        <p:nvSpPr>
          <p:cNvPr id="30" name="Oval 29"/>
          <p:cNvSpPr/>
          <p:nvPr/>
        </p:nvSpPr>
        <p:spPr>
          <a:xfrm>
            <a:off x="6487668" y="5021122"/>
            <a:ext cx="77724" cy="7772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4953762"/>
            <a:ext cx="482803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 is not a substitute for </a:t>
            </a:r>
            <a:r>
              <a:rPr sz="1019" b="0" i="0">
                <a:solidFill>
                  <a:srgbClr val="1D4E89"/>
                </a:solidFill>
                <a:latin typeface="Consolas"/>
              </a:rPr>
              <a:t>state</a:t>
            </a:r>
            <a:r>
              <a:rPr sz="1019" b="0" i="0">
                <a:solidFill>
                  <a:srgbClr val="0F172A"/>
                </a:solidFill>
                <a:latin typeface="Arial"/>
              </a:rPr>
              <a:t>: </a:t>
            </a:r>
            <a:r>
              <a:rPr sz="1019" b="0" i="0">
                <a:solidFill>
                  <a:srgbClr val="1D4E89"/>
                </a:solidFill>
                <a:latin typeface="Consolas"/>
              </a:rPr>
              <a:t>state</a:t>
            </a:r>
            <a:r>
              <a:rPr sz="1019" b="0" i="0">
                <a:solidFill>
                  <a:srgbClr val="0F172A"/>
                </a:solidFill>
                <a:latin typeface="Arial"/>
              </a:rPr>
              <a:t> correlates the response to the request; PKCE binds the code to the client.</a:t>
            </a:r>
          </a:p>
        </p:txBody>
      </p:sp>
      <p:sp>
        <p:nvSpPr>
          <p:cNvPr id="32" name="Rounded Rectangle 31"/>
          <p:cNvSpPr/>
          <p:nvPr/>
        </p:nvSpPr>
        <p:spPr>
          <a:xfrm>
            <a:off x="502920" y="4901184"/>
            <a:ext cx="5440680" cy="519684"/>
          </a:xfrm>
          <a:prstGeom prst="roundRect">
            <a:avLst>
              <a:gd name="adj" fmla="val 9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4901184"/>
            <a:ext cx="45720" cy="519684"/>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4992624"/>
            <a:ext cx="5074920" cy="373380"/>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E293B"/>
                </a:solidFill>
                <a:latin typeface="Arial"/>
              </a:rPr>
              <a:t>In Inji, PKCE is handled </a:t>
            </a:r>
            <a:r>
              <a:rPr sz="1019" b="1" i="0">
                <a:solidFill>
                  <a:srgbClr val="15703D"/>
                </a:solidFill>
                <a:latin typeface="Arial"/>
              </a:rPr>
              <a:t>inside</a:t>
            </a:r>
            <a:r>
              <a:rPr sz="1019" b="0" i="0">
                <a:solidFill>
                  <a:srgbClr val="1E293B"/>
                </a:solidFill>
                <a:latin typeface="Arial"/>
              </a:rPr>
              <a:t> </a:t>
            </a:r>
            <a:r>
              <a:rPr sz="1019" b="0" i="0">
                <a:solidFill>
                  <a:srgbClr val="1D4E89"/>
                </a:solidFill>
                <a:latin typeface="Consolas"/>
              </a:rPr>
              <a:t>inji-vci-client</a:t>
            </a:r>
            <a:r>
              <a:rPr sz="1019" b="0" i="0">
                <a:solidFill>
                  <a:srgbClr val="1E293B"/>
                </a:solidFill>
                <a:latin typeface="Arial"/>
              </a:rPr>
              <a:t> (</a:t>
            </a:r>
            <a:r>
              <a:rPr sz="1019" b="0" i="0">
                <a:solidFill>
                  <a:srgbClr val="1D4E89"/>
                </a:solidFill>
                <a:latin typeface="Consolas"/>
              </a:rPr>
              <a:t>PKCESessionManager</a:t>
            </a:r>
            <a:r>
              <a:rPr sz="1019" b="0" i="0">
                <a:solidFill>
                  <a:srgbClr val="1E293B"/>
                </a:solidFill>
                <a:latin typeface="Arial"/>
              </a:rPr>
              <a:t>, SHA-256, method </a:t>
            </a:r>
            <a:r>
              <a:rPr sz="1019" b="0" i="0">
                <a:solidFill>
                  <a:srgbClr val="1D4E89"/>
                </a:solidFill>
                <a:latin typeface="Consolas"/>
              </a:rPr>
              <a:t>S256</a:t>
            </a:r>
            <a:r>
              <a:rPr sz="1019" b="0" i="0">
                <a:solidFill>
                  <a:srgbClr val="1E293B"/>
                </a:solidFill>
                <a:latin typeface="Arial"/>
              </a:rPr>
              <a:t>). The app never has to implement it.</a:t>
            </a:r>
          </a:p>
        </p:txBody>
      </p:sp>
      <p:sp>
        <p:nvSpPr>
          <p:cNvPr id="35" name="TextBox 3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PKCE, DPoP, proofs and binding</a:t>
            </a:r>
          </a:p>
        </p:txBody>
      </p:sp>
      <p:sp>
        <p:nvSpPr>
          <p:cNvPr id="36" name="TextBox 3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RFC 9449</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DPoP — making a stolen token useless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Demonstrating Proof-of-Possession. It protects the access token, which is exactly what PKCE does not.</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63040"/>
            <a:ext cx="580644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A DPoP-BOUND REQUEST</a:t>
            </a:r>
          </a:p>
        </p:txBody>
      </p:sp>
      <p:sp>
        <p:nvSpPr>
          <p:cNvPr id="7" name="Rounded Rectangle 6"/>
          <p:cNvSpPr/>
          <p:nvPr/>
        </p:nvSpPr>
        <p:spPr>
          <a:xfrm>
            <a:off x="502920" y="1682496"/>
            <a:ext cx="5806440" cy="233172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801368"/>
            <a:ext cx="5513831" cy="2093976"/>
          </a:xfrm>
          <a:prstGeom prst="rect">
            <a:avLst/>
          </a:prstGeom>
          <a:noFill/>
        </p:spPr>
        <p:txBody>
          <a:bodyPr wrap="square" lIns="0" rIns="0" tIns="0" bIns="0" anchor="t">
            <a:spAutoFit/>
          </a:bodyPr>
          <a:lstStyle/>
          <a:p>
            <a:pPr>
              <a:lnSpc>
                <a:spcPct val="116000"/>
              </a:lnSpc>
              <a:spcBef>
                <a:spcPts val="0"/>
              </a:spcBef>
              <a:spcAft>
                <a:spcPts val="0"/>
              </a:spcAft>
            </a:pPr>
            <a:r>
              <a:rPr sz="880">
                <a:solidFill>
                  <a:srgbClr val="CBD9E8"/>
                </a:solidFill>
                <a:latin typeface="Consolas"/>
              </a:rPr>
              <a:t>POST /credential</a:t>
            </a:r>
          </a:p>
          <a:p>
            <a:pPr>
              <a:lnSpc>
                <a:spcPct val="116000"/>
              </a:lnSpc>
              <a:spcBef>
                <a:spcPts val="0"/>
              </a:spcBef>
              <a:spcAft>
                <a:spcPts val="0"/>
              </a:spcAft>
            </a:pPr>
            <a:r>
              <a:rPr sz="880" b="1">
                <a:solidFill>
                  <a:srgbClr val="FFD56B"/>
                </a:solidFill>
                <a:latin typeface="Consolas"/>
              </a:rPr>
              <a:t>Authorization: DPoP eyJhbGciOi…</a:t>
            </a:r>
            <a:r>
              <a:rPr sz="880" b="1">
                <a:solidFill>
                  <a:srgbClr val="FFD56B"/>
                </a:solidFill>
                <a:latin typeface="Consolas"/>
              </a:rPr>
              <a:t>   // note: not "Bearer"</a:t>
            </a:r>
          </a:p>
          <a:p>
            <a:pPr>
              <a:lnSpc>
                <a:spcPct val="116000"/>
              </a:lnSpc>
              <a:spcBef>
                <a:spcPts val="0"/>
              </a:spcBef>
              <a:spcAft>
                <a:spcPts val="0"/>
              </a:spcAft>
            </a:pPr>
            <a:r>
              <a:rPr sz="880" b="1">
                <a:solidFill>
                  <a:srgbClr val="FFD56B"/>
                </a:solidFill>
                <a:latin typeface="Consolas"/>
              </a:rPr>
              <a:t>DPoP: eyJ0eXAiOiJkcG9wK2p3dCIsImFsZyI6IkVTMjU2IiwiandrIjp7…</a:t>
            </a:r>
          </a:p>
          <a:p>
            <a:pPr>
              <a:lnSpc>
                <a:spcPct val="116000"/>
              </a:lnSpc>
              <a:spcBef>
                <a:spcPts val="0"/>
              </a:spcBef>
              <a:spcAft>
                <a:spcPts val="0"/>
              </a:spcAft>
            </a:pPr>
          </a:p>
          <a:p>
            <a:pPr>
              <a:lnSpc>
                <a:spcPct val="116000"/>
              </a:lnSpc>
              <a:spcBef>
                <a:spcPts val="0"/>
              </a:spcBef>
              <a:spcAft>
                <a:spcPts val="0"/>
              </a:spcAft>
            </a:pPr>
            <a:r>
              <a:rPr sz="880">
                <a:solidFill>
                  <a:srgbClr val="7E93A8"/>
                </a:solidFill>
                <a:latin typeface="Consolas"/>
              </a:rPr>
              <a:t>// decoded DPoP proof header</a:t>
            </a:r>
          </a:p>
          <a:p>
            <a:pPr>
              <a:lnSpc>
                <a:spcPct val="116000"/>
              </a:lnSpc>
              <a:spcBef>
                <a:spcPts val="0"/>
              </a:spcBef>
              <a:spcAft>
                <a:spcPts val="0"/>
              </a:spcAft>
            </a:pPr>
            <a:r>
              <a:rPr sz="880">
                <a:solidFill>
                  <a:srgbClr val="CBD9E8"/>
                </a:solidFill>
                <a:latin typeface="Consolas"/>
              </a:rPr>
              <a:t>{ </a:t>
            </a:r>
            <a:r>
              <a:rPr sz="880">
                <a:solidFill>
                  <a:srgbClr val="7DD3C8"/>
                </a:solidFill>
                <a:latin typeface="Consolas"/>
              </a:rPr>
              <a:t>"typ"</a:t>
            </a:r>
            <a:r>
              <a:rPr sz="880">
                <a:solidFill>
                  <a:srgbClr val="CBD9E8"/>
                </a:solidFill>
                <a:latin typeface="Consolas"/>
              </a:rPr>
              <a:t>: </a:t>
            </a:r>
            <a:r>
              <a:rPr sz="880">
                <a:solidFill>
                  <a:srgbClr val="F6C67A"/>
                </a:solidFill>
                <a:latin typeface="Consolas"/>
              </a:rPr>
              <a:t>"dpop+jwt"</a:t>
            </a:r>
            <a:r>
              <a:rPr sz="880">
                <a:solidFill>
                  <a:srgbClr val="CBD9E8"/>
                </a:solidFill>
                <a:latin typeface="Consolas"/>
              </a:rPr>
              <a:t>, </a:t>
            </a:r>
            <a:r>
              <a:rPr sz="880">
                <a:solidFill>
                  <a:srgbClr val="7DD3C8"/>
                </a:solidFill>
                <a:latin typeface="Consolas"/>
              </a:rPr>
              <a:t>"alg"</a:t>
            </a:r>
            <a:r>
              <a:rPr sz="880">
                <a:solidFill>
                  <a:srgbClr val="CBD9E8"/>
                </a:solidFill>
                <a:latin typeface="Consolas"/>
              </a:rPr>
              <a:t>: </a:t>
            </a:r>
            <a:r>
              <a:rPr sz="880">
                <a:solidFill>
                  <a:srgbClr val="F6C67A"/>
                </a:solidFill>
                <a:latin typeface="Consolas"/>
              </a:rPr>
              <a:t>"ES256"</a:t>
            </a:r>
            <a:r>
              <a:rPr sz="880">
                <a:solidFill>
                  <a:srgbClr val="CBD9E8"/>
                </a:solidFill>
                <a:latin typeface="Consolas"/>
              </a:rPr>
              <a:t>, </a:t>
            </a:r>
            <a:r>
              <a:rPr sz="880">
                <a:solidFill>
                  <a:srgbClr val="7DD3C8"/>
                </a:solidFill>
                <a:latin typeface="Consolas"/>
              </a:rPr>
              <a:t>"jwk"</a:t>
            </a:r>
            <a:r>
              <a:rPr sz="880">
                <a:solidFill>
                  <a:srgbClr val="CBD9E8"/>
                </a:solidFill>
                <a:latin typeface="Consolas"/>
              </a:rPr>
              <a:t>: { public key } }</a:t>
            </a:r>
          </a:p>
          <a:p>
            <a:pPr>
              <a:lnSpc>
                <a:spcPct val="116000"/>
              </a:lnSpc>
              <a:spcBef>
                <a:spcPts val="0"/>
              </a:spcBef>
              <a:spcAft>
                <a:spcPts val="0"/>
              </a:spcAft>
            </a:pPr>
            <a:r>
              <a:rPr sz="880">
                <a:solidFill>
                  <a:srgbClr val="7E93A8"/>
                </a:solidFill>
                <a:latin typeface="Consolas"/>
              </a:rPr>
              <a:t>// decoded DPoP proof payload</a:t>
            </a:r>
          </a:p>
          <a:p>
            <a:pPr>
              <a:lnSpc>
                <a:spcPct val="116000"/>
              </a:lnSpc>
              <a:spcBef>
                <a:spcPts val="0"/>
              </a:spcBef>
              <a:spcAft>
                <a:spcPts val="0"/>
              </a:spcAft>
            </a:pPr>
            <a:r>
              <a:rPr sz="880">
                <a:solidFill>
                  <a:srgbClr val="CBD9E8"/>
                </a:solidFill>
                <a:latin typeface="Consolas"/>
              </a:rPr>
              <a:t>{ </a:t>
            </a:r>
            <a:r>
              <a:rPr sz="880">
                <a:solidFill>
                  <a:srgbClr val="7DD3C8"/>
                </a:solidFill>
                <a:latin typeface="Consolas"/>
              </a:rPr>
              <a:t>"jti"</a:t>
            </a:r>
            <a:r>
              <a:rPr sz="880">
                <a:solidFill>
                  <a:srgbClr val="CBD9E8"/>
                </a:solidFill>
                <a:latin typeface="Consolas"/>
              </a:rPr>
              <a:t>: </a:t>
            </a:r>
            <a:r>
              <a:rPr sz="880">
                <a:solidFill>
                  <a:srgbClr val="F6C67A"/>
                </a:solidFill>
                <a:latin typeface="Consolas"/>
              </a:rPr>
              <a:t>"e1j3V_bK"</a:t>
            </a:r>
            <a:r>
              <a:rPr sz="880">
                <a:solidFill>
                  <a:srgbClr val="CBD9E8"/>
                </a:solidFill>
                <a:latin typeface="Consolas"/>
              </a:rPr>
              <a:t>, </a:t>
            </a:r>
            <a:r>
              <a:rPr sz="880">
                <a:solidFill>
                  <a:srgbClr val="7DD3C8"/>
                </a:solidFill>
                <a:latin typeface="Consolas"/>
              </a:rPr>
              <a:t>"htm"</a:t>
            </a:r>
            <a:r>
              <a:rPr sz="880">
                <a:solidFill>
                  <a:srgbClr val="CBD9E8"/>
                </a:solidFill>
                <a:latin typeface="Consolas"/>
              </a:rPr>
              <a:t>: </a:t>
            </a:r>
            <a:r>
              <a:rPr sz="880">
                <a:solidFill>
                  <a:srgbClr val="F6C67A"/>
                </a:solidFill>
                <a:latin typeface="Consolas"/>
              </a:rPr>
              <a:t>"POST"</a:t>
            </a:r>
            <a:r>
              <a:rPr sz="880">
                <a:solidFill>
                  <a:srgbClr val="CBD9E8"/>
                </a:solidFill>
                <a:latin typeface="Consolas"/>
              </a:rPr>
              <a:t>,</a:t>
            </a:r>
          </a:p>
          <a:p>
            <a:pPr>
              <a:lnSpc>
                <a:spcPct val="116000"/>
              </a:lnSpc>
              <a:spcBef>
                <a:spcPts val="0"/>
              </a:spcBef>
              <a:spcAft>
                <a:spcPts val="0"/>
              </a:spcAft>
            </a:pPr>
            <a:r>
              <a:rPr sz="880">
                <a:solidFill>
                  <a:srgbClr val="CBD9E8"/>
                </a:solidFill>
                <a:latin typeface="Consolas"/>
              </a:rPr>
              <a:t>  </a:t>
            </a:r>
            <a:r>
              <a:rPr sz="880">
                <a:solidFill>
                  <a:srgbClr val="7DD3C8"/>
                </a:solidFill>
                <a:latin typeface="Consolas"/>
              </a:rPr>
              <a:t>"htu"</a:t>
            </a:r>
            <a:r>
              <a:rPr sz="880">
                <a:solidFill>
                  <a:srgbClr val="CBD9E8"/>
                </a:solidFill>
                <a:latin typeface="Consolas"/>
              </a:rPr>
              <a:t>: </a:t>
            </a:r>
            <a:r>
              <a:rPr sz="880">
                <a:solidFill>
                  <a:srgbClr val="F6C67A"/>
                </a:solidFill>
                <a:latin typeface="Consolas"/>
              </a:rPr>
              <a:t>"https://issuer.example/credential"</a:t>
            </a:r>
            <a:r>
              <a:rPr sz="880">
                <a:solidFill>
                  <a:srgbClr val="CBD9E8"/>
                </a:solidFill>
                <a:latin typeface="Consolas"/>
              </a:rPr>
              <a:t>,</a:t>
            </a:r>
          </a:p>
          <a:p>
            <a:pPr>
              <a:lnSpc>
                <a:spcPct val="116000"/>
              </a:lnSpc>
              <a:spcBef>
                <a:spcPts val="0"/>
              </a:spcBef>
              <a:spcAft>
                <a:spcPts val="0"/>
              </a:spcAft>
            </a:pPr>
            <a:r>
              <a:rPr sz="880">
                <a:solidFill>
                  <a:srgbClr val="CBD9E8"/>
                </a:solidFill>
                <a:latin typeface="Consolas"/>
              </a:rPr>
              <a:t>  </a:t>
            </a:r>
            <a:r>
              <a:rPr sz="880">
                <a:solidFill>
                  <a:srgbClr val="7DD3C8"/>
                </a:solidFill>
                <a:latin typeface="Consolas"/>
              </a:rPr>
              <a:t>"iat"</a:t>
            </a:r>
            <a:r>
              <a:rPr sz="880">
                <a:solidFill>
                  <a:srgbClr val="CBD9E8"/>
                </a:solidFill>
                <a:latin typeface="Consolas"/>
              </a:rPr>
              <a:t>: 1770000000,</a:t>
            </a:r>
          </a:p>
          <a:p>
            <a:pPr>
              <a:lnSpc>
                <a:spcPct val="116000"/>
              </a:lnSpc>
              <a:spcBef>
                <a:spcPts val="0"/>
              </a:spcBef>
              <a:spcAft>
                <a:spcPts val="0"/>
              </a:spcAft>
            </a:pPr>
            <a:r>
              <a:rPr sz="880" b="1">
                <a:solidFill>
                  <a:srgbClr val="FFD56B"/>
                </a:solidFill>
                <a:latin typeface="Consolas"/>
              </a:rPr>
              <a:t>  </a:t>
            </a:r>
            <a:r>
              <a:rPr sz="880" b="1">
                <a:solidFill>
                  <a:srgbClr val="FFD56B"/>
                </a:solidFill>
                <a:latin typeface="Consolas"/>
              </a:rPr>
              <a:t>"ath"</a:t>
            </a:r>
            <a:r>
              <a:rPr sz="880" b="1">
                <a:solidFill>
                  <a:srgbClr val="FFD56B"/>
                </a:solidFill>
                <a:latin typeface="Consolas"/>
              </a:rPr>
              <a:t>: </a:t>
            </a:r>
            <a:r>
              <a:rPr sz="880" b="1">
                <a:solidFill>
                  <a:srgbClr val="FFD56B"/>
                </a:solidFill>
                <a:latin typeface="Consolas"/>
              </a:rPr>
              <a:t>"fUHyO2r2Z3DZ53EsNrWBb0xWXoaNy59IiKCAqksmQEo"</a:t>
            </a:r>
            <a:r>
              <a:rPr sz="880" b="1">
                <a:solidFill>
                  <a:srgbClr val="FFD56B"/>
                </a:solidFill>
                <a:latin typeface="Consolas"/>
              </a:rPr>
              <a:t>,</a:t>
            </a:r>
          </a:p>
          <a:p>
            <a:pPr>
              <a:lnSpc>
                <a:spcPct val="116000"/>
              </a:lnSpc>
              <a:spcBef>
                <a:spcPts val="0"/>
              </a:spcBef>
              <a:spcAft>
                <a:spcPts val="0"/>
              </a:spcAft>
            </a:pPr>
            <a:r>
              <a:rPr sz="880">
                <a:solidFill>
                  <a:srgbClr val="CBD9E8"/>
                </a:solidFill>
                <a:latin typeface="Consolas"/>
              </a:rPr>
              <a:t>  </a:t>
            </a:r>
            <a:r>
              <a:rPr sz="880">
                <a:solidFill>
                  <a:srgbClr val="7DD3C8"/>
                </a:solidFill>
                <a:latin typeface="Consolas"/>
              </a:rPr>
              <a:t>"nonce"</a:t>
            </a:r>
            <a:r>
              <a:rPr sz="880">
                <a:solidFill>
                  <a:srgbClr val="CBD9E8"/>
                </a:solidFill>
                <a:latin typeface="Consolas"/>
              </a:rPr>
              <a:t>: </a:t>
            </a:r>
            <a:r>
              <a:rPr sz="880">
                <a:solidFill>
                  <a:srgbClr val="F6C67A"/>
                </a:solidFill>
                <a:latin typeface="Consolas"/>
              </a:rPr>
              <a:t>"eyJ7S_zG…"</a:t>
            </a:r>
            <a:r>
              <a:rPr sz="880">
                <a:solidFill>
                  <a:srgbClr val="CBD9E8"/>
                </a:solidFill>
                <a:latin typeface="Consolas"/>
              </a:rPr>
              <a:t> }</a:t>
            </a:r>
          </a:p>
        </p:txBody>
      </p:sp>
      <p:graphicFrame>
        <p:nvGraphicFramePr>
          <p:cNvPr id="9" name="Table 8"/>
          <p:cNvGraphicFramePr>
            <a:graphicFrameLocks noGrp="1"/>
          </p:cNvGraphicFramePr>
          <p:nvPr/>
        </p:nvGraphicFramePr>
        <p:xfrm>
          <a:off x="6537959" y="1682496"/>
          <a:ext cx="5193791" cy="3145536"/>
        </p:xfrm>
        <a:graphic>
          <a:graphicData uri="http://schemas.openxmlformats.org/drawingml/2006/table">
            <a:tbl>
              <a:tblPr firstRow="1">
                <a:tableStyleId>{2D5ABB26-0587-4C30-8999-92F81FD0307C}</a:tableStyleId>
              </a:tblPr>
              <a:tblGrid>
                <a:gridCol w="1125321"/>
                <a:gridCol w="952195"/>
                <a:gridCol w="3116275"/>
              </a:tblGrid>
              <a:tr h="292608">
                <a:tc>
                  <a:txBody>
                    <a:bodyPr wrap="square"/>
                    <a:lstStyle/>
                    <a:p>
                      <a:pPr algn="l"/>
                      <a:r>
                        <a:rPr sz="950" b="1">
                          <a:solidFill>
                            <a:srgbClr val="FFFFFF"/>
                          </a:solidFill>
                          <a:latin typeface="Arial"/>
                        </a:rPr>
                        <a:t>Field</a:t>
                      </a:r>
                    </a:p>
                  </a:txBody>
                  <a:tcPr marL="64008" marR="54864" marT="27432" marB="27432" anchor="ctr">
                    <a:solidFill>
                      <a:srgbClr val="1D4E89"/>
                    </a:solidFill>
                  </a:tcPr>
                </a:tc>
                <a:tc>
                  <a:txBody>
                    <a:bodyPr wrap="square"/>
                    <a:lstStyle/>
                    <a:p>
                      <a:pPr algn="l"/>
                      <a:r>
                        <a:rPr sz="950" b="1">
                          <a:solidFill>
                            <a:srgbClr val="FFFFFF"/>
                          </a:solidFill>
                          <a:latin typeface="Arial"/>
                        </a:rPr>
                        <a:t>Where</a:t>
                      </a:r>
                    </a:p>
                  </a:txBody>
                  <a:tcPr marL="64008" marR="54864" marT="27432" marB="27432" anchor="ctr">
                    <a:solidFill>
                      <a:srgbClr val="1D4E89"/>
                    </a:solidFill>
                  </a:tcPr>
                </a:tc>
                <a:tc>
                  <a:txBody>
                    <a:bodyPr wrap="square"/>
                    <a:lstStyle/>
                    <a:p>
                      <a:pPr algn="l"/>
                      <a:r>
                        <a:rPr sz="950" b="1">
                          <a:solidFill>
                            <a:srgbClr val="FFFFFF"/>
                          </a:solidFill>
                          <a:latin typeface="Arial"/>
                        </a:rPr>
                        <a:t>What it is for</a:t>
                      </a:r>
                    </a:p>
                  </a:txBody>
                  <a:tcPr marL="64008" marR="54864" marT="27432" marB="27432" anchor="ctr">
                    <a:solidFill>
                      <a:srgbClr val="1D4E89"/>
                    </a:solidFill>
                  </a:tcPr>
                </a:tc>
              </a:tr>
              <a:tr h="475488">
                <a:tc>
                  <a:txBody>
                    <a:bodyPr wrap="square"/>
                    <a:lstStyle/>
                    <a:p>
                      <a:pPr algn="l">
                        <a:lnSpc>
                          <a:spcPct val="105000"/>
                        </a:lnSpc>
                      </a:pPr>
                      <a:r>
                        <a:rPr sz="900" b="0">
                          <a:solidFill>
                            <a:srgbClr val="1D4E89"/>
                          </a:solidFill>
                          <a:latin typeface="Consolas"/>
                        </a:rPr>
                        <a:t>jwk</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Header</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The public key. Its thumbprint is the token's binding identity.</a:t>
                      </a:r>
                    </a:p>
                  </a:txBody>
                  <a:tcPr marL="64008" marR="54864" marT="18288" marB="18288" anchor="ctr">
                    <a:solidFill>
                      <a:srgbClr val="FFFFFF"/>
                    </a:solidFill>
                  </a:tcPr>
                </a:tc>
              </a:tr>
              <a:tr h="475488">
                <a:tc>
                  <a:txBody>
                    <a:bodyPr wrap="square"/>
                    <a:lstStyle/>
                    <a:p>
                      <a:pPr algn="l">
                        <a:lnSpc>
                          <a:spcPct val="105000"/>
                        </a:lnSpc>
                      </a:pPr>
                      <a:r>
                        <a:rPr sz="900" b="0">
                          <a:solidFill>
                            <a:srgbClr val="1D4E89"/>
                          </a:solidFill>
                          <a:latin typeface="Consolas"/>
                        </a:rPr>
                        <a:t>jkt</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In the token</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SHA-256 thumbprint of that JWK, placed in the access token's </a:t>
                      </a:r>
                      <a:r>
                        <a:rPr sz="900" b="0">
                          <a:solidFill>
                            <a:srgbClr val="1D4E89"/>
                          </a:solidFill>
                          <a:latin typeface="Consolas"/>
                        </a:rPr>
                        <a:t>cnf</a:t>
                      </a:r>
                      <a:r>
                        <a:rPr sz="900" b="0">
                          <a:solidFill>
                            <a:srgbClr val="1E293B"/>
                          </a:solidFill>
                          <a:latin typeface="Arial"/>
                        </a:rPr>
                        <a:t> claim by the AS.</a:t>
                      </a:r>
                    </a:p>
                  </a:txBody>
                  <a:tcPr marL="64008" marR="54864" marT="18288" marB="18288" anchor="ctr">
                    <a:solidFill>
                      <a:srgbClr val="F3F6F9"/>
                    </a:solidFill>
                  </a:tcPr>
                </a:tc>
              </a:tr>
              <a:tr h="475488">
                <a:tc>
                  <a:txBody>
                    <a:bodyPr wrap="square"/>
                    <a:lstStyle/>
                    <a:p>
                      <a:pPr algn="l">
                        <a:lnSpc>
                          <a:spcPct val="105000"/>
                        </a:lnSpc>
                      </a:pPr>
                      <a:r>
                        <a:rPr sz="900" b="0">
                          <a:solidFill>
                            <a:srgbClr val="1D4E89"/>
                          </a:solidFill>
                          <a:latin typeface="Consolas"/>
                        </a:rPr>
                        <a:t>htm</a:t>
                      </a:r>
                      <a:r>
                        <a:rPr sz="900" b="0">
                          <a:solidFill>
                            <a:srgbClr val="1E293B"/>
                          </a:solidFill>
                          <a:latin typeface="Arial"/>
                        </a:rPr>
                        <a:t> / </a:t>
                      </a:r>
                      <a:r>
                        <a:rPr sz="900" b="0">
                          <a:solidFill>
                            <a:srgbClr val="1D4E89"/>
                          </a:solidFill>
                          <a:latin typeface="Consolas"/>
                        </a:rPr>
                        <a:t>htu</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Payload</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HTTP method and URL this proof is valid for. Stops a proof being reused on another endpoint.</a:t>
                      </a:r>
                    </a:p>
                  </a:txBody>
                  <a:tcPr marL="64008" marR="54864" marT="18288" marB="18288" anchor="ctr">
                    <a:solidFill>
                      <a:srgbClr val="FFFFFF"/>
                    </a:solidFill>
                  </a:tcPr>
                </a:tc>
              </a:tr>
              <a:tr h="475488">
                <a:tc>
                  <a:txBody>
                    <a:bodyPr wrap="square"/>
                    <a:lstStyle/>
                    <a:p>
                      <a:pPr algn="l">
                        <a:lnSpc>
                          <a:spcPct val="105000"/>
                        </a:lnSpc>
                      </a:pPr>
                      <a:r>
                        <a:rPr sz="900" b="0">
                          <a:solidFill>
                            <a:srgbClr val="1D4E89"/>
                          </a:solidFill>
                          <a:latin typeface="Consolas"/>
                        </a:rPr>
                        <a:t>ath</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Payload</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Hash of the access token. Ties this proof to that exact token.</a:t>
                      </a:r>
                    </a:p>
                  </a:txBody>
                  <a:tcPr marL="64008" marR="54864" marT="18288" marB="18288" anchor="ctr">
                    <a:solidFill>
                      <a:srgbClr val="F3F6F9"/>
                    </a:solidFill>
                  </a:tcPr>
                </a:tc>
              </a:tr>
              <a:tr h="475488">
                <a:tc>
                  <a:txBody>
                    <a:bodyPr wrap="square"/>
                    <a:lstStyle/>
                    <a:p>
                      <a:pPr algn="l">
                        <a:lnSpc>
                          <a:spcPct val="105000"/>
                        </a:lnSpc>
                      </a:pPr>
                      <a:r>
                        <a:rPr sz="900" b="0">
                          <a:solidFill>
                            <a:srgbClr val="1D4E89"/>
                          </a:solidFill>
                          <a:latin typeface="Consolas"/>
                        </a:rPr>
                        <a:t>jti</a:t>
                      </a:r>
                      <a:r>
                        <a:rPr sz="900" b="0">
                          <a:solidFill>
                            <a:srgbClr val="1E293B"/>
                          </a:solidFill>
                          <a:latin typeface="Arial"/>
                        </a:rPr>
                        <a:t> + </a:t>
                      </a:r>
                      <a:r>
                        <a:rPr sz="900" b="0">
                          <a:solidFill>
                            <a:srgbClr val="1D4E89"/>
                          </a:solidFill>
                          <a:latin typeface="Consolas"/>
                        </a:rPr>
                        <a:t>iat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Payload</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One-time id and timestamp. The server keeps a short replay cache.</a:t>
                      </a:r>
                    </a:p>
                  </a:txBody>
                  <a:tcPr marL="64008" marR="54864" marT="18288" marB="18288" anchor="ctr">
                    <a:solidFill>
                      <a:srgbClr val="FFFFFF"/>
                    </a:solidFill>
                  </a:tcPr>
                </a:tc>
              </a:tr>
              <a:tr h="475488">
                <a:tc>
                  <a:txBody>
                    <a:bodyPr wrap="square"/>
                    <a:lstStyle/>
                    <a:p>
                      <a:pPr algn="l">
                        <a:lnSpc>
                          <a:spcPct val="105000"/>
                        </a:lnSpc>
                      </a:pPr>
                      <a:r>
                        <a:rPr sz="900" b="0">
                          <a:solidFill>
                            <a:srgbClr val="1D4E89"/>
                          </a:solidFill>
                          <a:latin typeface="Consolas"/>
                        </a:rPr>
                        <a:t>nonce</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Payload</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Server-supplied freshness value, when the server demands one.</a:t>
                      </a:r>
                    </a:p>
                  </a:txBody>
                  <a:tcPr marL="64008" marR="54864" marT="18288" marB="18288" anchor="ctr">
                    <a:solidFill>
                      <a:srgbClr val="F3F6F9"/>
                    </a:solidFill>
                  </a:tcPr>
                </a:tc>
              </a:tr>
            </a:tbl>
          </a:graphicData>
        </a:graphic>
      </p:graphicFrame>
      <p:sp>
        <p:nvSpPr>
          <p:cNvPr id="10" name="Rounded Rectangle 9"/>
          <p:cNvSpPr/>
          <p:nvPr/>
        </p:nvSpPr>
        <p:spPr>
          <a:xfrm>
            <a:off x="502920" y="4242816"/>
            <a:ext cx="5806440" cy="693039"/>
          </a:xfrm>
          <a:prstGeom prst="roundRect">
            <a:avLst>
              <a:gd name="adj" fmla="val 90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4242816"/>
            <a:ext cx="45720" cy="693039"/>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4334255"/>
            <a:ext cx="5440679" cy="546735"/>
          </a:xfrm>
          <a:prstGeom prst="rect">
            <a:avLst/>
          </a:prstGeom>
          <a:noFill/>
        </p:spPr>
        <p:txBody>
          <a:bodyPr wrap="square" lIns="0" rIns="0" tIns="0" bIns="0" anchor="t">
            <a:spAutoFit/>
          </a:bodyPr>
          <a:lstStyle/>
          <a:p>
            <a:pPr algn="l">
              <a:lnSpc>
                <a:spcPct val="122000"/>
              </a:lnSpc>
              <a:spcBef>
                <a:spcPts val="0"/>
              </a:spcBef>
              <a:spcAft>
                <a:spcPts val="0"/>
              </a:spcAft>
            </a:pPr>
            <a:r>
              <a:rPr sz="1030" b="1" i="0">
                <a:solidFill>
                  <a:srgbClr val="B31B1B"/>
                </a:solidFill>
                <a:latin typeface="Arial"/>
              </a:rPr>
              <a:t>Inji today uses Bearer access tokens.</a:t>
            </a:r>
            <a:r>
              <a:rPr sz="1030" b="0" i="0">
                <a:solidFill>
                  <a:srgbClr val="1E293B"/>
                </a:solidFill>
                <a:latin typeface="Arial"/>
              </a:rPr>
              <a:t> DPoP is not implemented in </a:t>
            </a:r>
            <a:r>
              <a:rPr sz="1030" b="0" i="0">
                <a:solidFill>
                  <a:srgbClr val="1D4E89"/>
                </a:solidFill>
                <a:latin typeface="Consolas"/>
              </a:rPr>
              <a:t>inji-vci-client</a:t>
            </a:r>
            <a:r>
              <a:rPr sz="1030" b="0" i="0">
                <a:solidFill>
                  <a:srgbClr val="1E293B"/>
                </a:solidFill>
                <a:latin typeface="Arial"/>
              </a:rPr>
              <a:t>, </a:t>
            </a:r>
            <a:r>
              <a:rPr sz="1030" b="0" i="0">
                <a:solidFill>
                  <a:srgbClr val="1D4E89"/>
                </a:solidFill>
                <a:latin typeface="Consolas"/>
              </a:rPr>
              <a:t>inji-openid4vp</a:t>
            </a:r>
            <a:r>
              <a:rPr sz="1030" b="0" i="0">
                <a:solidFill>
                  <a:srgbClr val="1E293B"/>
                </a:solidFill>
                <a:latin typeface="Arial"/>
              </a:rPr>
              <a:t> or Mimoto in the versions reviewed for this workshop. Treat DPoP as a design option to raise, not a feature to assume.</a:t>
            </a:r>
          </a:p>
        </p:txBody>
      </p:sp>
      <p:sp>
        <p:nvSpPr>
          <p:cNvPr id="13" name="TextBox 1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PKCE, DPoP, proofs and binding</a:t>
            </a:r>
          </a:p>
        </p:txBody>
      </p:sp>
      <p:sp>
        <p:nvSpPr>
          <p:cNvPr id="14" name="TextBox 1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THE DISTINCTION THAT MATTERS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PKCE is not DPoP, and neither is the credential proof</a:t>
            </a:r>
          </a:p>
        </p:txBody>
      </p:sp>
      <p:sp>
        <p:nvSpPr>
          <p:cNvPr id="4" name="TextBox 3"/>
          <p:cNvSpPr txBox="1"/>
          <p:nvPr/>
        </p:nvSpPr>
        <p:spPr>
          <a:xfrm>
            <a:off x="502920" y="1078992"/>
            <a:ext cx="11185855" cy="287350"/>
          </a:xfrm>
          <a:prstGeom prst="rect">
            <a:avLst/>
          </a:prstGeom>
          <a:noFill/>
        </p:spPr>
        <p:txBody>
          <a:bodyPr wrap="square" lIns="0" rIns="0" tIns="0" bIns="0" anchor="t">
            <a:spAutoFit/>
          </a:bodyPr>
          <a:lstStyle/>
          <a:p>
            <a:pPr algn="l">
              <a:lnSpc>
                <a:spcPct val="114000"/>
              </a:lnSpc>
              <a:spcBef>
                <a:spcPts val="0"/>
              </a:spcBef>
              <a:spcAft>
                <a:spcPts val="0"/>
              </a:spcAft>
            </a:pPr>
            <a:r>
              <a:rPr sz="1110" b="0" i="0">
                <a:solidFill>
                  <a:srgbClr val="5B6B7F"/>
                </a:solidFill>
                <a:latin typeface="Arial"/>
              </a:rPr>
              <a:t>Three mechanisms, three different things being protected. Keep this table.</a:t>
            </a:r>
          </a:p>
        </p:txBody>
      </p:sp>
      <p:cxnSp>
        <p:nvCxnSpPr>
          <p:cNvPr id="5" name="Connector 4"/>
          <p:cNvCxnSpPr/>
          <p:nvPr/>
        </p:nvCxnSpPr>
        <p:spPr>
          <a:xfrm>
            <a:off x="502920" y="1457782"/>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43715"/>
          <a:ext cx="11185854" cy="3972196"/>
        </p:xfrm>
        <a:graphic>
          <a:graphicData uri="http://schemas.openxmlformats.org/drawingml/2006/table">
            <a:tbl>
              <a:tblPr firstRow="1">
                <a:tableStyleId>{2D5ABB26-0587-4C30-8999-92F81FD0307C}</a:tableStyleId>
              </a:tblPr>
              <a:tblGrid>
                <a:gridCol w="2273547"/>
                <a:gridCol w="2910141"/>
                <a:gridCol w="3001083"/>
                <a:gridCol w="3001083"/>
              </a:tblGrid>
              <a:tr h="321156">
                <a:tc>
                  <a:txBody>
                    <a:bodyPr wrap="square"/>
                    <a:lstStyle/>
                    <a:p>
                      <a:pPr algn="l"/>
                    </a:p>
                  </a:txBody>
                  <a:tcPr marL="64008" marR="54864" marT="27432" marB="27432" anchor="ctr">
                    <a:solidFill>
                      <a:srgbClr val="1D4E89"/>
                    </a:solidFill>
                  </a:tcPr>
                </a:tc>
                <a:tc>
                  <a:txBody>
                    <a:bodyPr wrap="square"/>
                    <a:lstStyle/>
                    <a:p>
                      <a:pPr algn="l"/>
                      <a:r>
                        <a:rPr sz="919" b="1">
                          <a:solidFill>
                            <a:srgbClr val="FFFFFF"/>
                          </a:solidFill>
                          <a:latin typeface="Arial"/>
                        </a:rPr>
                        <a:t>PKCE</a:t>
                      </a:r>
                    </a:p>
                  </a:txBody>
                  <a:tcPr marL="64008" marR="54864" marT="27432" marB="27432" anchor="ctr">
                    <a:solidFill>
                      <a:srgbClr val="1D4E89"/>
                    </a:solidFill>
                  </a:tcPr>
                </a:tc>
                <a:tc>
                  <a:txBody>
                    <a:bodyPr wrap="square"/>
                    <a:lstStyle/>
                    <a:p>
                      <a:pPr algn="l"/>
                      <a:r>
                        <a:rPr sz="919" b="1">
                          <a:solidFill>
                            <a:srgbClr val="FFFFFF"/>
                          </a:solidFill>
                          <a:latin typeface="Arial"/>
                        </a:rPr>
                        <a:t>DPoP</a:t>
                      </a:r>
                    </a:p>
                  </a:txBody>
                  <a:tcPr marL="64008" marR="54864" marT="27432" marB="27432" anchor="ctr">
                    <a:solidFill>
                      <a:srgbClr val="1D4E89"/>
                    </a:solidFill>
                  </a:tcPr>
                </a:tc>
                <a:tc>
                  <a:txBody>
                    <a:bodyPr wrap="square"/>
                    <a:lstStyle/>
                    <a:p>
                      <a:pPr algn="l"/>
                      <a:r>
                        <a:rPr sz="919" b="1">
                          <a:solidFill>
                            <a:srgbClr val="FFFFFF"/>
                          </a:solidFill>
                          <a:latin typeface="Arial"/>
                        </a:rPr>
                        <a:t>Credential request proof</a:t>
                      </a:r>
                    </a:p>
                  </a:txBody>
                  <a:tcPr marL="64008" marR="54864" marT="27432" marB="27432" anchor="ctr">
                    <a:solidFill>
                      <a:srgbClr val="1D4E89"/>
                    </a:solidFill>
                  </a:tcPr>
                </a:tc>
              </a:tr>
              <a:tr h="456380">
                <a:tc>
                  <a:txBody>
                    <a:bodyPr wrap="square"/>
                    <a:lstStyle/>
                    <a:p>
                      <a:pPr algn="l">
                        <a:lnSpc>
                          <a:spcPct val="105000"/>
                        </a:lnSpc>
                      </a:pPr>
                      <a:r>
                        <a:rPr sz="910" b="1">
                          <a:solidFill>
                            <a:srgbClr val="0F172A"/>
                          </a:solidFill>
                          <a:latin typeface="Arial"/>
                        </a:rPr>
                        <a:t>What is protected</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The authorization </a:t>
                      </a:r>
                      <a:r>
                        <a:rPr sz="910" b="1">
                          <a:solidFill>
                            <a:srgbClr val="0F172A"/>
                          </a:solidFill>
                          <a:latin typeface="Arial"/>
                        </a:rPr>
                        <a:t>code</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The access </a:t>
                      </a:r>
                      <a:r>
                        <a:rPr sz="910" b="1">
                          <a:solidFill>
                            <a:srgbClr val="0F172A"/>
                          </a:solidFill>
                          <a:latin typeface="Arial"/>
                        </a:rPr>
                        <a:t>token</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The </a:t>
                      </a:r>
                      <a:r>
                        <a:rPr sz="910" b="1">
                          <a:solidFill>
                            <a:srgbClr val="0F172A"/>
                          </a:solidFill>
                          <a:latin typeface="Arial"/>
                        </a:rPr>
                        <a:t>credential</a:t>
                      </a:r>
                      <a:r>
                        <a:rPr sz="910" b="0">
                          <a:solidFill>
                            <a:srgbClr val="1E293B"/>
                          </a:solidFill>
                          <a:latin typeface="Arial"/>
                        </a:rPr>
                        <a:t> being issued</a:t>
                      </a:r>
                    </a:p>
                  </a:txBody>
                  <a:tcPr marL="64008" marR="54864" marT="18288" marB="18288" anchor="ctr">
                    <a:solidFill>
                      <a:srgbClr val="FFFFFF"/>
                    </a:solidFill>
                  </a:tcPr>
                </a:tc>
              </a:tr>
              <a:tr h="456380">
                <a:tc>
                  <a:txBody>
                    <a:bodyPr wrap="square"/>
                    <a:lstStyle/>
                    <a:p>
                      <a:pPr algn="l">
                        <a:lnSpc>
                          <a:spcPct val="105000"/>
                        </a:lnSpc>
                      </a:pPr>
                      <a:r>
                        <a:rPr sz="910" b="1">
                          <a:solidFill>
                            <a:srgbClr val="0F172A"/>
                          </a:solidFill>
                          <a:latin typeface="Arial"/>
                        </a:rPr>
                        <a:t>Specification</a:t>
                      </a:r>
                    </a:p>
                  </a:txBody>
                  <a:tcPr marL="64008" marR="54864" marT="18288" marB="18288" anchor="ctr">
                    <a:solidFill>
                      <a:srgbClr val="F3F6F9"/>
                    </a:solidFill>
                  </a:tcPr>
                </a:tc>
                <a:tc>
                  <a:txBody>
                    <a:bodyPr wrap="square"/>
                    <a:lstStyle/>
                    <a:p>
                      <a:pPr algn="l">
                        <a:lnSpc>
                          <a:spcPct val="105000"/>
                        </a:lnSpc>
                      </a:pPr>
                      <a:r>
                        <a:rPr sz="910" b="0">
                          <a:solidFill>
                            <a:srgbClr val="1E293B"/>
                          </a:solidFill>
                          <a:latin typeface="Arial"/>
                        </a:rPr>
                        <a:t>RFC 7636</a:t>
                      </a:r>
                    </a:p>
                  </a:txBody>
                  <a:tcPr marL="64008" marR="54864" marT="18288" marB="18288" anchor="ctr">
                    <a:solidFill>
                      <a:srgbClr val="F3F6F9"/>
                    </a:solidFill>
                  </a:tcPr>
                </a:tc>
                <a:tc>
                  <a:txBody>
                    <a:bodyPr wrap="square"/>
                    <a:lstStyle/>
                    <a:p>
                      <a:pPr algn="l">
                        <a:lnSpc>
                          <a:spcPct val="105000"/>
                        </a:lnSpc>
                      </a:pPr>
                      <a:r>
                        <a:rPr sz="910" b="0">
                          <a:solidFill>
                            <a:srgbClr val="1E293B"/>
                          </a:solidFill>
                          <a:latin typeface="Arial"/>
                        </a:rPr>
                        <a:t>RFC 9449</a:t>
                      </a:r>
                    </a:p>
                  </a:txBody>
                  <a:tcPr marL="64008" marR="54864" marT="18288" marB="18288" anchor="ctr">
                    <a:solidFill>
                      <a:srgbClr val="F3F6F9"/>
                    </a:solidFill>
                  </a:tcPr>
                </a:tc>
                <a:tc>
                  <a:txBody>
                    <a:bodyPr wrap="square"/>
                    <a:lstStyle/>
                    <a:p>
                      <a:pPr algn="l">
                        <a:lnSpc>
                          <a:spcPct val="105000"/>
                        </a:lnSpc>
                      </a:pPr>
                      <a:r>
                        <a:rPr sz="910" b="0">
                          <a:solidFill>
                            <a:srgbClr val="1E293B"/>
                          </a:solidFill>
                          <a:latin typeface="Arial"/>
                        </a:rPr>
                        <a:t>OpenID4VCI</a:t>
                      </a:r>
                    </a:p>
                  </a:txBody>
                  <a:tcPr marL="64008" marR="54864" marT="18288" marB="18288" anchor="ctr">
                    <a:solidFill>
                      <a:srgbClr val="F3F6F9"/>
                    </a:solidFill>
                  </a:tcPr>
                </a:tc>
              </a:tr>
              <a:tr h="456380">
                <a:tc>
                  <a:txBody>
                    <a:bodyPr wrap="square"/>
                    <a:lstStyle/>
                    <a:p>
                      <a:pPr algn="l">
                        <a:lnSpc>
                          <a:spcPct val="105000"/>
                        </a:lnSpc>
                      </a:pPr>
                      <a:r>
                        <a:rPr sz="910" b="1">
                          <a:solidFill>
                            <a:srgbClr val="0F172A"/>
                          </a:solidFill>
                          <a:latin typeface="Arial"/>
                        </a:rPr>
                        <a:t>Who verifies it</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Authorization server, at </a:t>
                      </a:r>
                      <a:r>
                        <a:rPr sz="910" b="0">
                          <a:solidFill>
                            <a:srgbClr val="1D4E89"/>
                          </a:solidFill>
                          <a:latin typeface="Consolas"/>
                        </a:rPr>
                        <a:t>/token</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Any server that accepts the token</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The credential issuer, at </a:t>
                      </a:r>
                      <a:r>
                        <a:rPr sz="910" b="0">
                          <a:solidFill>
                            <a:srgbClr val="1D4E89"/>
                          </a:solidFill>
                          <a:latin typeface="Consolas"/>
                        </a:rPr>
                        <a:t>/credential</a:t>
                      </a:r>
                    </a:p>
                  </a:txBody>
                  <a:tcPr marL="64008" marR="54864" marT="18288" marB="18288" anchor="ctr">
                    <a:solidFill>
                      <a:srgbClr val="FFFFFF"/>
                    </a:solidFill>
                  </a:tcPr>
                </a:tc>
              </a:tr>
              <a:tr h="456380">
                <a:tc>
                  <a:txBody>
                    <a:bodyPr wrap="square"/>
                    <a:lstStyle/>
                    <a:p>
                      <a:pPr algn="l">
                        <a:lnSpc>
                          <a:spcPct val="105000"/>
                        </a:lnSpc>
                      </a:pPr>
                      <a:r>
                        <a:rPr sz="910" b="1">
                          <a:solidFill>
                            <a:srgbClr val="0F172A"/>
                          </a:solidFill>
                          <a:latin typeface="Arial"/>
                        </a:rPr>
                        <a:t>Key involved</a:t>
                      </a:r>
                    </a:p>
                  </a:txBody>
                  <a:tcPr marL="64008" marR="54864" marT="18288" marB="18288" anchor="ctr">
                    <a:solidFill>
                      <a:srgbClr val="F3F6F9"/>
                    </a:solidFill>
                  </a:tcPr>
                </a:tc>
                <a:tc>
                  <a:txBody>
                    <a:bodyPr wrap="square"/>
                    <a:lstStyle/>
                    <a:p>
                      <a:pPr algn="l">
                        <a:lnSpc>
                          <a:spcPct val="105000"/>
                        </a:lnSpc>
                      </a:pPr>
                      <a:r>
                        <a:rPr sz="910" b="0">
                          <a:solidFill>
                            <a:srgbClr val="1E293B"/>
                          </a:solidFill>
                          <a:latin typeface="Arial"/>
                        </a:rPr>
                        <a:t>None — a hash of a random string</a:t>
                      </a:r>
                    </a:p>
                  </a:txBody>
                  <a:tcPr marL="64008" marR="54864" marT="18288" marB="18288" anchor="ctr">
                    <a:solidFill>
                      <a:srgbClr val="F3F6F9"/>
                    </a:solidFill>
                  </a:tcPr>
                </a:tc>
                <a:tc>
                  <a:txBody>
                    <a:bodyPr wrap="square"/>
                    <a:lstStyle/>
                    <a:p>
                      <a:pPr algn="l">
                        <a:lnSpc>
                          <a:spcPct val="105000"/>
                        </a:lnSpc>
                      </a:pPr>
                      <a:r>
                        <a:rPr sz="910" b="0">
                          <a:solidFill>
                            <a:srgbClr val="1E293B"/>
                          </a:solidFill>
                          <a:latin typeface="Arial"/>
                        </a:rPr>
                        <a:t>A key pair held by the client</a:t>
                      </a:r>
                    </a:p>
                  </a:txBody>
                  <a:tcPr marL="64008" marR="54864" marT="18288" marB="18288" anchor="ctr">
                    <a:solidFill>
                      <a:srgbClr val="F3F6F9"/>
                    </a:solidFill>
                  </a:tcPr>
                </a:tc>
                <a:tc>
                  <a:txBody>
                    <a:bodyPr wrap="square"/>
                    <a:lstStyle/>
                    <a:p>
                      <a:pPr algn="l">
                        <a:lnSpc>
                          <a:spcPct val="105000"/>
                        </a:lnSpc>
                      </a:pPr>
                      <a:r>
                        <a:rPr sz="910" b="0">
                          <a:solidFill>
                            <a:srgbClr val="1E293B"/>
                          </a:solidFill>
                          <a:latin typeface="Arial"/>
                        </a:rPr>
                        <a:t>The key the credential will be </a:t>
                      </a:r>
                      <a:r>
                        <a:rPr sz="910" b="1">
                          <a:solidFill>
                            <a:srgbClr val="0F172A"/>
                          </a:solidFill>
                          <a:latin typeface="Arial"/>
                        </a:rPr>
                        <a:t>bound to</a:t>
                      </a:r>
                    </a:p>
                  </a:txBody>
                  <a:tcPr marL="64008" marR="54864" marT="18288" marB="18288" anchor="ctr">
                    <a:solidFill>
                      <a:srgbClr val="F3F6F9"/>
                    </a:solidFill>
                  </a:tcPr>
                </a:tc>
              </a:tr>
              <a:tr h="456380">
                <a:tc>
                  <a:txBody>
                    <a:bodyPr wrap="square"/>
                    <a:lstStyle/>
                    <a:p>
                      <a:pPr algn="l">
                        <a:lnSpc>
                          <a:spcPct val="105000"/>
                        </a:lnSpc>
                      </a:pPr>
                      <a:r>
                        <a:rPr sz="910" b="1">
                          <a:solidFill>
                            <a:srgbClr val="0F172A"/>
                          </a:solidFill>
                          <a:latin typeface="Arial"/>
                        </a:rPr>
                        <a:t>When it is sent</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Challenge at </a:t>
                      </a:r>
                      <a:r>
                        <a:rPr sz="910" b="0">
                          <a:solidFill>
                            <a:srgbClr val="1D4E89"/>
                          </a:solidFill>
                          <a:latin typeface="Consolas"/>
                        </a:rPr>
                        <a:t>/authorize</a:t>
                      </a:r>
                      <a:r>
                        <a:rPr sz="910" b="0">
                          <a:solidFill>
                            <a:srgbClr val="1E293B"/>
                          </a:solidFill>
                          <a:latin typeface="Arial"/>
                        </a:rPr>
                        <a:t>, verifier at </a:t>
                      </a:r>
                      <a:r>
                        <a:rPr sz="910" b="0">
                          <a:solidFill>
                            <a:srgbClr val="1D4E89"/>
                          </a:solidFill>
                          <a:latin typeface="Consolas"/>
                        </a:rPr>
                        <a:t>/token</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A fresh proof on </a:t>
                      </a:r>
                      <a:r>
                        <a:rPr sz="910" b="1">
                          <a:solidFill>
                            <a:srgbClr val="0F172A"/>
                          </a:solidFill>
                          <a:latin typeface="Arial"/>
                        </a:rPr>
                        <a:t>every</a:t>
                      </a:r>
                      <a:r>
                        <a:rPr sz="910" b="0">
                          <a:solidFill>
                            <a:srgbClr val="1E293B"/>
                          </a:solidFill>
                          <a:latin typeface="Arial"/>
                        </a:rPr>
                        <a:t> protected request</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Once, inside the credential request body</a:t>
                      </a:r>
                    </a:p>
                  </a:txBody>
                  <a:tcPr marL="64008" marR="54864" marT="18288" marB="18288" anchor="ctr">
                    <a:solidFill>
                      <a:srgbClr val="FFFFFF"/>
                    </a:solidFill>
                  </a:tcPr>
                </a:tc>
              </a:tr>
              <a:tr h="456380">
                <a:tc>
                  <a:txBody>
                    <a:bodyPr wrap="square"/>
                    <a:lstStyle/>
                    <a:p>
                      <a:pPr algn="l">
                        <a:lnSpc>
                          <a:spcPct val="105000"/>
                        </a:lnSpc>
                      </a:pPr>
                      <a:r>
                        <a:rPr sz="910" b="1">
                          <a:solidFill>
                            <a:srgbClr val="0F172A"/>
                          </a:solidFill>
                          <a:latin typeface="Arial"/>
                        </a:rPr>
                        <a:t>Freshness source</a:t>
                      </a:r>
                    </a:p>
                  </a:txBody>
                  <a:tcPr marL="64008" marR="54864" marT="18288" marB="18288" anchor="ctr">
                    <a:solidFill>
                      <a:srgbClr val="F3F6F9"/>
                    </a:solidFill>
                  </a:tcPr>
                </a:tc>
                <a:tc>
                  <a:txBody>
                    <a:bodyPr wrap="square"/>
                    <a:lstStyle/>
                    <a:p>
                      <a:pPr algn="l">
                        <a:lnSpc>
                          <a:spcPct val="105000"/>
                        </a:lnSpc>
                      </a:pPr>
                      <a:r>
                        <a:rPr sz="910" b="0">
                          <a:solidFill>
                            <a:srgbClr val="1E293B"/>
                          </a:solidFill>
                          <a:latin typeface="Arial"/>
                        </a:rPr>
                        <a:t>The code is single-use</a:t>
                      </a:r>
                    </a:p>
                  </a:txBody>
                  <a:tcPr marL="64008" marR="54864" marT="18288" marB="18288" anchor="ctr">
                    <a:solidFill>
                      <a:srgbClr val="F3F6F9"/>
                    </a:solidFill>
                  </a:tcPr>
                </a:tc>
                <a:tc>
                  <a:txBody>
                    <a:bodyPr wrap="square"/>
                    <a:lstStyle/>
                    <a:p>
                      <a:pPr algn="l">
                        <a:lnSpc>
                          <a:spcPct val="105000"/>
                        </a:lnSpc>
                      </a:pPr>
                      <a:r>
                        <a:rPr sz="910" b="0">
                          <a:solidFill>
                            <a:srgbClr val="1D4E89"/>
                          </a:solidFill>
                          <a:latin typeface="Consolas"/>
                        </a:rPr>
                        <a:t>jti</a:t>
                      </a:r>
                      <a:r>
                        <a:rPr sz="910" b="0">
                          <a:solidFill>
                            <a:srgbClr val="1E293B"/>
                          </a:solidFill>
                          <a:latin typeface="Arial"/>
                        </a:rPr>
                        <a:t>, </a:t>
                      </a:r>
                      <a:r>
                        <a:rPr sz="910" b="0">
                          <a:solidFill>
                            <a:srgbClr val="1D4E89"/>
                          </a:solidFill>
                          <a:latin typeface="Consolas"/>
                        </a:rPr>
                        <a:t>iat</a:t>
                      </a:r>
                      <a:r>
                        <a:rPr sz="910" b="0">
                          <a:solidFill>
                            <a:srgbClr val="1E293B"/>
                          </a:solidFill>
                          <a:latin typeface="Arial"/>
                        </a:rPr>
                        <a:t>, optional server </a:t>
                      </a:r>
                      <a:r>
                        <a:rPr sz="910" b="0">
                          <a:solidFill>
                            <a:srgbClr val="1D4E89"/>
                          </a:solidFill>
                          <a:latin typeface="Consolas"/>
                        </a:rPr>
                        <a:t>nonce</a:t>
                      </a:r>
                    </a:p>
                  </a:txBody>
                  <a:tcPr marL="64008" marR="54864" marT="18288" marB="18288" anchor="ctr">
                    <a:solidFill>
                      <a:srgbClr val="F3F6F9"/>
                    </a:solidFill>
                  </a:tcPr>
                </a:tc>
                <a:tc>
                  <a:txBody>
                    <a:bodyPr wrap="square"/>
                    <a:lstStyle/>
                    <a:p>
                      <a:pPr algn="l">
                        <a:lnSpc>
                          <a:spcPct val="105000"/>
                        </a:lnSpc>
                      </a:pPr>
                      <a:r>
                        <a:rPr sz="910" b="0">
                          <a:solidFill>
                            <a:srgbClr val="1D4E89"/>
                          </a:solidFill>
                          <a:latin typeface="Consolas"/>
                        </a:rPr>
                        <a:t>c_nonce</a:t>
                      </a:r>
                      <a:r>
                        <a:rPr sz="910" b="0">
                          <a:solidFill>
                            <a:srgbClr val="1E293B"/>
                          </a:solidFill>
                          <a:latin typeface="Arial"/>
                        </a:rPr>
                        <a:t> from the token response</a:t>
                      </a:r>
                    </a:p>
                  </a:txBody>
                  <a:tcPr marL="64008" marR="54864" marT="18288" marB="18288" anchor="ctr">
                    <a:solidFill>
                      <a:srgbClr val="F3F6F9"/>
                    </a:solidFill>
                  </a:tcPr>
                </a:tc>
              </a:tr>
              <a:tr h="456380">
                <a:tc>
                  <a:txBody>
                    <a:bodyPr wrap="square"/>
                    <a:lstStyle/>
                    <a:p>
                      <a:pPr algn="l">
                        <a:lnSpc>
                          <a:spcPct val="105000"/>
                        </a:lnSpc>
                      </a:pPr>
                      <a:r>
                        <a:rPr sz="910" b="1">
                          <a:solidFill>
                            <a:srgbClr val="0F172A"/>
                          </a:solidFill>
                          <a:latin typeface="Arial"/>
                        </a:rPr>
                        <a:t>If it is missing</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A stolen code becomes a token</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A stolen token can be replayed anywhere</a:t>
                      </a:r>
                    </a:p>
                  </a:txBody>
                  <a:tcPr marL="64008" marR="54864" marT="18288" marB="18288" anchor="ctr">
                    <a:solidFill>
                      <a:srgbClr val="FFFFFF"/>
                    </a:solidFill>
                  </a:tcPr>
                </a:tc>
                <a:tc>
                  <a:txBody>
                    <a:bodyPr wrap="square"/>
                    <a:lstStyle/>
                    <a:p>
                      <a:pPr algn="l">
                        <a:lnSpc>
                          <a:spcPct val="105000"/>
                        </a:lnSpc>
                      </a:pPr>
                      <a:r>
                        <a:rPr sz="910" b="0">
                          <a:solidFill>
                            <a:srgbClr val="1E293B"/>
                          </a:solidFill>
                          <a:latin typeface="Arial"/>
                        </a:rPr>
                        <a:t>The credential cannot be bound to a device key</a:t>
                      </a:r>
                    </a:p>
                  </a:txBody>
                  <a:tcPr marL="64008" marR="54864" marT="18288" marB="18288" anchor="ctr">
                    <a:solidFill>
                      <a:srgbClr val="FFFFFF"/>
                    </a:solidFill>
                  </a:tcPr>
                </a:tc>
              </a:tr>
              <a:tr h="456380">
                <a:tc>
                  <a:txBody>
                    <a:bodyPr wrap="square"/>
                    <a:lstStyle/>
                    <a:p>
                      <a:pPr algn="l">
                        <a:lnSpc>
                          <a:spcPct val="105000"/>
                        </a:lnSpc>
                      </a:pPr>
                      <a:r>
                        <a:rPr sz="910" b="1">
                          <a:solidFill>
                            <a:srgbClr val="0F172A"/>
                          </a:solidFill>
                          <a:latin typeface="Arial"/>
                        </a:rPr>
                        <a:t>In Inji today</a:t>
                      </a:r>
                    </a:p>
                  </a:txBody>
                  <a:tcPr marL="64008" marR="54864" marT="18288" marB="18288" anchor="ctr">
                    <a:solidFill>
                      <a:srgbClr val="F3F6F9"/>
                    </a:solidFill>
                  </a:tcPr>
                </a:tc>
                <a:tc>
                  <a:txBody>
                    <a:bodyPr wrap="square"/>
                    <a:lstStyle/>
                    <a:p>
                      <a:pPr algn="l">
                        <a:lnSpc>
                          <a:spcPct val="105000"/>
                        </a:lnSpc>
                      </a:pPr>
                      <a:r>
                        <a:rPr sz="910" b="1">
                          <a:solidFill>
                            <a:srgbClr val="15703D"/>
                          </a:solidFill>
                          <a:latin typeface="Arial"/>
                        </a:rPr>
                        <a:t>Implemented in </a:t>
                      </a:r>
                      <a:r>
                        <a:rPr sz="910" b="1">
                          <a:solidFill>
                            <a:srgbClr val="15703D"/>
                          </a:solidFill>
                          <a:latin typeface="Consolas"/>
                        </a:rPr>
                        <a:t>inji-vci-client</a:t>
                      </a:r>
                    </a:p>
                  </a:txBody>
                  <a:tcPr marL="64008" marR="54864" marT="18288" marB="18288" anchor="ctr">
                    <a:solidFill>
                      <a:srgbClr val="F3F6F9"/>
                    </a:solidFill>
                  </a:tcPr>
                </a:tc>
                <a:tc>
                  <a:txBody>
                    <a:bodyPr wrap="square"/>
                    <a:lstStyle/>
                    <a:p>
                      <a:pPr algn="l">
                        <a:lnSpc>
                          <a:spcPct val="105000"/>
                        </a:lnSpc>
                      </a:pPr>
                      <a:r>
                        <a:rPr sz="910" b="1">
                          <a:solidFill>
                            <a:srgbClr val="B31B1B"/>
                          </a:solidFill>
                          <a:latin typeface="Arial"/>
                        </a:rPr>
                        <a:t>Not implemented</a:t>
                      </a:r>
                    </a:p>
                  </a:txBody>
                  <a:tcPr marL="64008" marR="54864" marT="18288" marB="18288" anchor="ctr">
                    <a:solidFill>
                      <a:srgbClr val="F3F6F9"/>
                    </a:solidFill>
                  </a:tcPr>
                </a:tc>
                <a:tc>
                  <a:txBody>
                    <a:bodyPr wrap="square"/>
                    <a:lstStyle/>
                    <a:p>
                      <a:pPr algn="l">
                        <a:lnSpc>
                          <a:spcPct val="105000"/>
                        </a:lnSpc>
                      </a:pPr>
                      <a:r>
                        <a:rPr sz="910" b="1">
                          <a:solidFill>
                            <a:srgbClr val="15703D"/>
                          </a:solidFill>
                          <a:latin typeface="Arial"/>
                        </a:rPr>
                        <a:t>Implemented — </a:t>
                      </a:r>
                      <a:r>
                        <a:rPr sz="910" b="1">
                          <a:solidFill>
                            <a:srgbClr val="15703D"/>
                          </a:solidFill>
                          <a:latin typeface="Consolas"/>
                        </a:rPr>
                        <a:t>getProofJwt</a:t>
                      </a:r>
                      <a:r>
                        <a:rPr sz="910" b="1">
                          <a:solidFill>
                            <a:srgbClr val="15703D"/>
                          </a:solidFill>
                          <a:latin typeface="Arial"/>
                        </a:rPr>
                        <a:t> callback</a:t>
                      </a:r>
                    </a:p>
                  </a:txBody>
                  <a:tcPr marL="64008" marR="54864" marT="18288" marB="18288" anchor="ctr">
                    <a:solidFill>
                      <a:srgbClr val="F3F6F9"/>
                    </a:solidFill>
                  </a:tcPr>
                </a:tc>
              </a:tr>
            </a:tbl>
          </a:graphicData>
        </a:graphic>
      </p:graphicFrame>
      <p:sp>
        <p:nvSpPr>
          <p:cNvPr id="7" name="Rounded Rectangle 6"/>
          <p:cNvSpPr/>
          <p:nvPr/>
        </p:nvSpPr>
        <p:spPr>
          <a:xfrm>
            <a:off x="502920" y="5768042"/>
            <a:ext cx="11185855" cy="504741"/>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768042"/>
            <a:ext cx="45720" cy="50474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852556"/>
            <a:ext cx="10820095" cy="369517"/>
          </a:xfrm>
          <a:prstGeom prst="rect">
            <a:avLst/>
          </a:prstGeom>
          <a:noFill/>
        </p:spPr>
        <p:txBody>
          <a:bodyPr wrap="square" lIns="0" rIns="0" tIns="0" bIns="0" anchor="t">
            <a:spAutoFit/>
          </a:bodyPr>
          <a:lstStyle/>
          <a:p>
            <a:pPr algn="l">
              <a:lnSpc>
                <a:spcPct val="122000"/>
              </a:lnSpc>
              <a:spcBef>
                <a:spcPts val="0"/>
              </a:spcBef>
              <a:spcAft>
                <a:spcPts val="0"/>
              </a:spcAft>
            </a:pPr>
            <a:r>
              <a:rPr sz="1060" b="0" i="0">
                <a:solidFill>
                  <a:srgbClr val="1E293B"/>
                </a:solidFill>
                <a:latin typeface="Arial"/>
              </a:rPr>
              <a:t>One sentence to remember: </a:t>
            </a:r>
            <a:r>
              <a:rPr sz="1060" b="1" i="0">
                <a:solidFill>
                  <a:srgbClr val="0E9488"/>
                </a:solidFill>
                <a:latin typeface="Arial"/>
              </a:rPr>
              <a:t>PKCE protects the hand-off, DPoP protects the ticket, the credential proof protects the binding.</a:t>
            </a:r>
            <a:r>
              <a:rPr sz="1060" b="0" i="0">
                <a:solidFill>
                  <a:srgbClr val="1E293B"/>
                </a:solidFill>
                <a:latin typeface="Arial"/>
              </a:rPr>
              <a:t> They are complements, never substitutes.</a:t>
            </a:r>
          </a:p>
        </p:txBody>
      </p:sp>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PKCE, DPoP, proofs and binding</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FOUR WORDS, FOUR MEANINGS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Proof type, binding method, holder binding, key binding</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These get used interchangeably in meetings. They are not interchangeable. Fix the vocabulary now.</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2659303" cy="3017520"/>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2659303" cy="6400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01952"/>
            <a:ext cx="2293543" cy="5029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1D4E89"/>
                </a:solidFill>
              </a:rPr>
              <a:t>Proof type</a:t>
            </a:r>
          </a:p>
        </p:txBody>
      </p:sp>
      <p:sp>
        <p:nvSpPr>
          <p:cNvPr id="9" name="TextBox 8"/>
          <p:cNvSpPr txBox="1"/>
          <p:nvPr/>
        </p:nvSpPr>
        <p:spPr>
          <a:xfrm>
            <a:off x="685800" y="2505456"/>
            <a:ext cx="2293543" cy="64008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1E293B"/>
                </a:solidFill>
                <a:latin typeface="Arial"/>
              </a:rPr>
              <a:t>How the </a:t>
            </a:r>
            <a:r>
              <a:rPr sz="1019" b="1" i="0">
                <a:solidFill>
                  <a:srgbClr val="0F172A"/>
                </a:solidFill>
                <a:latin typeface="Arial"/>
              </a:rPr>
              <a:t>credential request</a:t>
            </a:r>
            <a:r>
              <a:rPr sz="1019" b="0" i="0">
                <a:solidFill>
                  <a:srgbClr val="1E293B"/>
                </a:solidFill>
                <a:latin typeface="Arial"/>
              </a:rPr>
              <a:t> proves possession of a key.</a:t>
            </a:r>
          </a:p>
        </p:txBody>
      </p:sp>
      <p:cxnSp>
        <p:nvCxnSpPr>
          <p:cNvPr id="10" name="Connector 9"/>
          <p:cNvCxnSpPr/>
          <p:nvPr/>
        </p:nvCxnSpPr>
        <p:spPr>
          <a:xfrm>
            <a:off x="685800" y="3255264"/>
            <a:ext cx="2293543"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346704"/>
            <a:ext cx="2293543" cy="914400"/>
          </a:xfrm>
          <a:prstGeom prst="rect">
            <a:avLst/>
          </a:prstGeom>
          <a:noFill/>
        </p:spPr>
        <p:txBody>
          <a:bodyPr wrap="square" lIns="0" rIns="0" tIns="0" bIns="0" anchor="t">
            <a:spAutoFit/>
          </a:bodyPr>
          <a:lstStyle/>
          <a:p>
            <a:pPr algn="l">
              <a:lnSpc>
                <a:spcPct val="128000"/>
              </a:lnSpc>
              <a:spcBef>
                <a:spcPts val="0"/>
              </a:spcBef>
              <a:spcAft>
                <a:spcPts val="0"/>
              </a:spcAft>
            </a:pPr>
            <a:r>
              <a:rPr sz="930" b="0" i="0">
                <a:solidFill>
                  <a:srgbClr val="1D4E89"/>
                </a:solidFill>
                <a:latin typeface="Consolas"/>
              </a:rPr>
              <a:t>proof_type: "jwt"</a:t>
            </a:r>
            <a:r>
              <a:rPr sz="930" b="0" i="0">
                <a:solidFill>
                  <a:srgbClr val="5B6B7F"/>
                </a:solidFill>
                <a:latin typeface="Arial"/>
              </a:rPr>
              <a:t> — a signed JWT with typ </a:t>
            </a:r>
            <a:r>
              <a:rPr sz="930" b="0" i="0">
                <a:solidFill>
                  <a:srgbClr val="1D4E89"/>
                </a:solidFill>
                <a:latin typeface="Consolas"/>
              </a:rPr>
              <a:t>openid4vci-proof+jwt</a:t>
            </a:r>
            <a:r>
              <a:rPr sz="930" b="0" i="0">
                <a:solidFill>
                  <a:srgbClr val="5B6B7F"/>
                </a:solidFill>
                <a:latin typeface="Arial"/>
              </a:rPr>
              <a:t>. CWT proof exists in the spec; Inji Certify does not support it.</a:t>
            </a:r>
          </a:p>
        </p:txBody>
      </p:sp>
      <p:sp>
        <p:nvSpPr>
          <p:cNvPr id="12" name="TextBox 11"/>
          <p:cNvSpPr txBox="1"/>
          <p:nvPr/>
        </p:nvSpPr>
        <p:spPr>
          <a:xfrm>
            <a:off x="685800" y="4297680"/>
            <a:ext cx="2293543" cy="365760"/>
          </a:xfrm>
          <a:prstGeom prst="rect">
            <a:avLst/>
          </a:prstGeom>
          <a:noFill/>
        </p:spPr>
        <p:txBody>
          <a:bodyPr wrap="square" lIns="0" rIns="0" tIns="0" bIns="0" anchor="t">
            <a:spAutoFit/>
          </a:bodyPr>
          <a:lstStyle/>
          <a:p>
            <a:pPr algn="l">
              <a:lnSpc>
                <a:spcPct val="120000"/>
              </a:lnSpc>
              <a:spcBef>
                <a:spcPts val="0"/>
              </a:spcBef>
              <a:spcAft>
                <a:spcPts val="0"/>
              </a:spcAft>
            </a:pPr>
            <a:r>
              <a:rPr sz="900" b="1" i="0">
                <a:solidFill>
                  <a:srgbClr val="1D4E89"/>
                </a:solidFill>
              </a:rPr>
              <a:t>Lives in: the credential request, at issuance time.</a:t>
            </a:r>
          </a:p>
        </p:txBody>
      </p:sp>
      <p:sp>
        <p:nvSpPr>
          <p:cNvPr id="13" name="Rounded Rectangle 12"/>
          <p:cNvSpPr/>
          <p:nvPr/>
        </p:nvSpPr>
        <p:spPr>
          <a:xfrm>
            <a:off x="3345103" y="1682496"/>
            <a:ext cx="2659303" cy="3017520"/>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45103" y="1682496"/>
            <a:ext cx="2659303"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7983" y="1901952"/>
            <a:ext cx="2293543" cy="5029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6D28D9"/>
                </a:solidFill>
              </a:rPr>
              <a:t>Cryptographic binding method</a:t>
            </a:r>
          </a:p>
        </p:txBody>
      </p:sp>
      <p:sp>
        <p:nvSpPr>
          <p:cNvPr id="16" name="TextBox 15"/>
          <p:cNvSpPr txBox="1"/>
          <p:nvPr/>
        </p:nvSpPr>
        <p:spPr>
          <a:xfrm>
            <a:off x="3527983" y="2505456"/>
            <a:ext cx="2293543" cy="64008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1E293B"/>
                </a:solidFill>
                <a:latin typeface="Arial"/>
              </a:rPr>
              <a:t>How the issuer </a:t>
            </a:r>
            <a:r>
              <a:rPr sz="1019" b="1" i="0">
                <a:solidFill>
                  <a:srgbClr val="0F172A"/>
                </a:solidFill>
                <a:latin typeface="Arial"/>
              </a:rPr>
              <a:t>identifies</a:t>
            </a:r>
            <a:r>
              <a:rPr sz="1019" b="0" i="0">
                <a:solidFill>
                  <a:srgbClr val="1E293B"/>
                </a:solidFill>
                <a:latin typeface="Arial"/>
              </a:rPr>
              <a:t> the key inside the issued credential.</a:t>
            </a:r>
          </a:p>
        </p:txBody>
      </p:sp>
      <p:cxnSp>
        <p:nvCxnSpPr>
          <p:cNvPr id="17" name="Connector 16"/>
          <p:cNvCxnSpPr/>
          <p:nvPr/>
        </p:nvCxnSpPr>
        <p:spPr>
          <a:xfrm>
            <a:off x="3527983" y="3255264"/>
            <a:ext cx="2293544"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527983" y="3346704"/>
            <a:ext cx="2293543" cy="914400"/>
          </a:xfrm>
          <a:prstGeom prst="rect">
            <a:avLst/>
          </a:prstGeom>
          <a:noFill/>
        </p:spPr>
        <p:txBody>
          <a:bodyPr wrap="square" lIns="0" rIns="0" tIns="0" bIns="0" anchor="t">
            <a:spAutoFit/>
          </a:bodyPr>
          <a:lstStyle/>
          <a:p>
            <a:pPr algn="l">
              <a:lnSpc>
                <a:spcPct val="128000"/>
              </a:lnSpc>
              <a:spcBef>
                <a:spcPts val="0"/>
              </a:spcBef>
              <a:spcAft>
                <a:spcPts val="0"/>
              </a:spcAft>
            </a:pPr>
            <a:r>
              <a:rPr sz="930" b="0" i="0">
                <a:solidFill>
                  <a:srgbClr val="1D4E89"/>
                </a:solidFill>
                <a:latin typeface="Consolas"/>
              </a:rPr>
              <a:t>did:jwk</a:t>
            </a:r>
            <a:r>
              <a:rPr sz="930" b="0" i="0">
                <a:solidFill>
                  <a:srgbClr val="5B6B7F"/>
                </a:solidFill>
                <a:latin typeface="Arial"/>
              </a:rPr>
              <a:t>, </a:t>
            </a:r>
            <a:r>
              <a:rPr sz="930" b="0" i="0">
                <a:solidFill>
                  <a:srgbClr val="1D4E89"/>
                </a:solidFill>
                <a:latin typeface="Consolas"/>
              </a:rPr>
              <a:t>did:key</a:t>
            </a:r>
            <a:r>
              <a:rPr sz="930" b="0" i="0">
                <a:solidFill>
                  <a:srgbClr val="5B6B7F"/>
                </a:solidFill>
                <a:latin typeface="Arial"/>
              </a:rPr>
              <a:t>, a raw </a:t>
            </a:r>
            <a:r>
              <a:rPr sz="930" b="0" i="0">
                <a:solidFill>
                  <a:srgbClr val="1D4E89"/>
                </a:solidFill>
                <a:latin typeface="Consolas"/>
              </a:rPr>
              <a:t>jwk</a:t>
            </a:r>
            <a:r>
              <a:rPr sz="930" b="0" i="0">
                <a:solidFill>
                  <a:srgbClr val="5B6B7F"/>
                </a:solidFill>
                <a:latin typeface="Arial"/>
              </a:rPr>
              <a:t>, or an X.509 reference. Announced in metadata as </a:t>
            </a:r>
            <a:r>
              <a:rPr sz="930" b="0" i="0">
                <a:solidFill>
                  <a:srgbClr val="1D4E89"/>
                </a:solidFill>
                <a:latin typeface="Consolas"/>
              </a:rPr>
              <a:t>cryptographic_binding_methods_supported</a:t>
            </a:r>
            <a:r>
              <a:rPr sz="930" b="0" i="0">
                <a:solidFill>
                  <a:srgbClr val="5B6B7F"/>
                </a:solidFill>
                <a:latin typeface="Arial"/>
              </a:rPr>
              <a:t>.</a:t>
            </a:r>
          </a:p>
        </p:txBody>
      </p:sp>
      <p:sp>
        <p:nvSpPr>
          <p:cNvPr id="19" name="TextBox 18"/>
          <p:cNvSpPr txBox="1"/>
          <p:nvPr/>
        </p:nvSpPr>
        <p:spPr>
          <a:xfrm>
            <a:off x="3527983" y="4297680"/>
            <a:ext cx="2293543" cy="365760"/>
          </a:xfrm>
          <a:prstGeom prst="rect">
            <a:avLst/>
          </a:prstGeom>
          <a:noFill/>
        </p:spPr>
        <p:txBody>
          <a:bodyPr wrap="square" lIns="0" rIns="0" tIns="0" bIns="0" anchor="t">
            <a:spAutoFit/>
          </a:bodyPr>
          <a:lstStyle/>
          <a:p>
            <a:pPr algn="l">
              <a:lnSpc>
                <a:spcPct val="120000"/>
              </a:lnSpc>
              <a:spcBef>
                <a:spcPts val="0"/>
              </a:spcBef>
              <a:spcAft>
                <a:spcPts val="0"/>
              </a:spcAft>
            </a:pPr>
            <a:r>
              <a:rPr sz="900" b="1" i="0">
                <a:solidFill>
                  <a:srgbClr val="6D28D9"/>
                </a:solidFill>
              </a:rPr>
              <a:t>Lives in: issuer metadata, and the issued credential.</a:t>
            </a:r>
          </a:p>
        </p:txBody>
      </p:sp>
      <p:sp>
        <p:nvSpPr>
          <p:cNvPr id="20" name="Rounded Rectangle 19"/>
          <p:cNvSpPr/>
          <p:nvPr/>
        </p:nvSpPr>
        <p:spPr>
          <a:xfrm>
            <a:off x="6187287" y="1682496"/>
            <a:ext cx="2659303" cy="3017520"/>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7287" y="1682496"/>
            <a:ext cx="2659303" cy="6400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0167" y="1901952"/>
            <a:ext cx="2293543" cy="5029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9488"/>
                </a:solidFill>
              </a:rPr>
              <a:t>Holder binding</a:t>
            </a:r>
          </a:p>
        </p:txBody>
      </p:sp>
      <p:sp>
        <p:nvSpPr>
          <p:cNvPr id="23" name="TextBox 22"/>
          <p:cNvSpPr txBox="1"/>
          <p:nvPr/>
        </p:nvSpPr>
        <p:spPr>
          <a:xfrm>
            <a:off x="6370167" y="2505456"/>
            <a:ext cx="2293543" cy="64008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1E293B"/>
                </a:solidFill>
                <a:latin typeface="Arial"/>
              </a:rPr>
              <a:t>The credential names </a:t>
            </a:r>
            <a:r>
              <a:rPr sz="1019" b="1" i="0">
                <a:solidFill>
                  <a:srgbClr val="0F172A"/>
                </a:solidFill>
                <a:latin typeface="Arial"/>
              </a:rPr>
              <a:t>who</a:t>
            </a:r>
            <a:r>
              <a:rPr sz="1019" b="0" i="0">
                <a:solidFill>
                  <a:srgbClr val="1E293B"/>
                </a:solidFill>
                <a:latin typeface="Arial"/>
              </a:rPr>
              <a:t> holds it, and the holder can prove it at presentation.</a:t>
            </a:r>
          </a:p>
        </p:txBody>
      </p:sp>
      <p:cxnSp>
        <p:nvCxnSpPr>
          <p:cNvPr id="24" name="Connector 23"/>
          <p:cNvCxnSpPr/>
          <p:nvPr/>
        </p:nvCxnSpPr>
        <p:spPr>
          <a:xfrm>
            <a:off x="6370167" y="3255264"/>
            <a:ext cx="2293544"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70167" y="3346704"/>
            <a:ext cx="2293543" cy="914400"/>
          </a:xfrm>
          <a:prstGeom prst="rect">
            <a:avLst/>
          </a:prstGeom>
          <a:noFill/>
        </p:spPr>
        <p:txBody>
          <a:bodyPr wrap="square" lIns="0" rIns="0" tIns="0" bIns="0" anchor="t">
            <a:spAutoFit/>
          </a:bodyPr>
          <a:lstStyle/>
          <a:p>
            <a:pPr algn="l">
              <a:lnSpc>
                <a:spcPct val="128000"/>
              </a:lnSpc>
              <a:spcBef>
                <a:spcPts val="0"/>
              </a:spcBef>
              <a:spcAft>
                <a:spcPts val="0"/>
              </a:spcAft>
            </a:pPr>
            <a:r>
              <a:rPr sz="930" b="0" i="0">
                <a:solidFill>
                  <a:srgbClr val="5B6B7F"/>
                </a:solidFill>
                <a:latin typeface="Arial"/>
              </a:rPr>
              <a:t>SD-JWT VC: the </a:t>
            </a:r>
            <a:r>
              <a:rPr sz="930" b="0" i="0">
                <a:solidFill>
                  <a:srgbClr val="1D4E89"/>
                </a:solidFill>
                <a:latin typeface="Consolas"/>
              </a:rPr>
              <a:t>cnf</a:t>
            </a:r>
            <a:r>
              <a:rPr sz="930" b="0" i="0">
                <a:solidFill>
                  <a:srgbClr val="5B6B7F"/>
                </a:solidFill>
                <a:latin typeface="Arial"/>
              </a:rPr>
              <a:t> claim. ldp_vc: </a:t>
            </a:r>
            <a:r>
              <a:rPr sz="930" b="0" i="0">
                <a:solidFill>
                  <a:srgbClr val="1D4E89"/>
                </a:solidFill>
                <a:latin typeface="Consolas"/>
              </a:rPr>
              <a:t>credentialSubject.id</a:t>
            </a:r>
            <a:r>
              <a:rPr sz="930" b="0" i="0">
                <a:solidFill>
                  <a:srgbClr val="5B6B7F"/>
                </a:solidFill>
                <a:latin typeface="Arial"/>
              </a:rPr>
              <a:t> matched against the VP </a:t>
            </a:r>
            <a:r>
              <a:rPr sz="930" b="0" i="0">
                <a:solidFill>
                  <a:srgbClr val="1D4E89"/>
                </a:solidFill>
                <a:latin typeface="Consolas"/>
              </a:rPr>
              <a:t>holder</a:t>
            </a:r>
            <a:r>
              <a:rPr sz="930" b="0" i="0">
                <a:solidFill>
                  <a:srgbClr val="5B6B7F"/>
                </a:solidFill>
                <a:latin typeface="Arial"/>
              </a:rPr>
              <a:t>. mDoc: the device key in the MSO.</a:t>
            </a:r>
          </a:p>
        </p:txBody>
      </p:sp>
      <p:sp>
        <p:nvSpPr>
          <p:cNvPr id="26" name="TextBox 25"/>
          <p:cNvSpPr txBox="1"/>
          <p:nvPr/>
        </p:nvSpPr>
        <p:spPr>
          <a:xfrm>
            <a:off x="6370167" y="4297680"/>
            <a:ext cx="2293543" cy="365760"/>
          </a:xfrm>
          <a:prstGeom prst="rect">
            <a:avLst/>
          </a:prstGeom>
          <a:noFill/>
        </p:spPr>
        <p:txBody>
          <a:bodyPr wrap="square" lIns="0" rIns="0" tIns="0" bIns="0" anchor="t">
            <a:spAutoFit/>
          </a:bodyPr>
          <a:lstStyle/>
          <a:p>
            <a:pPr algn="l">
              <a:lnSpc>
                <a:spcPct val="120000"/>
              </a:lnSpc>
              <a:spcBef>
                <a:spcPts val="0"/>
              </a:spcBef>
              <a:spcAft>
                <a:spcPts val="0"/>
              </a:spcAft>
            </a:pPr>
            <a:r>
              <a:rPr sz="900" b="1" i="0">
                <a:solidFill>
                  <a:srgbClr val="0E9488"/>
                </a:solidFill>
              </a:rPr>
              <a:t>Lives in: the credential, checked by the verifier.</a:t>
            </a:r>
          </a:p>
        </p:txBody>
      </p:sp>
      <p:sp>
        <p:nvSpPr>
          <p:cNvPr id="27" name="Rounded Rectangle 26"/>
          <p:cNvSpPr/>
          <p:nvPr/>
        </p:nvSpPr>
        <p:spPr>
          <a:xfrm>
            <a:off x="9029471" y="1682496"/>
            <a:ext cx="2659303" cy="3017520"/>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29471" y="1682496"/>
            <a:ext cx="2659303" cy="64008"/>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12351" y="1901952"/>
            <a:ext cx="2293543" cy="5029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15703D"/>
                </a:solidFill>
              </a:rPr>
              <a:t>Key binding</a:t>
            </a:r>
          </a:p>
        </p:txBody>
      </p:sp>
      <p:sp>
        <p:nvSpPr>
          <p:cNvPr id="30" name="TextBox 29"/>
          <p:cNvSpPr txBox="1"/>
          <p:nvPr/>
        </p:nvSpPr>
        <p:spPr>
          <a:xfrm>
            <a:off x="9212351" y="2505456"/>
            <a:ext cx="2293543" cy="640080"/>
          </a:xfrm>
          <a:prstGeom prst="rect">
            <a:avLst/>
          </a:prstGeom>
          <a:noFill/>
        </p:spPr>
        <p:txBody>
          <a:bodyPr wrap="square" lIns="0" rIns="0" tIns="0" bIns="0" anchor="t">
            <a:spAutoFit/>
          </a:bodyPr>
          <a:lstStyle/>
          <a:p>
            <a:pPr algn="l">
              <a:lnSpc>
                <a:spcPct val="125000"/>
              </a:lnSpc>
              <a:spcBef>
                <a:spcPts val="0"/>
              </a:spcBef>
              <a:spcAft>
                <a:spcPts val="0"/>
              </a:spcAft>
            </a:pPr>
            <a:r>
              <a:rPr sz="1019" b="0" i="0">
                <a:solidFill>
                  <a:srgbClr val="1E293B"/>
                </a:solidFill>
                <a:latin typeface="Arial"/>
              </a:rPr>
              <a:t>The specific act of </a:t>
            </a:r>
            <a:r>
              <a:rPr sz="1019" b="1" i="0">
                <a:solidFill>
                  <a:srgbClr val="0F172A"/>
                </a:solidFill>
                <a:latin typeface="Arial"/>
              </a:rPr>
              <a:t>signing at presentation time</a:t>
            </a:r>
            <a:r>
              <a:rPr sz="1019" b="0" i="0">
                <a:solidFill>
                  <a:srgbClr val="1E293B"/>
                </a:solidFill>
                <a:latin typeface="Arial"/>
              </a:rPr>
              <a:t> with the bound key.</a:t>
            </a:r>
          </a:p>
        </p:txBody>
      </p:sp>
      <p:cxnSp>
        <p:nvCxnSpPr>
          <p:cNvPr id="31" name="Connector 30"/>
          <p:cNvCxnSpPr/>
          <p:nvPr/>
        </p:nvCxnSpPr>
        <p:spPr>
          <a:xfrm>
            <a:off x="9212351" y="3255264"/>
            <a:ext cx="2293544"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212351" y="3346704"/>
            <a:ext cx="2293543" cy="914400"/>
          </a:xfrm>
          <a:prstGeom prst="rect">
            <a:avLst/>
          </a:prstGeom>
          <a:noFill/>
        </p:spPr>
        <p:txBody>
          <a:bodyPr wrap="square" lIns="0" rIns="0" tIns="0" bIns="0" anchor="t">
            <a:spAutoFit/>
          </a:bodyPr>
          <a:lstStyle/>
          <a:p>
            <a:pPr algn="l">
              <a:lnSpc>
                <a:spcPct val="128000"/>
              </a:lnSpc>
              <a:spcBef>
                <a:spcPts val="0"/>
              </a:spcBef>
              <a:spcAft>
                <a:spcPts val="0"/>
              </a:spcAft>
            </a:pPr>
            <a:r>
              <a:rPr sz="930" b="0" i="0">
                <a:solidFill>
                  <a:srgbClr val="5B6B7F"/>
                </a:solidFill>
                <a:latin typeface="Arial"/>
              </a:rPr>
              <a:t>SD-JWT VC: the KB-JWT appended after the disclosures. mDoc: </a:t>
            </a:r>
            <a:r>
              <a:rPr sz="930" b="0" i="0">
                <a:solidFill>
                  <a:srgbClr val="1D4E89"/>
                </a:solidFill>
                <a:latin typeface="Consolas"/>
              </a:rPr>
              <a:t>DeviceSignature</a:t>
            </a:r>
            <a:r>
              <a:rPr sz="930" b="0" i="0">
                <a:solidFill>
                  <a:srgbClr val="5B6B7F"/>
                </a:solidFill>
                <a:latin typeface="Arial"/>
              </a:rPr>
              <a:t> / device authentication. ldp_vc: the VP proof.</a:t>
            </a:r>
          </a:p>
        </p:txBody>
      </p:sp>
      <p:sp>
        <p:nvSpPr>
          <p:cNvPr id="33" name="TextBox 32"/>
          <p:cNvSpPr txBox="1"/>
          <p:nvPr/>
        </p:nvSpPr>
        <p:spPr>
          <a:xfrm>
            <a:off x="9212351" y="4297680"/>
            <a:ext cx="2293543" cy="365760"/>
          </a:xfrm>
          <a:prstGeom prst="rect">
            <a:avLst/>
          </a:prstGeom>
          <a:noFill/>
        </p:spPr>
        <p:txBody>
          <a:bodyPr wrap="square" lIns="0" rIns="0" tIns="0" bIns="0" anchor="t">
            <a:spAutoFit/>
          </a:bodyPr>
          <a:lstStyle/>
          <a:p>
            <a:pPr algn="l">
              <a:lnSpc>
                <a:spcPct val="120000"/>
              </a:lnSpc>
              <a:spcBef>
                <a:spcPts val="0"/>
              </a:spcBef>
              <a:spcAft>
                <a:spcPts val="0"/>
              </a:spcAft>
            </a:pPr>
            <a:r>
              <a:rPr sz="900" b="1" i="0">
                <a:solidFill>
                  <a:srgbClr val="15703D"/>
                </a:solidFill>
              </a:rPr>
              <a:t>Lives in: the presentation, produced on demand.</a:t>
            </a:r>
          </a:p>
        </p:txBody>
      </p:sp>
      <p:sp>
        <p:nvSpPr>
          <p:cNvPr id="34" name="Rounded Rectangle 33"/>
          <p:cNvSpPr/>
          <p:nvPr/>
        </p:nvSpPr>
        <p:spPr>
          <a:xfrm>
            <a:off x="502920" y="4928616"/>
            <a:ext cx="11185855" cy="529590"/>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4928616"/>
            <a:ext cx="45720" cy="52959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4088" y="5020055"/>
            <a:ext cx="10820095" cy="383286"/>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1E293B"/>
                </a:solidFill>
                <a:latin typeface="Arial"/>
              </a:rPr>
              <a:t>The trap: </a:t>
            </a:r>
            <a:r>
              <a:rPr sz="1050" b="1" i="0">
                <a:solidFill>
                  <a:srgbClr val="B45309"/>
                </a:solidFill>
                <a:latin typeface="Arial"/>
              </a:rPr>
              <a:t>proof type is about the request, binding method is about the identifier, holder binding is about the credential, key binding is about the presentation.</a:t>
            </a:r>
            <a:r>
              <a:rPr sz="1050" b="0" i="0">
                <a:solidFill>
                  <a:srgbClr val="1E293B"/>
                </a:solidFill>
                <a:latin typeface="Arial"/>
              </a:rPr>
              <a:t> A team that says 'we support holder binding' has told you almost nothing until you ask which of these four they mean.</a:t>
            </a:r>
          </a:p>
        </p:txBody>
      </p:sp>
      <p:sp>
        <p:nvSpPr>
          <p:cNvPr id="37" name="TextBox 3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PKCE, DPoP, proofs and binding</a:t>
            </a:r>
          </a:p>
        </p:txBody>
      </p:sp>
      <p:sp>
        <p:nvSpPr>
          <p:cNvPr id="38" name="TextBox 3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ANATOMY</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proof JWT, and where key attestation fits</a:t>
            </a:r>
          </a:p>
        </p:txBody>
      </p:sp>
      <p:sp>
        <p:nvSpPr>
          <p:cNvPr id="4" name="TextBox 3"/>
          <p:cNvSpPr txBox="1"/>
          <p:nvPr/>
        </p:nvSpPr>
        <p:spPr>
          <a:xfrm>
            <a:off x="502920" y="1078992"/>
            <a:ext cx="11185855" cy="306501"/>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What the wallet actually signs at issuance — and why a strong attestation does not remove the need for it.</a:t>
            </a:r>
          </a:p>
        </p:txBody>
      </p:sp>
      <p:cxnSp>
        <p:nvCxnSpPr>
          <p:cNvPr id="5" name="Connector 4"/>
          <p:cNvCxnSpPr/>
          <p:nvPr/>
        </p:nvCxnSpPr>
        <p:spPr>
          <a:xfrm>
            <a:off x="502920" y="1476933"/>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58904"/>
            <a:ext cx="5577840" cy="198324"/>
          </a:xfrm>
          <a:prstGeom prst="rect">
            <a:avLst/>
          </a:prstGeom>
          <a:noFill/>
        </p:spPr>
        <p:txBody>
          <a:bodyPr wrap="square" lIns="0" rIns="0" tIns="0" bIns="0" anchor="t">
            <a:spAutoFit/>
          </a:bodyPr>
          <a:lstStyle/>
          <a:p>
            <a:pPr algn="l">
              <a:lnSpc>
                <a:spcPct val="114000"/>
              </a:lnSpc>
              <a:spcBef>
                <a:spcPts val="0"/>
              </a:spcBef>
              <a:spcAft>
                <a:spcPts val="0"/>
              </a:spcAft>
            </a:pPr>
            <a:r>
              <a:rPr sz="890" b="1" i="0">
                <a:solidFill>
                  <a:srgbClr val="5B6B7F"/>
                </a:solidFill>
              </a:rPr>
              <a:t>CREDENTIAL REQUEST PROOF JWT</a:t>
            </a:r>
          </a:p>
        </p:txBody>
      </p:sp>
      <p:sp>
        <p:nvSpPr>
          <p:cNvPr id="7" name="Rounded Rectangle 6"/>
          <p:cNvSpPr/>
          <p:nvPr/>
        </p:nvSpPr>
        <p:spPr>
          <a:xfrm>
            <a:off x="502920" y="1675258"/>
            <a:ext cx="5577840" cy="2298762"/>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792450"/>
            <a:ext cx="5285231" cy="2064379"/>
          </a:xfrm>
          <a:prstGeom prst="rect">
            <a:avLst/>
          </a:prstGeom>
          <a:noFill/>
        </p:spPr>
        <p:txBody>
          <a:bodyPr wrap="square" lIns="0" rIns="0" tIns="0" bIns="0" anchor="t">
            <a:spAutoFit/>
          </a:bodyPr>
          <a:lstStyle/>
          <a:p>
            <a:pPr>
              <a:lnSpc>
                <a:spcPct val="116000"/>
              </a:lnSpc>
              <a:spcBef>
                <a:spcPts val="0"/>
              </a:spcBef>
              <a:spcAft>
                <a:spcPts val="0"/>
              </a:spcAft>
            </a:pPr>
            <a:r>
              <a:rPr sz="869">
                <a:solidFill>
                  <a:srgbClr val="7E93A8"/>
                </a:solidFill>
                <a:latin typeface="Consolas"/>
              </a:rPr>
              <a:t>// header</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"typ"</a:t>
            </a:r>
            <a:r>
              <a:rPr sz="869" b="1">
                <a:solidFill>
                  <a:srgbClr val="FFD56B"/>
                </a:solidFill>
                <a:latin typeface="Consolas"/>
              </a:rPr>
              <a:t>: </a:t>
            </a:r>
            <a:r>
              <a:rPr sz="869" b="1">
                <a:solidFill>
                  <a:srgbClr val="FFD56B"/>
                </a:solidFill>
                <a:latin typeface="Consolas"/>
              </a:rPr>
              <a:t>"openid4vci-proof+jwt"</a:t>
            </a:r>
            <a:r>
              <a:rPr sz="869" b="1">
                <a:solidFill>
                  <a:srgbClr val="FFD56B"/>
                </a:solidFill>
                <a:latin typeface="Consolas"/>
              </a:rPr>
              <a:t>,</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"alg"</a:t>
            </a:r>
            <a:r>
              <a:rPr sz="869">
                <a:solidFill>
                  <a:srgbClr val="CBD9E8"/>
                </a:solidFill>
                <a:latin typeface="Consolas"/>
              </a:rPr>
              <a:t>: </a:t>
            </a:r>
            <a:r>
              <a:rPr sz="869">
                <a:solidFill>
                  <a:srgbClr val="F6C67A"/>
                </a:solidFill>
                <a:latin typeface="Consolas"/>
              </a:rPr>
              <a:t>"ES256"</a:t>
            </a:r>
            <a:r>
              <a:rPr sz="869">
                <a:solidFill>
                  <a:srgbClr val="CBD9E8"/>
                </a:solidFill>
                <a:latin typeface="Consolas"/>
              </a:rPr>
              <a:t>,</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"jwk"</a:t>
            </a:r>
            <a:r>
              <a:rPr sz="869" b="1">
                <a:solidFill>
                  <a:srgbClr val="FFD56B"/>
                </a:solidFill>
                <a:latin typeface="Consolas"/>
              </a:rPr>
              <a:t>: { </a:t>
            </a:r>
            <a:r>
              <a:rPr sz="869" b="1">
                <a:solidFill>
                  <a:srgbClr val="FFD56B"/>
                </a:solidFill>
                <a:latin typeface="Consolas"/>
              </a:rPr>
              <a:t>"kty"</a:t>
            </a:r>
            <a:r>
              <a:rPr sz="869" b="1">
                <a:solidFill>
                  <a:srgbClr val="FFD56B"/>
                </a:solidFill>
                <a:latin typeface="Consolas"/>
              </a:rPr>
              <a:t>:</a:t>
            </a:r>
            <a:r>
              <a:rPr sz="869" b="1">
                <a:solidFill>
                  <a:srgbClr val="FFD56B"/>
                </a:solidFill>
                <a:latin typeface="Consolas"/>
              </a:rPr>
              <a:t>"EC"</a:t>
            </a:r>
            <a:r>
              <a:rPr sz="869" b="1">
                <a:solidFill>
                  <a:srgbClr val="FFD56B"/>
                </a:solidFill>
                <a:latin typeface="Consolas"/>
              </a:rPr>
              <a:t>, </a:t>
            </a:r>
            <a:r>
              <a:rPr sz="869" b="1">
                <a:solidFill>
                  <a:srgbClr val="FFD56B"/>
                </a:solidFill>
                <a:latin typeface="Consolas"/>
              </a:rPr>
              <a:t>"crv"</a:t>
            </a:r>
            <a:r>
              <a:rPr sz="869" b="1">
                <a:solidFill>
                  <a:srgbClr val="FFD56B"/>
                </a:solidFill>
                <a:latin typeface="Consolas"/>
              </a:rPr>
              <a:t>:</a:t>
            </a:r>
            <a:r>
              <a:rPr sz="869" b="1">
                <a:solidFill>
                  <a:srgbClr val="FFD56B"/>
                </a:solidFill>
                <a:latin typeface="Consolas"/>
              </a:rPr>
              <a:t>"P-256"</a:t>
            </a:r>
            <a:r>
              <a:rPr sz="869" b="1">
                <a:solidFill>
                  <a:srgbClr val="FFD56B"/>
                </a:solidFill>
                <a:latin typeface="Consolas"/>
              </a:rPr>
              <a:t>, </a:t>
            </a:r>
            <a:r>
              <a:rPr sz="869" b="1">
                <a:solidFill>
                  <a:srgbClr val="FFD56B"/>
                </a:solidFill>
                <a:latin typeface="Consolas"/>
              </a:rPr>
              <a:t>"x"</a:t>
            </a:r>
            <a:r>
              <a:rPr sz="869" b="1">
                <a:solidFill>
                  <a:srgbClr val="FFD56B"/>
                </a:solidFill>
                <a:latin typeface="Consolas"/>
              </a:rPr>
              <a:t>:</a:t>
            </a:r>
            <a:r>
              <a:rPr sz="869" b="1">
                <a:solidFill>
                  <a:srgbClr val="FFD56B"/>
                </a:solidFill>
                <a:latin typeface="Consolas"/>
              </a:rPr>
              <a:t>"…"</a:t>
            </a:r>
            <a:r>
              <a:rPr sz="869" b="1">
                <a:solidFill>
                  <a:srgbClr val="FFD56B"/>
                </a:solidFill>
                <a:latin typeface="Consolas"/>
              </a:rPr>
              <a:t>, </a:t>
            </a:r>
            <a:r>
              <a:rPr sz="869" b="1">
                <a:solidFill>
                  <a:srgbClr val="FFD56B"/>
                </a:solidFill>
                <a:latin typeface="Consolas"/>
              </a:rPr>
              <a:t>"y"</a:t>
            </a:r>
            <a:r>
              <a:rPr sz="869" b="1">
                <a:solidFill>
                  <a:srgbClr val="FFD56B"/>
                </a:solidFill>
                <a:latin typeface="Consolas"/>
              </a:rPr>
              <a:t>:</a:t>
            </a:r>
            <a:r>
              <a:rPr sz="869" b="1">
                <a:solidFill>
                  <a:srgbClr val="FFD56B"/>
                </a:solidFill>
                <a:latin typeface="Consolas"/>
              </a:rPr>
              <a:t>"…"</a:t>
            </a:r>
            <a:r>
              <a:rPr sz="869" b="1">
                <a:solidFill>
                  <a:srgbClr val="FFD56B"/>
                </a:solidFill>
                <a:latin typeface="Consolas"/>
              </a:rPr>
              <a:t> } }</a:t>
            </a:r>
          </a:p>
          <a:p>
            <a:pPr>
              <a:lnSpc>
                <a:spcPct val="116000"/>
              </a:lnSpc>
              <a:spcBef>
                <a:spcPts val="0"/>
              </a:spcBef>
              <a:spcAft>
                <a:spcPts val="0"/>
              </a:spcAft>
            </a:pPr>
          </a:p>
          <a:p>
            <a:pPr>
              <a:lnSpc>
                <a:spcPct val="116000"/>
              </a:lnSpc>
              <a:spcBef>
                <a:spcPts val="0"/>
              </a:spcBef>
              <a:spcAft>
                <a:spcPts val="0"/>
              </a:spcAft>
            </a:pPr>
            <a:r>
              <a:rPr sz="869">
                <a:solidFill>
                  <a:srgbClr val="7E93A8"/>
                </a:solidFill>
                <a:latin typeface="Consolas"/>
              </a:rPr>
              <a:t>// payload</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"iss"</a:t>
            </a:r>
            <a:r>
              <a:rPr sz="869">
                <a:solidFill>
                  <a:srgbClr val="CBD9E8"/>
                </a:solidFill>
                <a:latin typeface="Consolas"/>
              </a:rPr>
              <a:t>:  </a:t>
            </a:r>
            <a:r>
              <a:rPr sz="869">
                <a:solidFill>
                  <a:srgbClr val="F6C67A"/>
                </a:solidFill>
                <a:latin typeface="Consolas"/>
              </a:rPr>
              <a:t>"inji-wallet"</a:t>
            </a:r>
            <a:r>
              <a:rPr sz="869">
                <a:solidFill>
                  <a:srgbClr val="CBD9E8"/>
                </a:solidFill>
                <a:latin typeface="Consolas"/>
              </a:rPr>
              <a:t>,</a:t>
            </a:r>
            <a:r>
              <a:rPr sz="869">
                <a:solidFill>
                  <a:srgbClr val="7E93A8"/>
                </a:solidFill>
                <a:latin typeface="Consolas"/>
              </a:rPr>
              <a:t>   // the client_id</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"aud"</a:t>
            </a:r>
            <a:r>
              <a:rPr sz="869">
                <a:solidFill>
                  <a:srgbClr val="CBD9E8"/>
                </a:solidFill>
                <a:latin typeface="Consolas"/>
              </a:rPr>
              <a:t>:  </a:t>
            </a:r>
            <a:r>
              <a:rPr sz="869">
                <a:solidFill>
                  <a:srgbClr val="F6C67A"/>
                </a:solidFill>
                <a:latin typeface="Consolas"/>
              </a:rPr>
              <a:t>"https://certify.example.gov.br"</a:t>
            </a:r>
            <a:r>
              <a:rPr sz="869">
                <a:solidFill>
                  <a:srgbClr val="CBD9E8"/>
                </a:solidFill>
                <a:latin typeface="Consolas"/>
              </a:rPr>
              <a:t>,</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"iat"</a:t>
            </a:r>
            <a:r>
              <a:rPr sz="869">
                <a:solidFill>
                  <a:srgbClr val="CBD9E8"/>
                </a:solidFill>
                <a:latin typeface="Consolas"/>
              </a:rPr>
              <a:t>:  1770000000,</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"nonce"</a:t>
            </a:r>
            <a:r>
              <a:rPr sz="869" b="1">
                <a:solidFill>
                  <a:srgbClr val="FFD56B"/>
                </a:solidFill>
                <a:latin typeface="Consolas"/>
              </a:rPr>
              <a:t>: </a:t>
            </a:r>
            <a:r>
              <a:rPr sz="869" b="1">
                <a:solidFill>
                  <a:srgbClr val="FFD56B"/>
                </a:solidFill>
                <a:latin typeface="Consolas"/>
              </a:rPr>
              <a:t>"tZignsnFbp"</a:t>
            </a:r>
            <a:r>
              <a:rPr sz="869" b="1">
                <a:solidFill>
                  <a:srgbClr val="FFD56B"/>
                </a:solidFill>
                <a:latin typeface="Consolas"/>
              </a:rPr>
              <a:t>   // the c_nonce</a:t>
            </a:r>
          </a:p>
          <a:p>
            <a:pPr>
              <a:lnSpc>
                <a:spcPct val="116000"/>
              </a:lnSpc>
              <a:spcBef>
                <a:spcPts val="0"/>
              </a:spcBef>
              <a:spcAft>
                <a:spcPts val="0"/>
              </a:spcAft>
            </a:pPr>
            <a:r>
              <a:rPr sz="869">
                <a:solidFill>
                  <a:srgbClr val="CBD9E8"/>
                </a:solidFill>
                <a:latin typeface="Consolas"/>
              </a:rPr>
              <a:t>}</a:t>
            </a:r>
          </a:p>
          <a:p>
            <a:pPr>
              <a:lnSpc>
                <a:spcPct val="116000"/>
              </a:lnSpc>
              <a:spcBef>
                <a:spcPts val="0"/>
              </a:spcBef>
              <a:spcAft>
                <a:spcPts val="0"/>
              </a:spcAft>
            </a:pPr>
          </a:p>
          <a:p>
            <a:pPr>
              <a:lnSpc>
                <a:spcPct val="116000"/>
              </a:lnSpc>
              <a:spcBef>
                <a:spcPts val="0"/>
              </a:spcBef>
              <a:spcAft>
                <a:spcPts val="0"/>
              </a:spcAft>
            </a:pPr>
            <a:r>
              <a:rPr sz="869">
                <a:solidFill>
                  <a:srgbClr val="7E93A8"/>
                </a:solidFill>
                <a:latin typeface="Consolas"/>
              </a:rPr>
              <a:t>// signature made by the private key in the device keystore</a:t>
            </a:r>
          </a:p>
        </p:txBody>
      </p:sp>
      <p:sp>
        <p:nvSpPr>
          <p:cNvPr id="9" name="Oval 8"/>
          <p:cNvSpPr/>
          <p:nvPr/>
        </p:nvSpPr>
        <p:spPr>
          <a:xfrm>
            <a:off x="6396228" y="1742968"/>
            <a:ext cx="77724" cy="7662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675258"/>
            <a:ext cx="5102351" cy="436313"/>
          </a:xfrm>
          <a:prstGeom prst="rect">
            <a:avLst/>
          </a:prstGeom>
          <a:noFill/>
        </p:spPr>
        <p:txBody>
          <a:bodyPr wrap="square" lIns="0" rIns="0" tIns="0" bIns="0" anchor="t">
            <a:spAutoFit/>
          </a:bodyPr>
          <a:lstStyle/>
          <a:p>
            <a:pPr algn="l">
              <a:lnSpc>
                <a:spcPct val="124000"/>
              </a:lnSpc>
              <a:spcBef>
                <a:spcPts val="0"/>
              </a:spcBef>
              <a:spcAft>
                <a:spcPts val="0"/>
              </a:spcAft>
            </a:pPr>
            <a:r>
              <a:rPr sz="1030" b="0" i="0">
                <a:solidFill>
                  <a:srgbClr val="1D4E89"/>
                </a:solidFill>
                <a:latin typeface="Consolas"/>
              </a:rPr>
              <a:t>jwk</a:t>
            </a:r>
            <a:r>
              <a:rPr sz="1030" b="0" i="0">
                <a:solidFill>
                  <a:srgbClr val="0F172A"/>
                </a:solidFill>
                <a:latin typeface="Arial"/>
              </a:rPr>
              <a:t> (or </a:t>
            </a:r>
            <a:r>
              <a:rPr sz="1030" b="0" i="0">
                <a:solidFill>
                  <a:srgbClr val="1D4E89"/>
                </a:solidFill>
                <a:latin typeface="Consolas"/>
              </a:rPr>
              <a:t>kid</a:t>
            </a:r>
            <a:r>
              <a:rPr sz="1030" b="0" i="0">
                <a:solidFill>
                  <a:srgbClr val="0F172A"/>
                </a:solidFill>
                <a:latin typeface="Arial"/>
              </a:rPr>
              <a:t>) is the public key the credential will be bound to. The issuer copies it into the credential.</a:t>
            </a:r>
          </a:p>
        </p:txBody>
      </p:sp>
      <p:sp>
        <p:nvSpPr>
          <p:cNvPr id="11" name="Oval 10"/>
          <p:cNvSpPr/>
          <p:nvPr/>
        </p:nvSpPr>
        <p:spPr>
          <a:xfrm>
            <a:off x="6396228" y="2165761"/>
            <a:ext cx="77724" cy="7662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098049"/>
            <a:ext cx="5102351" cy="436313"/>
          </a:xfrm>
          <a:prstGeom prst="rect">
            <a:avLst/>
          </a:prstGeom>
          <a:noFill/>
        </p:spPr>
        <p:txBody>
          <a:bodyPr wrap="square" lIns="0" rIns="0" tIns="0" bIns="0" anchor="t">
            <a:spAutoFit/>
          </a:bodyPr>
          <a:lstStyle/>
          <a:p>
            <a:pPr algn="l">
              <a:lnSpc>
                <a:spcPct val="124000"/>
              </a:lnSpc>
              <a:spcBef>
                <a:spcPts val="0"/>
              </a:spcBef>
              <a:spcAft>
                <a:spcPts val="0"/>
              </a:spcAft>
            </a:pPr>
            <a:r>
              <a:rPr sz="1030" b="0" i="0">
                <a:solidFill>
                  <a:srgbClr val="1D4E89"/>
                </a:solidFill>
                <a:latin typeface="Consolas"/>
              </a:rPr>
              <a:t>aud</a:t>
            </a:r>
            <a:r>
              <a:rPr sz="1030" b="0" i="0">
                <a:solidFill>
                  <a:srgbClr val="0F172A"/>
                </a:solidFill>
                <a:latin typeface="Arial"/>
              </a:rPr>
              <a:t> must be the credential issuer. This stops a proof harvested by one issuer being replayed at another.</a:t>
            </a:r>
          </a:p>
        </p:txBody>
      </p:sp>
      <p:sp>
        <p:nvSpPr>
          <p:cNvPr id="13" name="Oval 12"/>
          <p:cNvSpPr/>
          <p:nvPr/>
        </p:nvSpPr>
        <p:spPr>
          <a:xfrm>
            <a:off x="6396228" y="2588552"/>
            <a:ext cx="77724" cy="7662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520842"/>
            <a:ext cx="5102351" cy="436313"/>
          </a:xfrm>
          <a:prstGeom prst="rect">
            <a:avLst/>
          </a:prstGeom>
          <a:noFill/>
        </p:spPr>
        <p:txBody>
          <a:bodyPr wrap="square" lIns="0" rIns="0" tIns="0" bIns="0" anchor="t">
            <a:spAutoFit/>
          </a:bodyPr>
          <a:lstStyle/>
          <a:p>
            <a:pPr algn="l">
              <a:lnSpc>
                <a:spcPct val="124000"/>
              </a:lnSpc>
              <a:spcBef>
                <a:spcPts val="0"/>
              </a:spcBef>
              <a:spcAft>
                <a:spcPts val="0"/>
              </a:spcAft>
            </a:pPr>
            <a:r>
              <a:rPr sz="1030" b="0" i="0">
                <a:solidFill>
                  <a:srgbClr val="1D4E89"/>
                </a:solidFill>
                <a:latin typeface="Consolas"/>
              </a:rPr>
              <a:t>nonce</a:t>
            </a:r>
            <a:r>
              <a:rPr sz="1030" b="0" i="0">
                <a:solidFill>
                  <a:srgbClr val="0F172A"/>
                </a:solidFill>
                <a:latin typeface="Arial"/>
              </a:rPr>
              <a:t> is the </a:t>
            </a:r>
            <a:r>
              <a:rPr sz="1030" b="0" i="0">
                <a:solidFill>
                  <a:srgbClr val="1D4E89"/>
                </a:solidFill>
                <a:latin typeface="Consolas"/>
              </a:rPr>
              <a:t>c_nonce</a:t>
            </a:r>
            <a:r>
              <a:rPr sz="1030" b="0" i="0">
                <a:solidFill>
                  <a:srgbClr val="0F172A"/>
                </a:solidFill>
                <a:latin typeface="Arial"/>
              </a:rPr>
              <a:t> from the token response — the freshness tie.</a:t>
            </a:r>
          </a:p>
        </p:txBody>
      </p:sp>
      <p:sp>
        <p:nvSpPr>
          <p:cNvPr id="15" name="Oval 14"/>
          <p:cNvSpPr/>
          <p:nvPr/>
        </p:nvSpPr>
        <p:spPr>
          <a:xfrm>
            <a:off x="6396228" y="3011344"/>
            <a:ext cx="77724" cy="7662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943633"/>
            <a:ext cx="5102351" cy="600382"/>
          </a:xfrm>
          <a:prstGeom prst="rect">
            <a:avLst/>
          </a:prstGeom>
          <a:noFill/>
        </p:spPr>
        <p:txBody>
          <a:bodyPr wrap="square" lIns="0" rIns="0" tIns="0" bIns="0" anchor="t">
            <a:spAutoFit/>
          </a:bodyPr>
          <a:lstStyle/>
          <a:p>
            <a:pPr algn="l">
              <a:lnSpc>
                <a:spcPct val="124000"/>
              </a:lnSpc>
              <a:spcBef>
                <a:spcPts val="0"/>
              </a:spcBef>
              <a:spcAft>
                <a:spcPts val="0"/>
              </a:spcAft>
            </a:pPr>
            <a:r>
              <a:rPr sz="1030" b="0" i="0">
                <a:solidFill>
                  <a:srgbClr val="0F172A"/>
                </a:solidFill>
                <a:latin typeface="Arial"/>
              </a:rPr>
              <a:t>The private key never leaves the keystore. </a:t>
            </a:r>
            <a:r>
              <a:rPr sz="1030" b="0" i="0">
                <a:solidFill>
                  <a:srgbClr val="1D4E89"/>
                </a:solidFill>
                <a:latin typeface="Consolas"/>
              </a:rPr>
              <a:t>inji-vci-client</a:t>
            </a:r>
            <a:r>
              <a:rPr sz="1030" b="0" i="0">
                <a:solidFill>
                  <a:srgbClr val="0F172A"/>
                </a:solidFill>
                <a:latin typeface="Arial"/>
              </a:rPr>
              <a:t> asks for a signature through </a:t>
            </a:r>
            <a:r>
              <a:rPr sz="1030" b="0" i="0">
                <a:solidFill>
                  <a:srgbClr val="1D4E89"/>
                </a:solidFill>
                <a:latin typeface="Consolas"/>
              </a:rPr>
              <a:t>getProofJwt</a:t>
            </a:r>
            <a:r>
              <a:rPr sz="1030" b="0" i="0">
                <a:solidFill>
                  <a:srgbClr val="0F172A"/>
                </a:solidFill>
                <a:latin typeface="Arial"/>
              </a:rPr>
              <a:t>; it never sees key material.</a:t>
            </a:r>
          </a:p>
        </p:txBody>
      </p:sp>
      <p:sp>
        <p:nvSpPr>
          <p:cNvPr id="17" name="Oval 16"/>
          <p:cNvSpPr/>
          <p:nvPr/>
        </p:nvSpPr>
        <p:spPr>
          <a:xfrm>
            <a:off x="6396228" y="3598205"/>
            <a:ext cx="77724" cy="7662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3530494"/>
            <a:ext cx="5102351" cy="600382"/>
          </a:xfrm>
          <a:prstGeom prst="rect">
            <a:avLst/>
          </a:prstGeom>
          <a:noFill/>
        </p:spPr>
        <p:txBody>
          <a:bodyPr wrap="square" lIns="0" rIns="0" tIns="0" bIns="0" anchor="t">
            <a:spAutoFit/>
          </a:bodyPr>
          <a:lstStyle/>
          <a:p>
            <a:pPr algn="l">
              <a:lnSpc>
                <a:spcPct val="124000"/>
              </a:lnSpc>
              <a:spcBef>
                <a:spcPts val="0"/>
              </a:spcBef>
              <a:spcAft>
                <a:spcPts val="0"/>
              </a:spcAft>
            </a:pPr>
            <a:r>
              <a:rPr sz="1030" b="0" i="0">
                <a:solidFill>
                  <a:srgbClr val="0F172A"/>
                </a:solidFill>
                <a:latin typeface="Arial"/>
              </a:rPr>
              <a:t>The algorithm must be one of </a:t>
            </a:r>
            <a:r>
              <a:rPr sz="1030" b="0" i="0">
                <a:solidFill>
                  <a:srgbClr val="1D4E89"/>
                </a:solidFill>
                <a:latin typeface="Consolas"/>
              </a:rPr>
              <a:t>proof_signing_alg_values_supported</a:t>
            </a:r>
            <a:r>
              <a:rPr sz="1030" b="0" i="0">
                <a:solidFill>
                  <a:srgbClr val="0F172A"/>
                </a:solidFill>
                <a:latin typeface="Arial"/>
              </a:rPr>
              <a:t> from the issuer metadata. Inji supports </a:t>
            </a:r>
            <a:r>
              <a:rPr sz="1030" b="0" i="0">
                <a:solidFill>
                  <a:srgbClr val="1D4E89"/>
                </a:solidFill>
                <a:latin typeface="Consolas"/>
              </a:rPr>
              <a:t>RS256</a:t>
            </a:r>
            <a:r>
              <a:rPr sz="1030" b="0" i="0">
                <a:solidFill>
                  <a:srgbClr val="0F172A"/>
                </a:solidFill>
                <a:latin typeface="Arial"/>
              </a:rPr>
              <a:t>, </a:t>
            </a:r>
            <a:r>
              <a:rPr sz="1030" b="0" i="0">
                <a:solidFill>
                  <a:srgbClr val="1D4E89"/>
                </a:solidFill>
                <a:latin typeface="Consolas"/>
              </a:rPr>
              <a:t>ES256</a:t>
            </a:r>
            <a:r>
              <a:rPr sz="1030" b="0" i="0">
                <a:solidFill>
                  <a:srgbClr val="0F172A"/>
                </a:solidFill>
                <a:latin typeface="Arial"/>
              </a:rPr>
              <a:t>, </a:t>
            </a:r>
            <a:r>
              <a:rPr sz="1030" b="0" i="0">
                <a:solidFill>
                  <a:srgbClr val="1D4E89"/>
                </a:solidFill>
                <a:latin typeface="Consolas"/>
              </a:rPr>
              <a:t>ES256K</a:t>
            </a:r>
            <a:r>
              <a:rPr sz="1030" b="0" i="0">
                <a:solidFill>
                  <a:srgbClr val="0F172A"/>
                </a:solidFill>
                <a:latin typeface="Arial"/>
              </a:rPr>
              <a:t>, </a:t>
            </a:r>
            <a:r>
              <a:rPr sz="1030" b="0" i="0">
                <a:solidFill>
                  <a:srgbClr val="1D4E89"/>
                </a:solidFill>
                <a:latin typeface="Consolas"/>
              </a:rPr>
              <a:t>Ed25519</a:t>
            </a:r>
            <a:r>
              <a:rPr sz="1030" b="0" i="0">
                <a:solidFill>
                  <a:srgbClr val="0F172A"/>
                </a:solidFill>
                <a:latin typeface="Arial"/>
              </a:rPr>
              <a:t>.</a:t>
            </a:r>
          </a:p>
        </p:txBody>
      </p:sp>
      <p:sp>
        <p:nvSpPr>
          <p:cNvPr id="19" name="Rounded Rectangle 18"/>
          <p:cNvSpPr/>
          <p:nvPr/>
        </p:nvSpPr>
        <p:spPr>
          <a:xfrm>
            <a:off x="502920" y="4244463"/>
            <a:ext cx="5577840" cy="2028320"/>
          </a:xfrm>
          <a:prstGeom prst="roundRect">
            <a:avLst>
              <a:gd name="adj" fmla="val 45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244463"/>
            <a:ext cx="50292" cy="2028320"/>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4388699"/>
            <a:ext cx="5193792" cy="270442"/>
          </a:xfrm>
          <a:prstGeom prst="rect">
            <a:avLst/>
          </a:prstGeom>
          <a:noFill/>
        </p:spPr>
        <p:txBody>
          <a:bodyPr wrap="square" lIns="0" rIns="0" tIns="0" bIns="0" anchor="t">
            <a:spAutoFit/>
          </a:bodyPr>
          <a:lstStyle/>
          <a:p>
            <a:pPr algn="l">
              <a:lnSpc>
                <a:spcPct val="114000"/>
              </a:lnSpc>
              <a:spcBef>
                <a:spcPts val="0"/>
              </a:spcBef>
              <a:spcAft>
                <a:spcPts val="0"/>
              </a:spcAft>
            </a:pPr>
            <a:r>
              <a:rPr sz="1190" b="1" i="0">
                <a:solidFill>
                  <a:srgbClr val="15703D"/>
                </a:solidFill>
              </a:rPr>
              <a:t>Key attestation — what it adds</a:t>
            </a:r>
          </a:p>
        </p:txBody>
      </p:sp>
      <p:sp>
        <p:nvSpPr>
          <p:cNvPr id="22" name="Oval 21"/>
          <p:cNvSpPr/>
          <p:nvPr/>
        </p:nvSpPr>
        <p:spPr>
          <a:xfrm>
            <a:off x="745236" y="4680476"/>
            <a:ext cx="77724" cy="7662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614068"/>
            <a:ext cx="4965191" cy="590917"/>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A statement from the </a:t>
            </a:r>
            <a:r>
              <a:rPr sz="1010" b="1" i="0">
                <a:solidFill>
                  <a:srgbClr val="0F172A"/>
                </a:solidFill>
                <a:latin typeface="Arial"/>
              </a:rPr>
              <a:t>platform</a:t>
            </a:r>
            <a:r>
              <a:rPr sz="1010" b="0" i="0">
                <a:solidFill>
                  <a:srgbClr val="0F172A"/>
                </a:solidFill>
                <a:latin typeface="Arial"/>
              </a:rPr>
              <a:t> (Android Key Attestation, Play Integrity, iOS App Attest) that a key was generated inside real hardware on a genuine device.</a:t>
            </a:r>
          </a:p>
        </p:txBody>
      </p:sp>
      <p:sp>
        <p:nvSpPr>
          <p:cNvPr id="24" name="Oval 23"/>
          <p:cNvSpPr/>
          <p:nvPr/>
        </p:nvSpPr>
        <p:spPr>
          <a:xfrm>
            <a:off x="745236" y="5239843"/>
            <a:ext cx="77724" cy="7662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173434"/>
            <a:ext cx="4965191" cy="430003"/>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It answers: *is this key protected?* and *is this a real app on a real device?*</a:t>
            </a:r>
          </a:p>
        </p:txBody>
      </p:sp>
      <p:sp>
        <p:nvSpPr>
          <p:cNvPr id="26" name="Oval 25"/>
          <p:cNvSpPr/>
          <p:nvPr/>
        </p:nvSpPr>
        <p:spPr>
          <a:xfrm>
            <a:off x="745236" y="5638294"/>
            <a:ext cx="77724" cy="7662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5571886"/>
            <a:ext cx="4965191" cy="430003"/>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Mimoto exposes endpoints for attestation verification (</a:t>
            </a:r>
            <a:r>
              <a:rPr sz="1010" b="0" i="0">
                <a:solidFill>
                  <a:srgbClr val="1D4E89"/>
                </a:solidFill>
                <a:latin typeface="Consolas"/>
              </a:rPr>
              <a:t>/safetynet/online/verify</a:t>
            </a:r>
            <a:r>
              <a:rPr sz="1010" b="0" i="0">
                <a:solidFill>
                  <a:srgbClr val="0F172A"/>
                </a:solidFill>
                <a:latin typeface="Arial"/>
              </a:rPr>
              <a:t>, </a:t>
            </a:r>
            <a:r>
              <a:rPr sz="1010" b="0" i="0">
                <a:solidFill>
                  <a:srgbClr val="1D4E89"/>
                </a:solidFill>
                <a:latin typeface="Consolas"/>
              </a:rPr>
              <a:t>/safetynet/offline/verify</a:t>
            </a:r>
            <a:r>
              <a:rPr sz="1010" b="0" i="0">
                <a:solidFill>
                  <a:srgbClr val="0F172A"/>
                </a:solidFill>
                <a:latin typeface="Arial"/>
              </a:rPr>
              <a:t>).</a:t>
            </a:r>
          </a:p>
        </p:txBody>
      </p:sp>
      <p:sp>
        <p:nvSpPr>
          <p:cNvPr id="28" name="Rounded Rectangle 27"/>
          <p:cNvSpPr/>
          <p:nvPr/>
        </p:nvSpPr>
        <p:spPr>
          <a:xfrm>
            <a:off x="6373368" y="4244463"/>
            <a:ext cx="5312664" cy="2028320"/>
          </a:xfrm>
          <a:prstGeom prst="roundRect">
            <a:avLst>
              <a:gd name="adj" fmla="val 45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3368" y="4244463"/>
            <a:ext cx="50292" cy="20283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11112" y="4388699"/>
            <a:ext cx="4928616" cy="270442"/>
          </a:xfrm>
          <a:prstGeom prst="rect">
            <a:avLst/>
          </a:prstGeom>
          <a:noFill/>
        </p:spPr>
        <p:txBody>
          <a:bodyPr wrap="square" lIns="0" rIns="0" tIns="0" bIns="0" anchor="t">
            <a:spAutoFit/>
          </a:bodyPr>
          <a:lstStyle/>
          <a:p>
            <a:pPr algn="l">
              <a:lnSpc>
                <a:spcPct val="114000"/>
              </a:lnSpc>
              <a:spcBef>
                <a:spcPts val="0"/>
              </a:spcBef>
              <a:spcAft>
                <a:spcPts val="0"/>
              </a:spcAft>
            </a:pPr>
            <a:r>
              <a:rPr sz="1190" b="1" i="0">
                <a:solidFill>
                  <a:srgbClr val="B45309"/>
                </a:solidFill>
              </a:rPr>
              <a:t>Why it does not replace the proof</a:t>
            </a:r>
          </a:p>
        </p:txBody>
      </p:sp>
      <p:sp>
        <p:nvSpPr>
          <p:cNvPr id="31" name="Oval 30"/>
          <p:cNvSpPr/>
          <p:nvPr/>
        </p:nvSpPr>
        <p:spPr>
          <a:xfrm>
            <a:off x="6615684" y="4680476"/>
            <a:ext cx="77724" cy="76625"/>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03136" y="4614068"/>
            <a:ext cx="4700015" cy="590917"/>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Attestation says *a key exists and is well protected*. The credential request proof says *I control this key, right now, for this issuer, with this nonce*.</a:t>
            </a:r>
          </a:p>
        </p:txBody>
      </p:sp>
      <p:sp>
        <p:nvSpPr>
          <p:cNvPr id="33" name="Oval 32"/>
          <p:cNvSpPr/>
          <p:nvPr/>
        </p:nvSpPr>
        <p:spPr>
          <a:xfrm>
            <a:off x="6615684" y="5239843"/>
            <a:ext cx="77724" cy="76625"/>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03136" y="5173434"/>
            <a:ext cx="4700015" cy="430003"/>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Attestation has no </a:t>
            </a:r>
            <a:r>
              <a:rPr sz="1010" b="0" i="0">
                <a:solidFill>
                  <a:srgbClr val="1D4E89"/>
                </a:solidFill>
                <a:latin typeface="Consolas"/>
              </a:rPr>
              <a:t>aud</a:t>
            </a:r>
            <a:r>
              <a:rPr sz="1010" b="0" i="0">
                <a:solidFill>
                  <a:srgbClr val="0F172A"/>
                </a:solidFill>
                <a:latin typeface="Arial"/>
              </a:rPr>
              <a:t> and no </a:t>
            </a:r>
            <a:r>
              <a:rPr sz="1010" b="0" i="0">
                <a:solidFill>
                  <a:srgbClr val="1D4E89"/>
                </a:solidFill>
                <a:latin typeface="Consolas"/>
              </a:rPr>
              <a:t>c_nonce</a:t>
            </a:r>
            <a:r>
              <a:rPr sz="1010" b="0" i="0">
                <a:solidFill>
                  <a:srgbClr val="0F172A"/>
                </a:solidFill>
                <a:latin typeface="Arial"/>
              </a:rPr>
              <a:t> binding to this issuance.</a:t>
            </a:r>
          </a:p>
        </p:txBody>
      </p:sp>
      <p:sp>
        <p:nvSpPr>
          <p:cNvPr id="35" name="Oval 34"/>
          <p:cNvSpPr/>
          <p:nvPr/>
        </p:nvSpPr>
        <p:spPr>
          <a:xfrm>
            <a:off x="6615684" y="5638294"/>
            <a:ext cx="77724" cy="76625"/>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03136" y="5571886"/>
            <a:ext cx="4700015" cy="430003"/>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OpenID4VCI requires the proof when the issuer asks for one. Attestation is an </a:t>
            </a:r>
            <a:r>
              <a:rPr sz="1010" b="1" i="0">
                <a:solidFill>
                  <a:srgbClr val="0F172A"/>
                </a:solidFill>
                <a:latin typeface="Arial"/>
              </a:rPr>
              <a:t>additional</a:t>
            </a:r>
            <a:r>
              <a:rPr sz="1010" b="0" i="0">
                <a:solidFill>
                  <a:srgbClr val="0F172A"/>
                </a:solidFill>
                <a:latin typeface="Arial"/>
              </a:rPr>
              <a:t> signal the issuer may demand on top.</a:t>
            </a:r>
          </a:p>
        </p:txBody>
      </p:sp>
      <p:sp>
        <p:nvSpPr>
          <p:cNvPr id="37" name="TextBox 3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PKCE, DPoP, proofs and binding</a:t>
            </a:r>
          </a:p>
        </p:txBody>
      </p:sp>
      <p:sp>
        <p:nvSpPr>
          <p:cNvPr id="38" name="TextBox 3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CONSEQUENCES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Bound and unbound credentials — and an exercise</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Whether a credential is bound to a key changes what a verifier can conclude from it.</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82496"/>
          <a:ext cx="6675120" cy="3054096"/>
        </p:xfrm>
        <a:graphic>
          <a:graphicData uri="http://schemas.openxmlformats.org/drawingml/2006/table">
            <a:tbl>
              <a:tblPr firstRow="1">
                <a:tableStyleId>{2D5ABB26-0587-4C30-8999-92F81FD0307C}</a:tableStyleId>
              </a:tblPr>
              <a:tblGrid>
                <a:gridCol w="2743200"/>
                <a:gridCol w="2194560"/>
                <a:gridCol w="1737360"/>
              </a:tblGrid>
              <a:tr h="310896">
                <a:tc>
                  <a:txBody>
                    <a:bodyPr wrap="square"/>
                    <a:lstStyle/>
                    <a:p>
                      <a:pPr algn="l"/>
                      <a:r>
                        <a:rPr sz="950" b="1">
                          <a:solidFill>
                            <a:srgbClr val="FFFFFF"/>
                          </a:solidFill>
                          <a:latin typeface="Arial"/>
                        </a:rPr>
                        <a:t>Property</a:t>
                      </a:r>
                    </a:p>
                  </a:txBody>
                  <a:tcPr marL="64008" marR="54864" marT="27432" marB="27432" anchor="ctr">
                    <a:solidFill>
                      <a:srgbClr val="1D4E89"/>
                    </a:solidFill>
                  </a:tcPr>
                </a:tc>
                <a:tc>
                  <a:txBody>
                    <a:bodyPr wrap="square"/>
                    <a:lstStyle/>
                    <a:p>
                      <a:pPr algn="l"/>
                      <a:r>
                        <a:rPr sz="950" b="1">
                          <a:solidFill>
                            <a:srgbClr val="FFFFFF"/>
                          </a:solidFill>
                          <a:latin typeface="Arial"/>
                        </a:rPr>
                        <a:t>Bound credential</a:t>
                      </a:r>
                    </a:p>
                  </a:txBody>
                  <a:tcPr marL="64008" marR="54864" marT="27432" marB="27432" anchor="ctr">
                    <a:solidFill>
                      <a:srgbClr val="1D4E89"/>
                    </a:solidFill>
                  </a:tcPr>
                </a:tc>
                <a:tc>
                  <a:txBody>
                    <a:bodyPr wrap="square"/>
                    <a:lstStyle/>
                    <a:p>
                      <a:pPr algn="l"/>
                      <a:r>
                        <a:rPr sz="950" b="1">
                          <a:solidFill>
                            <a:srgbClr val="FFFFFF"/>
                          </a:solidFill>
                          <a:latin typeface="Arial"/>
                        </a:rPr>
                        <a:t>Unbound credential</a:t>
                      </a:r>
                    </a:p>
                  </a:txBody>
                  <a:tcPr marL="64008" marR="54864" marT="27432" marB="27432" anchor="ctr">
                    <a:solidFill>
                      <a:srgbClr val="1D4E89"/>
                    </a:solidFill>
                  </a:tcPr>
                </a:tc>
              </a:tr>
              <a:tr h="457200">
                <a:tc>
                  <a:txBody>
                    <a:bodyPr wrap="square"/>
                    <a:lstStyle/>
                    <a:p>
                      <a:pPr algn="l">
                        <a:lnSpc>
                          <a:spcPct val="105000"/>
                        </a:lnSpc>
                      </a:pPr>
                      <a:r>
                        <a:rPr sz="940" b="0">
                          <a:solidFill>
                            <a:srgbClr val="1E293B"/>
                          </a:solidFill>
                          <a:latin typeface="Arial"/>
                        </a:rPr>
                        <a:t>Contains a holder key reference</a:t>
                      </a:r>
                    </a:p>
                  </a:txBody>
                  <a:tcPr marL="64008" marR="54864" marT="18288" marB="18288" anchor="ctr">
                    <a:solidFill>
                      <a:srgbClr val="FFFFFF"/>
                    </a:solidFill>
                  </a:tcPr>
                </a:tc>
                <a:tc>
                  <a:txBody>
                    <a:bodyPr wrap="square"/>
                    <a:lstStyle/>
                    <a:p>
                      <a:pPr algn="l">
                        <a:lnSpc>
                          <a:spcPct val="105000"/>
                        </a:lnSpc>
                      </a:pPr>
                      <a:r>
                        <a:rPr sz="940" b="1">
                          <a:solidFill>
                            <a:srgbClr val="15703D"/>
                          </a:solidFill>
                          <a:latin typeface="Arial"/>
                        </a:rPr>
                        <a:t>Yes — </a:t>
                      </a:r>
                      <a:r>
                        <a:rPr sz="940" b="1">
                          <a:solidFill>
                            <a:srgbClr val="15703D"/>
                          </a:solidFill>
                          <a:latin typeface="Consolas"/>
                        </a:rPr>
                        <a:t>cnf</a:t>
                      </a:r>
                      <a:r>
                        <a:rPr sz="940" b="1">
                          <a:solidFill>
                            <a:srgbClr val="15703D"/>
                          </a:solidFill>
                          <a:latin typeface="Arial"/>
                        </a:rPr>
                        <a:t>, device key, or subject id</a:t>
                      </a:r>
                    </a:p>
                  </a:txBody>
                  <a:tcPr marL="64008" marR="54864" marT="18288" marB="18288" anchor="ctr">
                    <a:solidFill>
                      <a:srgbClr val="FFFFFF"/>
                    </a:solidFill>
                  </a:tcPr>
                </a:tc>
                <a:tc>
                  <a:txBody>
                    <a:bodyPr wrap="square"/>
                    <a:lstStyle/>
                    <a:p>
                      <a:pPr algn="l">
                        <a:lnSpc>
                          <a:spcPct val="105000"/>
                        </a:lnSpc>
                      </a:pPr>
                      <a:r>
                        <a:rPr sz="940" b="1">
                          <a:solidFill>
                            <a:srgbClr val="B31B1B"/>
                          </a:solidFill>
                          <a:latin typeface="Arial"/>
                        </a:rPr>
                        <a:t>No</a:t>
                      </a:r>
                    </a:p>
                  </a:txBody>
                  <a:tcPr marL="64008" marR="54864" marT="18288" marB="18288" anchor="ctr">
                    <a:solidFill>
                      <a:srgbClr val="FFFFFF"/>
                    </a:solidFill>
                  </a:tcPr>
                </a:tc>
              </a:tr>
              <a:tr h="457200">
                <a:tc>
                  <a:txBody>
                    <a:bodyPr wrap="square"/>
                    <a:lstStyle/>
                    <a:p>
                      <a:pPr algn="l">
                        <a:lnSpc>
                          <a:spcPct val="105000"/>
                        </a:lnSpc>
                      </a:pPr>
                      <a:r>
                        <a:rPr sz="940" b="0">
                          <a:solidFill>
                            <a:srgbClr val="1E293B"/>
                          </a:solidFill>
                          <a:latin typeface="Arial"/>
                        </a:rPr>
                        <a:t>Wallet signs at presentation</a:t>
                      </a:r>
                    </a:p>
                  </a:txBody>
                  <a:tcPr marL="64008" marR="54864" marT="18288" marB="18288" anchor="ctr">
                    <a:solidFill>
                      <a:srgbClr val="F3F6F9"/>
                    </a:solidFill>
                  </a:tcPr>
                </a:tc>
                <a:tc>
                  <a:txBody>
                    <a:bodyPr wrap="square"/>
                    <a:lstStyle/>
                    <a:p>
                      <a:pPr algn="l">
                        <a:lnSpc>
                          <a:spcPct val="105000"/>
                        </a:lnSpc>
                      </a:pPr>
                      <a:r>
                        <a:rPr sz="940" b="1">
                          <a:solidFill>
                            <a:srgbClr val="15703D"/>
                          </a:solidFill>
                          <a:latin typeface="Arial"/>
                        </a:rPr>
                        <a:t>Yes — KB-JWT / DeviceSignature / VP proof</a:t>
                      </a:r>
                    </a:p>
                  </a:txBody>
                  <a:tcPr marL="64008" marR="54864" marT="18288" marB="18288" anchor="ctr">
                    <a:solidFill>
                      <a:srgbClr val="F3F6F9"/>
                    </a:solidFill>
                  </a:tcPr>
                </a:tc>
                <a:tc>
                  <a:txBody>
                    <a:bodyPr wrap="square"/>
                    <a:lstStyle/>
                    <a:p>
                      <a:pPr algn="l">
                        <a:lnSpc>
                          <a:spcPct val="105000"/>
                        </a:lnSpc>
                      </a:pPr>
                      <a:r>
                        <a:rPr sz="940" b="1">
                          <a:solidFill>
                            <a:srgbClr val="B31B1B"/>
                          </a:solidFill>
                          <a:latin typeface="Arial"/>
                        </a:rPr>
                        <a:t>No signature from the holder</a:t>
                      </a:r>
                    </a:p>
                  </a:txBody>
                  <a:tcPr marL="64008" marR="54864" marT="18288" marB="18288" anchor="ctr">
                    <a:solidFill>
                      <a:srgbClr val="F3F6F9"/>
                    </a:solidFill>
                  </a:tcPr>
                </a:tc>
              </a:tr>
              <a:tr h="457200">
                <a:tc>
                  <a:txBody>
                    <a:bodyPr wrap="square"/>
                    <a:lstStyle/>
                    <a:p>
                      <a:pPr algn="l">
                        <a:lnSpc>
                          <a:spcPct val="105000"/>
                        </a:lnSpc>
                      </a:pPr>
                      <a:r>
                        <a:rPr sz="940" b="0">
                          <a:solidFill>
                            <a:srgbClr val="1E293B"/>
                          </a:solidFill>
                          <a:latin typeface="Arial"/>
                        </a:rPr>
                        <a:t>A copied credential is useful to a thief</a:t>
                      </a:r>
                    </a:p>
                  </a:txBody>
                  <a:tcPr marL="64008" marR="54864" marT="18288" marB="18288" anchor="ctr">
                    <a:solidFill>
                      <a:srgbClr val="FFFFFF"/>
                    </a:solidFill>
                  </a:tcPr>
                </a:tc>
                <a:tc>
                  <a:txBody>
                    <a:bodyPr wrap="square"/>
                    <a:lstStyle/>
                    <a:p>
                      <a:pPr algn="l">
                        <a:lnSpc>
                          <a:spcPct val="105000"/>
                        </a:lnSpc>
                      </a:pPr>
                      <a:r>
                        <a:rPr sz="940" b="1">
                          <a:solidFill>
                            <a:srgbClr val="15703D"/>
                          </a:solidFill>
                          <a:latin typeface="Arial"/>
                        </a:rPr>
                        <a:t>No — they lack the private key</a:t>
                      </a:r>
                    </a:p>
                  </a:txBody>
                  <a:tcPr marL="64008" marR="54864" marT="18288" marB="18288" anchor="ctr">
                    <a:solidFill>
                      <a:srgbClr val="FFFFFF"/>
                    </a:solidFill>
                  </a:tcPr>
                </a:tc>
                <a:tc>
                  <a:txBody>
                    <a:bodyPr wrap="square"/>
                    <a:lstStyle/>
                    <a:p>
                      <a:pPr algn="l">
                        <a:lnSpc>
                          <a:spcPct val="105000"/>
                        </a:lnSpc>
                      </a:pPr>
                      <a:r>
                        <a:rPr sz="940" b="1">
                          <a:solidFill>
                            <a:srgbClr val="B31B1B"/>
                          </a:solidFill>
                          <a:latin typeface="Arial"/>
                        </a:rPr>
                        <a:t>Yes — it is a bearer document</a:t>
                      </a:r>
                    </a:p>
                  </a:txBody>
                  <a:tcPr marL="64008" marR="54864" marT="18288" marB="18288" anchor="ctr">
                    <a:solidFill>
                      <a:srgbClr val="FFFFFF"/>
                    </a:solidFill>
                  </a:tcPr>
                </a:tc>
              </a:tr>
              <a:tr h="457200">
                <a:tc>
                  <a:txBody>
                    <a:bodyPr wrap="square"/>
                    <a:lstStyle/>
                    <a:p>
                      <a:pPr algn="l">
                        <a:lnSpc>
                          <a:spcPct val="105000"/>
                        </a:lnSpc>
                      </a:pPr>
                      <a:r>
                        <a:rPr sz="940" b="0">
                          <a:solidFill>
                            <a:srgbClr val="1E293B"/>
                          </a:solidFill>
                          <a:latin typeface="Arial"/>
                        </a:rPr>
                        <a:t>Verifier can prove 'presenter == holder'</a:t>
                      </a:r>
                    </a:p>
                  </a:txBody>
                  <a:tcPr marL="64008" marR="54864" marT="18288" marB="18288" anchor="ctr">
                    <a:solidFill>
                      <a:srgbClr val="F3F6F9"/>
                    </a:solidFill>
                  </a:tcPr>
                </a:tc>
                <a:tc>
                  <a:txBody>
                    <a:bodyPr wrap="square"/>
                    <a:lstStyle/>
                    <a:p>
                      <a:pPr algn="l">
                        <a:lnSpc>
                          <a:spcPct val="105000"/>
                        </a:lnSpc>
                      </a:pPr>
                      <a:r>
                        <a:rPr sz="940" b="1">
                          <a:solidFill>
                            <a:srgbClr val="15703D"/>
                          </a:solidFill>
                          <a:latin typeface="Arial"/>
                        </a:rPr>
                        <a:t>Yes</a:t>
                      </a:r>
                    </a:p>
                  </a:txBody>
                  <a:tcPr marL="64008" marR="54864" marT="18288" marB="18288" anchor="ctr">
                    <a:solidFill>
                      <a:srgbClr val="F3F6F9"/>
                    </a:solidFill>
                  </a:tcPr>
                </a:tc>
                <a:tc>
                  <a:txBody>
                    <a:bodyPr wrap="square"/>
                    <a:lstStyle/>
                    <a:p>
                      <a:pPr algn="l">
                        <a:lnSpc>
                          <a:spcPct val="105000"/>
                        </a:lnSpc>
                      </a:pPr>
                      <a:r>
                        <a:rPr sz="940" b="1">
                          <a:solidFill>
                            <a:srgbClr val="B31B1B"/>
                          </a:solidFill>
                          <a:latin typeface="Arial"/>
                        </a:rPr>
                        <a:t>No — only 'this is a valid credential'</a:t>
                      </a:r>
                    </a:p>
                  </a:txBody>
                  <a:tcPr marL="64008" marR="54864" marT="18288" marB="18288" anchor="ctr">
                    <a:solidFill>
                      <a:srgbClr val="F3F6F9"/>
                    </a:solidFill>
                  </a:tcPr>
                </a:tc>
              </a:tr>
              <a:tr h="457200">
                <a:tc>
                  <a:txBody>
                    <a:bodyPr wrap="square"/>
                    <a:lstStyle/>
                    <a:p>
                      <a:pPr algn="l">
                        <a:lnSpc>
                          <a:spcPct val="105000"/>
                        </a:lnSpc>
                      </a:pPr>
                      <a:r>
                        <a:rPr sz="940" b="0">
                          <a:solidFill>
                            <a:srgbClr val="1E293B"/>
                          </a:solidFill>
                          <a:latin typeface="Arial"/>
                        </a:rPr>
                        <a:t>Works for anonymous / low-assurance use</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Overkill</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Fine — e.g. a public transport concession</a:t>
                      </a:r>
                    </a:p>
                  </a:txBody>
                  <a:tcPr marL="64008" marR="54864" marT="18288" marB="18288" anchor="ctr">
                    <a:solidFill>
                      <a:srgbClr val="FFFFFF"/>
                    </a:solidFill>
                  </a:tcPr>
                </a:tc>
              </a:tr>
              <a:tr h="457200">
                <a:tc>
                  <a:txBody>
                    <a:bodyPr wrap="square"/>
                    <a:lstStyle/>
                    <a:p>
                      <a:pPr algn="l">
                        <a:lnSpc>
                          <a:spcPct val="105000"/>
                        </a:lnSpc>
                      </a:pPr>
                      <a:r>
                        <a:rPr sz="940" b="0">
                          <a:solidFill>
                            <a:srgbClr val="1E293B"/>
                          </a:solidFill>
                          <a:latin typeface="Arial"/>
                        </a:rPr>
                        <a:t>Cost</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Key management, hardware constraints, device loss handling</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Almost none</a:t>
                      </a:r>
                    </a:p>
                  </a:txBody>
                  <a:tcPr marL="64008" marR="54864" marT="18288" marB="18288" anchor="ctr">
                    <a:solidFill>
                      <a:srgbClr val="F3F6F9"/>
                    </a:solidFill>
                  </a:tcPr>
                </a:tc>
              </a:tr>
            </a:tbl>
          </a:graphicData>
        </a:graphic>
      </p:graphicFrame>
      <p:sp>
        <p:nvSpPr>
          <p:cNvPr id="7" name="Rounded Rectangle 6"/>
          <p:cNvSpPr/>
          <p:nvPr/>
        </p:nvSpPr>
        <p:spPr>
          <a:xfrm>
            <a:off x="7470648" y="1682496"/>
            <a:ext cx="4215384" cy="3054096"/>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70648" y="1682496"/>
            <a:ext cx="50292" cy="30540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08392" y="1828800"/>
            <a:ext cx="3831336"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Exercise 3 — inspect a proof</a:t>
            </a:r>
          </a:p>
        </p:txBody>
      </p:sp>
      <p:sp>
        <p:nvSpPr>
          <p:cNvPr id="10" name="Oval 9"/>
          <p:cNvSpPr/>
          <p:nvPr/>
        </p:nvSpPr>
        <p:spPr>
          <a:xfrm>
            <a:off x="7712964" y="212476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0416" y="2057400"/>
            <a:ext cx="3602736"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Take the proof JWT from a real issuance (logs or a proxy).</a:t>
            </a:r>
          </a:p>
        </p:txBody>
      </p:sp>
      <p:sp>
        <p:nvSpPr>
          <p:cNvPr id="12" name="Oval 11"/>
          <p:cNvSpPr/>
          <p:nvPr/>
        </p:nvSpPr>
        <p:spPr>
          <a:xfrm>
            <a:off x="7712964" y="252892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0416" y="2461564"/>
            <a:ext cx="3602736"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Decode it. Find </a:t>
            </a:r>
            <a:r>
              <a:rPr sz="1019" b="0" i="0">
                <a:solidFill>
                  <a:srgbClr val="1D4E89"/>
                </a:solidFill>
                <a:latin typeface="Consolas"/>
              </a:rPr>
              <a:t>typ</a:t>
            </a:r>
            <a:r>
              <a:rPr sz="1019" b="0" i="0">
                <a:solidFill>
                  <a:srgbClr val="0F172A"/>
                </a:solidFill>
                <a:latin typeface="Arial"/>
              </a:rPr>
              <a:t>, </a:t>
            </a:r>
            <a:r>
              <a:rPr sz="1019" b="0" i="0">
                <a:solidFill>
                  <a:srgbClr val="1D4E89"/>
                </a:solidFill>
                <a:latin typeface="Consolas"/>
              </a:rPr>
              <a:t>alg</a:t>
            </a:r>
            <a:r>
              <a:rPr sz="1019" b="0" i="0">
                <a:solidFill>
                  <a:srgbClr val="0F172A"/>
                </a:solidFill>
                <a:latin typeface="Arial"/>
              </a:rPr>
              <a:t>, </a:t>
            </a:r>
            <a:r>
              <a:rPr sz="1019" b="0" i="0">
                <a:solidFill>
                  <a:srgbClr val="1D4E89"/>
                </a:solidFill>
                <a:latin typeface="Consolas"/>
              </a:rPr>
              <a:t>jwk</a:t>
            </a:r>
            <a:r>
              <a:rPr sz="1019" b="0" i="0">
                <a:solidFill>
                  <a:srgbClr val="0F172A"/>
                </a:solidFill>
                <a:latin typeface="Arial"/>
              </a:rPr>
              <a:t>, </a:t>
            </a:r>
            <a:r>
              <a:rPr sz="1019" b="0" i="0">
                <a:solidFill>
                  <a:srgbClr val="1D4E89"/>
                </a:solidFill>
                <a:latin typeface="Consolas"/>
              </a:rPr>
              <a:t>aud</a:t>
            </a:r>
            <a:r>
              <a:rPr sz="1019" b="0" i="0">
                <a:solidFill>
                  <a:srgbClr val="0F172A"/>
                </a:solidFill>
                <a:latin typeface="Arial"/>
              </a:rPr>
              <a:t>, </a:t>
            </a:r>
            <a:r>
              <a:rPr sz="1019" b="0" i="0">
                <a:solidFill>
                  <a:srgbClr val="1D4E89"/>
                </a:solidFill>
                <a:latin typeface="Consolas"/>
              </a:rPr>
              <a:t>nonce</a:t>
            </a:r>
            <a:r>
              <a:rPr sz="1019" b="0" i="0">
                <a:solidFill>
                  <a:srgbClr val="0F172A"/>
                </a:solidFill>
                <a:latin typeface="Arial"/>
              </a:rPr>
              <a:t>.</a:t>
            </a:r>
          </a:p>
        </p:txBody>
      </p:sp>
      <p:sp>
        <p:nvSpPr>
          <p:cNvPr id="14" name="Oval 13"/>
          <p:cNvSpPr/>
          <p:nvPr/>
        </p:nvSpPr>
        <p:spPr>
          <a:xfrm>
            <a:off x="7712964" y="293309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0416" y="2865729"/>
            <a:ext cx="3602736"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Answer: which issuer is this proof valid for, and which single issuance?</a:t>
            </a:r>
          </a:p>
        </p:txBody>
      </p:sp>
      <p:sp>
        <p:nvSpPr>
          <p:cNvPr id="16" name="Oval 15"/>
          <p:cNvSpPr/>
          <p:nvPr/>
        </p:nvSpPr>
        <p:spPr>
          <a:xfrm>
            <a:off x="7712964" y="333725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416" y="3269894"/>
            <a:ext cx="3602736"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Now change </a:t>
            </a:r>
            <a:r>
              <a:rPr sz="1019" b="0" i="0">
                <a:solidFill>
                  <a:srgbClr val="1D4E89"/>
                </a:solidFill>
                <a:latin typeface="Consolas"/>
              </a:rPr>
              <a:t>aud</a:t>
            </a:r>
            <a:r>
              <a:rPr sz="1019" b="0" i="0">
                <a:solidFill>
                  <a:srgbClr val="0F172A"/>
                </a:solidFill>
                <a:latin typeface="Arial"/>
              </a:rPr>
              <a:t> to another issuer and replay it. What should happen, and what actually happens?</a:t>
            </a:r>
          </a:p>
        </p:txBody>
      </p:sp>
      <p:sp>
        <p:nvSpPr>
          <p:cNvPr id="18" name="Oval 17"/>
          <p:cNvSpPr/>
          <p:nvPr/>
        </p:nvSpPr>
        <p:spPr>
          <a:xfrm>
            <a:off x="7712964" y="390464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416" y="3837279"/>
            <a:ext cx="3602736"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Write down which component rejected it — that is the skill we are building.</a:t>
            </a:r>
          </a:p>
        </p:txBody>
      </p:sp>
      <p:sp>
        <p:nvSpPr>
          <p:cNvPr id="20" name="Rounded Rectangle 19"/>
          <p:cNvSpPr/>
          <p:nvPr/>
        </p:nvSpPr>
        <p:spPr>
          <a:xfrm>
            <a:off x="502920" y="4974336"/>
            <a:ext cx="11185855" cy="532892"/>
          </a:xfrm>
          <a:prstGeom prst="roundRect">
            <a:avLst>
              <a:gd name="adj" fmla="val 90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974336"/>
            <a:ext cx="45720" cy="53289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5065776"/>
            <a:ext cx="10820095" cy="386588"/>
          </a:xfrm>
          <a:prstGeom prst="rect">
            <a:avLst/>
          </a:prstGeom>
          <a:noFill/>
        </p:spPr>
        <p:txBody>
          <a:bodyPr wrap="square" lIns="0" rIns="0" tIns="0" bIns="0" anchor="t">
            <a:spAutoFit/>
          </a:bodyPr>
          <a:lstStyle/>
          <a:p>
            <a:pPr algn="l">
              <a:lnSpc>
                <a:spcPct val="122000"/>
              </a:lnSpc>
              <a:spcBef>
                <a:spcPts val="0"/>
              </a:spcBef>
              <a:spcAft>
                <a:spcPts val="0"/>
              </a:spcAft>
            </a:pPr>
            <a:r>
              <a:rPr sz="1060" b="0" i="0">
                <a:solidFill>
                  <a:srgbClr val="1E293B"/>
                </a:solidFill>
                <a:latin typeface="Arial"/>
              </a:rPr>
              <a:t>Brazil decision point: </a:t>
            </a:r>
            <a:r>
              <a:rPr sz="1060" b="1" i="0">
                <a:solidFill>
                  <a:srgbClr val="6D28D9"/>
                </a:solidFill>
                <a:latin typeface="Arial"/>
              </a:rPr>
              <a:t>which credential types must be bound?</a:t>
            </a:r>
            <a:r>
              <a:rPr sz="1060" b="0" i="0">
                <a:solidFill>
                  <a:srgbClr val="1E293B"/>
                </a:solidFill>
                <a:latin typeface="Arial"/>
              </a:rPr>
              <a:t> A tax identity almost certainly. A library card almost certainly not. Binding everything costs device-management complexity you may not need; binding nothing makes credentials transferable.</a:t>
            </a:r>
          </a:p>
        </p:txBody>
      </p:sp>
      <p:sp>
        <p:nvSpPr>
          <p:cNvPr id="23" name="TextBox 2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PKCE, DPoP, proofs and binding</a:t>
            </a:r>
          </a:p>
        </p:txBody>
      </p:sp>
      <p:sp>
        <p:nvSpPr>
          <p:cNvPr id="24" name="TextBox 2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5</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Credential formats</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The single most consequential architecture decision Brazil will make. It changes the data model, the verification code, what can be selectively disclosed, and how keys are resolved.</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30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 format landscape</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SD-JWT VC end to end</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Disclosures, digests, _sd_alg, cnf</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Issuer key resolution for SD-JWT</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mDoc: MSO, namespaces, device auth</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A decision matrix for Brazil</a:t>
            </a:r>
          </a:p>
        </p:txBody>
      </p:sp>
      <p:sp>
        <p:nvSpPr>
          <p:cNvPr id="23" name="Rounded Rectangle 22"/>
          <p:cNvSpPr/>
          <p:nvPr/>
        </p:nvSpPr>
        <p:spPr>
          <a:xfrm>
            <a:off x="50292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Credential formats</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LANDSCAPE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Four formats, and what each one costs you</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Inji Wallet can download and present all four. That does not mean all four are equally good for a national programme.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82496"/>
          <a:ext cx="11185852" cy="4306824"/>
        </p:xfrm>
        <a:graphic>
          <a:graphicData uri="http://schemas.openxmlformats.org/drawingml/2006/table">
            <a:tbl>
              <a:tblPr firstRow="1">
                <a:tableStyleId>{2D5ABB26-0587-4C30-8999-92F81FD0307C}</a:tableStyleId>
              </a:tblPr>
              <a:tblGrid>
                <a:gridCol w="2182605"/>
                <a:gridCol w="2364489"/>
                <a:gridCol w="2728257"/>
                <a:gridCol w="2182605"/>
                <a:gridCol w="1727896"/>
              </a:tblGrid>
              <a:tr h="420624">
                <a:tc>
                  <a:txBody>
                    <a:bodyPr wrap="square"/>
                    <a:lstStyle/>
                    <a:p>
                      <a:pPr algn="l"/>
                    </a:p>
                  </a:txBody>
                  <a:tcPr marL="64008" marR="54864" marT="27432" marB="27432" anchor="ctr">
                    <a:solidFill>
                      <a:srgbClr val="1D4E89"/>
                    </a:solidFill>
                  </a:tcPr>
                </a:tc>
                <a:tc>
                  <a:txBody>
                    <a:bodyPr wrap="square"/>
                    <a:lstStyle/>
                    <a:p>
                      <a:pPr algn="l"/>
                      <a:r>
                        <a:rPr sz="900" b="1">
                          <a:solidFill>
                            <a:srgbClr val="FFFFFF"/>
                          </a:solidFill>
                          <a:latin typeface="Arial"/>
                        </a:rPr>
                        <a:t>W3C VC  </a:t>
                      </a:r>
                      <a:r>
                        <a:rPr sz="900" b="1">
                          <a:solidFill>
                            <a:srgbClr val="FFFFFF"/>
                          </a:solidFill>
                          <a:latin typeface="Consolas"/>
                        </a:rPr>
                        <a:t>ldp_vc</a:t>
                      </a:r>
                    </a:p>
                  </a:txBody>
                  <a:tcPr marL="64008" marR="54864" marT="27432" marB="27432" anchor="ctr">
                    <a:solidFill>
                      <a:srgbClr val="1D4E89"/>
                    </a:solidFill>
                  </a:tcPr>
                </a:tc>
                <a:tc>
                  <a:txBody>
                    <a:bodyPr wrap="square"/>
                    <a:lstStyle/>
                    <a:p>
                      <a:pPr algn="l"/>
                      <a:r>
                        <a:rPr sz="900" b="1">
                          <a:solidFill>
                            <a:srgbClr val="FFFFFF"/>
                          </a:solidFill>
                          <a:latin typeface="Arial"/>
                        </a:rPr>
                        <a:t>SD-JWT VC  </a:t>
                      </a:r>
                      <a:r>
                        <a:rPr sz="900" b="1">
                          <a:solidFill>
                            <a:srgbClr val="FFFFFF"/>
                          </a:solidFill>
                          <a:latin typeface="Consolas"/>
                        </a:rPr>
                        <a:t>vc+sd-jwt</a:t>
                      </a:r>
                      <a:r>
                        <a:rPr sz="900" b="1">
                          <a:solidFill>
                            <a:srgbClr val="FFFFFF"/>
                          </a:solidFill>
                          <a:latin typeface="Arial"/>
                        </a:rPr>
                        <a:t> / </a:t>
                      </a:r>
                      <a:r>
                        <a:rPr sz="900" b="1">
                          <a:solidFill>
                            <a:srgbClr val="FFFFFF"/>
                          </a:solidFill>
                          <a:latin typeface="Consolas"/>
                        </a:rPr>
                        <a:t>dc+sd-jwt</a:t>
                      </a:r>
                    </a:p>
                  </a:txBody>
                  <a:tcPr marL="64008" marR="54864" marT="27432" marB="27432" anchor="ctr">
                    <a:solidFill>
                      <a:srgbClr val="1D4E89"/>
                    </a:solidFill>
                  </a:tcPr>
                </a:tc>
                <a:tc>
                  <a:txBody>
                    <a:bodyPr wrap="square"/>
                    <a:lstStyle/>
                    <a:p>
                      <a:pPr algn="l"/>
                      <a:r>
                        <a:rPr sz="900" b="1">
                          <a:solidFill>
                            <a:srgbClr val="FFFFFF"/>
                          </a:solidFill>
                          <a:latin typeface="Arial"/>
                        </a:rPr>
                        <a:t>mDoc  </a:t>
                      </a:r>
                      <a:r>
                        <a:rPr sz="900" b="1">
                          <a:solidFill>
                            <a:srgbClr val="FFFFFF"/>
                          </a:solidFill>
                          <a:latin typeface="Consolas"/>
                        </a:rPr>
                        <a:t>mso_mdoc</a:t>
                      </a:r>
                    </a:p>
                  </a:txBody>
                  <a:tcPr marL="64008" marR="54864" marT="27432" marB="27432" anchor="ctr">
                    <a:solidFill>
                      <a:srgbClr val="1D4E89"/>
                    </a:solidFill>
                  </a:tcPr>
                </a:tc>
                <a:tc>
                  <a:txBody>
                    <a:bodyPr wrap="square"/>
                    <a:lstStyle/>
                    <a:p>
                      <a:pPr algn="l"/>
                      <a:r>
                        <a:rPr sz="900" b="1">
                          <a:solidFill>
                            <a:srgbClr val="FFFFFF"/>
                          </a:solidFill>
                          <a:latin typeface="Arial"/>
                        </a:rPr>
                        <a:t>JWT VC  </a:t>
                      </a:r>
                      <a:r>
                        <a:rPr sz="900" b="1">
                          <a:solidFill>
                            <a:srgbClr val="FFFFFF"/>
                          </a:solidFill>
                          <a:latin typeface="Consolas"/>
                        </a:rPr>
                        <a:t>jwt_vc_json</a:t>
                      </a:r>
                    </a:p>
                  </a:txBody>
                  <a:tcPr marL="64008" marR="54864" marT="27432" marB="27432" anchor="ctr">
                    <a:solidFill>
                      <a:srgbClr val="1D4E89"/>
                    </a:solidFill>
                  </a:tcPr>
                </a:tc>
              </a:tr>
              <a:tr h="388620">
                <a:tc>
                  <a:txBody>
                    <a:bodyPr wrap="square"/>
                    <a:lstStyle/>
                    <a:p>
                      <a:pPr algn="l">
                        <a:lnSpc>
                          <a:spcPct val="105000"/>
                        </a:lnSpc>
                      </a:pPr>
                      <a:r>
                        <a:rPr sz="890" b="1">
                          <a:solidFill>
                            <a:srgbClr val="0F172A"/>
                          </a:solidFill>
                          <a:latin typeface="Arial"/>
                        </a:rPr>
                        <a:t>Data model</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JSON-LD graph, </a:t>
                      </a:r>
                      <a:r>
                        <a:rPr sz="890" b="0">
                          <a:solidFill>
                            <a:srgbClr val="1D4E89"/>
                          </a:solidFill>
                          <a:latin typeface="Consolas"/>
                        </a:rPr>
                        <a:t>@context</a:t>
                      </a:r>
                      <a:r>
                        <a:rPr sz="890" b="0">
                          <a:solidFill>
                            <a:srgbClr val="1E293B"/>
                          </a:solidFill>
                          <a:latin typeface="Arial"/>
                        </a:rPr>
                        <a:t> driven</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Plain JSON claims + </a:t>
                      </a:r>
                      <a:r>
                        <a:rPr sz="890" b="0">
                          <a:solidFill>
                            <a:srgbClr val="1D4E89"/>
                          </a:solidFill>
                          <a:latin typeface="Consolas"/>
                        </a:rPr>
                        <a:t>vct</a:t>
                      </a:r>
                      <a:r>
                        <a:rPr sz="890" b="0">
                          <a:solidFill>
                            <a:srgbClr val="1E293B"/>
                          </a:solidFill>
                          <a:latin typeface="Arial"/>
                        </a:rPr>
                        <a:t> type</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CBOR, ISO namespaces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JSON claims in a JWT</a:t>
                      </a:r>
                    </a:p>
                  </a:txBody>
                  <a:tcPr marL="64008" marR="54864" marT="18288" marB="18288" anchor="ctr">
                    <a:solidFill>
                      <a:srgbClr val="FFFFFF"/>
                    </a:solidFill>
                  </a:tcPr>
                </a:tc>
              </a:tr>
              <a:tr h="388620">
                <a:tc>
                  <a:txBody>
                    <a:bodyPr wrap="square"/>
                    <a:lstStyle/>
                    <a:p>
                      <a:pPr algn="l">
                        <a:lnSpc>
                          <a:spcPct val="105000"/>
                        </a:lnSpc>
                      </a:pPr>
                      <a:r>
                        <a:rPr sz="890" b="1">
                          <a:solidFill>
                            <a:srgbClr val="0F172A"/>
                          </a:solidFill>
                          <a:latin typeface="Arial"/>
                        </a:rPr>
                        <a:t>Signature</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Linked Data Proof (Ed25519Signature2020, RSA…)</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Compact JWS over the issuer-signed JWT</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COSE_Sign1 over the MSO</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JWS</a:t>
                      </a:r>
                    </a:p>
                  </a:txBody>
                  <a:tcPr marL="64008" marR="54864" marT="18288" marB="18288" anchor="ctr">
                    <a:solidFill>
                      <a:srgbClr val="F3F6F9"/>
                    </a:solidFill>
                  </a:tcPr>
                </a:tc>
              </a:tr>
              <a:tr h="388620">
                <a:tc>
                  <a:txBody>
                    <a:bodyPr wrap="square"/>
                    <a:lstStyle/>
                    <a:p>
                      <a:pPr algn="l">
                        <a:lnSpc>
                          <a:spcPct val="105000"/>
                        </a:lnSpc>
                      </a:pPr>
                      <a:r>
                        <a:rPr sz="890" b="1">
                          <a:solidFill>
                            <a:srgbClr val="0F172A"/>
                          </a:solidFill>
                          <a:latin typeface="Arial"/>
                        </a:rPr>
                        <a:t>Selective disclosure</a:t>
                      </a:r>
                    </a:p>
                  </a:txBody>
                  <a:tcPr marL="64008" marR="54864" marT="18288" marB="18288" anchor="ctr">
                    <a:solidFill>
                      <a:srgbClr val="FFFFFF"/>
                    </a:solidFill>
                  </a:tcPr>
                </a:tc>
                <a:tc>
                  <a:txBody>
                    <a:bodyPr wrap="square"/>
                    <a:lstStyle/>
                    <a:p>
                      <a:pPr algn="l">
                        <a:lnSpc>
                          <a:spcPct val="105000"/>
                        </a:lnSpc>
                      </a:pPr>
                      <a:r>
                        <a:rPr sz="890" b="1">
                          <a:solidFill>
                            <a:srgbClr val="B31B1B"/>
                          </a:solidFill>
                          <a:latin typeface="Arial"/>
                        </a:rPr>
                        <a:t>None natively</a:t>
                      </a:r>
                    </a:p>
                  </a:txBody>
                  <a:tcPr marL="64008" marR="54864" marT="18288" marB="18288" anchor="ctr">
                    <a:solidFill>
                      <a:srgbClr val="FFFFFF"/>
                    </a:solidFill>
                  </a:tcPr>
                </a:tc>
                <a:tc>
                  <a:txBody>
                    <a:bodyPr wrap="square"/>
                    <a:lstStyle/>
                    <a:p>
                      <a:pPr algn="l">
                        <a:lnSpc>
                          <a:spcPct val="105000"/>
                        </a:lnSpc>
                      </a:pPr>
                      <a:r>
                        <a:rPr sz="890" b="1">
                          <a:solidFill>
                            <a:srgbClr val="15703D"/>
                          </a:solidFill>
                          <a:latin typeface="Arial"/>
                        </a:rPr>
                        <a:t>Native — per-claim disclosures</a:t>
                      </a:r>
                    </a:p>
                  </a:txBody>
                  <a:tcPr marL="64008" marR="54864" marT="18288" marB="18288" anchor="ctr">
                    <a:solidFill>
                      <a:srgbClr val="FFFFFF"/>
                    </a:solidFill>
                  </a:tcPr>
                </a:tc>
                <a:tc>
                  <a:txBody>
                    <a:bodyPr wrap="square"/>
                    <a:lstStyle/>
                    <a:p>
                      <a:pPr algn="l">
                        <a:lnSpc>
                          <a:spcPct val="105000"/>
                        </a:lnSpc>
                      </a:pPr>
                      <a:r>
                        <a:rPr sz="890" b="1">
                          <a:solidFill>
                            <a:srgbClr val="15703D"/>
                          </a:solidFill>
                          <a:latin typeface="Arial"/>
                        </a:rPr>
                        <a:t>Native — per-element in namespaces</a:t>
                      </a:r>
                    </a:p>
                  </a:txBody>
                  <a:tcPr marL="64008" marR="54864" marT="18288" marB="18288" anchor="ctr">
                    <a:solidFill>
                      <a:srgbClr val="FFFFFF"/>
                    </a:solidFill>
                  </a:tcPr>
                </a:tc>
                <a:tc>
                  <a:txBody>
                    <a:bodyPr wrap="square"/>
                    <a:lstStyle/>
                    <a:p>
                      <a:pPr algn="l">
                        <a:lnSpc>
                          <a:spcPct val="105000"/>
                        </a:lnSpc>
                      </a:pPr>
                      <a:r>
                        <a:rPr sz="890" b="1">
                          <a:solidFill>
                            <a:srgbClr val="B31B1B"/>
                          </a:solidFill>
                          <a:latin typeface="Arial"/>
                        </a:rPr>
                        <a:t>None natively</a:t>
                      </a:r>
                    </a:p>
                  </a:txBody>
                  <a:tcPr marL="64008" marR="54864" marT="18288" marB="18288" anchor="ctr">
                    <a:solidFill>
                      <a:srgbClr val="FFFFFF"/>
                    </a:solidFill>
                  </a:tcPr>
                </a:tc>
              </a:tr>
              <a:tr h="388620">
                <a:tc>
                  <a:txBody>
                    <a:bodyPr wrap="square"/>
                    <a:lstStyle/>
                    <a:p>
                      <a:pPr algn="l">
                        <a:lnSpc>
                          <a:spcPct val="105000"/>
                        </a:lnSpc>
                      </a:pPr>
                      <a:r>
                        <a:rPr sz="890" b="1">
                          <a:solidFill>
                            <a:srgbClr val="0F172A"/>
                          </a:solidFill>
                          <a:latin typeface="Arial"/>
                        </a:rPr>
                        <a:t>Holder binding</a:t>
                      </a:r>
                    </a:p>
                  </a:txBody>
                  <a:tcPr marL="64008" marR="54864" marT="18288" marB="18288" anchor="ctr">
                    <a:solidFill>
                      <a:srgbClr val="F3F6F9"/>
                    </a:solidFill>
                  </a:tcPr>
                </a:tc>
                <a:tc>
                  <a:txBody>
                    <a:bodyPr wrap="square"/>
                    <a:lstStyle/>
                    <a:p>
                      <a:pPr algn="l">
                        <a:lnSpc>
                          <a:spcPct val="105000"/>
                        </a:lnSpc>
                      </a:pPr>
                      <a:r>
                        <a:rPr sz="890" b="0">
                          <a:solidFill>
                            <a:srgbClr val="1D4E89"/>
                          </a:solidFill>
                          <a:latin typeface="Consolas"/>
                        </a:rPr>
                        <a:t>credentialSubject.id</a:t>
                      </a:r>
                      <a:r>
                        <a:rPr sz="890" b="0">
                          <a:solidFill>
                            <a:srgbClr val="1E293B"/>
                          </a:solidFill>
                          <a:latin typeface="Arial"/>
                        </a:rPr>
                        <a:t> + VP proof</a:t>
                      </a:r>
                    </a:p>
                  </a:txBody>
                  <a:tcPr marL="64008" marR="54864" marT="18288" marB="18288" anchor="ctr">
                    <a:solidFill>
                      <a:srgbClr val="F3F6F9"/>
                    </a:solidFill>
                  </a:tcPr>
                </a:tc>
                <a:tc>
                  <a:txBody>
                    <a:bodyPr wrap="square"/>
                    <a:lstStyle/>
                    <a:p>
                      <a:pPr algn="l">
                        <a:lnSpc>
                          <a:spcPct val="105000"/>
                        </a:lnSpc>
                      </a:pPr>
                      <a:r>
                        <a:rPr sz="890" b="0">
                          <a:solidFill>
                            <a:srgbClr val="1D4E89"/>
                          </a:solidFill>
                          <a:latin typeface="Consolas"/>
                        </a:rPr>
                        <a:t>cnf</a:t>
                      </a:r>
                      <a:r>
                        <a:rPr sz="890" b="0">
                          <a:solidFill>
                            <a:srgbClr val="1E293B"/>
                          </a:solidFill>
                          <a:latin typeface="Arial"/>
                        </a:rPr>
                        <a:t> claim + KB-JWT</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Device key in the MSO + </a:t>
                      </a:r>
                      <a:r>
                        <a:rPr sz="890" b="0">
                          <a:solidFill>
                            <a:srgbClr val="1D4E89"/>
                          </a:solidFill>
                          <a:latin typeface="Consolas"/>
                        </a:rPr>
                        <a:t>DeviceSignature</a:t>
                      </a:r>
                    </a:p>
                  </a:txBody>
                  <a:tcPr marL="64008" marR="54864" marT="18288" marB="18288" anchor="ctr">
                    <a:solidFill>
                      <a:srgbClr val="F3F6F9"/>
                    </a:solidFill>
                  </a:tcPr>
                </a:tc>
                <a:tc>
                  <a:txBody>
                    <a:bodyPr wrap="square"/>
                    <a:lstStyle/>
                    <a:p>
                      <a:pPr algn="l">
                        <a:lnSpc>
                          <a:spcPct val="105000"/>
                        </a:lnSpc>
                      </a:pPr>
                      <a:r>
                        <a:rPr sz="890" b="0">
                          <a:solidFill>
                            <a:srgbClr val="1D4E89"/>
                          </a:solidFill>
                          <a:latin typeface="Consolas"/>
                        </a:rPr>
                        <a:t>cnf</a:t>
                      </a:r>
                      <a:r>
                        <a:rPr sz="890" b="0">
                          <a:solidFill>
                            <a:srgbClr val="1E293B"/>
                          </a:solidFill>
                          <a:latin typeface="Arial"/>
                        </a:rPr>
                        <a:t> claim</a:t>
                      </a:r>
                    </a:p>
                  </a:txBody>
                  <a:tcPr marL="64008" marR="54864" marT="18288" marB="18288" anchor="ctr">
                    <a:solidFill>
                      <a:srgbClr val="F3F6F9"/>
                    </a:solidFill>
                  </a:tcPr>
                </a:tc>
              </a:tr>
              <a:tr h="388620">
                <a:tc>
                  <a:txBody>
                    <a:bodyPr wrap="square"/>
                    <a:lstStyle/>
                    <a:p>
                      <a:pPr algn="l">
                        <a:lnSpc>
                          <a:spcPct val="105000"/>
                        </a:lnSpc>
                      </a:pPr>
                      <a:r>
                        <a:rPr sz="890" b="1">
                          <a:solidFill>
                            <a:srgbClr val="0F172A"/>
                          </a:solidFill>
                          <a:latin typeface="Arial"/>
                        </a:rPr>
                        <a:t>Issuer key resolution</a:t>
                      </a:r>
                    </a:p>
                  </a:txBody>
                  <a:tcPr marL="64008" marR="54864" marT="18288" marB="18288" anchor="ctr">
                    <a:solidFill>
                      <a:srgbClr val="FFFFFF"/>
                    </a:solidFill>
                  </a:tcPr>
                </a:tc>
                <a:tc>
                  <a:txBody>
                    <a:bodyPr wrap="square"/>
                    <a:lstStyle/>
                    <a:p>
                      <a:pPr algn="l">
                        <a:lnSpc>
                          <a:spcPct val="105000"/>
                        </a:lnSpc>
                      </a:pPr>
                      <a:r>
                        <a:rPr sz="890" b="0">
                          <a:solidFill>
                            <a:srgbClr val="1D4E89"/>
                          </a:solidFill>
                          <a:latin typeface="Consolas"/>
                        </a:rPr>
                        <a:t>did:web</a:t>
                      </a:r>
                      <a:r>
                        <a:rPr sz="890" b="0">
                          <a:solidFill>
                            <a:srgbClr val="1E293B"/>
                          </a:solidFill>
                          <a:latin typeface="Arial"/>
                        </a:rPr>
                        <a:t>, </a:t>
                      </a:r>
                      <a:r>
                        <a:rPr sz="890" b="0">
                          <a:solidFill>
                            <a:srgbClr val="1D4E89"/>
                          </a:solidFill>
                          <a:latin typeface="Consolas"/>
                        </a:rPr>
                        <a:t>did:key</a:t>
                      </a:r>
                      <a:r>
                        <a:rPr sz="890" b="0">
                          <a:solidFill>
                            <a:srgbClr val="1E293B"/>
                          </a:solidFill>
                          <a:latin typeface="Arial"/>
                        </a:rPr>
                        <a:t>, </a:t>
                      </a:r>
                      <a:r>
                        <a:rPr sz="890" b="0">
                          <a:solidFill>
                            <a:srgbClr val="1D4E89"/>
                          </a:solidFill>
                          <a:latin typeface="Consolas"/>
                        </a:rPr>
                        <a:t>did:jwk</a:t>
                      </a:r>
                      <a:r>
                        <a:rPr sz="890" b="0">
                          <a:solidFill>
                            <a:srgbClr val="1E293B"/>
                          </a:solidFill>
                          <a:latin typeface="Arial"/>
                        </a:rPr>
                        <a:t>, HTTPS</a:t>
                      </a:r>
                    </a:p>
                  </a:txBody>
                  <a:tcPr marL="64008" marR="54864" marT="18288" marB="18288" anchor="ctr">
                    <a:solidFill>
                      <a:srgbClr val="FFFFFF"/>
                    </a:solidFill>
                  </a:tcPr>
                </a:tc>
                <a:tc>
                  <a:txBody>
                    <a:bodyPr wrap="square"/>
                    <a:lstStyle/>
                    <a:p>
                      <a:pPr algn="l">
                        <a:lnSpc>
                          <a:spcPct val="105000"/>
                        </a:lnSpc>
                      </a:pPr>
                      <a:r>
                        <a:rPr sz="890" b="1">
                          <a:solidFill>
                            <a:srgbClr val="B45309"/>
                          </a:solidFill>
                          <a:latin typeface="Arial"/>
                        </a:rPr>
                        <a:t>Today in Inji: X.509 (</a:t>
                      </a:r>
                      <a:r>
                        <a:rPr sz="890" b="1">
                          <a:solidFill>
                            <a:srgbClr val="B45309"/>
                          </a:solidFill>
                          <a:latin typeface="Consolas"/>
                        </a:rPr>
                        <a:t>x5c</a:t>
                      </a:r>
                      <a:r>
                        <a:rPr sz="890" b="1">
                          <a:solidFill>
                            <a:srgbClr val="B45309"/>
                          </a:solidFill>
                          <a:latin typeface="Arial"/>
                        </a:rPr>
                        <a: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IACA / document signer certificate chain</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Embedded JWK, </a:t>
                      </a:r>
                      <a:r>
                        <a:rPr sz="890" b="0">
                          <a:solidFill>
                            <a:srgbClr val="1D4E89"/>
                          </a:solidFill>
                          <a:latin typeface="Consolas"/>
                        </a:rPr>
                        <a:t>jku</a:t>
                      </a:r>
                      <a:r>
                        <a:rPr sz="890" b="0">
                          <a:solidFill>
                            <a:srgbClr val="1E293B"/>
                          </a:solidFill>
                          <a:latin typeface="Arial"/>
                        </a:rPr>
                        <a:t>, </a:t>
                      </a:r>
                      <a:r>
                        <a:rPr sz="890" b="0">
                          <a:solidFill>
                            <a:srgbClr val="1D4E89"/>
                          </a:solidFill>
                          <a:latin typeface="Consolas"/>
                        </a:rPr>
                        <a:t>kid</a:t>
                      </a:r>
                      <a:r>
                        <a:rPr sz="890" b="0">
                          <a:solidFill>
                            <a:srgbClr val="1E293B"/>
                          </a:solidFill>
                          <a:latin typeface="Arial"/>
                        </a:rPr>
                        <a:t>, DID</a:t>
                      </a:r>
                    </a:p>
                  </a:txBody>
                  <a:tcPr marL="64008" marR="54864" marT="18288" marB="18288" anchor="ctr">
                    <a:solidFill>
                      <a:srgbClr val="FFFFFF"/>
                    </a:solidFill>
                  </a:tcPr>
                </a:tc>
              </a:tr>
              <a:tr h="388620">
                <a:tc>
                  <a:txBody>
                    <a:bodyPr wrap="square"/>
                    <a:lstStyle/>
                    <a:p>
                      <a:pPr algn="l">
                        <a:lnSpc>
                          <a:spcPct val="105000"/>
                        </a:lnSpc>
                      </a:pPr>
                      <a:r>
                        <a:rPr sz="890" b="1">
                          <a:solidFill>
                            <a:srgbClr val="0F172A"/>
                          </a:solidFill>
                          <a:latin typeface="Arial"/>
                        </a:rPr>
                        <a:t>Size</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Large — context processing needed</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Compact</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Compact (binary)</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Compact</a:t>
                      </a:r>
                    </a:p>
                  </a:txBody>
                  <a:tcPr marL="64008" marR="54864" marT="18288" marB="18288" anchor="ctr">
                    <a:solidFill>
                      <a:srgbClr val="F3F6F9"/>
                    </a:solidFill>
                  </a:tcPr>
                </a:tc>
              </a:tr>
              <a:tr h="388620">
                <a:tc>
                  <a:txBody>
                    <a:bodyPr wrap="square"/>
                    <a:lstStyle/>
                    <a:p>
                      <a:pPr algn="l">
                        <a:lnSpc>
                          <a:spcPct val="105000"/>
                        </a:lnSpc>
                      </a:pPr>
                      <a:r>
                        <a:rPr sz="890" b="1">
                          <a:solidFill>
                            <a:srgbClr val="0F172A"/>
                          </a:solidFill>
                          <a:latin typeface="Arial"/>
                        </a:rPr>
                        <a:t>Offline friendliness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Context fetching is a hazard</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Good</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Excellent — built for proximity</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Good</a:t>
                      </a:r>
                    </a:p>
                  </a:txBody>
                  <a:tcPr marL="64008" marR="54864" marT="18288" marB="18288" anchor="ctr">
                    <a:solidFill>
                      <a:srgbClr val="FFFFFF"/>
                    </a:solidFill>
                  </a:tcPr>
                </a:tc>
              </a:tr>
              <a:tr h="388620">
                <a:tc>
                  <a:txBody>
                    <a:bodyPr wrap="square"/>
                    <a:lstStyle/>
                    <a:p>
                      <a:pPr algn="l">
                        <a:lnSpc>
                          <a:spcPct val="105000"/>
                        </a:lnSpc>
                      </a:pPr>
                      <a:r>
                        <a:rPr sz="890" b="1">
                          <a:solidFill>
                            <a:srgbClr val="0F172A"/>
                          </a:solidFill>
                          <a:latin typeface="Arial"/>
                        </a:rPr>
                        <a:t>Inji Wallet support</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Download + present</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Download + present</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Download + present</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Verify only</a:t>
                      </a:r>
                    </a:p>
                  </a:txBody>
                  <a:tcPr marL="64008" marR="54864" marT="18288" marB="18288" anchor="ctr">
                    <a:solidFill>
                      <a:srgbClr val="F3F6F9"/>
                    </a:solidFill>
                  </a:tcPr>
                </a:tc>
              </a:tr>
              <a:tr h="388620">
                <a:tc>
                  <a:txBody>
                    <a:bodyPr wrap="square"/>
                    <a:lstStyle/>
                    <a:p>
                      <a:pPr algn="l">
                        <a:lnSpc>
                          <a:spcPct val="105000"/>
                        </a:lnSpc>
                      </a:pPr>
                      <a:r>
                        <a:rPr sz="890" b="1">
                          <a:solidFill>
                            <a:srgbClr val="0F172A"/>
                          </a:solidFill>
                          <a:latin typeface="Arial"/>
                        </a:rPr>
                        <a:t>Inji Web support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Download + present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Download; ~~present not yet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Not yet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a:t>
                      </a:r>
                    </a:p>
                  </a:txBody>
                  <a:tcPr marL="64008" marR="54864" marT="18288" marB="18288" anchor="ctr">
                    <a:solidFill>
                      <a:srgbClr val="FFFFFF"/>
                    </a:solidFill>
                  </a:tcPr>
                </a:tc>
              </a:tr>
              <a:tr h="388620">
                <a:tc>
                  <a:txBody>
                    <a:bodyPr wrap="square"/>
                    <a:lstStyle/>
                    <a:p>
                      <a:pPr algn="l">
                        <a:lnSpc>
                          <a:spcPct val="105000"/>
                        </a:lnSpc>
                      </a:pPr>
                      <a:r>
                        <a:rPr sz="890" b="1">
                          <a:solidFill>
                            <a:srgbClr val="0F172A"/>
                          </a:solidFill>
                          <a:latin typeface="Arial"/>
                        </a:rPr>
                        <a:t>Inji Certify issues it</a:t>
                      </a:r>
                    </a:p>
                  </a:txBody>
                  <a:tcPr marL="64008" marR="54864" marT="18288" marB="18288" anchor="ctr">
                    <a:solidFill>
                      <a:srgbClr val="F3F6F9"/>
                    </a:solidFill>
                  </a:tcPr>
                </a:tc>
                <a:tc>
                  <a:txBody>
                    <a:bodyPr wrap="square"/>
                    <a:lstStyle/>
                    <a:p>
                      <a:pPr algn="l">
                        <a:lnSpc>
                          <a:spcPct val="105000"/>
                        </a:lnSpc>
                      </a:pPr>
                      <a:r>
                        <a:rPr sz="890" b="1">
                          <a:solidFill>
                            <a:srgbClr val="15703D"/>
                          </a:solidFill>
                          <a:latin typeface="Arial"/>
                        </a:rPr>
                        <a:t>Yes</a:t>
                      </a:r>
                    </a:p>
                  </a:txBody>
                  <a:tcPr marL="64008" marR="54864" marT="18288" marB="18288" anchor="ctr">
                    <a:solidFill>
                      <a:srgbClr val="F3F6F9"/>
                    </a:solidFill>
                  </a:tcPr>
                </a:tc>
                <a:tc>
                  <a:txBody>
                    <a:bodyPr wrap="square"/>
                    <a:lstStyle/>
                    <a:p>
                      <a:pPr algn="l">
                        <a:lnSpc>
                          <a:spcPct val="105000"/>
                        </a:lnSpc>
                      </a:pPr>
                      <a:r>
                        <a:rPr sz="890" b="1">
                          <a:solidFill>
                            <a:srgbClr val="15703D"/>
                          </a:solidFill>
                          <a:latin typeface="Arial"/>
                        </a:rPr>
                        <a:t>Yes (</a:t>
                      </a:r>
                      <a:r>
                        <a:rPr sz="890" b="1">
                          <a:solidFill>
                            <a:srgbClr val="15703D"/>
                          </a:solidFill>
                          <a:latin typeface="Consolas"/>
                        </a:rPr>
                        <a:t>vc+sd-jwt</a:t>
                      </a:r>
                      <a:r>
                        <a:rPr sz="890" b="1">
                          <a:solidFill>
                            <a:srgbClr val="15703D"/>
                          </a:solidFill>
                          <a:latin typeface="Arial"/>
                        </a:rPr>
                        <a:t>)</a:t>
                      </a:r>
                    </a:p>
                  </a:txBody>
                  <a:tcPr marL="64008" marR="54864" marT="18288" marB="18288" anchor="ctr">
                    <a:solidFill>
                      <a:srgbClr val="F3F6F9"/>
                    </a:solidFill>
                  </a:tcPr>
                </a:tc>
                <a:tc>
                  <a:txBody>
                    <a:bodyPr wrap="square"/>
                    <a:lstStyle/>
                    <a:p>
                      <a:pPr algn="l">
                        <a:lnSpc>
                          <a:spcPct val="105000"/>
                        </a:lnSpc>
                      </a:pPr>
                      <a:r>
                        <a:rPr sz="890" b="1">
                          <a:solidFill>
                            <a:srgbClr val="B31B1B"/>
                          </a:solidFill>
                          <a:latin typeface="Arial"/>
                        </a:rPr>
                        <a:t>No</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a:t>
                      </a:r>
                    </a:p>
                  </a:txBody>
                  <a:tcPr marL="64008" marR="54864" marT="18288" marB="18288" anchor="ctr">
                    <a:solidFill>
                      <a:srgbClr val="F3F6F9"/>
                    </a:solidFill>
                  </a:tcPr>
                </a:tc>
              </a:tr>
            </a:tbl>
          </a:graphicData>
        </a:graphic>
      </p:graphicFrame>
      <p:sp>
        <p:nvSpPr>
          <p:cNvPr id="7" name="TextBox 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formats</a:t>
            </a:r>
          </a:p>
        </p:txBody>
      </p:sp>
      <p:sp>
        <p:nvSpPr>
          <p:cNvPr id="8" name="TextBox 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FORMAT DEEP DIVE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SD-JWT VC, taken apart</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One string, separated by tildes. Everything about selective disclosure follows from this structure.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749039" cy="493776"/>
          </a:xfrm>
          <a:prstGeom prst="roundRect">
            <a:avLst>
              <a:gd name="adj" fmla="val 12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Issuer-signed JWT</a:t>
            </a:r>
          </a:p>
        </p:txBody>
      </p:sp>
      <p:sp>
        <p:nvSpPr>
          <p:cNvPr id="7" name="Rounded Rectangle 6"/>
          <p:cNvSpPr/>
          <p:nvPr/>
        </p:nvSpPr>
        <p:spPr>
          <a:xfrm>
            <a:off x="4343399" y="1682496"/>
            <a:ext cx="256032" cy="49377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5B6B7F"/>
                </a:solidFill>
                <a:latin typeface="Arial"/>
              </a:rPr>
              <a:t>~</a:t>
            </a:r>
          </a:p>
        </p:txBody>
      </p:sp>
      <p:sp>
        <p:nvSpPr>
          <p:cNvPr id="8" name="Rounded Rectangle 7"/>
          <p:cNvSpPr/>
          <p:nvPr/>
        </p:nvSpPr>
        <p:spPr>
          <a:xfrm>
            <a:off x="4690871" y="1682496"/>
            <a:ext cx="1920240" cy="493776"/>
          </a:xfrm>
          <a:prstGeom prst="roundRect">
            <a:avLst>
              <a:gd name="adj" fmla="val 1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Disclosure 1</a:t>
            </a:r>
          </a:p>
        </p:txBody>
      </p:sp>
      <p:sp>
        <p:nvSpPr>
          <p:cNvPr id="9" name="Rounded Rectangle 8"/>
          <p:cNvSpPr/>
          <p:nvPr/>
        </p:nvSpPr>
        <p:spPr>
          <a:xfrm>
            <a:off x="6702551" y="1682496"/>
            <a:ext cx="256032" cy="49377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5B6B7F"/>
                </a:solidFill>
                <a:latin typeface="Arial"/>
              </a:rPr>
              <a:t>~</a:t>
            </a:r>
          </a:p>
        </p:txBody>
      </p:sp>
      <p:sp>
        <p:nvSpPr>
          <p:cNvPr id="10" name="Rounded Rectangle 9"/>
          <p:cNvSpPr/>
          <p:nvPr/>
        </p:nvSpPr>
        <p:spPr>
          <a:xfrm>
            <a:off x="7050023" y="1682496"/>
            <a:ext cx="1920240" cy="493776"/>
          </a:xfrm>
          <a:prstGeom prst="roundRect">
            <a:avLst>
              <a:gd name="adj" fmla="val 1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Disclosure 2</a:t>
            </a:r>
          </a:p>
        </p:txBody>
      </p:sp>
      <p:sp>
        <p:nvSpPr>
          <p:cNvPr id="11" name="Rounded Rectangle 10"/>
          <p:cNvSpPr/>
          <p:nvPr/>
        </p:nvSpPr>
        <p:spPr>
          <a:xfrm>
            <a:off x="9061704" y="1682496"/>
            <a:ext cx="256032" cy="49377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5B6B7F"/>
                </a:solidFill>
                <a:latin typeface="Arial"/>
              </a:rPr>
              <a:t>~</a:t>
            </a:r>
          </a:p>
        </p:txBody>
      </p:sp>
      <p:sp>
        <p:nvSpPr>
          <p:cNvPr id="12" name="Rounded Rectangle 11"/>
          <p:cNvSpPr/>
          <p:nvPr/>
        </p:nvSpPr>
        <p:spPr>
          <a:xfrm>
            <a:off x="9409176" y="1682496"/>
            <a:ext cx="2011680" cy="493776"/>
          </a:xfrm>
          <a:prstGeom prst="roundRect">
            <a:avLst>
              <a:gd name="adj" fmla="val 1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KB-JWT</a:t>
            </a:r>
          </a:p>
        </p:txBody>
      </p:sp>
      <p:sp>
        <p:nvSpPr>
          <p:cNvPr id="13" name="TextBox 12"/>
          <p:cNvSpPr txBox="1"/>
          <p:nvPr/>
        </p:nvSpPr>
        <p:spPr>
          <a:xfrm>
            <a:off x="502920" y="2231136"/>
            <a:ext cx="3749039" cy="274320"/>
          </a:xfrm>
          <a:prstGeom prst="rect">
            <a:avLst/>
          </a:prstGeom>
          <a:noFill/>
        </p:spPr>
        <p:txBody>
          <a:bodyPr wrap="square" lIns="0" rIns="0" tIns="0" bIns="0" anchor="t">
            <a:spAutoFit/>
          </a:bodyPr>
          <a:lstStyle/>
          <a:p>
            <a:pPr algn="ctr">
              <a:lnSpc>
                <a:spcPct val="114000"/>
              </a:lnSpc>
              <a:spcBef>
                <a:spcPts val="0"/>
              </a:spcBef>
              <a:spcAft>
                <a:spcPts val="0"/>
              </a:spcAft>
            </a:pPr>
            <a:r>
              <a:rPr sz="850" b="1" i="0">
                <a:solidFill>
                  <a:srgbClr val="1D4E89"/>
                </a:solidFill>
              </a:rPr>
              <a:t>signed by the ISSUER</a:t>
            </a:r>
          </a:p>
        </p:txBody>
      </p:sp>
      <p:sp>
        <p:nvSpPr>
          <p:cNvPr id="14" name="TextBox 13"/>
          <p:cNvSpPr txBox="1"/>
          <p:nvPr/>
        </p:nvSpPr>
        <p:spPr>
          <a:xfrm>
            <a:off x="4599432" y="2231136"/>
            <a:ext cx="4443984" cy="274320"/>
          </a:xfrm>
          <a:prstGeom prst="rect">
            <a:avLst/>
          </a:prstGeom>
          <a:noFill/>
        </p:spPr>
        <p:txBody>
          <a:bodyPr wrap="square" lIns="0" rIns="0" tIns="0" bIns="0" anchor="t">
            <a:spAutoFit/>
          </a:bodyPr>
          <a:lstStyle/>
          <a:p>
            <a:pPr algn="ctr">
              <a:lnSpc>
                <a:spcPct val="114000"/>
              </a:lnSpc>
              <a:spcBef>
                <a:spcPts val="0"/>
              </a:spcBef>
              <a:spcAft>
                <a:spcPts val="0"/>
              </a:spcAft>
            </a:pPr>
            <a:r>
              <a:rPr sz="850" b="1" i="0">
                <a:solidFill>
                  <a:srgbClr val="0E9488"/>
                </a:solidFill>
              </a:rPr>
              <a:t>plain salted values — the wallet chooses which to send</a:t>
            </a:r>
          </a:p>
        </p:txBody>
      </p:sp>
      <p:sp>
        <p:nvSpPr>
          <p:cNvPr id="15" name="TextBox 14"/>
          <p:cNvSpPr txBox="1"/>
          <p:nvPr/>
        </p:nvSpPr>
        <p:spPr>
          <a:xfrm>
            <a:off x="9390888" y="2231136"/>
            <a:ext cx="2286000" cy="274320"/>
          </a:xfrm>
          <a:prstGeom prst="rect">
            <a:avLst/>
          </a:prstGeom>
          <a:noFill/>
        </p:spPr>
        <p:txBody>
          <a:bodyPr wrap="square" lIns="0" rIns="0" tIns="0" bIns="0" anchor="t">
            <a:spAutoFit/>
          </a:bodyPr>
          <a:lstStyle/>
          <a:p>
            <a:pPr algn="ctr">
              <a:lnSpc>
                <a:spcPct val="114000"/>
              </a:lnSpc>
              <a:spcBef>
                <a:spcPts val="0"/>
              </a:spcBef>
              <a:spcAft>
                <a:spcPts val="0"/>
              </a:spcAft>
            </a:pPr>
            <a:r>
              <a:rPr sz="850" b="1" i="0">
                <a:solidFill>
                  <a:srgbClr val="15703D"/>
                </a:solidFill>
              </a:rPr>
              <a:t>signed by the HOLDER</a:t>
            </a:r>
          </a:p>
        </p:txBody>
      </p:sp>
      <p:sp>
        <p:nvSpPr>
          <p:cNvPr id="16" name="TextBox 15"/>
          <p:cNvSpPr txBox="1"/>
          <p:nvPr/>
        </p:nvSpPr>
        <p:spPr>
          <a:xfrm>
            <a:off x="502920" y="2423160"/>
            <a:ext cx="557784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WHAT IS INSIDE</a:t>
            </a:r>
          </a:p>
        </p:txBody>
      </p:sp>
      <p:sp>
        <p:nvSpPr>
          <p:cNvPr id="17" name="Rounded Rectangle 16"/>
          <p:cNvSpPr/>
          <p:nvPr/>
        </p:nvSpPr>
        <p:spPr>
          <a:xfrm>
            <a:off x="502920" y="2642616"/>
            <a:ext cx="5577840" cy="260604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2761488"/>
            <a:ext cx="5285231" cy="2368296"/>
          </a:xfrm>
          <a:prstGeom prst="rect">
            <a:avLst/>
          </a:prstGeom>
          <a:noFill/>
        </p:spPr>
        <p:txBody>
          <a:bodyPr wrap="square" lIns="0" rIns="0" tIns="0" bIns="0" anchor="t">
            <a:spAutoFit/>
          </a:bodyPr>
          <a:lstStyle/>
          <a:p>
            <a:pPr>
              <a:lnSpc>
                <a:spcPct val="116000"/>
              </a:lnSpc>
              <a:spcBef>
                <a:spcPts val="0"/>
              </a:spcBef>
              <a:spcAft>
                <a:spcPts val="0"/>
              </a:spcAft>
            </a:pPr>
            <a:r>
              <a:rPr sz="869">
                <a:solidFill>
                  <a:srgbClr val="7E93A8"/>
                </a:solidFill>
                <a:latin typeface="Consolas"/>
              </a:rPr>
              <a:t>// issuer-signed JWT payload</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"iss"</a:t>
            </a:r>
            <a:r>
              <a:rPr sz="869">
                <a:solidFill>
                  <a:srgbClr val="CBD9E8"/>
                </a:solidFill>
                <a:latin typeface="Consolas"/>
              </a:rPr>
              <a:t>: </a:t>
            </a:r>
            <a:r>
              <a:rPr sz="869">
                <a:solidFill>
                  <a:srgbClr val="F6C67A"/>
                </a:solidFill>
                <a:latin typeface="Consolas"/>
              </a:rPr>
              <a:t>"https://certify.example.gov.br"</a:t>
            </a:r>
            <a:r>
              <a:rPr sz="869">
                <a:solidFill>
                  <a:srgbClr val="CBD9E8"/>
                </a:solidFill>
                <a:latin typeface="Consolas"/>
              </a:rPr>
              <a:t>,</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"vct"</a:t>
            </a:r>
            <a:r>
              <a:rPr sz="869">
                <a:solidFill>
                  <a:srgbClr val="CBD9E8"/>
                </a:solidFill>
                <a:latin typeface="Consolas"/>
              </a:rPr>
              <a:t>: </a:t>
            </a:r>
            <a:r>
              <a:rPr sz="869">
                <a:solidFill>
                  <a:srgbClr val="F6C67A"/>
                </a:solidFill>
                <a:latin typeface="Consolas"/>
              </a:rPr>
              <a:t>"CPFCredential"</a:t>
            </a:r>
            <a:r>
              <a:rPr sz="869">
                <a:solidFill>
                  <a:srgbClr val="CBD9E8"/>
                </a:solidFill>
                <a:latin typeface="Consolas"/>
              </a:rPr>
              <a:t>,</a:t>
            </a:r>
          </a:p>
          <a:p>
            <a:pPr>
              <a:lnSpc>
                <a:spcPct val="116000"/>
              </a:lnSpc>
              <a:spcBef>
                <a:spcPts val="0"/>
              </a:spcBef>
              <a:spcAft>
                <a:spcPts val="0"/>
              </a:spcAft>
            </a:pPr>
            <a:r>
              <a:rPr sz="869">
                <a:solidFill>
                  <a:srgbClr val="CBD9E8"/>
                </a:solidFill>
                <a:latin typeface="Consolas"/>
              </a:rPr>
              <a:t>  </a:t>
            </a:r>
            <a:r>
              <a:rPr sz="869">
                <a:solidFill>
                  <a:srgbClr val="7DD3C8"/>
                </a:solidFill>
                <a:latin typeface="Consolas"/>
              </a:rPr>
              <a:t>"iat"</a:t>
            </a:r>
            <a:r>
              <a:rPr sz="869">
                <a:solidFill>
                  <a:srgbClr val="CBD9E8"/>
                </a:solidFill>
                <a:latin typeface="Consolas"/>
              </a:rPr>
              <a:t>: 1770000000, </a:t>
            </a:r>
            <a:r>
              <a:rPr sz="869">
                <a:solidFill>
                  <a:srgbClr val="7DD3C8"/>
                </a:solidFill>
                <a:latin typeface="Consolas"/>
              </a:rPr>
              <a:t>"exp"</a:t>
            </a:r>
            <a:r>
              <a:rPr sz="869">
                <a:solidFill>
                  <a:srgbClr val="CBD9E8"/>
                </a:solidFill>
                <a:latin typeface="Consolas"/>
              </a:rPr>
              <a:t>: 1801536000,</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"_sd_alg"</a:t>
            </a:r>
            <a:r>
              <a:rPr sz="869" b="1">
                <a:solidFill>
                  <a:srgbClr val="FFD56B"/>
                </a:solidFill>
                <a:latin typeface="Consolas"/>
              </a:rPr>
              <a:t>: </a:t>
            </a:r>
            <a:r>
              <a:rPr sz="869" b="1">
                <a:solidFill>
                  <a:srgbClr val="FFD56B"/>
                </a:solidFill>
                <a:latin typeface="Consolas"/>
              </a:rPr>
              <a:t>"sha-256"</a:t>
            </a:r>
            <a:r>
              <a:rPr sz="869" b="1">
                <a:solidFill>
                  <a:srgbClr val="FFD56B"/>
                </a:solidFill>
                <a:latin typeface="Consolas"/>
              </a:rPr>
              <a:t>,</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"_sd"</a:t>
            </a:r>
            <a:r>
              <a:rPr sz="869" b="1">
                <a:solidFill>
                  <a:srgbClr val="FFD56B"/>
                </a:solidFill>
                <a:latin typeface="Consolas"/>
              </a:rPr>
              <a:t>: [ </a:t>
            </a:r>
            <a:r>
              <a:rPr sz="869" b="1">
                <a:solidFill>
                  <a:srgbClr val="FFD56B"/>
                </a:solidFill>
                <a:latin typeface="Consolas"/>
              </a:rPr>
              <a:t>"9gjVuXtM…"</a:t>
            </a:r>
            <a:r>
              <a:rPr sz="869" b="1">
                <a:solidFill>
                  <a:srgbClr val="FFD56B"/>
                </a:solidFill>
                <a:latin typeface="Consolas"/>
              </a:rPr>
              <a:t>, </a:t>
            </a:r>
            <a:r>
              <a:rPr sz="869" b="1">
                <a:solidFill>
                  <a:srgbClr val="FFD56B"/>
                </a:solidFill>
                <a:latin typeface="Consolas"/>
              </a:rPr>
              <a:t>"Tk5rX2ZN…"</a:t>
            </a:r>
            <a:r>
              <a:rPr sz="869" b="1">
                <a:solidFill>
                  <a:srgbClr val="FFD56B"/>
                </a:solidFill>
                <a:latin typeface="Consolas"/>
              </a:rPr>
              <a:t>, </a:t>
            </a:r>
            <a:r>
              <a:rPr sz="869" b="1">
                <a:solidFill>
                  <a:srgbClr val="FFD56B"/>
                </a:solidFill>
                <a:latin typeface="Consolas"/>
              </a:rPr>
              <a:t>"aB3kQp1y…"</a:t>
            </a:r>
            <a:r>
              <a:rPr sz="869" b="1">
                <a:solidFill>
                  <a:srgbClr val="FFD56B"/>
                </a:solidFill>
                <a:latin typeface="Consolas"/>
              </a:rPr>
              <a:t> ],</a:t>
            </a:r>
          </a:p>
          <a:p>
            <a:pPr>
              <a:lnSpc>
                <a:spcPct val="116000"/>
              </a:lnSpc>
              <a:spcBef>
                <a:spcPts val="0"/>
              </a:spcBef>
              <a:spcAft>
                <a:spcPts val="0"/>
              </a:spcAft>
            </a:pPr>
            <a:r>
              <a:rPr sz="869" b="1">
                <a:solidFill>
                  <a:srgbClr val="FFD56B"/>
                </a:solidFill>
                <a:latin typeface="Consolas"/>
              </a:rPr>
              <a:t>  </a:t>
            </a:r>
            <a:r>
              <a:rPr sz="869" b="1">
                <a:solidFill>
                  <a:srgbClr val="FFD56B"/>
                </a:solidFill>
                <a:latin typeface="Consolas"/>
              </a:rPr>
              <a:t>"cnf"</a:t>
            </a:r>
            <a:r>
              <a:rPr sz="869" b="1">
                <a:solidFill>
                  <a:srgbClr val="FFD56B"/>
                </a:solidFill>
                <a:latin typeface="Consolas"/>
              </a:rPr>
              <a:t>: { </a:t>
            </a:r>
            <a:r>
              <a:rPr sz="869" b="1">
                <a:solidFill>
                  <a:srgbClr val="FFD56B"/>
                </a:solidFill>
                <a:latin typeface="Consolas"/>
              </a:rPr>
              <a:t>"jwk"</a:t>
            </a:r>
            <a:r>
              <a:rPr sz="869" b="1">
                <a:solidFill>
                  <a:srgbClr val="FFD56B"/>
                </a:solidFill>
                <a:latin typeface="Consolas"/>
              </a:rPr>
              <a:t>: { </a:t>
            </a:r>
            <a:r>
              <a:rPr sz="869" b="1">
                <a:solidFill>
                  <a:srgbClr val="FFD56B"/>
                </a:solidFill>
                <a:latin typeface="Consolas"/>
              </a:rPr>
              <a:t>"kty"</a:t>
            </a:r>
            <a:r>
              <a:rPr sz="869" b="1">
                <a:solidFill>
                  <a:srgbClr val="FFD56B"/>
                </a:solidFill>
                <a:latin typeface="Consolas"/>
              </a:rPr>
              <a:t>:</a:t>
            </a:r>
            <a:r>
              <a:rPr sz="869" b="1">
                <a:solidFill>
                  <a:srgbClr val="FFD56B"/>
                </a:solidFill>
                <a:latin typeface="Consolas"/>
              </a:rPr>
              <a:t>"EC"</a:t>
            </a:r>
            <a:r>
              <a:rPr sz="869" b="1">
                <a:solidFill>
                  <a:srgbClr val="FFD56B"/>
                </a:solidFill>
                <a:latin typeface="Consolas"/>
              </a:rPr>
              <a:t>, </a:t>
            </a:r>
            <a:r>
              <a:rPr sz="869" b="1">
                <a:solidFill>
                  <a:srgbClr val="FFD56B"/>
                </a:solidFill>
                <a:latin typeface="Consolas"/>
              </a:rPr>
              <a:t>"crv"</a:t>
            </a:r>
            <a:r>
              <a:rPr sz="869" b="1">
                <a:solidFill>
                  <a:srgbClr val="FFD56B"/>
                </a:solidFill>
                <a:latin typeface="Consolas"/>
              </a:rPr>
              <a:t>:</a:t>
            </a:r>
            <a:r>
              <a:rPr sz="869" b="1">
                <a:solidFill>
                  <a:srgbClr val="FFD56B"/>
                </a:solidFill>
                <a:latin typeface="Consolas"/>
              </a:rPr>
              <a:t>"P-256"</a:t>
            </a:r>
            <a:r>
              <a:rPr sz="869" b="1">
                <a:solidFill>
                  <a:srgbClr val="FFD56B"/>
                </a:solidFill>
                <a:latin typeface="Consolas"/>
              </a:rPr>
              <a:t>, … } }</a:t>
            </a:r>
          </a:p>
          <a:p>
            <a:pPr>
              <a:lnSpc>
                <a:spcPct val="116000"/>
              </a:lnSpc>
              <a:spcBef>
                <a:spcPts val="0"/>
              </a:spcBef>
              <a:spcAft>
                <a:spcPts val="0"/>
              </a:spcAft>
            </a:pPr>
            <a:r>
              <a:rPr sz="869">
                <a:solidFill>
                  <a:srgbClr val="CBD9E8"/>
                </a:solidFill>
                <a:latin typeface="Consolas"/>
              </a:rPr>
              <a:t>}</a:t>
            </a:r>
          </a:p>
          <a:p>
            <a:pPr>
              <a:lnSpc>
                <a:spcPct val="116000"/>
              </a:lnSpc>
              <a:spcBef>
                <a:spcPts val="0"/>
              </a:spcBef>
              <a:spcAft>
                <a:spcPts val="0"/>
              </a:spcAft>
            </a:pPr>
          </a:p>
          <a:p>
            <a:pPr>
              <a:lnSpc>
                <a:spcPct val="116000"/>
              </a:lnSpc>
              <a:spcBef>
                <a:spcPts val="0"/>
              </a:spcBef>
              <a:spcAft>
                <a:spcPts val="0"/>
              </a:spcAft>
            </a:pPr>
            <a:r>
              <a:rPr sz="869">
                <a:solidFill>
                  <a:srgbClr val="7E93A8"/>
                </a:solidFill>
                <a:latin typeface="Consolas"/>
              </a:rPr>
              <a:t>// one disclosure, base64url of a 3-element array</a:t>
            </a:r>
          </a:p>
          <a:p>
            <a:pPr>
              <a:lnSpc>
                <a:spcPct val="116000"/>
              </a:lnSpc>
              <a:spcBef>
                <a:spcPts val="0"/>
              </a:spcBef>
              <a:spcAft>
                <a:spcPts val="0"/>
              </a:spcAft>
            </a:pPr>
            <a:r>
              <a:rPr sz="869">
                <a:solidFill>
                  <a:srgbClr val="CBD9E8"/>
                </a:solidFill>
                <a:latin typeface="Consolas"/>
              </a:rPr>
              <a:t>[</a:t>
            </a:r>
            <a:r>
              <a:rPr sz="869">
                <a:solidFill>
                  <a:srgbClr val="F6C67A"/>
                </a:solidFill>
                <a:latin typeface="Consolas"/>
              </a:rPr>
              <a:t>"_26bc4LT-ac6q2KI6cBW5es"</a:t>
            </a:r>
            <a:r>
              <a:rPr sz="869">
                <a:solidFill>
                  <a:srgbClr val="CBD9E8"/>
                </a:solidFill>
                <a:latin typeface="Consolas"/>
              </a:rPr>
              <a:t>, </a:t>
            </a:r>
            <a:r>
              <a:rPr sz="869">
                <a:solidFill>
                  <a:srgbClr val="F6C67A"/>
                </a:solidFill>
                <a:latin typeface="Consolas"/>
              </a:rPr>
              <a:t>"nome"</a:t>
            </a:r>
            <a:r>
              <a:rPr sz="869">
                <a:solidFill>
                  <a:srgbClr val="CBD9E8"/>
                </a:solidFill>
                <a:latin typeface="Consolas"/>
              </a:rPr>
              <a:t>, </a:t>
            </a:r>
            <a:r>
              <a:rPr sz="869">
                <a:solidFill>
                  <a:srgbClr val="F6C67A"/>
                </a:solidFill>
                <a:latin typeface="Consolas"/>
              </a:rPr>
              <a:t>"Ana Silva"</a:t>
            </a:r>
            <a:r>
              <a:rPr sz="869">
                <a:solidFill>
                  <a:srgbClr val="CBD9E8"/>
                </a:solidFill>
                <a:latin typeface="Consolas"/>
              </a:rPr>
              <a:t>]</a:t>
            </a:r>
          </a:p>
          <a:p>
            <a:pPr>
              <a:lnSpc>
                <a:spcPct val="116000"/>
              </a:lnSpc>
              <a:spcBef>
                <a:spcPts val="0"/>
              </a:spcBef>
              <a:spcAft>
                <a:spcPts val="0"/>
              </a:spcAft>
            </a:pPr>
            <a:r>
              <a:rPr sz="869">
                <a:solidFill>
                  <a:srgbClr val="7E93A8"/>
                </a:solidFill>
                <a:latin typeface="Consolas"/>
              </a:rPr>
              <a:t>//  ^ salt                    ^ claim   ^ value</a:t>
            </a:r>
          </a:p>
          <a:p>
            <a:pPr>
              <a:lnSpc>
                <a:spcPct val="116000"/>
              </a:lnSpc>
              <a:spcBef>
                <a:spcPts val="0"/>
              </a:spcBef>
              <a:spcAft>
                <a:spcPts val="0"/>
              </a:spcAft>
            </a:pPr>
            <a:r>
              <a:rPr sz="869" b="1">
                <a:solidFill>
                  <a:srgbClr val="FFD56B"/>
                </a:solidFill>
                <a:latin typeface="Consolas"/>
              </a:rPr>
              <a:t>//  SHA-256(disclosure) must equal one entry in _sd</a:t>
            </a:r>
          </a:p>
        </p:txBody>
      </p:sp>
      <p:sp>
        <p:nvSpPr>
          <p:cNvPr id="19" name="Oval 18"/>
          <p:cNvSpPr/>
          <p:nvPr/>
        </p:nvSpPr>
        <p:spPr>
          <a:xfrm>
            <a:off x="6396228" y="2709976"/>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642616"/>
            <a:ext cx="510235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issuer replaces each selectively-disclosable claim with a </a:t>
            </a:r>
            <a:r>
              <a:rPr sz="1019" b="1" i="0">
                <a:solidFill>
                  <a:srgbClr val="0F172A"/>
                </a:solidFill>
                <a:latin typeface="Arial"/>
              </a:rPr>
              <a:t>digest</a:t>
            </a:r>
            <a:r>
              <a:rPr sz="1019" b="0" i="0">
                <a:solidFill>
                  <a:srgbClr val="0F172A"/>
                </a:solidFill>
                <a:latin typeface="Arial"/>
              </a:rPr>
              <a:t> in </a:t>
            </a:r>
            <a:r>
              <a:rPr sz="1019" b="0" i="0">
                <a:solidFill>
                  <a:srgbClr val="1D4E89"/>
                </a:solidFill>
                <a:latin typeface="Consolas"/>
              </a:rPr>
              <a:t>_sd</a:t>
            </a:r>
            <a:r>
              <a:rPr sz="1019" b="0" i="0">
                <a:solidFill>
                  <a:srgbClr val="0F172A"/>
                </a:solidFill>
                <a:latin typeface="Arial"/>
              </a:rPr>
              <a:t>, and hands the wallet the matching disclosures.</a:t>
            </a:r>
          </a:p>
        </p:txBody>
      </p:sp>
      <p:sp>
        <p:nvSpPr>
          <p:cNvPr id="21" name="Oval 20"/>
          <p:cNvSpPr/>
          <p:nvPr/>
        </p:nvSpPr>
        <p:spPr>
          <a:xfrm>
            <a:off x="6396228" y="3132429"/>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065068"/>
            <a:ext cx="510235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_sd_alg</a:t>
            </a:r>
            <a:r>
              <a:rPr sz="1019" b="0" i="0">
                <a:solidFill>
                  <a:srgbClr val="0F172A"/>
                </a:solidFill>
                <a:latin typeface="Arial"/>
              </a:rPr>
              <a:t> names the hash. Inji supports </a:t>
            </a:r>
            <a:r>
              <a:rPr sz="1019" b="0" i="0">
                <a:solidFill>
                  <a:srgbClr val="1D4E89"/>
                </a:solidFill>
                <a:latin typeface="Consolas"/>
              </a:rPr>
              <a:t>sha-256</a:t>
            </a:r>
            <a:r>
              <a:rPr sz="1019" b="0" i="0">
                <a:solidFill>
                  <a:srgbClr val="0F172A"/>
                </a:solidFill>
                <a:latin typeface="Arial"/>
              </a:rPr>
              <a:t>, </a:t>
            </a:r>
            <a:r>
              <a:rPr sz="1019" b="0" i="0">
                <a:solidFill>
                  <a:srgbClr val="1D4E89"/>
                </a:solidFill>
                <a:latin typeface="Consolas"/>
              </a:rPr>
              <a:t>sha-384</a:t>
            </a:r>
            <a:r>
              <a:rPr sz="1019" b="0" i="0">
                <a:solidFill>
                  <a:srgbClr val="0F172A"/>
                </a:solidFill>
                <a:latin typeface="Arial"/>
              </a:rPr>
              <a:t>, </a:t>
            </a:r>
            <a:r>
              <a:rPr sz="1019" b="0" i="0">
                <a:solidFill>
                  <a:srgbClr val="1D4E89"/>
                </a:solidFill>
                <a:latin typeface="Consolas"/>
              </a:rPr>
              <a:t>sha-512</a:t>
            </a:r>
            <a:r>
              <a:rPr sz="1019" b="0" i="0">
                <a:solidFill>
                  <a:srgbClr val="0F172A"/>
                </a:solidFill>
                <a:latin typeface="Arial"/>
              </a:rPr>
              <a:t>; a mismatch throws.</a:t>
            </a:r>
          </a:p>
        </p:txBody>
      </p:sp>
      <p:sp>
        <p:nvSpPr>
          <p:cNvPr id="23" name="Oval 22"/>
          <p:cNvSpPr/>
          <p:nvPr/>
        </p:nvSpPr>
        <p:spPr>
          <a:xfrm>
            <a:off x="6396228" y="3554882"/>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3487521"/>
            <a:ext cx="510235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To disclose a claim, the wallet </a:t>
            </a:r>
            <a:r>
              <a:rPr sz="1019" b="1" i="0">
                <a:solidFill>
                  <a:srgbClr val="0F172A"/>
                </a:solidFill>
                <a:latin typeface="Arial"/>
              </a:rPr>
              <a:t>includes its disclosure</a:t>
            </a:r>
            <a:r>
              <a:rPr sz="1019" b="0" i="0">
                <a:solidFill>
                  <a:srgbClr val="0F172A"/>
                </a:solidFill>
                <a:latin typeface="Arial"/>
              </a:rPr>
              <a:t>. To hide it, it simply omits it — the digest stays, the value is unrecoverable.</a:t>
            </a:r>
          </a:p>
        </p:txBody>
      </p:sp>
      <p:sp>
        <p:nvSpPr>
          <p:cNvPr id="25" name="Oval 24"/>
          <p:cNvSpPr/>
          <p:nvPr/>
        </p:nvSpPr>
        <p:spPr>
          <a:xfrm>
            <a:off x="6396228" y="397733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909974"/>
            <a:ext cx="510235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cnf</a:t>
            </a:r>
            <a:r>
              <a:rPr sz="1019" b="0" i="0">
                <a:solidFill>
                  <a:srgbClr val="0F172A"/>
                </a:solidFill>
                <a:latin typeface="Arial"/>
              </a:rPr>
              <a:t> carries the holder key. Inji's OpenID4VP library supports </a:t>
            </a:r>
            <a:r>
              <a:rPr sz="1019" b="0" i="0">
                <a:solidFill>
                  <a:srgbClr val="1D4E89"/>
                </a:solidFill>
                <a:latin typeface="Consolas"/>
              </a:rPr>
              <a:t>cnf</a:t>
            </a:r>
            <a:r>
              <a:rPr sz="1019" b="0" i="0">
                <a:solidFill>
                  <a:srgbClr val="0F172A"/>
                </a:solidFill>
                <a:latin typeface="Arial"/>
              </a:rPr>
              <a:t> with a </a:t>
            </a:r>
            <a:r>
              <a:rPr sz="1019" b="0" i="0">
                <a:solidFill>
                  <a:srgbClr val="1D4E89"/>
                </a:solidFill>
                <a:latin typeface="Consolas"/>
              </a:rPr>
              <a:t>kid</a:t>
            </a:r>
            <a:r>
              <a:rPr sz="1019" b="0" i="0">
                <a:solidFill>
                  <a:srgbClr val="0F172A"/>
                </a:solidFill>
                <a:latin typeface="Arial"/>
              </a:rPr>
              <a:t> in </a:t>
            </a:r>
            <a:r>
              <a:rPr sz="1019" b="0" i="0">
                <a:solidFill>
                  <a:srgbClr val="1D4E89"/>
                </a:solidFill>
                <a:latin typeface="Consolas"/>
              </a:rPr>
              <a:t>did:jwk</a:t>
            </a:r>
            <a:r>
              <a:rPr sz="1019" b="0" i="0">
                <a:solidFill>
                  <a:srgbClr val="0F172A"/>
                </a:solidFill>
                <a:latin typeface="Arial"/>
              </a:rPr>
              <a:t> form, using </a:t>
            </a:r>
            <a:r>
              <a:rPr sz="1019" b="0" i="0">
                <a:solidFill>
                  <a:srgbClr val="1D4E89"/>
                </a:solidFill>
                <a:latin typeface="Consolas"/>
              </a:rPr>
              <a:t>ES256</a:t>
            </a:r>
            <a:r>
              <a:rPr sz="1019" b="0" i="0">
                <a:solidFill>
                  <a:srgbClr val="0F172A"/>
                </a:solidFill>
                <a:latin typeface="Arial"/>
              </a:rPr>
              <a:t> or </a:t>
            </a:r>
            <a:r>
              <a:rPr sz="1019" b="0" i="0">
                <a:solidFill>
                  <a:srgbClr val="1D4E89"/>
                </a:solidFill>
                <a:latin typeface="Consolas"/>
              </a:rPr>
              <a:t>EdDSA</a:t>
            </a:r>
            <a:r>
              <a:rPr sz="1019" b="0" i="0">
                <a:solidFill>
                  <a:srgbClr val="0F172A"/>
                </a:solidFill>
                <a:latin typeface="Arial"/>
              </a:rPr>
              <a:t>.</a:t>
            </a:r>
          </a:p>
        </p:txBody>
      </p:sp>
      <p:sp>
        <p:nvSpPr>
          <p:cNvPr id="27" name="Oval 26"/>
          <p:cNvSpPr/>
          <p:nvPr/>
        </p:nvSpPr>
        <p:spPr>
          <a:xfrm>
            <a:off x="6396228" y="4399788"/>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4332427"/>
            <a:ext cx="5102351"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a:t>
            </a:r>
            <a:r>
              <a:rPr sz="1019" b="1" i="0">
                <a:solidFill>
                  <a:srgbClr val="0F172A"/>
                </a:solidFill>
                <a:latin typeface="Arial"/>
              </a:rPr>
              <a:t>KB-JWT</a:t>
            </a:r>
            <a:r>
              <a:rPr sz="1019" b="0" i="0">
                <a:solidFill>
                  <a:srgbClr val="0F172A"/>
                </a:solidFill>
                <a:latin typeface="Arial"/>
              </a:rPr>
              <a:t> is added only at presentation. It signs over </a:t>
            </a:r>
            <a:r>
              <a:rPr sz="1019" b="0" i="0">
                <a:solidFill>
                  <a:srgbClr val="1D4E89"/>
                </a:solidFill>
                <a:latin typeface="Consolas"/>
              </a:rPr>
              <a:t>sd_hash</a:t>
            </a:r>
            <a:r>
              <a:rPr sz="1019" b="0" i="0">
                <a:solidFill>
                  <a:srgbClr val="0F172A"/>
                </a:solidFill>
                <a:latin typeface="Arial"/>
              </a:rPr>
              <a:t> (a hash of everything being presented), the verifier's </a:t>
            </a:r>
            <a:r>
              <a:rPr sz="1019" b="0" i="0">
                <a:solidFill>
                  <a:srgbClr val="1D4E89"/>
                </a:solidFill>
                <a:latin typeface="Consolas"/>
              </a:rPr>
              <a:t>nonce</a:t>
            </a:r>
            <a:r>
              <a:rPr sz="1019" b="0" i="0">
                <a:solidFill>
                  <a:srgbClr val="0F172A"/>
                </a:solidFill>
                <a:latin typeface="Arial"/>
              </a:rPr>
              <a:t> and </a:t>
            </a:r>
            <a:r>
              <a:rPr sz="1019" b="0" i="0">
                <a:solidFill>
                  <a:srgbClr val="1D4E89"/>
                </a:solidFill>
                <a:latin typeface="Consolas"/>
              </a:rPr>
              <a:t>aud</a:t>
            </a:r>
            <a:r>
              <a:rPr sz="1019" b="0" i="0">
                <a:solidFill>
                  <a:srgbClr val="0F172A"/>
                </a:solidFill>
                <a:latin typeface="Arial"/>
              </a:rPr>
              <a:t>.</a:t>
            </a:r>
          </a:p>
        </p:txBody>
      </p:sp>
      <p:sp>
        <p:nvSpPr>
          <p:cNvPr id="29" name="Oval 28"/>
          <p:cNvSpPr/>
          <p:nvPr/>
        </p:nvSpPr>
        <p:spPr>
          <a:xfrm>
            <a:off x="6396228" y="4985461"/>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4918100"/>
            <a:ext cx="5102351"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No </a:t>
            </a:r>
            <a:r>
              <a:rPr sz="1019" b="0" i="0">
                <a:solidFill>
                  <a:srgbClr val="1D4E89"/>
                </a:solidFill>
                <a:latin typeface="Consolas"/>
              </a:rPr>
              <a:t>cnf</a:t>
            </a:r>
            <a:r>
              <a:rPr sz="1019" b="0" i="0">
                <a:solidFill>
                  <a:srgbClr val="0F172A"/>
                </a:solidFill>
                <a:latin typeface="Arial"/>
              </a:rPr>
              <a:t> means no KB-JWT: </a:t>
            </a:r>
            <a:r>
              <a:rPr sz="1019" b="0" i="0">
                <a:solidFill>
                  <a:srgbClr val="1D4E89"/>
                </a:solidFill>
                <a:latin typeface="Consolas"/>
              </a:rPr>
              <a:t>inji-openid4vp</a:t>
            </a:r>
            <a:r>
              <a:rPr sz="1019" b="0" i="0">
                <a:solidFill>
                  <a:srgbClr val="0F172A"/>
                </a:solidFill>
                <a:latin typeface="Arial"/>
              </a:rPr>
              <a:t> skips signing and presents it unbound.</a:t>
            </a:r>
          </a:p>
        </p:txBody>
      </p:sp>
      <p:sp>
        <p:nvSpPr>
          <p:cNvPr id="31" name="TextBox 3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formats</a:t>
            </a:r>
          </a:p>
        </p:txBody>
      </p:sp>
      <p:sp>
        <p:nvSpPr>
          <p:cNvPr id="32" name="TextBox 3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KEY RESOLUTION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SD-JWT VC: how the verifier finds the issuer's key</a:t>
            </a:r>
          </a:p>
        </p:txBody>
      </p:sp>
      <p:sp>
        <p:nvSpPr>
          <p:cNvPr id="4" name="TextBox 3"/>
          <p:cNvSpPr txBox="1"/>
          <p:nvPr/>
        </p:nvSpPr>
        <p:spPr>
          <a:xfrm>
            <a:off x="502920" y="1078992"/>
            <a:ext cx="11185855" cy="283927"/>
          </a:xfrm>
          <a:prstGeom prst="rect">
            <a:avLst/>
          </a:prstGeom>
          <a:noFill/>
        </p:spPr>
        <p:txBody>
          <a:bodyPr wrap="square" lIns="0" rIns="0" tIns="0" bIns="0" anchor="t">
            <a:spAutoFit/>
          </a:bodyPr>
          <a:lstStyle/>
          <a:p>
            <a:pPr algn="l">
              <a:lnSpc>
                <a:spcPct val="114000"/>
              </a:lnSpc>
              <a:spcBef>
                <a:spcPts val="0"/>
              </a:spcBef>
              <a:spcAft>
                <a:spcPts val="0"/>
              </a:spcAft>
            </a:pPr>
            <a:r>
              <a:rPr sz="1110" b="0" i="0">
                <a:solidFill>
                  <a:srgbClr val="5B6B7F"/>
                </a:solidFill>
                <a:latin typeface="Arial"/>
              </a:rPr>
              <a:t>A correct credential with an unresolvable key is a failed verification. This is where a lot of integration time goes.</a:t>
            </a:r>
          </a:p>
        </p:txBody>
      </p:sp>
      <p:cxnSp>
        <p:nvCxnSpPr>
          <p:cNvPr id="5" name="Connector 4"/>
          <p:cNvCxnSpPr/>
          <p:nvPr/>
        </p:nvCxnSpPr>
        <p:spPr>
          <a:xfrm>
            <a:off x="502920" y="1454359"/>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38078"/>
            <a:ext cx="6720840" cy="851783"/>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38078"/>
            <a:ext cx="50292" cy="851783"/>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38287"/>
            <a:ext cx="6400800" cy="233823"/>
          </a:xfrm>
          <a:prstGeom prst="rect">
            <a:avLst/>
          </a:prstGeom>
          <a:noFill/>
        </p:spPr>
        <p:txBody>
          <a:bodyPr wrap="square" lIns="0" rIns="0" tIns="0" bIns="0" anchor="t">
            <a:spAutoFit/>
          </a:bodyPr>
          <a:lstStyle/>
          <a:p>
            <a:pPr algn="l">
              <a:lnSpc>
                <a:spcPct val="114000"/>
              </a:lnSpc>
              <a:spcBef>
                <a:spcPts val="0"/>
              </a:spcBef>
              <a:spcAft>
                <a:spcPts val="0"/>
              </a:spcAft>
            </a:pPr>
            <a:r>
              <a:rPr sz="1110" b="1" i="0">
                <a:solidFill>
                  <a:srgbClr val="15703D"/>
                </a:solidFill>
              </a:rPr>
              <a:t>x5c  — X.509 chain in the header</a:t>
            </a:r>
          </a:p>
        </p:txBody>
      </p:sp>
      <p:sp>
        <p:nvSpPr>
          <p:cNvPr id="9" name="TextBox 8"/>
          <p:cNvSpPr txBox="1"/>
          <p:nvPr/>
        </p:nvSpPr>
        <p:spPr>
          <a:xfrm>
            <a:off x="704088" y="1988812"/>
            <a:ext cx="6400800" cy="459295"/>
          </a:xfrm>
          <a:prstGeom prst="rect">
            <a:avLst/>
          </a:prstGeom>
          <a:noFill/>
        </p:spPr>
        <p:txBody>
          <a:bodyPr wrap="square" lIns="0" rIns="0" tIns="0" bIns="0" anchor="t">
            <a:spAutoFit/>
          </a:bodyPr>
          <a:lstStyle/>
          <a:p>
            <a:pPr algn="l">
              <a:lnSpc>
                <a:spcPct val="124000"/>
              </a:lnSpc>
              <a:spcBef>
                <a:spcPts val="0"/>
              </a:spcBef>
              <a:spcAft>
                <a:spcPts val="0"/>
              </a:spcAft>
            </a:pPr>
            <a:r>
              <a:rPr sz="900" b="0" i="0">
                <a:solidFill>
                  <a:srgbClr val="5B6B7F"/>
                </a:solidFill>
                <a:latin typeface="Arial"/>
              </a:rPr>
              <a:t>The issuer embeds its certificate chain in the JWS header. The verifier validates the chain to a trusted root.  This is what Inji's </a:t>
            </a:r>
            <a:r>
              <a:rPr sz="900" b="0" i="0">
                <a:solidFill>
                  <a:srgbClr val="1D4E89"/>
                </a:solidFill>
                <a:latin typeface="Consolas"/>
              </a:rPr>
              <a:t>vc-verifier</a:t>
            </a:r>
            <a:r>
              <a:rPr sz="900" b="0" i="0">
                <a:solidFill>
                  <a:srgbClr val="5B6B7F"/>
                </a:solidFill>
                <a:latin typeface="Arial"/>
              </a:rPr>
              <a:t> uses for </a:t>
            </a:r>
            <a:r>
              <a:rPr sz="900" b="0" i="0">
                <a:solidFill>
                  <a:srgbClr val="1D4E89"/>
                </a:solidFill>
                <a:latin typeface="Consolas"/>
              </a:rPr>
              <a:t>vc+sd-jwt</a:t>
            </a:r>
            <a:r>
              <a:rPr sz="900" b="0" i="0">
                <a:solidFill>
                  <a:srgbClr val="5B6B7F"/>
                </a:solidFill>
                <a:latin typeface="Arial"/>
              </a:rPr>
              <a:t> and </a:t>
            </a:r>
            <a:r>
              <a:rPr sz="900" b="0" i="0">
                <a:solidFill>
                  <a:srgbClr val="1D4E89"/>
                </a:solidFill>
                <a:latin typeface="Consolas"/>
              </a:rPr>
              <a:t>dc+sd-jwt</a:t>
            </a:r>
            <a:r>
              <a:rPr sz="900" b="0" i="0">
                <a:solidFill>
                  <a:srgbClr val="5B6B7F"/>
                </a:solidFill>
                <a:latin typeface="Arial"/>
              </a:rPr>
              <a:t> today.</a:t>
            </a:r>
          </a:p>
        </p:txBody>
      </p:sp>
      <p:sp>
        <p:nvSpPr>
          <p:cNvPr id="10" name="Rounded Rectangle 9"/>
          <p:cNvSpPr/>
          <p:nvPr/>
        </p:nvSpPr>
        <p:spPr>
          <a:xfrm>
            <a:off x="502920" y="2581720"/>
            <a:ext cx="6720840" cy="851783"/>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581720"/>
            <a:ext cx="50292" cy="85178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2681930"/>
            <a:ext cx="6400800" cy="233823"/>
          </a:xfrm>
          <a:prstGeom prst="rect">
            <a:avLst/>
          </a:prstGeom>
          <a:noFill/>
        </p:spPr>
        <p:txBody>
          <a:bodyPr wrap="square" lIns="0" rIns="0" tIns="0" bIns="0" anchor="t">
            <a:spAutoFit/>
          </a:bodyPr>
          <a:lstStyle/>
          <a:p>
            <a:pPr algn="l">
              <a:lnSpc>
                <a:spcPct val="114000"/>
              </a:lnSpc>
              <a:spcBef>
                <a:spcPts val="0"/>
              </a:spcBef>
              <a:spcAft>
                <a:spcPts val="0"/>
              </a:spcAft>
            </a:pPr>
            <a:r>
              <a:rPr sz="1110" b="1" i="0">
                <a:solidFill>
                  <a:srgbClr val="B45309"/>
                </a:solidFill>
              </a:rPr>
              <a:t>/.well-known/jwt-vc-issuer</a:t>
            </a:r>
          </a:p>
        </p:txBody>
      </p:sp>
      <p:sp>
        <p:nvSpPr>
          <p:cNvPr id="13" name="TextBox 12"/>
          <p:cNvSpPr txBox="1"/>
          <p:nvPr/>
        </p:nvSpPr>
        <p:spPr>
          <a:xfrm>
            <a:off x="704088" y="2932454"/>
            <a:ext cx="6400800" cy="459295"/>
          </a:xfrm>
          <a:prstGeom prst="rect">
            <a:avLst/>
          </a:prstGeom>
          <a:noFill/>
        </p:spPr>
        <p:txBody>
          <a:bodyPr wrap="square" lIns="0" rIns="0" tIns="0" bIns="0" anchor="t">
            <a:spAutoFit/>
          </a:bodyPr>
          <a:lstStyle/>
          <a:p>
            <a:pPr algn="l">
              <a:lnSpc>
                <a:spcPct val="124000"/>
              </a:lnSpc>
              <a:spcBef>
                <a:spcPts val="0"/>
              </a:spcBef>
              <a:spcAft>
                <a:spcPts val="0"/>
              </a:spcAft>
            </a:pPr>
            <a:r>
              <a:rPr sz="900" b="0" i="0">
                <a:solidFill>
                  <a:srgbClr val="5B6B7F"/>
                </a:solidFill>
                <a:latin typeface="Arial"/>
              </a:rPr>
              <a:t>Take </a:t>
            </a:r>
            <a:r>
              <a:rPr sz="900" b="0" i="0">
                <a:solidFill>
                  <a:srgbClr val="1D4E89"/>
                </a:solidFill>
                <a:latin typeface="Consolas"/>
              </a:rPr>
              <a:t>iss</a:t>
            </a:r>
            <a:r>
              <a:rPr sz="900" b="0" i="0">
                <a:solidFill>
                  <a:srgbClr val="5B6B7F"/>
                </a:solidFill>
                <a:latin typeface="Arial"/>
              </a:rPr>
              <a:t>, insert the well-known path, fetch the JWT VC Issuer Metadata, follow </a:t>
            </a:r>
            <a:r>
              <a:rPr sz="900" b="0" i="0">
                <a:solidFill>
                  <a:srgbClr val="1D4E89"/>
                </a:solidFill>
                <a:latin typeface="Consolas"/>
              </a:rPr>
              <a:t>jwks</a:t>
            </a:r>
            <a:r>
              <a:rPr sz="900" b="0" i="0">
                <a:solidFill>
                  <a:srgbClr val="5B6B7F"/>
                </a:solidFill>
                <a:latin typeface="Arial"/>
              </a:rPr>
              <a:t> or </a:t>
            </a:r>
            <a:r>
              <a:rPr sz="900" b="0" i="0">
                <a:solidFill>
                  <a:srgbClr val="1D4E89"/>
                </a:solidFill>
                <a:latin typeface="Consolas"/>
              </a:rPr>
              <a:t>jwks_uri</a:t>
            </a:r>
            <a:r>
              <a:rPr sz="900" b="0" i="0">
                <a:solidFill>
                  <a:srgbClr val="5B6B7F"/>
                </a:solidFill>
                <a:latin typeface="Arial"/>
              </a:rPr>
              <a:t>, select by </a:t>
            </a:r>
            <a:r>
              <a:rPr sz="900" b="0" i="0">
                <a:solidFill>
                  <a:srgbClr val="1D4E89"/>
                </a:solidFill>
                <a:latin typeface="Consolas"/>
              </a:rPr>
              <a:t>kid</a:t>
            </a:r>
            <a:r>
              <a:rPr sz="900" b="0" i="0">
                <a:solidFill>
                  <a:srgbClr val="5B6B7F"/>
                </a:solidFill>
                <a:latin typeface="Arial"/>
              </a:rPr>
              <a:t>.  Defined by the SD-JWT VC draft. </a:t>
            </a:r>
            <a:r>
              <a:rPr sz="900" b="1" i="0">
                <a:solidFill>
                  <a:srgbClr val="B31B1B"/>
                </a:solidFill>
                <a:latin typeface="Arial"/>
              </a:rPr>
              <a:t>Not supported by Inji's vc-verifier at the time of writing.</a:t>
            </a:r>
          </a:p>
        </p:txBody>
      </p:sp>
      <p:sp>
        <p:nvSpPr>
          <p:cNvPr id="14" name="Rounded Rectangle 13"/>
          <p:cNvSpPr/>
          <p:nvPr/>
        </p:nvSpPr>
        <p:spPr>
          <a:xfrm>
            <a:off x="502920" y="3525362"/>
            <a:ext cx="6720840" cy="851783"/>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525362"/>
            <a:ext cx="50292" cy="851783"/>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625573"/>
            <a:ext cx="6400800" cy="233823"/>
          </a:xfrm>
          <a:prstGeom prst="rect">
            <a:avLst/>
          </a:prstGeom>
          <a:noFill/>
        </p:spPr>
        <p:txBody>
          <a:bodyPr wrap="square" lIns="0" rIns="0" tIns="0" bIns="0" anchor="t">
            <a:spAutoFit/>
          </a:bodyPr>
          <a:lstStyle/>
          <a:p>
            <a:pPr algn="l">
              <a:lnSpc>
                <a:spcPct val="114000"/>
              </a:lnSpc>
              <a:spcBef>
                <a:spcPts val="0"/>
              </a:spcBef>
              <a:spcAft>
                <a:spcPts val="0"/>
              </a:spcAft>
            </a:pPr>
            <a:r>
              <a:rPr sz="1110" b="1" i="0">
                <a:solidFill>
                  <a:srgbClr val="1D4E89"/>
                </a:solidFill>
              </a:rPr>
              <a:t>DID-based</a:t>
            </a:r>
          </a:p>
        </p:txBody>
      </p:sp>
      <p:sp>
        <p:nvSpPr>
          <p:cNvPr id="17" name="TextBox 16"/>
          <p:cNvSpPr txBox="1"/>
          <p:nvPr/>
        </p:nvSpPr>
        <p:spPr>
          <a:xfrm>
            <a:off x="704088" y="3876097"/>
            <a:ext cx="6400800" cy="459295"/>
          </a:xfrm>
          <a:prstGeom prst="rect">
            <a:avLst/>
          </a:prstGeom>
          <a:noFill/>
        </p:spPr>
        <p:txBody>
          <a:bodyPr wrap="square" lIns="0" rIns="0" tIns="0" bIns="0" anchor="t">
            <a:spAutoFit/>
          </a:bodyPr>
          <a:lstStyle/>
          <a:p>
            <a:pPr algn="l">
              <a:lnSpc>
                <a:spcPct val="124000"/>
              </a:lnSpc>
              <a:spcBef>
                <a:spcPts val="0"/>
              </a:spcBef>
              <a:spcAft>
                <a:spcPts val="0"/>
              </a:spcAft>
            </a:pPr>
            <a:r>
              <a:rPr sz="900" b="0" i="0">
                <a:solidFill>
                  <a:srgbClr val="1D4E89"/>
                </a:solidFill>
                <a:latin typeface="Consolas"/>
              </a:rPr>
              <a:t>iss</a:t>
            </a:r>
            <a:r>
              <a:rPr sz="900" b="0" i="0">
                <a:solidFill>
                  <a:srgbClr val="5B6B7F"/>
                </a:solidFill>
                <a:latin typeface="Arial"/>
              </a:rPr>
              <a:t> is a DID. Resolve the DID document, find the verification method named by </a:t>
            </a:r>
            <a:r>
              <a:rPr sz="900" b="0" i="0">
                <a:solidFill>
                  <a:srgbClr val="1D4E89"/>
                </a:solidFill>
                <a:latin typeface="Consolas"/>
              </a:rPr>
              <a:t>kid</a:t>
            </a:r>
            <a:r>
              <a:rPr sz="900" b="0" i="0">
                <a:solidFill>
                  <a:srgbClr val="5B6B7F"/>
                </a:solidFill>
                <a:latin typeface="Arial"/>
              </a:rPr>
              <a:t>, take the public key.  </a:t>
            </a:r>
            <a:r>
              <a:rPr sz="900" b="0" i="0">
                <a:solidFill>
                  <a:srgbClr val="1D4E89"/>
                </a:solidFill>
                <a:latin typeface="Consolas"/>
              </a:rPr>
              <a:t>vc-verifier</a:t>
            </a:r>
            <a:r>
              <a:rPr sz="900" b="0" i="0">
                <a:solidFill>
                  <a:srgbClr val="5B6B7F"/>
                </a:solidFill>
                <a:latin typeface="Arial"/>
              </a:rPr>
              <a:t> resolves </a:t>
            </a:r>
            <a:r>
              <a:rPr sz="900" b="0" i="0">
                <a:solidFill>
                  <a:srgbClr val="1D4E89"/>
                </a:solidFill>
                <a:latin typeface="Consolas"/>
              </a:rPr>
              <a:t>did:web</a:t>
            </a:r>
            <a:r>
              <a:rPr sz="900" b="0" i="0">
                <a:solidFill>
                  <a:srgbClr val="5B6B7F"/>
                </a:solidFill>
                <a:latin typeface="Arial"/>
              </a:rPr>
              <a:t>, </a:t>
            </a:r>
            <a:r>
              <a:rPr sz="900" b="0" i="0">
                <a:solidFill>
                  <a:srgbClr val="1D4E89"/>
                </a:solidFill>
                <a:latin typeface="Consolas"/>
              </a:rPr>
              <a:t>did:key</a:t>
            </a:r>
            <a:r>
              <a:rPr sz="900" b="0" i="0">
                <a:solidFill>
                  <a:srgbClr val="5B6B7F"/>
                </a:solidFill>
                <a:latin typeface="Arial"/>
              </a:rPr>
              <a:t>, </a:t>
            </a:r>
            <a:r>
              <a:rPr sz="900" b="0" i="0">
                <a:solidFill>
                  <a:srgbClr val="1D4E89"/>
                </a:solidFill>
                <a:latin typeface="Consolas"/>
              </a:rPr>
              <a:t>did:jwk</a:t>
            </a:r>
            <a:r>
              <a:rPr sz="900" b="0" i="0">
                <a:solidFill>
                  <a:srgbClr val="5B6B7F"/>
                </a:solidFill>
                <a:latin typeface="Arial"/>
              </a:rPr>
              <a:t> — used heavily for </a:t>
            </a:r>
            <a:r>
              <a:rPr sz="900" b="0" i="0">
                <a:solidFill>
                  <a:srgbClr val="1D4E89"/>
                </a:solidFill>
                <a:latin typeface="Consolas"/>
              </a:rPr>
              <a:t>ldp_vc</a:t>
            </a:r>
            <a:r>
              <a:rPr sz="900" b="0" i="0">
                <a:solidFill>
                  <a:srgbClr val="5B6B7F"/>
                </a:solidFill>
                <a:latin typeface="Arial"/>
              </a:rPr>
              <a:t>.</a:t>
            </a:r>
          </a:p>
        </p:txBody>
      </p:sp>
      <p:sp>
        <p:nvSpPr>
          <p:cNvPr id="18" name="TextBox 17"/>
          <p:cNvSpPr txBox="1"/>
          <p:nvPr/>
        </p:nvSpPr>
        <p:spPr>
          <a:xfrm>
            <a:off x="7507224" y="1437658"/>
            <a:ext cx="4178808" cy="183718"/>
          </a:xfrm>
          <a:prstGeom prst="rect">
            <a:avLst/>
          </a:prstGeom>
          <a:noFill/>
        </p:spPr>
        <p:txBody>
          <a:bodyPr wrap="square" lIns="0" rIns="0" tIns="0" bIns="0" anchor="t">
            <a:spAutoFit/>
          </a:bodyPr>
          <a:lstStyle/>
          <a:p>
            <a:pPr algn="l">
              <a:lnSpc>
                <a:spcPct val="114000"/>
              </a:lnSpc>
              <a:spcBef>
                <a:spcPts val="0"/>
              </a:spcBef>
              <a:spcAft>
                <a:spcPts val="0"/>
              </a:spcAft>
            </a:pPr>
            <a:r>
              <a:rPr sz="860" b="1" i="0">
                <a:solidFill>
                  <a:srgbClr val="5B6B7F"/>
                </a:solidFill>
              </a:rPr>
              <a:t>WHERE THE HINTS LIVE</a:t>
            </a:r>
          </a:p>
        </p:txBody>
      </p:sp>
      <p:sp>
        <p:nvSpPr>
          <p:cNvPr id="19" name="Rounded Rectangle 18"/>
          <p:cNvSpPr/>
          <p:nvPr/>
        </p:nvSpPr>
        <p:spPr>
          <a:xfrm>
            <a:off x="7507224" y="1638078"/>
            <a:ext cx="4178808" cy="1878934"/>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528" y="1746638"/>
            <a:ext cx="3886200" cy="1661813"/>
          </a:xfrm>
          <a:prstGeom prst="rect">
            <a:avLst/>
          </a:prstGeom>
          <a:noFill/>
        </p:spPr>
        <p:txBody>
          <a:bodyPr wrap="square" lIns="0" rIns="0" tIns="0" bIns="0" anchor="t">
            <a:spAutoFit/>
          </a:bodyPr>
          <a:lstStyle/>
          <a:p>
            <a:pPr>
              <a:lnSpc>
                <a:spcPct val="116000"/>
              </a:lnSpc>
              <a:spcBef>
                <a:spcPts val="0"/>
              </a:spcBef>
              <a:spcAft>
                <a:spcPts val="0"/>
              </a:spcAft>
            </a:pPr>
            <a:r>
              <a:rPr sz="830">
                <a:solidFill>
                  <a:srgbClr val="7E93A8"/>
                </a:solidFill>
                <a:latin typeface="Consolas"/>
              </a:rPr>
              <a:t>// JWS header — pick ONE resolution path</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"alg"</a:t>
            </a:r>
            <a:r>
              <a:rPr sz="830">
                <a:solidFill>
                  <a:srgbClr val="CBD9E8"/>
                </a:solidFill>
                <a:latin typeface="Consolas"/>
              </a:rPr>
              <a:t>: </a:t>
            </a:r>
            <a:r>
              <a:rPr sz="830">
                <a:solidFill>
                  <a:srgbClr val="F6C67A"/>
                </a:solidFill>
                <a:latin typeface="Consolas"/>
              </a:rPr>
              <a:t>"ES256"</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"typ"</a:t>
            </a:r>
            <a:r>
              <a:rPr sz="830">
                <a:solidFill>
                  <a:srgbClr val="CBD9E8"/>
                </a:solidFill>
                <a:latin typeface="Consolas"/>
              </a:rPr>
              <a:t>: </a:t>
            </a:r>
            <a:r>
              <a:rPr sz="830">
                <a:solidFill>
                  <a:srgbClr val="F6C67A"/>
                </a:solidFill>
                <a:latin typeface="Consolas"/>
              </a:rPr>
              <a:t>"vc+sd-jwt"</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"kid"</a:t>
            </a:r>
            <a:r>
              <a:rPr sz="830">
                <a:solidFill>
                  <a:srgbClr val="CBD9E8"/>
                </a:solidFill>
                <a:latin typeface="Consolas"/>
              </a:rPr>
              <a:t>: </a:t>
            </a:r>
            <a:r>
              <a:rPr sz="830">
                <a:solidFill>
                  <a:srgbClr val="F6C67A"/>
                </a:solidFill>
                <a:latin typeface="Consolas"/>
              </a:rPr>
              <a:t>"did:web:gov.br#key-1"</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"x5c"</a:t>
            </a:r>
            <a:r>
              <a:rPr sz="830">
                <a:solidFill>
                  <a:srgbClr val="CBD9E8"/>
                </a:solidFill>
                <a:latin typeface="Consolas"/>
              </a:rPr>
              <a:t>: [ </a:t>
            </a:r>
            <a:r>
              <a:rPr sz="830">
                <a:solidFill>
                  <a:srgbClr val="F6C67A"/>
                </a:solidFill>
                <a:latin typeface="Consolas"/>
              </a:rPr>
              <a:t>"MIIC…"</a:t>
            </a:r>
            <a:r>
              <a:rPr sz="830">
                <a:solidFill>
                  <a:srgbClr val="CBD9E8"/>
                </a:solidFill>
                <a:latin typeface="Consolas"/>
              </a:rPr>
              <a:t>, </a:t>
            </a:r>
            <a:r>
              <a:rPr sz="830">
                <a:solidFill>
                  <a:srgbClr val="F6C67A"/>
                </a:solidFill>
                <a:latin typeface="Consolas"/>
              </a:rPr>
              <a:t>"MIIB…"</a:t>
            </a:r>
            <a:r>
              <a:rPr sz="830">
                <a:solidFill>
                  <a:srgbClr val="CBD9E8"/>
                </a:solidFill>
                <a:latin typeface="Consolas"/>
              </a:rPr>
              <a:t> ] }</a:t>
            </a:r>
          </a:p>
          <a:p>
            <a:pPr>
              <a:lnSpc>
                <a:spcPct val="116000"/>
              </a:lnSpc>
              <a:spcBef>
                <a:spcPts val="0"/>
              </a:spcBef>
              <a:spcAft>
                <a:spcPts val="0"/>
              </a:spcAft>
            </a:pPr>
          </a:p>
          <a:p>
            <a:pPr>
              <a:lnSpc>
                <a:spcPct val="116000"/>
              </a:lnSpc>
              <a:spcBef>
                <a:spcPts val="0"/>
              </a:spcBef>
              <a:spcAft>
                <a:spcPts val="0"/>
              </a:spcAft>
            </a:pPr>
            <a:r>
              <a:rPr sz="830">
                <a:solidFill>
                  <a:srgbClr val="7E93A8"/>
                </a:solidFill>
                <a:latin typeface="Consolas"/>
              </a:rPr>
              <a:t>// and iss in the payload</a:t>
            </a:r>
          </a:p>
          <a:p>
            <a:pPr>
              <a:lnSpc>
                <a:spcPct val="116000"/>
              </a:lnSpc>
              <a:spcBef>
                <a:spcPts val="0"/>
              </a:spcBef>
              <a:spcAft>
                <a:spcPts val="0"/>
              </a:spcAft>
            </a:pPr>
            <a:r>
              <a:rPr sz="830">
                <a:solidFill>
                  <a:srgbClr val="7DD3C8"/>
                </a:solidFill>
                <a:latin typeface="Consolas"/>
              </a:rPr>
              <a:t>"iss"</a:t>
            </a:r>
            <a:r>
              <a:rPr sz="830">
                <a:solidFill>
                  <a:srgbClr val="CBD9E8"/>
                </a:solidFill>
                <a:latin typeface="Consolas"/>
              </a:rPr>
              <a:t>: </a:t>
            </a:r>
            <a:r>
              <a:rPr sz="830">
                <a:solidFill>
                  <a:srgbClr val="F6C67A"/>
                </a:solidFill>
                <a:latin typeface="Consolas"/>
              </a:rPr>
              <a:t>"https://certify.example.gov.br"</a:t>
            </a:r>
          </a:p>
        </p:txBody>
      </p:sp>
      <p:sp>
        <p:nvSpPr>
          <p:cNvPr id="21" name="Rounded Rectangle 20"/>
          <p:cNvSpPr/>
          <p:nvPr/>
        </p:nvSpPr>
        <p:spPr>
          <a:xfrm>
            <a:off x="7507224" y="3684029"/>
            <a:ext cx="4178808" cy="619352"/>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07224" y="3684029"/>
            <a:ext cx="45720" cy="619352"/>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08392" y="3767536"/>
            <a:ext cx="3813048" cy="485739"/>
          </a:xfrm>
          <a:prstGeom prst="rect">
            <a:avLst/>
          </a:prstGeom>
          <a:noFill/>
        </p:spPr>
        <p:txBody>
          <a:bodyPr wrap="square" lIns="0" rIns="0" tIns="0" bIns="0" anchor="t">
            <a:spAutoFit/>
          </a:bodyPr>
          <a:lstStyle/>
          <a:p>
            <a:pPr algn="l">
              <a:lnSpc>
                <a:spcPct val="122000"/>
              </a:lnSpc>
              <a:spcBef>
                <a:spcPts val="0"/>
              </a:spcBef>
              <a:spcAft>
                <a:spcPts val="0"/>
              </a:spcAft>
            </a:pPr>
            <a:r>
              <a:rPr sz="960" b="0" i="0">
                <a:solidFill>
                  <a:srgbClr val="1E293B"/>
                </a:solidFill>
                <a:latin typeface="Arial"/>
              </a:rPr>
              <a:t>Rule of thumb: </a:t>
            </a:r>
            <a:r>
              <a:rPr sz="960" b="0" i="0">
                <a:solidFill>
                  <a:srgbClr val="1D4E89"/>
                </a:solidFill>
                <a:latin typeface="Consolas"/>
              </a:rPr>
              <a:t>kid</a:t>
            </a:r>
            <a:r>
              <a:rPr sz="960" b="0" i="0">
                <a:solidFill>
                  <a:srgbClr val="1E293B"/>
                </a:solidFill>
                <a:latin typeface="Arial"/>
              </a:rPr>
              <a:t> </a:t>
            </a:r>
            <a:r>
              <a:rPr sz="960" b="1" i="0">
                <a:solidFill>
                  <a:srgbClr val="0E9488"/>
                </a:solidFill>
                <a:latin typeface="Arial"/>
              </a:rPr>
              <a:t>selects</a:t>
            </a:r>
            <a:r>
              <a:rPr sz="960" b="0" i="0">
                <a:solidFill>
                  <a:srgbClr val="1E293B"/>
                </a:solidFill>
                <a:latin typeface="Arial"/>
              </a:rPr>
              <a:t>, </a:t>
            </a:r>
            <a:r>
              <a:rPr sz="960" b="0" i="0">
                <a:solidFill>
                  <a:srgbClr val="1D4E89"/>
                </a:solidFill>
                <a:latin typeface="Consolas"/>
              </a:rPr>
              <a:t>iss</a:t>
            </a:r>
            <a:r>
              <a:rPr sz="960" b="0" i="0">
                <a:solidFill>
                  <a:srgbClr val="1E293B"/>
                </a:solidFill>
                <a:latin typeface="Arial"/>
              </a:rPr>
              <a:t> </a:t>
            </a:r>
            <a:r>
              <a:rPr sz="960" b="1" i="0">
                <a:solidFill>
                  <a:srgbClr val="0E9488"/>
                </a:solidFill>
                <a:latin typeface="Arial"/>
              </a:rPr>
              <a:t>locates</a:t>
            </a:r>
            <a:r>
              <a:rPr sz="960" b="0" i="0">
                <a:solidFill>
                  <a:srgbClr val="1E293B"/>
                </a:solidFill>
                <a:latin typeface="Arial"/>
              </a:rPr>
              <a:t>. </a:t>
            </a:r>
            <a:r>
              <a:rPr sz="960" b="0" i="0">
                <a:solidFill>
                  <a:srgbClr val="1D4E89"/>
                </a:solidFill>
                <a:latin typeface="Consolas"/>
              </a:rPr>
              <a:t>kid</a:t>
            </a:r>
            <a:r>
              <a:rPr sz="960" b="0" i="0">
                <a:solidFill>
                  <a:srgbClr val="1E293B"/>
                </a:solidFill>
                <a:latin typeface="Arial"/>
              </a:rPr>
              <a:t> says which key; </a:t>
            </a:r>
            <a:r>
              <a:rPr sz="960" b="0" i="0">
                <a:solidFill>
                  <a:srgbClr val="1D4E89"/>
                </a:solidFill>
                <a:latin typeface="Consolas"/>
              </a:rPr>
              <a:t>iss</a:t>
            </a:r>
            <a:r>
              <a:rPr sz="960" b="0" i="0">
                <a:solidFill>
                  <a:srgbClr val="1E293B"/>
                </a:solidFill>
                <a:latin typeface="Arial"/>
              </a:rPr>
              <a:t> (or </a:t>
            </a:r>
            <a:r>
              <a:rPr sz="960" b="0" i="0">
                <a:solidFill>
                  <a:srgbClr val="1D4E89"/>
                </a:solidFill>
                <a:latin typeface="Consolas"/>
              </a:rPr>
              <a:t>x5c</a:t>
            </a:r>
            <a:r>
              <a:rPr sz="960" b="0" i="0">
                <a:solidFill>
                  <a:srgbClr val="1E293B"/>
                </a:solidFill>
                <a:latin typeface="Arial"/>
              </a:rPr>
              <a:t>) says where to get it.</a:t>
            </a:r>
          </a:p>
        </p:txBody>
      </p:sp>
      <p:graphicFrame>
        <p:nvGraphicFramePr>
          <p:cNvPr id="24" name="Table 23"/>
          <p:cNvGraphicFramePr>
            <a:graphicFrameLocks noGrp="1"/>
          </p:cNvGraphicFramePr>
          <p:nvPr/>
        </p:nvGraphicFramePr>
        <p:xfrm>
          <a:off x="502920" y="4602619"/>
          <a:ext cx="11185854" cy="1670162"/>
        </p:xfrm>
        <a:graphic>
          <a:graphicData uri="http://schemas.openxmlformats.org/drawingml/2006/table">
            <a:tbl>
              <a:tblPr firstRow="1">
                <a:tableStyleId>{2D5ABB26-0587-4C30-8999-92F81FD0307C}</a:tableStyleId>
              </a:tblPr>
              <a:tblGrid>
                <a:gridCol w="2933994"/>
                <a:gridCol w="3850868"/>
                <a:gridCol w="4400992"/>
              </a:tblGrid>
              <a:tr h="267226">
                <a:tc>
                  <a:txBody>
                    <a:bodyPr wrap="square"/>
                    <a:lstStyle/>
                    <a:p>
                      <a:pPr algn="l"/>
                      <a:r>
                        <a:rPr sz="910" b="1">
                          <a:solidFill>
                            <a:srgbClr val="FFFFFF"/>
                          </a:solidFill>
                          <a:latin typeface="Arial"/>
                        </a:rPr>
                        <a:t>Failure</a:t>
                      </a:r>
                    </a:p>
                  </a:txBody>
                  <a:tcPr marL="64008" marR="54864" marT="27432" marB="27432" anchor="ctr">
                    <a:solidFill>
                      <a:srgbClr val="1D4E89"/>
                    </a:solidFill>
                  </a:tcPr>
                </a:tc>
                <a:tc>
                  <a:txBody>
                    <a:bodyPr wrap="square"/>
                    <a:lstStyle/>
                    <a:p>
                      <a:pPr algn="l"/>
                      <a:r>
                        <a:rPr sz="910" b="1">
                          <a:solidFill>
                            <a:srgbClr val="FFFFFF"/>
                          </a:solidFill>
                          <a:latin typeface="Arial"/>
                        </a:rPr>
                        <a:t>What you see</a:t>
                      </a:r>
                    </a:p>
                  </a:txBody>
                  <a:tcPr marL="64008" marR="54864" marT="27432" marB="27432" anchor="ctr">
                    <a:solidFill>
                      <a:srgbClr val="1D4E89"/>
                    </a:solidFill>
                  </a:tcPr>
                </a:tc>
                <a:tc>
                  <a:txBody>
                    <a:bodyPr wrap="square"/>
                    <a:lstStyle/>
                    <a:p>
                      <a:pPr algn="l"/>
                      <a:r>
                        <a:rPr sz="910" b="1">
                          <a:solidFill>
                            <a:srgbClr val="FFFFFF"/>
                          </a:solidFill>
                          <a:latin typeface="Arial"/>
                        </a:rPr>
                        <a:t>What to do</a:t>
                      </a:r>
                    </a:p>
                  </a:txBody>
                  <a:tcPr marL="64008" marR="54864" marT="27432" marB="27432" anchor="ctr">
                    <a:solidFill>
                      <a:srgbClr val="1D4E89"/>
                    </a:solidFill>
                  </a:tcPr>
                </a:tc>
              </a:tr>
              <a:tr h="350734">
                <a:tc>
                  <a:txBody>
                    <a:bodyPr wrap="square"/>
                    <a:lstStyle/>
                    <a:p>
                      <a:pPr algn="l">
                        <a:lnSpc>
                          <a:spcPct val="105000"/>
                        </a:lnSpc>
                      </a:pPr>
                      <a:r>
                        <a:rPr sz="890" b="0">
                          <a:solidFill>
                            <a:srgbClr val="1D4E89"/>
                          </a:solidFill>
                          <a:latin typeface="Consolas"/>
                        </a:rPr>
                        <a:t>kid</a:t>
                      </a:r>
                      <a:r>
                        <a:rPr sz="890" b="0">
                          <a:solidFill>
                            <a:srgbClr val="1E293B"/>
                          </a:solidFill>
                          <a:latin typeface="Arial"/>
                        </a:rPr>
                        <a:t> missing</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Verifier cannot choose among several keys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Always set </a:t>
                      </a:r>
                      <a:r>
                        <a:rPr sz="890" b="0">
                          <a:solidFill>
                            <a:srgbClr val="1D4E89"/>
                          </a:solidFill>
                          <a:latin typeface="Consolas"/>
                        </a:rPr>
                        <a:t>kid</a:t>
                      </a:r>
                      <a:r>
                        <a:rPr sz="890" b="0">
                          <a:solidFill>
                            <a:srgbClr val="1E293B"/>
                          </a:solidFill>
                          <a:latin typeface="Arial"/>
                        </a:rPr>
                        <a:t>, even with one key</a:t>
                      </a:r>
                    </a:p>
                  </a:txBody>
                  <a:tcPr marL="64008" marR="54864" marT="18288" marB="18288" anchor="ctr">
                    <a:solidFill>
                      <a:srgbClr val="FFFFFF"/>
                    </a:solidFill>
                  </a:tcPr>
                </a:tc>
              </a:tr>
              <a:tr h="350734">
                <a:tc>
                  <a:txBody>
                    <a:bodyPr wrap="square"/>
                    <a:lstStyle/>
                    <a:p>
                      <a:pPr algn="l">
                        <a:lnSpc>
                          <a:spcPct val="105000"/>
                        </a:lnSpc>
                      </a:pPr>
                      <a:r>
                        <a:rPr sz="890" b="0">
                          <a:solidFill>
                            <a:srgbClr val="1D4E89"/>
                          </a:solidFill>
                          <a:latin typeface="Consolas"/>
                        </a:rPr>
                        <a:t>kid</a:t>
                      </a:r>
                      <a:r>
                        <a:rPr sz="890" b="0">
                          <a:solidFill>
                            <a:srgbClr val="1E293B"/>
                          </a:solidFill>
                          <a:latin typeface="Arial"/>
                        </a:rPr>
                        <a:t> does not match any published key</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Verification fails after a successful fetch</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Publish old keys during rotation; overlap by at least one credential lifetime</a:t>
                      </a:r>
                    </a:p>
                  </a:txBody>
                  <a:tcPr marL="64008" marR="54864" marT="18288" marB="18288" anchor="ctr">
                    <a:solidFill>
                      <a:srgbClr val="F3F6F9"/>
                    </a:solidFill>
                  </a:tcPr>
                </a:tc>
              </a:tr>
              <a:tr h="350734">
                <a:tc>
                  <a:txBody>
                    <a:bodyPr wrap="square"/>
                    <a:lstStyle/>
                    <a:p>
                      <a:pPr algn="l">
                        <a:lnSpc>
                          <a:spcPct val="105000"/>
                        </a:lnSpc>
                      </a:pPr>
                      <a:r>
                        <a:rPr sz="890" b="0">
                          <a:solidFill>
                            <a:srgbClr val="1E293B"/>
                          </a:solidFill>
                          <a:latin typeface="Arial"/>
                        </a:rPr>
                        <a:t>JWKS unreachable or behind a redirect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Intermittent failures; hard to reproduce</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No redirects on key endpoints; monitor them like a production API</a:t>
                      </a:r>
                    </a:p>
                  </a:txBody>
                  <a:tcPr marL="64008" marR="54864" marT="18288" marB="18288" anchor="ctr">
                    <a:solidFill>
                      <a:srgbClr val="FFFFFF"/>
                    </a:solidFill>
                  </a:tcPr>
                </a:tc>
              </a:tr>
              <a:tr h="350734">
                <a:tc>
                  <a:txBody>
                    <a:bodyPr wrap="square"/>
                    <a:lstStyle/>
                    <a:p>
                      <a:pPr algn="l">
                        <a:lnSpc>
                          <a:spcPct val="105000"/>
                        </a:lnSpc>
                      </a:pPr>
                      <a:r>
                        <a:rPr sz="890" b="0">
                          <a:solidFill>
                            <a:srgbClr val="1D4E89"/>
                          </a:solidFill>
                          <a:latin typeface="Consolas"/>
                        </a:rPr>
                        <a:t>alg</a:t>
                      </a:r>
                      <a:r>
                        <a:rPr sz="890" b="0">
                          <a:solidFill>
                            <a:srgbClr val="1E293B"/>
                          </a:solidFill>
                          <a:latin typeface="Arial"/>
                        </a:rPr>
                        <a:t> in header not accepted by the verifier</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Rejected before any network call</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Agree the algorithm set in the interface contract</a:t>
                      </a:r>
                    </a:p>
                  </a:txBody>
                  <a:tcPr marL="64008" marR="54864" marT="18288" marB="18288" anchor="ctr">
                    <a:solidFill>
                      <a:srgbClr val="F3F6F9"/>
                    </a:solidFill>
                  </a:tcPr>
                </a:tc>
              </a:tr>
            </a:tbl>
          </a:graphicData>
        </a:graphic>
      </p:graphicFrame>
      <p:sp>
        <p:nvSpPr>
          <p:cNvPr id="25" name="TextBox 2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formats</a:t>
            </a:r>
          </a:p>
        </p:txBody>
      </p:sp>
      <p:sp>
        <p:nvSpPr>
          <p:cNvPr id="26" name="TextBox 2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FORMAT DEEP DIVE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mDoc / mso_mdoc, taken apart</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ISO/IEC 18013-5. A binary, CBOR-based format designed for a driving licence held up at a roadside.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63040"/>
            <a:ext cx="557784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STRUCTURE (CBOR, SHOWN AS DIAGNOSTIC NOTATION)</a:t>
            </a:r>
          </a:p>
        </p:txBody>
      </p:sp>
      <p:sp>
        <p:nvSpPr>
          <p:cNvPr id="7" name="Rounded Rectangle 6"/>
          <p:cNvSpPr/>
          <p:nvPr/>
        </p:nvSpPr>
        <p:spPr>
          <a:xfrm>
            <a:off x="502920" y="1682496"/>
            <a:ext cx="5577840" cy="283464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801368"/>
            <a:ext cx="5285231" cy="2596896"/>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IssuerSigned = {</a:t>
            </a:r>
          </a:p>
          <a:p>
            <a:pPr>
              <a:lnSpc>
                <a:spcPct val="116000"/>
              </a:lnSpc>
              <a:spcBef>
                <a:spcPts val="0"/>
              </a:spcBef>
              <a:spcAft>
                <a:spcPts val="0"/>
              </a:spcAft>
            </a:pPr>
            <a:r>
              <a:rPr sz="850">
                <a:solidFill>
                  <a:srgbClr val="CBD9E8"/>
                </a:solidFill>
                <a:latin typeface="Consolas"/>
              </a:rPr>
              <a:t>  </a:t>
            </a:r>
            <a:r>
              <a:rPr sz="850">
                <a:solidFill>
                  <a:srgbClr val="7DD3C8"/>
                </a:solidFill>
                <a:latin typeface="Consolas"/>
              </a:rPr>
              <a:t>"nameSpaces"</a:t>
            </a:r>
            <a:r>
              <a:rPr sz="850">
                <a:solidFill>
                  <a:srgbClr val="CBD9E8"/>
                </a:solidFill>
                <a:latin typeface="Consolas"/>
              </a:rPr>
              <a:t>: {</a:t>
            </a:r>
          </a:p>
          <a:p>
            <a:pPr>
              <a:lnSpc>
                <a:spcPct val="116000"/>
              </a:lnSpc>
              <a:spcBef>
                <a:spcPts val="0"/>
              </a:spcBef>
              <a:spcAft>
                <a:spcPts val="0"/>
              </a:spcAft>
            </a:pPr>
            <a:r>
              <a:rPr sz="850">
                <a:solidFill>
                  <a:srgbClr val="CBD9E8"/>
                </a:solidFill>
                <a:latin typeface="Consolas"/>
              </a:rPr>
              <a:t>    </a:t>
            </a:r>
            <a:r>
              <a:rPr sz="850">
                <a:solidFill>
                  <a:srgbClr val="7DD3C8"/>
                </a:solidFill>
                <a:latin typeface="Consolas"/>
              </a:rPr>
              <a:t>"org.iso.18013.5.1"</a:t>
            </a:r>
            <a:r>
              <a:rPr sz="850">
                <a:solidFill>
                  <a:srgbClr val="CBD9E8"/>
                </a:solidFill>
                <a:latin typeface="Consolas"/>
              </a:rPr>
              <a:t>: [</a:t>
            </a:r>
          </a:p>
          <a:p>
            <a:pPr>
              <a:lnSpc>
                <a:spcPct val="116000"/>
              </a:lnSpc>
              <a:spcBef>
                <a:spcPts val="0"/>
              </a:spcBef>
              <a:spcAft>
                <a:spcPts val="0"/>
              </a:spcAft>
            </a:pPr>
            <a:r>
              <a:rPr sz="850">
                <a:solidFill>
                  <a:srgbClr val="CBD9E8"/>
                </a:solidFill>
                <a:latin typeface="Consolas"/>
              </a:rPr>
              <a:t>      IssuerSignedItem(digestID: 1, random: h'A3…',</a:t>
            </a:r>
          </a:p>
          <a:p>
            <a:pPr>
              <a:lnSpc>
                <a:spcPct val="116000"/>
              </a:lnSpc>
              <a:spcBef>
                <a:spcPts val="0"/>
              </a:spcBef>
              <a:spcAft>
                <a:spcPts val="0"/>
              </a:spcAft>
            </a:pPr>
            <a:r>
              <a:rPr sz="850">
                <a:solidFill>
                  <a:srgbClr val="CBD9E8"/>
                </a:solidFill>
                <a:latin typeface="Consolas"/>
              </a:rPr>
              <a:t>        elementIdentifier: </a:t>
            </a:r>
            <a:r>
              <a:rPr sz="850">
                <a:solidFill>
                  <a:srgbClr val="F6C67A"/>
                </a:solidFill>
                <a:latin typeface="Consolas"/>
              </a:rPr>
              <a:t>"family_name"</a:t>
            </a:r>
            <a:r>
              <a:rPr sz="850">
                <a:solidFill>
                  <a:srgbClr val="CBD9E8"/>
                </a:solidFill>
                <a:latin typeface="Consolas"/>
              </a:rPr>
              <a:t>,</a:t>
            </a:r>
          </a:p>
          <a:p>
            <a:pPr>
              <a:lnSpc>
                <a:spcPct val="116000"/>
              </a:lnSpc>
              <a:spcBef>
                <a:spcPts val="0"/>
              </a:spcBef>
              <a:spcAft>
                <a:spcPts val="0"/>
              </a:spcAft>
            </a:pPr>
            <a:r>
              <a:rPr sz="850">
                <a:solidFill>
                  <a:srgbClr val="CBD9E8"/>
                </a:solidFill>
                <a:latin typeface="Consolas"/>
              </a:rPr>
              <a:t>        elementValue: </a:t>
            </a:r>
            <a:r>
              <a:rPr sz="850">
                <a:solidFill>
                  <a:srgbClr val="F6C67A"/>
                </a:solidFill>
                <a:latin typeface="Consolas"/>
              </a:rPr>
              <a:t>"Silva"</a:t>
            </a:r>
            <a:r>
              <a:rPr sz="850">
                <a:solidFill>
                  <a:srgbClr val="CBD9E8"/>
                </a:solidFill>
                <a:latin typeface="Consolas"/>
              </a:rPr>
              <a:t>),</a:t>
            </a:r>
          </a:p>
          <a:p>
            <a:pPr>
              <a:lnSpc>
                <a:spcPct val="116000"/>
              </a:lnSpc>
              <a:spcBef>
                <a:spcPts val="0"/>
              </a:spcBef>
              <a:spcAft>
                <a:spcPts val="0"/>
              </a:spcAft>
            </a:pPr>
            <a:r>
              <a:rPr sz="850">
                <a:solidFill>
                  <a:srgbClr val="CBD9E8"/>
                </a:solidFill>
                <a:latin typeface="Consolas"/>
              </a:rPr>
              <a:t>      IssuerSignedItem(digestID: 2, …, </a:t>
            </a:r>
            <a:r>
              <a:rPr sz="850">
                <a:solidFill>
                  <a:srgbClr val="F6C67A"/>
                </a:solidFill>
                <a:latin typeface="Consolas"/>
              </a:rPr>
              <a:t>"birth_date"</a:t>
            </a:r>
            <a:r>
              <a:rPr sz="850">
                <a:solidFill>
                  <a:srgbClr val="CBD9E8"/>
                </a:solidFill>
                <a:latin typeface="Consolas"/>
              </a:rPr>
              <a:t>, …)</a:t>
            </a:r>
          </a:p>
          <a:p>
            <a:pPr>
              <a:lnSpc>
                <a:spcPct val="116000"/>
              </a:lnSpc>
              <a:spcBef>
                <a:spcPts val="0"/>
              </a:spcBef>
              <a:spcAft>
                <a:spcPts val="0"/>
              </a:spcAft>
            </a:pPr>
            <a:r>
              <a:rPr sz="850">
                <a:solidFill>
                  <a:srgbClr val="CBD9E8"/>
                </a:solidFill>
                <a:latin typeface="Consolas"/>
              </a:rPr>
              <a:t>    ]</a:t>
            </a:r>
          </a:p>
          <a:p>
            <a:pPr>
              <a:lnSpc>
                <a:spcPct val="116000"/>
              </a:lnSpc>
              <a:spcBef>
                <a:spcPts val="0"/>
              </a:spcBef>
              <a:spcAft>
                <a:spcPts val="0"/>
              </a:spcAft>
            </a:pPr>
            <a:r>
              <a:rPr sz="850">
                <a:solidFill>
                  <a:srgbClr val="CBD9E8"/>
                </a:solidFill>
                <a:latin typeface="Consolas"/>
              </a:rPr>
              <a:t>  },</a:t>
            </a:r>
          </a:p>
          <a:p>
            <a:pPr>
              <a:lnSpc>
                <a:spcPct val="116000"/>
              </a:lnSpc>
              <a:spcBef>
                <a:spcPts val="0"/>
              </a:spcBef>
              <a:spcAft>
                <a:spcPts val="0"/>
              </a:spcAft>
            </a:pPr>
            <a:r>
              <a:rPr sz="850" b="1">
                <a:solidFill>
                  <a:srgbClr val="FFD56B"/>
                </a:solidFill>
                <a:latin typeface="Consolas"/>
              </a:rPr>
              <a:t>  </a:t>
            </a:r>
            <a:r>
              <a:rPr sz="850" b="1">
                <a:solidFill>
                  <a:srgbClr val="FFD56B"/>
                </a:solidFill>
                <a:latin typeface="Consolas"/>
              </a:rPr>
              <a:t>"issuerAuth"</a:t>
            </a:r>
            <a:r>
              <a:rPr sz="850" b="1">
                <a:solidFill>
                  <a:srgbClr val="FFD56B"/>
                </a:solidFill>
                <a:latin typeface="Consolas"/>
              </a:rPr>
              <a:t>: COSE_Sign1(</a:t>
            </a:r>
            <a:r>
              <a:rPr sz="850" b="1">
                <a:solidFill>
                  <a:srgbClr val="FFD56B"/>
                </a:solidFill>
                <a:latin typeface="Consolas"/>
              </a:rPr>
              <a:t>   // issuer signature</a:t>
            </a:r>
          </a:p>
          <a:p>
            <a:pPr>
              <a:lnSpc>
                <a:spcPct val="116000"/>
              </a:lnSpc>
              <a:spcBef>
                <a:spcPts val="0"/>
              </a:spcBef>
              <a:spcAft>
                <a:spcPts val="0"/>
              </a:spcAft>
            </a:pPr>
            <a:r>
              <a:rPr sz="850">
                <a:solidFill>
                  <a:srgbClr val="CBD9E8"/>
                </a:solidFill>
                <a:latin typeface="Consolas"/>
              </a:rPr>
              <a:t>     payload: MobileSecurityObject {</a:t>
            </a:r>
          </a:p>
          <a:p>
            <a:pPr>
              <a:lnSpc>
                <a:spcPct val="116000"/>
              </a:lnSpc>
              <a:spcBef>
                <a:spcPts val="0"/>
              </a:spcBef>
              <a:spcAft>
                <a:spcPts val="0"/>
              </a:spcAft>
            </a:pPr>
            <a:r>
              <a:rPr sz="850">
                <a:solidFill>
                  <a:srgbClr val="CBD9E8"/>
                </a:solidFill>
                <a:latin typeface="Consolas"/>
              </a:rPr>
              <a:t>       digestAlgorithm: </a:t>
            </a:r>
            <a:r>
              <a:rPr sz="850">
                <a:solidFill>
                  <a:srgbClr val="F6C67A"/>
                </a:solidFill>
                <a:latin typeface="Consolas"/>
              </a:rPr>
              <a:t>"SHA-256"</a:t>
            </a:r>
            <a:r>
              <a:rPr sz="850">
                <a:solidFill>
                  <a:srgbClr val="CBD9E8"/>
                </a:solidFill>
                <a:latin typeface="Consolas"/>
              </a:rPr>
              <a:t>,</a:t>
            </a:r>
          </a:p>
          <a:p>
            <a:pPr>
              <a:lnSpc>
                <a:spcPct val="116000"/>
              </a:lnSpc>
              <a:spcBef>
                <a:spcPts val="0"/>
              </a:spcBef>
              <a:spcAft>
                <a:spcPts val="0"/>
              </a:spcAft>
            </a:pPr>
            <a:r>
              <a:rPr sz="850">
                <a:solidFill>
                  <a:srgbClr val="CBD9E8"/>
                </a:solidFill>
                <a:latin typeface="Consolas"/>
              </a:rPr>
              <a:t>       valueDigests: { </a:t>
            </a:r>
            <a:r>
              <a:rPr sz="850">
                <a:solidFill>
                  <a:srgbClr val="7DD3C8"/>
                </a:solidFill>
                <a:latin typeface="Consolas"/>
              </a:rPr>
              <a:t>"org.iso.18013.5.1"</a:t>
            </a:r>
            <a:r>
              <a:rPr sz="850">
                <a:solidFill>
                  <a:srgbClr val="CBD9E8"/>
                </a:solidFill>
                <a:latin typeface="Consolas"/>
              </a:rPr>
              <a:t>: {1: h'…', 2: h'…'} },</a:t>
            </a:r>
          </a:p>
          <a:p>
            <a:pPr>
              <a:lnSpc>
                <a:spcPct val="116000"/>
              </a:lnSpc>
              <a:spcBef>
                <a:spcPts val="0"/>
              </a:spcBef>
              <a:spcAft>
                <a:spcPts val="0"/>
              </a:spcAft>
            </a:pPr>
            <a:r>
              <a:rPr sz="850" b="1">
                <a:solidFill>
                  <a:srgbClr val="FFD56B"/>
                </a:solidFill>
                <a:latin typeface="Consolas"/>
              </a:rPr>
              <a:t>       deviceKeyInfo: { deviceKey: COSE_Key },</a:t>
            </a:r>
            <a:r>
              <a:rPr sz="850" b="1">
                <a:solidFill>
                  <a:srgbClr val="FFD56B"/>
                </a:solidFill>
                <a:latin typeface="Consolas"/>
              </a:rPr>
              <a:t>   // holder binding</a:t>
            </a:r>
          </a:p>
          <a:p>
            <a:pPr>
              <a:lnSpc>
                <a:spcPct val="116000"/>
              </a:lnSpc>
              <a:spcBef>
                <a:spcPts val="0"/>
              </a:spcBef>
              <a:spcAft>
                <a:spcPts val="0"/>
              </a:spcAft>
            </a:pPr>
            <a:r>
              <a:rPr sz="850">
                <a:solidFill>
                  <a:srgbClr val="CBD9E8"/>
                </a:solidFill>
                <a:latin typeface="Consolas"/>
              </a:rPr>
              <a:t>       docType: </a:t>
            </a:r>
            <a:r>
              <a:rPr sz="850">
                <a:solidFill>
                  <a:srgbClr val="F6C67A"/>
                </a:solidFill>
                <a:latin typeface="Consolas"/>
              </a:rPr>
              <a:t>"org.iso.18013.5.1.mDL"</a:t>
            </a:r>
            <a:r>
              <a:rPr sz="850">
                <a:solidFill>
                  <a:srgbClr val="CBD9E8"/>
                </a:solidFill>
                <a:latin typeface="Consolas"/>
              </a:rPr>
              <a:t>,</a:t>
            </a:r>
          </a:p>
          <a:p>
            <a:pPr>
              <a:lnSpc>
                <a:spcPct val="116000"/>
              </a:lnSpc>
              <a:spcBef>
                <a:spcPts val="0"/>
              </a:spcBef>
              <a:spcAft>
                <a:spcPts val="0"/>
              </a:spcAft>
            </a:pPr>
            <a:r>
              <a:rPr sz="850">
                <a:solidFill>
                  <a:srgbClr val="CBD9E8"/>
                </a:solidFill>
                <a:latin typeface="Consolas"/>
              </a:rPr>
              <a:t>       validityInfo: { signed, validFrom, validUntil } })</a:t>
            </a:r>
          </a:p>
          <a:p>
            <a:pPr>
              <a:lnSpc>
                <a:spcPct val="116000"/>
              </a:lnSpc>
              <a:spcBef>
                <a:spcPts val="0"/>
              </a:spcBef>
              <a:spcAft>
                <a:spcPts val="0"/>
              </a:spcAft>
            </a:pPr>
            <a:r>
              <a:rPr sz="850">
                <a:solidFill>
                  <a:srgbClr val="CBD9E8"/>
                </a:solidFill>
                <a:latin typeface="Consolas"/>
              </a:rPr>
              <a:t>}</a:t>
            </a:r>
          </a:p>
        </p:txBody>
      </p:sp>
      <p:sp>
        <p:nvSpPr>
          <p:cNvPr id="9" name="Oval 8"/>
          <p:cNvSpPr/>
          <p:nvPr/>
        </p:nvSpPr>
        <p:spPr>
          <a:xfrm>
            <a:off x="6396228" y="1749196"/>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682496"/>
            <a:ext cx="5102351" cy="432968"/>
          </a:xfrm>
          <a:prstGeom prst="rect">
            <a:avLst/>
          </a:prstGeom>
          <a:noFill/>
        </p:spPr>
        <p:txBody>
          <a:bodyPr wrap="square" lIns="0" rIns="0" tIns="0" bIns="0" anchor="t">
            <a:spAutoFit/>
          </a:bodyPr>
          <a:lstStyle/>
          <a:p>
            <a:pPr algn="l">
              <a:lnSpc>
                <a:spcPct val="124000"/>
              </a:lnSpc>
              <a:spcBef>
                <a:spcPts val="0"/>
              </a:spcBef>
              <a:spcAft>
                <a:spcPts val="0"/>
              </a:spcAft>
            </a:pPr>
            <a:r>
              <a:rPr sz="1010" b="1" i="0">
                <a:solidFill>
                  <a:srgbClr val="0F172A"/>
                </a:solidFill>
                <a:latin typeface="Arial"/>
              </a:rPr>
              <a:t>Namespaces</a:t>
            </a:r>
            <a:r>
              <a:rPr sz="1010" b="0" i="0">
                <a:solidFill>
                  <a:srgbClr val="0F172A"/>
                </a:solidFill>
                <a:latin typeface="Arial"/>
              </a:rPr>
              <a:t> group elements. </a:t>
            </a:r>
            <a:r>
              <a:rPr sz="1010" b="0" i="0">
                <a:solidFill>
                  <a:srgbClr val="1D4E89"/>
                </a:solidFill>
                <a:latin typeface="Consolas"/>
              </a:rPr>
              <a:t>org.iso.18013.5.1</a:t>
            </a:r>
            <a:r>
              <a:rPr sz="1010" b="0" i="0">
                <a:solidFill>
                  <a:srgbClr val="0F172A"/>
                </a:solidFill>
                <a:latin typeface="Arial"/>
              </a:rPr>
              <a:t> is the ISO mDL namespace; countries add their own, e.g. </a:t>
            </a:r>
            <a:r>
              <a:rPr sz="1010" b="0" i="0">
                <a:solidFill>
                  <a:srgbClr val="1D4E89"/>
                </a:solidFill>
                <a:latin typeface="Consolas"/>
              </a:rPr>
              <a:t>org.iso.18013.5.1.BR</a:t>
            </a:r>
            <a:r>
              <a:rPr sz="1010" b="0" i="0">
                <a:solidFill>
                  <a:srgbClr val="0F172A"/>
                </a:solidFill>
                <a:latin typeface="Arial"/>
              </a:rPr>
              <a:t>.</a:t>
            </a:r>
          </a:p>
        </p:txBody>
      </p:sp>
      <p:sp>
        <p:nvSpPr>
          <p:cNvPr id="11" name="Oval 10"/>
          <p:cNvSpPr/>
          <p:nvPr/>
        </p:nvSpPr>
        <p:spPr>
          <a:xfrm>
            <a:off x="6396228" y="2168448"/>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101748"/>
            <a:ext cx="5102351" cy="756208"/>
          </a:xfrm>
          <a:prstGeom prst="rect">
            <a:avLst/>
          </a:prstGeom>
          <a:noFill/>
        </p:spPr>
        <p:txBody>
          <a:bodyPr wrap="square" lIns="0" rIns="0" tIns="0" bIns="0" anchor="t">
            <a:spAutoFit/>
          </a:bodyPr>
          <a:lstStyle/>
          <a:p>
            <a:pPr algn="l">
              <a:lnSpc>
                <a:spcPct val="124000"/>
              </a:lnSpc>
              <a:spcBef>
                <a:spcPts val="0"/>
              </a:spcBef>
              <a:spcAft>
                <a:spcPts val="0"/>
              </a:spcAft>
            </a:pPr>
            <a:r>
              <a:rPr sz="1010" b="1" i="0">
                <a:solidFill>
                  <a:srgbClr val="0F172A"/>
                </a:solidFill>
                <a:latin typeface="Arial"/>
              </a:rPr>
              <a:t>Issuer authentication</a:t>
            </a:r>
            <a:r>
              <a:rPr sz="1010" b="0" i="0">
                <a:solidFill>
                  <a:srgbClr val="0F172A"/>
                </a:solidFill>
                <a:latin typeface="Arial"/>
              </a:rPr>
              <a:t>: </a:t>
            </a:r>
            <a:r>
              <a:rPr sz="1010" b="0" i="0">
                <a:solidFill>
                  <a:srgbClr val="1D4E89"/>
                </a:solidFill>
                <a:latin typeface="Consolas"/>
              </a:rPr>
              <a:t>issuerAuth</a:t>
            </a:r>
            <a:r>
              <a:rPr sz="1010" b="0" i="0">
                <a:solidFill>
                  <a:srgbClr val="0F172A"/>
                </a:solidFill>
                <a:latin typeface="Arial"/>
              </a:rPr>
              <a:t> is a COSE_Sign1 over the Mobile Security Object. The MSO holds a </a:t>
            </a:r>
            <a:r>
              <a:rPr sz="1010" b="1" i="0">
                <a:solidFill>
                  <a:srgbClr val="0F172A"/>
                </a:solidFill>
                <a:latin typeface="Arial"/>
              </a:rPr>
              <a:t>digest per element</a:t>
            </a:r>
            <a:r>
              <a:rPr sz="1010" b="0" i="0">
                <a:solidFill>
                  <a:srgbClr val="0F172A"/>
                </a:solidFill>
                <a:latin typeface="Arial"/>
              </a:rPr>
              <a:t>, so selective disclosure works the same way as SD-JWT — send the element, the verifier re-hashes it.</a:t>
            </a:r>
          </a:p>
        </p:txBody>
      </p:sp>
      <p:sp>
        <p:nvSpPr>
          <p:cNvPr id="13" name="Oval 12"/>
          <p:cNvSpPr/>
          <p:nvPr/>
        </p:nvSpPr>
        <p:spPr>
          <a:xfrm>
            <a:off x="6396228" y="2910941"/>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844241"/>
            <a:ext cx="5102351" cy="594588"/>
          </a:xfrm>
          <a:prstGeom prst="rect">
            <a:avLst/>
          </a:prstGeom>
          <a:noFill/>
        </p:spPr>
        <p:txBody>
          <a:bodyPr wrap="square" lIns="0" rIns="0" tIns="0" bIns="0" anchor="t">
            <a:spAutoFit/>
          </a:bodyPr>
          <a:lstStyle/>
          <a:p>
            <a:pPr algn="l">
              <a:lnSpc>
                <a:spcPct val="124000"/>
              </a:lnSpc>
              <a:spcBef>
                <a:spcPts val="0"/>
              </a:spcBef>
              <a:spcAft>
                <a:spcPts val="0"/>
              </a:spcAft>
            </a:pPr>
            <a:r>
              <a:rPr sz="1010" b="1" i="0">
                <a:solidFill>
                  <a:srgbClr val="0F172A"/>
                </a:solidFill>
                <a:latin typeface="Arial"/>
              </a:rPr>
              <a:t>Device authentication</a:t>
            </a:r>
            <a:r>
              <a:rPr sz="1010" b="0" i="0">
                <a:solidFill>
                  <a:srgbClr val="0F172A"/>
                </a:solidFill>
                <a:latin typeface="Arial"/>
              </a:rPr>
              <a:t>: </a:t>
            </a:r>
            <a:r>
              <a:rPr sz="1010" b="0" i="0">
                <a:solidFill>
                  <a:srgbClr val="1D4E89"/>
                </a:solidFill>
                <a:latin typeface="Consolas"/>
              </a:rPr>
              <a:t>deviceKeyInfo.deviceKey</a:t>
            </a:r>
            <a:r>
              <a:rPr sz="1010" b="0" i="0">
                <a:solidFill>
                  <a:srgbClr val="0F172A"/>
                </a:solidFill>
                <a:latin typeface="Arial"/>
              </a:rPr>
              <a:t> inside the MSO is the holder's public key. At presentation the device produces a </a:t>
            </a:r>
            <a:r>
              <a:rPr sz="1010" b="0" i="0">
                <a:solidFill>
                  <a:srgbClr val="1D4E89"/>
                </a:solidFill>
                <a:latin typeface="Consolas"/>
              </a:rPr>
              <a:t>DeviceSignature</a:t>
            </a:r>
            <a:r>
              <a:rPr sz="1010" b="0" i="0">
                <a:solidFill>
                  <a:srgbClr val="0F172A"/>
                </a:solidFill>
                <a:latin typeface="Arial"/>
              </a:rPr>
              <a:t> (or a MAC) over the session transcript.</a:t>
            </a:r>
          </a:p>
        </p:txBody>
      </p:sp>
      <p:sp>
        <p:nvSpPr>
          <p:cNvPr id="15" name="Oval 14"/>
          <p:cNvSpPr/>
          <p:nvPr/>
        </p:nvSpPr>
        <p:spPr>
          <a:xfrm>
            <a:off x="6396228" y="349181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3425113"/>
            <a:ext cx="5102351" cy="432968"/>
          </a:xfrm>
          <a:prstGeom prst="rect">
            <a:avLst/>
          </a:prstGeom>
          <a:noFill/>
        </p:spPr>
        <p:txBody>
          <a:bodyPr wrap="square" lIns="0" rIns="0" tIns="0" bIns="0" anchor="t">
            <a:spAutoFit/>
          </a:bodyPr>
          <a:lstStyle/>
          <a:p>
            <a:pPr algn="l">
              <a:lnSpc>
                <a:spcPct val="124000"/>
              </a:lnSpc>
              <a:spcBef>
                <a:spcPts val="0"/>
              </a:spcBef>
              <a:spcAft>
                <a:spcPts val="0"/>
              </a:spcAft>
            </a:pPr>
            <a:r>
              <a:rPr sz="1010" b="1" i="0">
                <a:solidFill>
                  <a:srgbClr val="0F172A"/>
                </a:solidFill>
                <a:latin typeface="Arial"/>
              </a:rPr>
              <a:t>Two signatures, two purposes</a:t>
            </a:r>
            <a:r>
              <a:rPr sz="1010" b="0" i="0">
                <a:solidFill>
                  <a:srgbClr val="0F172A"/>
                </a:solidFill>
                <a:latin typeface="Arial"/>
              </a:rPr>
              <a:t>: issuerAuth proves the data; DeviceSignature proves who is presenting it.</a:t>
            </a:r>
          </a:p>
        </p:txBody>
      </p:sp>
      <p:sp>
        <p:nvSpPr>
          <p:cNvPr id="17" name="Oval 16"/>
          <p:cNvSpPr/>
          <p:nvPr/>
        </p:nvSpPr>
        <p:spPr>
          <a:xfrm>
            <a:off x="6396228" y="3911066"/>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3844366"/>
            <a:ext cx="5102351" cy="432968"/>
          </a:xfrm>
          <a:prstGeom prst="rect">
            <a:avLst/>
          </a:prstGeom>
          <a:noFill/>
        </p:spPr>
        <p:txBody>
          <a:bodyPr wrap="square" lIns="0" rIns="0" tIns="0" bIns="0" anchor="t">
            <a:spAutoFit/>
          </a:bodyPr>
          <a:lstStyle/>
          <a:p>
            <a:pPr algn="l">
              <a:lnSpc>
                <a:spcPct val="124000"/>
              </a:lnSpc>
              <a:spcBef>
                <a:spcPts val="0"/>
              </a:spcBef>
              <a:spcAft>
                <a:spcPts val="0"/>
              </a:spcAft>
            </a:pPr>
            <a:r>
              <a:rPr sz="1010" b="0" i="0">
                <a:solidFill>
                  <a:srgbClr val="0F172A"/>
                </a:solidFill>
                <a:latin typeface="Arial"/>
              </a:rPr>
              <a:t>The document signer's certificate chains to a country IACA root. That PKI is the trust anchor — there is no DID and no JWKS.</a:t>
            </a:r>
          </a:p>
        </p:txBody>
      </p:sp>
      <p:graphicFrame>
        <p:nvGraphicFramePr>
          <p:cNvPr id="19" name="Table 18"/>
          <p:cNvGraphicFramePr>
            <a:graphicFrameLocks noGrp="1"/>
          </p:cNvGraphicFramePr>
          <p:nvPr/>
        </p:nvGraphicFramePr>
        <p:xfrm>
          <a:off x="502920" y="4745736"/>
          <a:ext cx="11185853" cy="1444752"/>
        </p:xfrm>
        <a:graphic>
          <a:graphicData uri="http://schemas.openxmlformats.org/drawingml/2006/table">
            <a:tbl>
              <a:tblPr firstRow="1">
                <a:tableStyleId>{2D5ABB26-0587-4C30-8999-92F81FD0307C}</a:tableStyleId>
              </a:tblPr>
              <a:tblGrid>
                <a:gridCol w="1833746"/>
                <a:gridCol w="2567245"/>
                <a:gridCol w="4217617"/>
                <a:gridCol w="2567245"/>
              </a:tblGrid>
              <a:tr h="310896">
                <a:tc>
                  <a:txBody>
                    <a:bodyPr wrap="square"/>
                    <a:lstStyle/>
                    <a:p>
                      <a:pPr algn="l"/>
                      <a:r>
                        <a:rPr sz="950" b="1">
                          <a:solidFill>
                            <a:srgbClr val="FFFFFF"/>
                          </a:solidFill>
                          <a:latin typeface="Arial"/>
                        </a:rPr>
                        <a:t>Mode</a:t>
                      </a:r>
                    </a:p>
                  </a:txBody>
                  <a:tcPr marL="64008" marR="54864" marT="27432" marB="27432" anchor="ctr">
                    <a:solidFill>
                      <a:srgbClr val="1D4E89"/>
                    </a:solidFill>
                  </a:tcPr>
                </a:tc>
                <a:tc>
                  <a:txBody>
                    <a:bodyPr wrap="square"/>
                    <a:lstStyle/>
                    <a:p>
                      <a:pPr algn="l"/>
                      <a:r>
                        <a:rPr sz="950" b="1">
                          <a:solidFill>
                            <a:srgbClr val="FFFFFF"/>
                          </a:solidFill>
                          <a:latin typeface="Arial"/>
                        </a:rPr>
                        <a:t>How the mDoc travels</a:t>
                      </a:r>
                    </a:p>
                  </a:txBody>
                  <a:tcPr marL="64008" marR="54864" marT="27432" marB="27432" anchor="ctr">
                    <a:solidFill>
                      <a:srgbClr val="1D4E89"/>
                    </a:solidFill>
                  </a:tcPr>
                </a:tc>
                <a:tc>
                  <a:txBody>
                    <a:bodyPr wrap="square"/>
                    <a:lstStyle/>
                    <a:p>
                      <a:pPr algn="l"/>
                      <a:r>
                        <a:rPr sz="950" b="1">
                          <a:solidFill>
                            <a:srgbClr val="FFFFFF"/>
                          </a:solidFill>
                          <a:latin typeface="Arial"/>
                        </a:rPr>
                        <a:t>What it demands</a:t>
                      </a:r>
                    </a:p>
                  </a:txBody>
                  <a:tcPr marL="64008" marR="54864" marT="27432" marB="27432" anchor="ctr">
                    <a:solidFill>
                      <a:srgbClr val="1D4E89"/>
                    </a:solidFill>
                  </a:tcPr>
                </a:tc>
                <a:tc>
                  <a:txBody>
                    <a:bodyPr wrap="square"/>
                    <a:lstStyle/>
                    <a:p>
                      <a:pPr algn="l"/>
                      <a:r>
                        <a:rPr sz="950" b="1">
                          <a:solidFill>
                            <a:srgbClr val="FFFFFF"/>
                          </a:solidFill>
                          <a:latin typeface="Arial"/>
                        </a:rPr>
                        <a:t>Inji position</a:t>
                      </a:r>
                    </a:p>
                  </a:txBody>
                  <a:tcPr marL="64008" marR="54864" marT="27432" marB="27432" anchor="ctr">
                    <a:solidFill>
                      <a:srgbClr val="1D4E89"/>
                    </a:solidFill>
                  </a:tcPr>
                </a:tc>
              </a:tr>
              <a:tr h="566928">
                <a:tc>
                  <a:txBody>
                    <a:bodyPr wrap="square"/>
                    <a:lstStyle/>
                    <a:p>
                      <a:pPr algn="l">
                        <a:lnSpc>
                          <a:spcPct val="105000"/>
                        </a:lnSpc>
                      </a:pPr>
                      <a:r>
                        <a:rPr sz="930" b="1">
                          <a:solidFill>
                            <a:srgbClr val="0F172A"/>
                          </a:solidFill>
                          <a:latin typeface="Arial"/>
                        </a:rPr>
                        <a:t>Online (OpenID4VP)</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mDoc inside a </a:t>
                      </a:r>
                      <a:r>
                        <a:rPr sz="930" b="0">
                          <a:solidFill>
                            <a:srgbClr val="1D4E89"/>
                          </a:solidFill>
                          <a:latin typeface="Consolas"/>
                        </a:rPr>
                        <a:t>vp_token</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Must use </a:t>
                      </a:r>
                      <a:r>
                        <a:rPr sz="930" b="0">
                          <a:solidFill>
                            <a:srgbClr val="1D4E89"/>
                          </a:solidFill>
                          <a:latin typeface="Consolas"/>
                        </a:rPr>
                        <a:t>response_mode=direct_post.jwt</a:t>
                      </a:r>
                      <a:r>
                        <a:rPr sz="930" b="0">
                          <a:solidFill>
                            <a:srgbClr val="1E293B"/>
                          </a:solidFill>
                          <a:latin typeface="Arial"/>
                        </a:rPr>
                        <a:t> — ISO 18013-7 requires the response to be encrypted</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Inji: supported by </a:t>
                      </a:r>
                      <a:r>
                        <a:rPr sz="930" b="0">
                          <a:solidFill>
                            <a:srgbClr val="1D4E89"/>
                          </a:solidFill>
                          <a:latin typeface="Consolas"/>
                        </a:rPr>
                        <a:t>inji-openid4vp</a:t>
                      </a:r>
                    </a:p>
                  </a:txBody>
                  <a:tcPr marL="64008" marR="54864" marT="18288" marB="18288" anchor="ctr">
                    <a:solidFill>
                      <a:srgbClr val="FFFFFF"/>
                    </a:solidFill>
                  </a:tcPr>
                </a:tc>
              </a:tr>
              <a:tr h="566928">
                <a:tc>
                  <a:txBody>
                    <a:bodyPr wrap="square"/>
                    <a:lstStyle/>
                    <a:p>
                      <a:pPr algn="l">
                        <a:lnSpc>
                          <a:spcPct val="105000"/>
                        </a:lnSpc>
                      </a:pPr>
                      <a:r>
                        <a:rPr sz="930" b="1">
                          <a:solidFill>
                            <a:srgbClr val="0F172A"/>
                          </a:solidFill>
                          <a:latin typeface="Arial"/>
                        </a:rPr>
                        <a:t>Proximity (18013-5)</a:t>
                      </a:r>
                    </a:p>
                  </a:txBody>
                  <a:tcPr marL="64008" marR="54864" marT="18288" marB="18288" anchor="ctr">
                    <a:solidFill>
                      <a:srgbClr val="F3F6F9"/>
                    </a:solidFill>
                  </a:tcPr>
                </a:tc>
                <a:tc>
                  <a:txBody>
                    <a:bodyPr wrap="square"/>
                    <a:lstStyle/>
                    <a:p>
                      <a:pPr algn="l">
                        <a:lnSpc>
                          <a:spcPct val="105000"/>
                        </a:lnSpc>
                      </a:pPr>
                      <a:r>
                        <a:rPr sz="930" b="0">
                          <a:solidFill>
                            <a:srgbClr val="1E293B"/>
                          </a:solidFill>
                          <a:latin typeface="Arial"/>
                        </a:rPr>
                        <a:t>NFC/BLE device retrieval, session encryption, session transcript</a:t>
                      </a:r>
                    </a:p>
                  </a:txBody>
                  <a:tcPr marL="64008" marR="54864" marT="18288" marB="18288" anchor="ctr">
                    <a:solidFill>
                      <a:srgbClr val="F3F6F9"/>
                    </a:solidFill>
                  </a:tcPr>
                </a:tc>
                <a:tc>
                  <a:txBody>
                    <a:bodyPr wrap="square"/>
                    <a:lstStyle/>
                    <a:p>
                      <a:pPr algn="l">
                        <a:lnSpc>
                          <a:spcPct val="105000"/>
                        </a:lnSpc>
                      </a:pPr>
                      <a:r>
                        <a:rPr sz="930" b="0">
                          <a:solidFill>
                            <a:srgbClr val="1E293B"/>
                          </a:solidFill>
                          <a:latin typeface="Arial"/>
                        </a:rPr>
                        <a:t>A different transport and a different security model entirely</a:t>
                      </a:r>
                    </a:p>
                  </a:txBody>
                  <a:tcPr marL="64008" marR="54864" marT="18288" marB="18288" anchor="ctr">
                    <a:solidFill>
                      <a:srgbClr val="F3F6F9"/>
                    </a:solidFill>
                  </a:tcPr>
                </a:tc>
                <a:tc>
                  <a:txBody>
                    <a:bodyPr wrap="square"/>
                    <a:lstStyle/>
                    <a:p>
                      <a:pPr algn="l">
                        <a:lnSpc>
                          <a:spcPct val="105000"/>
                        </a:lnSpc>
                      </a:pPr>
                      <a:r>
                        <a:rPr sz="930" b="0">
                          <a:solidFill>
                            <a:srgbClr val="1E293B"/>
                          </a:solidFill>
                          <a:latin typeface="Arial"/>
                        </a:rPr>
                        <a:t>Inji has BLE sharing via </a:t>
                      </a:r>
                      <a:r>
                        <a:rPr sz="930" b="0">
                          <a:solidFill>
                            <a:srgbClr val="1D4E89"/>
                          </a:solidFill>
                          <a:latin typeface="Consolas"/>
                        </a:rPr>
                        <a:t>tuvali</a:t>
                      </a:r>
                      <a:r>
                        <a:rPr sz="930" b="0">
                          <a:solidFill>
                            <a:srgbClr val="1E293B"/>
                          </a:solidFill>
                          <a:latin typeface="Arial"/>
                        </a:rPr>
                        <a:t>, which is not ISO device retrieval</a:t>
                      </a:r>
                    </a:p>
                  </a:txBody>
                  <a:tcPr marL="64008" marR="54864" marT="18288" marB="18288" anchor="ctr">
                    <a:solidFill>
                      <a:srgbClr val="F3F6F9"/>
                    </a:solidFill>
                  </a:tcPr>
                </a:tc>
              </a:tr>
            </a:tbl>
          </a:graphicData>
        </a:graphic>
      </p:graphicFrame>
      <p:sp>
        <p:nvSpPr>
          <p:cNvPr id="20" name="TextBox 1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formats</a:t>
            </a:r>
          </a:p>
        </p:txBody>
      </p:sp>
      <p:sp>
        <p:nvSpPr>
          <p:cNvPr id="21" name="TextBox 2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DECISION MATRIX</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Choosing a format: what actually changes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Ask these questions in order. The answers narrow the choice faster than a feature comparison does.</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5501487" cy="124358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0292" cy="124358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92224"/>
            <a:ext cx="5117439"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0F172A"/>
                </a:solidFill>
              </a:rPr>
              <a:t>1. Must the holder be able to hide claims?</a:t>
            </a:r>
          </a:p>
        </p:txBody>
      </p:sp>
      <p:sp>
        <p:nvSpPr>
          <p:cNvPr id="9" name="TextBox 8"/>
          <p:cNvSpPr txBox="1"/>
          <p:nvPr/>
        </p:nvSpPr>
        <p:spPr>
          <a:xfrm>
            <a:off x="704088" y="2084832"/>
            <a:ext cx="5117439" cy="512064"/>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1D4E89"/>
                </a:solidFill>
                <a:latin typeface="Arial"/>
              </a:rPr>
              <a:t>Yes → SD-JWT VC or mDoc. No → any format works.</a:t>
            </a:r>
          </a:p>
        </p:txBody>
      </p:sp>
      <p:sp>
        <p:nvSpPr>
          <p:cNvPr id="10" name="TextBox 9"/>
          <p:cNvSpPr txBox="1"/>
          <p:nvPr/>
        </p:nvSpPr>
        <p:spPr>
          <a:xfrm>
            <a:off x="704088" y="2596896"/>
            <a:ext cx="5117439" cy="292608"/>
          </a:xfrm>
          <a:prstGeom prst="rect">
            <a:avLst/>
          </a:prstGeom>
          <a:noFill/>
        </p:spPr>
        <p:txBody>
          <a:bodyPr wrap="square" lIns="0" rIns="0" tIns="0" bIns="0" anchor="t">
            <a:spAutoFit/>
          </a:bodyPr>
          <a:lstStyle/>
          <a:p>
            <a:pPr algn="l">
              <a:lnSpc>
                <a:spcPct val="120000"/>
              </a:lnSpc>
              <a:spcBef>
                <a:spcPts val="0"/>
              </a:spcBef>
              <a:spcAft>
                <a:spcPts val="0"/>
              </a:spcAft>
            </a:pPr>
            <a:r>
              <a:rPr sz="900" b="0" i="1">
                <a:solidFill>
                  <a:srgbClr val="5B6B7F"/>
                </a:solidFill>
              </a:rPr>
              <a:t>A CPF credential shown to a bar to prove age should not reveal the CPF number.</a:t>
            </a:r>
          </a:p>
        </p:txBody>
      </p:sp>
      <p:sp>
        <p:nvSpPr>
          <p:cNvPr id="11" name="Rounded Rectangle 10"/>
          <p:cNvSpPr/>
          <p:nvPr/>
        </p:nvSpPr>
        <p:spPr>
          <a:xfrm>
            <a:off x="6187287" y="1682496"/>
            <a:ext cx="5501487" cy="124358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7287" y="1682496"/>
            <a:ext cx="50292" cy="1243584"/>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8455" y="1792224"/>
            <a:ext cx="5117439"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0F172A"/>
                </a:solidFill>
              </a:rPr>
              <a:t>2. Is proximity / offline presentation in scope?</a:t>
            </a:r>
          </a:p>
        </p:txBody>
      </p:sp>
      <p:sp>
        <p:nvSpPr>
          <p:cNvPr id="14" name="TextBox 13"/>
          <p:cNvSpPr txBox="1"/>
          <p:nvPr/>
        </p:nvSpPr>
        <p:spPr>
          <a:xfrm>
            <a:off x="6388455" y="2084832"/>
            <a:ext cx="5117439" cy="512064"/>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E9488"/>
                </a:solidFill>
                <a:latin typeface="Arial"/>
              </a:rPr>
              <a:t>Yes → mDoc, and plan for the 18013-5 transport stack.</a:t>
            </a:r>
          </a:p>
        </p:txBody>
      </p:sp>
      <p:sp>
        <p:nvSpPr>
          <p:cNvPr id="15" name="TextBox 14"/>
          <p:cNvSpPr txBox="1"/>
          <p:nvPr/>
        </p:nvSpPr>
        <p:spPr>
          <a:xfrm>
            <a:off x="6388455" y="2596896"/>
            <a:ext cx="5117439" cy="292608"/>
          </a:xfrm>
          <a:prstGeom prst="rect">
            <a:avLst/>
          </a:prstGeom>
          <a:noFill/>
        </p:spPr>
        <p:txBody>
          <a:bodyPr wrap="square" lIns="0" rIns="0" tIns="0" bIns="0" anchor="t">
            <a:spAutoFit/>
          </a:bodyPr>
          <a:lstStyle/>
          <a:p>
            <a:pPr algn="l">
              <a:lnSpc>
                <a:spcPct val="120000"/>
              </a:lnSpc>
              <a:spcBef>
                <a:spcPts val="0"/>
              </a:spcBef>
              <a:spcAft>
                <a:spcPts val="0"/>
              </a:spcAft>
            </a:pPr>
            <a:r>
              <a:rPr sz="900" b="0" i="1">
                <a:solidFill>
                  <a:srgbClr val="5B6B7F"/>
                </a:solidFill>
              </a:rPr>
              <a:t>Roadside checks, transport gates, border control.</a:t>
            </a:r>
          </a:p>
        </p:txBody>
      </p:sp>
      <p:sp>
        <p:nvSpPr>
          <p:cNvPr id="16" name="Rounded Rectangle 15"/>
          <p:cNvSpPr/>
          <p:nvPr/>
        </p:nvSpPr>
        <p:spPr>
          <a:xfrm>
            <a:off x="502920" y="3072384"/>
            <a:ext cx="5501487" cy="124358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072384"/>
            <a:ext cx="50292" cy="124358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3182112"/>
            <a:ext cx="5117439"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0F172A"/>
                </a:solidFill>
              </a:rPr>
              <a:t>3. Who will verify it, and with what software?</a:t>
            </a:r>
          </a:p>
        </p:txBody>
      </p:sp>
      <p:sp>
        <p:nvSpPr>
          <p:cNvPr id="19" name="TextBox 18"/>
          <p:cNvSpPr txBox="1"/>
          <p:nvPr/>
        </p:nvSpPr>
        <p:spPr>
          <a:xfrm>
            <a:off x="704088" y="3474720"/>
            <a:ext cx="5117439" cy="512064"/>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6D28D9"/>
                </a:solidFill>
                <a:latin typeface="Arial"/>
              </a:rPr>
              <a:t>European or ISO-aligned verifiers → SD-JWT VC and mDoc. MOSIP-ecosystem verifiers → ldp_vc is well trodden.</a:t>
            </a:r>
          </a:p>
        </p:txBody>
      </p:sp>
      <p:sp>
        <p:nvSpPr>
          <p:cNvPr id="20" name="TextBox 19"/>
          <p:cNvSpPr txBox="1"/>
          <p:nvPr/>
        </p:nvSpPr>
        <p:spPr>
          <a:xfrm>
            <a:off x="704088" y="3986784"/>
            <a:ext cx="5117439" cy="292608"/>
          </a:xfrm>
          <a:prstGeom prst="rect">
            <a:avLst/>
          </a:prstGeom>
          <a:noFill/>
        </p:spPr>
        <p:txBody>
          <a:bodyPr wrap="square" lIns="0" rIns="0" tIns="0" bIns="0" anchor="t">
            <a:spAutoFit/>
          </a:bodyPr>
          <a:lstStyle/>
          <a:p>
            <a:pPr algn="l">
              <a:lnSpc>
                <a:spcPct val="120000"/>
              </a:lnSpc>
              <a:spcBef>
                <a:spcPts val="0"/>
              </a:spcBef>
              <a:spcAft>
                <a:spcPts val="0"/>
              </a:spcAft>
            </a:pPr>
            <a:r>
              <a:rPr sz="900" b="0" i="1">
                <a:solidFill>
                  <a:srgbClr val="5B6B7F"/>
                </a:solidFill>
              </a:rPr>
              <a:t>Interoperability is a property of the ecosystem, not of the format.</a:t>
            </a:r>
          </a:p>
        </p:txBody>
      </p:sp>
      <p:sp>
        <p:nvSpPr>
          <p:cNvPr id="21" name="Rounded Rectangle 20"/>
          <p:cNvSpPr/>
          <p:nvPr/>
        </p:nvSpPr>
        <p:spPr>
          <a:xfrm>
            <a:off x="6187287" y="3072384"/>
            <a:ext cx="5501487" cy="124358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7287" y="3072384"/>
            <a:ext cx="50292" cy="124358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8455" y="3182112"/>
            <a:ext cx="5117439"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0F172A"/>
                </a:solidFill>
              </a:rPr>
              <a:t>4. How will issuer keys be published?</a:t>
            </a:r>
          </a:p>
        </p:txBody>
      </p:sp>
      <p:sp>
        <p:nvSpPr>
          <p:cNvPr id="24" name="TextBox 23"/>
          <p:cNvSpPr txBox="1"/>
          <p:nvPr/>
        </p:nvSpPr>
        <p:spPr>
          <a:xfrm>
            <a:off x="6388455" y="3474720"/>
            <a:ext cx="5117439" cy="512064"/>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B45309"/>
                </a:solidFill>
                <a:latin typeface="Arial"/>
              </a:rPr>
              <a:t>X.509 chain → works with Inji today for SD-JWT. DID or JWKS → best trodden path is ldp_vc.</a:t>
            </a:r>
          </a:p>
        </p:txBody>
      </p:sp>
      <p:sp>
        <p:nvSpPr>
          <p:cNvPr id="25" name="TextBox 24"/>
          <p:cNvSpPr txBox="1"/>
          <p:nvPr/>
        </p:nvSpPr>
        <p:spPr>
          <a:xfrm>
            <a:off x="6388455" y="3986784"/>
            <a:ext cx="5117439" cy="292608"/>
          </a:xfrm>
          <a:prstGeom prst="rect">
            <a:avLst/>
          </a:prstGeom>
          <a:noFill/>
        </p:spPr>
        <p:txBody>
          <a:bodyPr wrap="square" lIns="0" rIns="0" tIns="0" bIns="0" anchor="t">
            <a:spAutoFit/>
          </a:bodyPr>
          <a:lstStyle/>
          <a:p>
            <a:pPr algn="l">
              <a:lnSpc>
                <a:spcPct val="120000"/>
              </a:lnSpc>
              <a:spcBef>
                <a:spcPts val="0"/>
              </a:spcBef>
              <a:spcAft>
                <a:spcPts val="0"/>
              </a:spcAft>
            </a:pPr>
            <a:r>
              <a:rPr sz="900" b="0" i="1">
                <a:solidFill>
                  <a:srgbClr val="5B6B7F"/>
                </a:solidFill>
              </a:rPr>
              <a:t>This is a PKI decision with a long lead time.</a:t>
            </a:r>
          </a:p>
        </p:txBody>
      </p:sp>
      <p:sp>
        <p:nvSpPr>
          <p:cNvPr id="26" name="Rounded Rectangle 25"/>
          <p:cNvSpPr/>
          <p:nvPr/>
        </p:nvSpPr>
        <p:spPr>
          <a:xfrm>
            <a:off x="502920" y="4462272"/>
            <a:ext cx="5501487" cy="124358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4462272"/>
            <a:ext cx="50292" cy="1243584"/>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4572000"/>
            <a:ext cx="5117439"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0F172A"/>
                </a:solidFill>
              </a:rPr>
              <a:t>5. Is the issuer already built?</a:t>
            </a:r>
          </a:p>
        </p:txBody>
      </p:sp>
      <p:sp>
        <p:nvSpPr>
          <p:cNvPr id="29" name="TextBox 28"/>
          <p:cNvSpPr txBox="1"/>
          <p:nvPr/>
        </p:nvSpPr>
        <p:spPr>
          <a:xfrm>
            <a:off x="704088" y="4864608"/>
            <a:ext cx="5117439" cy="512064"/>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15703D"/>
                </a:solidFill>
                <a:latin typeface="Arial"/>
              </a:rPr>
              <a:t>Inji Certify issues ldp_vc and </a:t>
            </a:r>
            <a:r>
              <a:rPr sz="980" b="0" i="0">
                <a:solidFill>
                  <a:srgbClr val="1D4E89"/>
                </a:solidFill>
                <a:latin typeface="Consolas"/>
              </a:rPr>
              <a:t>vc+sd-jwt</a:t>
            </a:r>
            <a:r>
              <a:rPr sz="980" b="1" i="0">
                <a:solidFill>
                  <a:srgbClr val="15703D"/>
                </a:solidFill>
                <a:latin typeface="Arial"/>
              </a:rPr>
              <a:t>, not mDoc. A custom issuer can do anything.</a:t>
            </a:r>
          </a:p>
        </p:txBody>
      </p:sp>
      <p:sp>
        <p:nvSpPr>
          <p:cNvPr id="30" name="TextBox 29"/>
          <p:cNvSpPr txBox="1"/>
          <p:nvPr/>
        </p:nvSpPr>
        <p:spPr>
          <a:xfrm>
            <a:off x="704088" y="5376672"/>
            <a:ext cx="5117439" cy="292608"/>
          </a:xfrm>
          <a:prstGeom prst="rect">
            <a:avLst/>
          </a:prstGeom>
          <a:noFill/>
        </p:spPr>
        <p:txBody>
          <a:bodyPr wrap="square" lIns="0" rIns="0" tIns="0" bIns="0" anchor="t">
            <a:spAutoFit/>
          </a:bodyPr>
          <a:lstStyle/>
          <a:p>
            <a:pPr algn="l">
              <a:lnSpc>
                <a:spcPct val="120000"/>
              </a:lnSpc>
              <a:spcBef>
                <a:spcPts val="0"/>
              </a:spcBef>
              <a:spcAft>
                <a:spcPts val="0"/>
              </a:spcAft>
            </a:pPr>
            <a:r>
              <a:rPr sz="900" b="0" i="1">
                <a:solidFill>
                  <a:srgbClr val="5B6B7F"/>
                </a:solidFill>
              </a:rPr>
              <a:t>Do not let the format choice silently create a new issuer programme.</a:t>
            </a:r>
          </a:p>
        </p:txBody>
      </p:sp>
      <p:sp>
        <p:nvSpPr>
          <p:cNvPr id="31" name="Rounded Rectangle 30"/>
          <p:cNvSpPr/>
          <p:nvPr/>
        </p:nvSpPr>
        <p:spPr>
          <a:xfrm>
            <a:off x="6187287" y="4462272"/>
            <a:ext cx="5501487" cy="124358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87287" y="4462272"/>
            <a:ext cx="50292" cy="124358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88455" y="4572000"/>
            <a:ext cx="5117439"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0F172A"/>
                </a:solidFill>
              </a:rPr>
              <a:t>6. What is the credential's assurance level?</a:t>
            </a:r>
          </a:p>
        </p:txBody>
      </p:sp>
      <p:sp>
        <p:nvSpPr>
          <p:cNvPr id="34" name="TextBox 33"/>
          <p:cNvSpPr txBox="1"/>
          <p:nvPr/>
        </p:nvSpPr>
        <p:spPr>
          <a:xfrm>
            <a:off x="6388455" y="4864608"/>
            <a:ext cx="5117439" cy="512064"/>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B31B1B"/>
                </a:solidFill>
                <a:latin typeface="Arial"/>
              </a:rPr>
              <a:t>High → bound, selectively disclosable, hardware-backed key. Low → unbound is fine.</a:t>
            </a:r>
          </a:p>
        </p:txBody>
      </p:sp>
      <p:sp>
        <p:nvSpPr>
          <p:cNvPr id="35" name="TextBox 34"/>
          <p:cNvSpPr txBox="1"/>
          <p:nvPr/>
        </p:nvSpPr>
        <p:spPr>
          <a:xfrm>
            <a:off x="6388455" y="5376672"/>
            <a:ext cx="5117439" cy="292608"/>
          </a:xfrm>
          <a:prstGeom prst="rect">
            <a:avLst/>
          </a:prstGeom>
          <a:noFill/>
        </p:spPr>
        <p:txBody>
          <a:bodyPr wrap="square" lIns="0" rIns="0" tIns="0" bIns="0" anchor="t">
            <a:spAutoFit/>
          </a:bodyPr>
          <a:lstStyle/>
          <a:p>
            <a:pPr algn="l">
              <a:lnSpc>
                <a:spcPct val="120000"/>
              </a:lnSpc>
              <a:spcBef>
                <a:spcPts val="0"/>
              </a:spcBef>
              <a:spcAft>
                <a:spcPts val="0"/>
              </a:spcAft>
            </a:pPr>
            <a:r>
              <a:rPr sz="900" b="0" i="1">
                <a:solidFill>
                  <a:srgbClr val="5B6B7F"/>
                </a:solidFill>
              </a:rPr>
              <a:t>Not every credential deserves the same machinery.</a:t>
            </a:r>
          </a:p>
        </p:txBody>
      </p:sp>
      <p:sp>
        <p:nvSpPr>
          <p:cNvPr id="36" name="TextBox 3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formats</a:t>
            </a:r>
          </a:p>
        </p:txBody>
      </p:sp>
      <p:sp>
        <p:nvSpPr>
          <p:cNvPr id="37" name="TextBox 3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4   •   6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Selective disclosure with SD-JWT VC</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An SD-JWT VC in the wallet with at least four disclosable claims.</a:t>
            </a:r>
          </a:p>
        </p:txBody>
      </p:sp>
      <p:sp>
        <p:nvSpPr>
          <p:cNvPr id="10" name="Oval 9"/>
          <p:cNvSpPr/>
          <p:nvPr/>
        </p:nvSpPr>
        <p:spPr>
          <a:xfrm>
            <a:off x="745236" y="198028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1292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verifier request that asks for </a:t>
            </a:r>
            <a:r>
              <a:rPr sz="1019" b="1" i="0">
                <a:solidFill>
                  <a:srgbClr val="0F172A"/>
                </a:solidFill>
                <a:latin typeface="Arial"/>
              </a:rPr>
              <a:t>one</a:t>
            </a:r>
            <a:r>
              <a:rPr sz="1019" b="0" i="0">
                <a:solidFill>
                  <a:srgbClr val="0F172A"/>
                </a:solidFill>
                <a:latin typeface="Arial"/>
              </a:rPr>
              <a:t> of them.</a:t>
            </a:r>
          </a:p>
        </p:txBody>
      </p:sp>
      <p:sp>
        <p:nvSpPr>
          <p:cNvPr id="12" name="Oval 11"/>
          <p:cNvSpPr/>
          <p:nvPr/>
        </p:nvSpPr>
        <p:spPr>
          <a:xfrm>
            <a:off x="745236" y="238445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317089"/>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JWT decoder and a base64url decoder to hand.</a:t>
            </a:r>
          </a:p>
        </p:txBody>
      </p:sp>
      <p:sp>
        <p:nvSpPr>
          <p:cNvPr id="14" name="Oval 13"/>
          <p:cNvSpPr/>
          <p:nvPr/>
        </p:nvSpPr>
        <p:spPr>
          <a:xfrm>
            <a:off x="745236" y="278861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72125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Ideally: a proxy so the room can see the </a:t>
            </a:r>
            <a:r>
              <a:rPr sz="1019" b="0" i="0">
                <a:solidFill>
                  <a:srgbClr val="1D4E89"/>
                </a:solidFill>
                <a:latin typeface="Consolas"/>
              </a:rPr>
              <a:t>vp_token</a:t>
            </a:r>
            <a:r>
              <a:rPr sz="1019" b="0" i="0">
                <a:solidFill>
                  <a:srgbClr val="0F172A"/>
                </a:solidFill>
                <a:latin typeface="Arial"/>
              </a:rPr>
              <a:t> that leaves the phone.</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wallet shows the credential with every claim visible to the user.</a:t>
            </a:r>
          </a:p>
        </p:txBody>
      </p:sp>
      <p:sp>
        <p:nvSpPr>
          <p:cNvPr id="21" name="Oval 20"/>
          <p:cNvSpPr/>
          <p:nvPr/>
        </p:nvSpPr>
        <p:spPr>
          <a:xfrm>
            <a:off x="4466844" y="198028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1912924"/>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verifier asks for one claim.</a:t>
            </a:r>
          </a:p>
        </p:txBody>
      </p:sp>
      <p:sp>
        <p:nvSpPr>
          <p:cNvPr id="23" name="Oval 22"/>
          <p:cNvSpPr/>
          <p:nvPr/>
        </p:nvSpPr>
        <p:spPr>
          <a:xfrm>
            <a:off x="4466844" y="222123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153869"/>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consent screen names that one claim.</a:t>
            </a:r>
          </a:p>
        </p:txBody>
      </p:sp>
      <p:sp>
        <p:nvSpPr>
          <p:cNvPr id="25" name="Oval 24"/>
          <p:cNvSpPr/>
          <p:nvPr/>
        </p:nvSpPr>
        <p:spPr>
          <a:xfrm>
            <a:off x="4466844" y="246217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2394813"/>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verifier receives it — and nothing else.</a:t>
            </a:r>
          </a:p>
        </p:txBody>
      </p:sp>
      <p:sp>
        <p:nvSpPr>
          <p:cNvPr id="27" name="Rounded Rectangle 26"/>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30" name="Oval 29"/>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1508760"/>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wallet sent the issuer-signed JWT plus </a:t>
            </a:r>
            <a:r>
              <a:rPr sz="1019" b="1" i="0">
                <a:solidFill>
                  <a:srgbClr val="0F172A"/>
                </a:solidFill>
                <a:latin typeface="Arial"/>
              </a:rPr>
              <a:t>only the matching disclosure</a:t>
            </a:r>
            <a:r>
              <a:rPr sz="1019" b="0" i="0">
                <a:solidFill>
                  <a:srgbClr val="0F172A"/>
                </a:solidFill>
                <a:latin typeface="Arial"/>
              </a:rPr>
              <a:t>.</a:t>
            </a:r>
          </a:p>
        </p:txBody>
      </p:sp>
      <p:sp>
        <p:nvSpPr>
          <p:cNvPr id="32" name="Oval 31"/>
          <p:cNvSpPr/>
          <p:nvPr/>
        </p:nvSpPr>
        <p:spPr>
          <a:xfrm>
            <a:off x="8188452" y="198028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1912924"/>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other digests are still in </a:t>
            </a:r>
            <a:r>
              <a:rPr sz="1019" b="0" i="0">
                <a:solidFill>
                  <a:srgbClr val="1D4E89"/>
                </a:solidFill>
                <a:latin typeface="Consolas"/>
              </a:rPr>
              <a:t>_sd</a:t>
            </a:r>
            <a:r>
              <a:rPr sz="1019" b="0" i="0">
                <a:solidFill>
                  <a:srgbClr val="0F172A"/>
                </a:solidFill>
                <a:latin typeface="Arial"/>
              </a:rPr>
              <a:t>, but their values were never transmitted.</a:t>
            </a:r>
          </a:p>
        </p:txBody>
      </p:sp>
      <p:sp>
        <p:nvSpPr>
          <p:cNvPr id="34" name="Oval 33"/>
          <p:cNvSpPr/>
          <p:nvPr/>
        </p:nvSpPr>
        <p:spPr>
          <a:xfrm>
            <a:off x="8188452" y="238445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2317089"/>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KB-JWT was appended, signed with the key in </a:t>
            </a:r>
            <a:r>
              <a:rPr sz="1019" b="0" i="0">
                <a:solidFill>
                  <a:srgbClr val="1D4E89"/>
                </a:solidFill>
                <a:latin typeface="Consolas"/>
              </a:rPr>
              <a:t>cnf</a:t>
            </a:r>
            <a:r>
              <a:rPr sz="1019" b="0" i="0">
                <a:solidFill>
                  <a:srgbClr val="0F172A"/>
                </a:solidFill>
                <a:latin typeface="Arial"/>
              </a:rPr>
              <a:t>, covering </a:t>
            </a:r>
            <a:r>
              <a:rPr sz="1019" b="0" i="0">
                <a:solidFill>
                  <a:srgbClr val="1D4E89"/>
                </a:solidFill>
                <a:latin typeface="Consolas"/>
              </a:rPr>
              <a:t>sd_hash</a:t>
            </a:r>
            <a:r>
              <a:rPr sz="1019" b="0" i="0">
                <a:solidFill>
                  <a:srgbClr val="0F172A"/>
                </a:solidFill>
                <a:latin typeface="Arial"/>
              </a:rPr>
              <a:t>, </a:t>
            </a:r>
            <a:r>
              <a:rPr sz="1019" b="0" i="0">
                <a:solidFill>
                  <a:srgbClr val="1D4E89"/>
                </a:solidFill>
                <a:latin typeface="Consolas"/>
              </a:rPr>
              <a:t>nonce</a:t>
            </a:r>
            <a:r>
              <a:rPr sz="1019" b="0" i="0">
                <a:solidFill>
                  <a:srgbClr val="0F172A"/>
                </a:solidFill>
                <a:latin typeface="Arial"/>
              </a:rPr>
              <a:t> and </a:t>
            </a:r>
            <a:r>
              <a:rPr sz="1019" b="0" i="0">
                <a:solidFill>
                  <a:srgbClr val="1D4E89"/>
                </a:solidFill>
                <a:latin typeface="Consolas"/>
              </a:rPr>
              <a:t>aud</a:t>
            </a:r>
            <a:r>
              <a:rPr sz="1019" b="0" i="0">
                <a:solidFill>
                  <a:srgbClr val="0F172A"/>
                </a:solidFill>
                <a:latin typeface="Arial"/>
              </a:rPr>
              <a:t>.</a:t>
            </a:r>
          </a:p>
        </p:txBody>
      </p:sp>
      <p:sp>
        <p:nvSpPr>
          <p:cNvPr id="36" name="Oval 35"/>
          <p:cNvSpPr/>
          <p:nvPr/>
        </p:nvSpPr>
        <p:spPr>
          <a:xfrm>
            <a:off x="8188452" y="295183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5904" y="2884474"/>
            <a:ext cx="311810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issuer was not contacted at any point.</a:t>
            </a:r>
          </a:p>
        </p:txBody>
      </p:sp>
      <p:sp>
        <p:nvSpPr>
          <p:cNvPr id="38" name="Rounded Rectangle 37"/>
          <p:cNvSpPr/>
          <p:nvPr/>
        </p:nvSpPr>
        <p:spPr>
          <a:xfrm>
            <a:off x="502920" y="5175504"/>
            <a:ext cx="11185855" cy="554101"/>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175504"/>
            <a:ext cx="45720" cy="55410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266944"/>
            <a:ext cx="10820095" cy="407797"/>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Show the raw </a:t>
            </a:r>
            <a:r>
              <a:rPr sz="1030" b="0" i="0">
                <a:solidFill>
                  <a:srgbClr val="1D4E89"/>
                </a:solidFill>
                <a:latin typeface="Consolas"/>
              </a:rPr>
              <a:t>vp_token</a:t>
            </a:r>
            <a:r>
              <a:rPr sz="1030" b="0" i="0">
                <a:solidFill>
                  <a:srgbClr val="1E293B"/>
                </a:solidFill>
                <a:latin typeface="Arial"/>
              </a:rPr>
              <a:t> and count the tildes. One issuer JWT, one disclosure, one KB-JWT. That count is the proof that selective disclosure worked.</a:t>
            </a:r>
          </a:p>
        </p:txBody>
      </p:sp>
      <p:sp>
        <p:nvSpPr>
          <p:cNvPr id="41" name="TextBox 4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formats</a:t>
            </a:r>
          </a:p>
        </p:txBody>
      </p:sp>
      <p:sp>
        <p:nvSpPr>
          <p:cNvPr id="42" name="TextBox 4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6</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Inji Wallet architecture</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What the code actually looks like. Layers, state machines, the native bridge, storage, keys, deep links, and the seams where you extend it.</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35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React Native shell over native libraries</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XState machines for issuance and presentation</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 native bridge, module by module</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Credential store and secure storage</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Key generation and platform limits</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Deep links, QR, configuration, extension points</a:t>
            </a:r>
          </a:p>
        </p:txBody>
      </p:sp>
      <p:sp>
        <p:nvSpPr>
          <p:cNvPr id="23" name="Rounded Rectangle 22"/>
          <p:cNvSpPr/>
          <p:nvPr/>
        </p:nvSpPr>
        <p:spPr>
          <a:xfrm>
            <a:off x="50292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Inji Wallet architecture</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ARCHITECTURE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Inji Wallet in layers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A React Native presentation layer, an XState orchestration layer, and native Kotlin/Swift libraries doing the cryptography.</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8046720" cy="804672"/>
          </a:xfrm>
          <a:prstGeom prst="roundRect">
            <a:avLst>
              <a:gd name="adj" fmla="val 10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4864" cy="804672"/>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83080"/>
            <a:ext cx="2743200"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0E9488"/>
                </a:solidFill>
              </a:rPr>
              <a:t>Screens and components</a:t>
            </a:r>
          </a:p>
        </p:txBody>
      </p:sp>
      <p:sp>
        <p:nvSpPr>
          <p:cNvPr id="9" name="TextBox 8"/>
          <p:cNvSpPr txBox="1"/>
          <p:nvPr/>
        </p:nvSpPr>
        <p:spPr>
          <a:xfrm>
            <a:off x="704088" y="2066544"/>
            <a:ext cx="2743200" cy="384048"/>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5B6B7F"/>
                </a:solidFill>
                <a:latin typeface="Consolas"/>
              </a:rPr>
              <a:t>screens/</a:t>
            </a:r>
            <a:r>
              <a:rPr sz="840" b="0" i="0">
                <a:solidFill>
                  <a:srgbClr val="5B6B7F"/>
                </a:solidFill>
                <a:latin typeface="Arial"/>
              </a:rPr>
              <a:t>, </a:t>
            </a:r>
            <a:r>
              <a:rPr sz="840" b="0" i="0">
                <a:solidFill>
                  <a:srgbClr val="5B6B7F"/>
                </a:solidFill>
                <a:latin typeface="Consolas"/>
              </a:rPr>
              <a:t>components/</a:t>
            </a:r>
            <a:r>
              <a:rPr sz="840" b="0" i="0">
                <a:solidFill>
                  <a:srgbClr val="5B6B7F"/>
                </a:solidFill>
                <a:latin typeface="Arial"/>
              </a:rPr>
              <a:t>, </a:t>
            </a:r>
            <a:r>
              <a:rPr sz="840" b="0" i="0">
                <a:solidFill>
                  <a:srgbClr val="5B6B7F"/>
                </a:solidFill>
                <a:latin typeface="Consolas"/>
              </a:rPr>
              <a:t>routes/</a:t>
            </a:r>
          </a:p>
        </p:txBody>
      </p:sp>
      <p:sp>
        <p:nvSpPr>
          <p:cNvPr id="10" name="TextBox 9"/>
          <p:cNvSpPr txBox="1"/>
          <p:nvPr/>
        </p:nvSpPr>
        <p:spPr>
          <a:xfrm>
            <a:off x="3566160" y="1828800"/>
            <a:ext cx="4892040" cy="603504"/>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1E293B"/>
                </a:solidFill>
                <a:latin typeface="Arial"/>
              </a:rPr>
              <a:t>React Native + Expo. i18next for language. Theming via app config.</a:t>
            </a:r>
          </a:p>
        </p:txBody>
      </p:sp>
      <p:sp>
        <p:nvSpPr>
          <p:cNvPr id="11" name="Rounded Rectangle 10"/>
          <p:cNvSpPr/>
          <p:nvPr/>
        </p:nvSpPr>
        <p:spPr>
          <a:xfrm>
            <a:off x="502920" y="2578608"/>
            <a:ext cx="8046720" cy="804672"/>
          </a:xfrm>
          <a:prstGeom prst="roundRect">
            <a:avLst>
              <a:gd name="adj" fmla="val 100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54864" cy="80467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2679192"/>
            <a:ext cx="2743200"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6D28D9"/>
                </a:solidFill>
              </a:rPr>
              <a:t>Orchestration — state machines</a:t>
            </a:r>
          </a:p>
        </p:txBody>
      </p:sp>
      <p:sp>
        <p:nvSpPr>
          <p:cNvPr id="14" name="TextBox 13"/>
          <p:cNvSpPr txBox="1"/>
          <p:nvPr/>
        </p:nvSpPr>
        <p:spPr>
          <a:xfrm>
            <a:off x="704088" y="2962656"/>
            <a:ext cx="2743200" cy="384048"/>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5B6B7F"/>
                </a:solidFill>
                <a:latin typeface="Consolas"/>
              </a:rPr>
              <a:t>machines/</a:t>
            </a:r>
          </a:p>
        </p:txBody>
      </p:sp>
      <p:sp>
        <p:nvSpPr>
          <p:cNvPr id="15" name="TextBox 14"/>
          <p:cNvSpPr txBox="1"/>
          <p:nvPr/>
        </p:nvSpPr>
        <p:spPr>
          <a:xfrm>
            <a:off x="3566160" y="2724912"/>
            <a:ext cx="4892040" cy="603504"/>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1E293B"/>
                </a:solidFill>
                <a:latin typeface="Arial"/>
              </a:rPr>
              <a:t>XState. One machine per journey: </a:t>
            </a:r>
            <a:r>
              <a:rPr sz="930" b="0" i="0">
                <a:solidFill>
                  <a:srgbClr val="1D4E89"/>
                </a:solidFill>
                <a:latin typeface="Consolas"/>
              </a:rPr>
              <a:t>VCItemMachine</a:t>
            </a:r>
            <a:r>
              <a:rPr sz="930" b="0" i="0">
                <a:solidFill>
                  <a:srgbClr val="1E293B"/>
                </a:solidFill>
                <a:latin typeface="Arial"/>
              </a:rPr>
              <a:t>, </a:t>
            </a:r>
            <a:r>
              <a:rPr sz="930" b="0" i="0">
                <a:solidFill>
                  <a:srgbClr val="1D4E89"/>
                </a:solidFill>
                <a:latin typeface="Consolas"/>
              </a:rPr>
              <a:t>VCMetaMachine</a:t>
            </a:r>
            <a:r>
              <a:rPr sz="930" b="0" i="0">
                <a:solidFill>
                  <a:srgbClr val="1E293B"/>
                </a:solidFill>
                <a:latin typeface="Arial"/>
              </a:rPr>
              <a:t>, </a:t>
            </a:r>
            <a:r>
              <a:rPr sz="930" b="0" i="0">
                <a:solidFill>
                  <a:srgbClr val="1D4E89"/>
                </a:solidFill>
                <a:latin typeface="Consolas"/>
              </a:rPr>
              <a:t>openID4VP</a:t>
            </a:r>
            <a:r>
              <a:rPr sz="930" b="0" i="0">
                <a:solidFill>
                  <a:srgbClr val="1E293B"/>
                </a:solidFill>
                <a:latin typeface="Arial"/>
              </a:rPr>
              <a:t>, </a:t>
            </a:r>
            <a:r>
              <a:rPr sz="930" b="0" i="0">
                <a:solidFill>
                  <a:srgbClr val="1D4E89"/>
                </a:solidFill>
                <a:latin typeface="Consolas"/>
              </a:rPr>
              <a:t>Issuers</a:t>
            </a:r>
            <a:r>
              <a:rPr sz="930" b="0" i="0">
                <a:solidFill>
                  <a:srgbClr val="1E293B"/>
                </a:solidFill>
                <a:latin typeface="Arial"/>
              </a:rPr>
              <a:t>, </a:t>
            </a:r>
            <a:r>
              <a:rPr sz="930" b="0" i="0">
                <a:solidFill>
                  <a:srgbClr val="1D4E89"/>
                </a:solidFill>
                <a:latin typeface="Consolas"/>
              </a:rPr>
              <a:t>bleShare</a:t>
            </a:r>
            <a:r>
              <a:rPr sz="930" b="0" i="0">
                <a:solidFill>
                  <a:srgbClr val="1E293B"/>
                </a:solidFill>
                <a:latin typeface="Arial"/>
              </a:rPr>
              <a:t>, </a:t>
            </a:r>
            <a:r>
              <a:rPr sz="930" b="0" i="0">
                <a:solidFill>
                  <a:srgbClr val="1D4E89"/>
                </a:solidFill>
                <a:latin typeface="Consolas"/>
              </a:rPr>
              <a:t>QrLogin</a:t>
            </a:r>
            <a:r>
              <a:rPr sz="930" b="0" i="0">
                <a:solidFill>
                  <a:srgbClr val="1E293B"/>
                </a:solidFill>
                <a:latin typeface="Arial"/>
              </a:rPr>
              <a:t>, </a:t>
            </a:r>
            <a:r>
              <a:rPr sz="930" b="0" i="0">
                <a:solidFill>
                  <a:srgbClr val="1D4E89"/>
                </a:solidFill>
                <a:latin typeface="Consolas"/>
              </a:rPr>
              <a:t>backupAndRestore</a:t>
            </a:r>
            <a:r>
              <a:rPr sz="930" b="0" i="0">
                <a:solidFill>
                  <a:srgbClr val="1E293B"/>
                </a:solidFill>
                <a:latin typeface="Arial"/>
              </a:rPr>
              <a:t>.</a:t>
            </a:r>
          </a:p>
        </p:txBody>
      </p:sp>
      <p:sp>
        <p:nvSpPr>
          <p:cNvPr id="16" name="Rounded Rectangle 15"/>
          <p:cNvSpPr/>
          <p:nvPr/>
        </p:nvSpPr>
        <p:spPr>
          <a:xfrm>
            <a:off x="502920" y="3474720"/>
            <a:ext cx="8046720" cy="804672"/>
          </a:xfrm>
          <a:prstGeom prst="roundRect">
            <a:avLst>
              <a:gd name="adj" fmla="val 100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474720"/>
            <a:ext cx="54864" cy="804672"/>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3575303"/>
            <a:ext cx="2743200"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1D4E89"/>
                </a:solidFill>
              </a:rPr>
              <a:t>Domain services and adapters</a:t>
            </a:r>
          </a:p>
        </p:txBody>
      </p:sp>
      <p:sp>
        <p:nvSpPr>
          <p:cNvPr id="19" name="TextBox 18"/>
          <p:cNvSpPr txBox="1"/>
          <p:nvPr/>
        </p:nvSpPr>
        <p:spPr>
          <a:xfrm>
            <a:off x="704088" y="3858768"/>
            <a:ext cx="2743200" cy="384048"/>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5B6B7F"/>
                </a:solidFill>
                <a:latin typeface="Consolas"/>
              </a:rPr>
              <a:t>shared/</a:t>
            </a:r>
          </a:p>
        </p:txBody>
      </p:sp>
      <p:sp>
        <p:nvSpPr>
          <p:cNvPr id="20" name="TextBox 19"/>
          <p:cNvSpPr txBox="1"/>
          <p:nvPr/>
        </p:nvSpPr>
        <p:spPr>
          <a:xfrm>
            <a:off x="3566160" y="3621024"/>
            <a:ext cx="4892040" cy="603504"/>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1D4E89"/>
                </a:solidFill>
                <a:latin typeface="Consolas"/>
              </a:rPr>
              <a:t>vciClient/</a:t>
            </a:r>
            <a:r>
              <a:rPr sz="930" b="0" i="0">
                <a:solidFill>
                  <a:srgbClr val="1E293B"/>
                </a:solidFill>
                <a:latin typeface="Arial"/>
              </a:rPr>
              <a:t>, </a:t>
            </a:r>
            <a:r>
              <a:rPr sz="930" b="0" i="0">
                <a:solidFill>
                  <a:srgbClr val="1D4E89"/>
                </a:solidFill>
                <a:latin typeface="Consolas"/>
              </a:rPr>
              <a:t>openID4VP/</a:t>
            </a:r>
            <a:r>
              <a:rPr sz="930" b="0" i="0">
                <a:solidFill>
                  <a:srgbClr val="1E293B"/>
                </a:solidFill>
                <a:latin typeface="Arial"/>
              </a:rPr>
              <a:t>, </a:t>
            </a:r>
            <a:r>
              <a:rPr sz="930" b="0" i="0">
                <a:solidFill>
                  <a:srgbClr val="1D4E89"/>
                </a:solidFill>
                <a:latin typeface="Consolas"/>
              </a:rPr>
              <a:t>vcVerifier/</a:t>
            </a:r>
            <a:r>
              <a:rPr sz="930" b="0" i="0">
                <a:solidFill>
                  <a:srgbClr val="1E293B"/>
                </a:solidFill>
                <a:latin typeface="Arial"/>
              </a:rPr>
              <a:t>, </a:t>
            </a:r>
            <a:r>
              <a:rPr sz="930" b="0" i="0">
                <a:solidFill>
                  <a:srgbClr val="1D4E89"/>
                </a:solidFill>
                <a:latin typeface="Consolas"/>
              </a:rPr>
              <a:t>keystore/</a:t>
            </a:r>
            <a:r>
              <a:rPr sz="930" b="0" i="0">
                <a:solidFill>
                  <a:srgbClr val="1E293B"/>
                </a:solidFill>
                <a:latin typeface="Arial"/>
              </a:rPr>
              <a:t>, </a:t>
            </a:r>
            <a:r>
              <a:rPr sz="930" b="0" i="0">
                <a:solidFill>
                  <a:srgbClr val="1D4E89"/>
                </a:solidFill>
                <a:latin typeface="Consolas"/>
              </a:rPr>
              <a:t>cryptoutil/</a:t>
            </a:r>
            <a:r>
              <a:rPr sz="930" b="0" i="0">
                <a:solidFill>
                  <a:srgbClr val="1E293B"/>
                </a:solidFill>
                <a:latin typeface="Arial"/>
              </a:rPr>
              <a:t>, </a:t>
            </a:r>
            <a:r>
              <a:rPr sz="930" b="0" i="0">
                <a:solidFill>
                  <a:srgbClr val="1D4E89"/>
                </a:solidFill>
                <a:latin typeface="Consolas"/>
              </a:rPr>
              <a:t>storage.ts</a:t>
            </a:r>
            <a:r>
              <a:rPr sz="930" b="0" i="0">
                <a:solidFill>
                  <a:srgbClr val="1E293B"/>
                </a:solidFill>
                <a:latin typeface="Arial"/>
              </a:rPr>
              <a:t>, </a:t>
            </a:r>
            <a:r>
              <a:rPr sz="930" b="0" i="0">
                <a:solidFill>
                  <a:srgbClr val="1D4E89"/>
                </a:solidFill>
                <a:latin typeface="Consolas"/>
              </a:rPr>
              <a:t>api.ts</a:t>
            </a:r>
            <a:r>
              <a:rPr sz="930" b="0" i="0">
                <a:solidFill>
                  <a:srgbClr val="1E293B"/>
                </a:solidFill>
                <a:latin typeface="Arial"/>
              </a:rPr>
              <a:t>, </a:t>
            </a:r>
            <a:r>
              <a:rPr sz="930" b="0" i="0">
                <a:solidFill>
                  <a:srgbClr val="1D4E89"/>
                </a:solidFill>
                <a:latin typeface="Consolas"/>
              </a:rPr>
              <a:t>telemetry/</a:t>
            </a:r>
            <a:r>
              <a:rPr sz="930" b="0" i="0">
                <a:solidFill>
                  <a:srgbClr val="1E293B"/>
                </a:solidFill>
                <a:latin typeface="Arial"/>
              </a:rPr>
              <a:t>.</a:t>
            </a:r>
          </a:p>
        </p:txBody>
      </p:sp>
      <p:sp>
        <p:nvSpPr>
          <p:cNvPr id="21" name="Rounded Rectangle 20"/>
          <p:cNvSpPr/>
          <p:nvPr/>
        </p:nvSpPr>
        <p:spPr>
          <a:xfrm>
            <a:off x="502920" y="4370832"/>
            <a:ext cx="8046720" cy="804672"/>
          </a:xfrm>
          <a:prstGeom prst="roundRect">
            <a:avLst>
              <a:gd name="adj" fmla="val 10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370832"/>
            <a:ext cx="54864" cy="8046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471416"/>
            <a:ext cx="2743200"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B45309"/>
                </a:solidFill>
              </a:rPr>
              <a:t>Native bridge</a:t>
            </a:r>
          </a:p>
        </p:txBody>
      </p:sp>
      <p:sp>
        <p:nvSpPr>
          <p:cNvPr id="24" name="TextBox 23"/>
          <p:cNvSpPr txBox="1"/>
          <p:nvPr/>
        </p:nvSpPr>
        <p:spPr>
          <a:xfrm>
            <a:off x="704088" y="4754880"/>
            <a:ext cx="2743200" cy="384048"/>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5B6B7F"/>
                </a:solidFill>
                <a:latin typeface="Consolas"/>
              </a:rPr>
              <a:t>android/app/src/main/java/io/mosip/residentapp/</a:t>
            </a:r>
            <a:r>
              <a:rPr sz="840" b="0" i="0">
                <a:solidFill>
                  <a:srgbClr val="5B6B7F"/>
                </a:solidFill>
                <a:latin typeface="Arial"/>
              </a:rPr>
              <a:t>, </a:t>
            </a:r>
            <a:r>
              <a:rPr sz="840" b="0" i="0">
                <a:solidFill>
                  <a:srgbClr val="5B6B7F"/>
                </a:solidFill>
                <a:latin typeface="Consolas"/>
              </a:rPr>
              <a:t>ios/</a:t>
            </a:r>
          </a:p>
        </p:txBody>
      </p:sp>
      <p:sp>
        <p:nvSpPr>
          <p:cNvPr id="25" name="TextBox 24"/>
          <p:cNvSpPr txBox="1"/>
          <p:nvPr/>
        </p:nvSpPr>
        <p:spPr>
          <a:xfrm>
            <a:off x="3566160" y="4517136"/>
            <a:ext cx="4892040" cy="603504"/>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1D4E89"/>
                </a:solidFill>
                <a:latin typeface="Consolas"/>
              </a:rPr>
              <a:t>InjiVciClientModule</a:t>
            </a:r>
            <a:r>
              <a:rPr sz="930" b="0" i="0">
                <a:solidFill>
                  <a:srgbClr val="1E293B"/>
                </a:solidFill>
                <a:latin typeface="Arial"/>
              </a:rPr>
              <a:t>, </a:t>
            </a:r>
            <a:r>
              <a:rPr sz="930" b="0" i="0">
                <a:solidFill>
                  <a:srgbClr val="1D4E89"/>
                </a:solidFill>
                <a:latin typeface="Consolas"/>
              </a:rPr>
              <a:t>InjiOpenID4VPModule</a:t>
            </a:r>
            <a:r>
              <a:rPr sz="930" b="0" i="0">
                <a:solidFill>
                  <a:srgbClr val="1E293B"/>
                </a:solidFill>
                <a:latin typeface="Arial"/>
              </a:rPr>
              <a:t>, </a:t>
            </a:r>
            <a:r>
              <a:rPr sz="930" b="0" i="0">
                <a:solidFill>
                  <a:srgbClr val="1D4E89"/>
                </a:solidFill>
                <a:latin typeface="Consolas"/>
              </a:rPr>
              <a:t>RNVCVerifierModule</a:t>
            </a:r>
            <a:r>
              <a:rPr sz="930" b="0" i="0">
                <a:solidFill>
                  <a:srgbClr val="1E293B"/>
                </a:solidFill>
                <a:latin typeface="Arial"/>
              </a:rPr>
              <a:t>, </a:t>
            </a:r>
            <a:r>
              <a:rPr sz="930" b="0" i="0">
                <a:solidFill>
                  <a:srgbClr val="1D4E89"/>
                </a:solidFill>
                <a:latin typeface="Consolas"/>
              </a:rPr>
              <a:t>RNSecureKeystoreModule</a:t>
            </a:r>
            <a:r>
              <a:rPr sz="930" b="0" i="0">
                <a:solidFill>
                  <a:srgbClr val="1E293B"/>
                </a:solidFill>
                <a:latin typeface="Arial"/>
              </a:rPr>
              <a:t>.</a:t>
            </a:r>
          </a:p>
        </p:txBody>
      </p:sp>
      <p:sp>
        <p:nvSpPr>
          <p:cNvPr id="26" name="Rounded Rectangle 25"/>
          <p:cNvSpPr/>
          <p:nvPr/>
        </p:nvSpPr>
        <p:spPr>
          <a:xfrm>
            <a:off x="502920" y="5266944"/>
            <a:ext cx="8046720" cy="804672"/>
          </a:xfrm>
          <a:prstGeom prst="roundRect">
            <a:avLst>
              <a:gd name="adj" fmla="val 10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266944"/>
            <a:ext cx="54864" cy="804672"/>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5367528"/>
            <a:ext cx="2743200" cy="256032"/>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15703D"/>
                </a:solidFill>
              </a:rPr>
              <a:t>Native libraries (versioned artefacts)</a:t>
            </a:r>
          </a:p>
        </p:txBody>
      </p:sp>
      <p:sp>
        <p:nvSpPr>
          <p:cNvPr id="29" name="TextBox 28"/>
          <p:cNvSpPr txBox="1"/>
          <p:nvPr/>
        </p:nvSpPr>
        <p:spPr>
          <a:xfrm>
            <a:off x="704088" y="5650992"/>
            <a:ext cx="2743200" cy="384048"/>
          </a:xfrm>
          <a:prstGeom prst="rect">
            <a:avLst/>
          </a:prstGeom>
          <a:noFill/>
        </p:spPr>
        <p:txBody>
          <a:bodyPr wrap="square" lIns="0" rIns="0" tIns="0" bIns="0" anchor="t">
            <a:spAutoFit/>
          </a:bodyPr>
          <a:lstStyle/>
          <a:p>
            <a:pPr algn="l">
              <a:lnSpc>
                <a:spcPct val="118000"/>
              </a:lnSpc>
              <a:spcBef>
                <a:spcPts val="0"/>
              </a:spcBef>
              <a:spcAft>
                <a:spcPts val="0"/>
              </a:spcAft>
            </a:pPr>
            <a:r>
              <a:rPr sz="840" b="0" i="0">
                <a:solidFill>
                  <a:srgbClr val="5B6B7F"/>
                </a:solidFill>
                <a:latin typeface="Arial"/>
              </a:rPr>
              <a:t>Maven Central / CocoaPods</a:t>
            </a:r>
          </a:p>
        </p:txBody>
      </p:sp>
      <p:sp>
        <p:nvSpPr>
          <p:cNvPr id="30" name="TextBox 29"/>
          <p:cNvSpPr txBox="1"/>
          <p:nvPr/>
        </p:nvSpPr>
        <p:spPr>
          <a:xfrm>
            <a:off x="3566160" y="5413248"/>
            <a:ext cx="4892040" cy="603504"/>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1D4E89"/>
                </a:solidFill>
                <a:latin typeface="Consolas"/>
              </a:rPr>
              <a:t>inji-vci-client</a:t>
            </a:r>
            <a:r>
              <a:rPr sz="930" b="0" i="0">
                <a:solidFill>
                  <a:srgbClr val="1E293B"/>
                </a:solidFill>
                <a:latin typeface="Arial"/>
              </a:rPr>
              <a:t>, </a:t>
            </a:r>
            <a:r>
              <a:rPr sz="930" b="0" i="0">
                <a:solidFill>
                  <a:srgbClr val="1D4E89"/>
                </a:solidFill>
                <a:latin typeface="Consolas"/>
              </a:rPr>
              <a:t>inji-openid4vp</a:t>
            </a:r>
            <a:r>
              <a:rPr sz="930" b="0" i="0">
                <a:solidFill>
                  <a:srgbClr val="1E293B"/>
                </a:solidFill>
                <a:latin typeface="Arial"/>
              </a:rPr>
              <a:t>, </a:t>
            </a:r>
            <a:r>
              <a:rPr sz="930" b="0" i="0">
                <a:solidFill>
                  <a:srgbClr val="1D4E89"/>
                </a:solidFill>
                <a:latin typeface="Consolas"/>
              </a:rPr>
              <a:t>vcverifier</a:t>
            </a:r>
            <a:r>
              <a:rPr sz="930" b="0" i="0">
                <a:solidFill>
                  <a:srgbClr val="1E293B"/>
                </a:solidFill>
                <a:latin typeface="Arial"/>
              </a:rPr>
              <a:t>, </a:t>
            </a:r>
            <a:r>
              <a:rPr sz="930" b="0" i="0">
                <a:solidFill>
                  <a:srgbClr val="1D4E89"/>
                </a:solidFill>
                <a:latin typeface="Consolas"/>
              </a:rPr>
              <a:t>pixelpass</a:t>
            </a:r>
            <a:r>
              <a:rPr sz="930" b="0" i="0">
                <a:solidFill>
                  <a:srgbClr val="1E293B"/>
                </a:solidFill>
                <a:latin typeface="Arial"/>
              </a:rPr>
              <a:t>, </a:t>
            </a:r>
            <a:r>
              <a:rPr sz="930" b="0" i="0">
                <a:solidFill>
                  <a:srgbClr val="1D4E89"/>
                </a:solidFill>
                <a:latin typeface="Consolas"/>
              </a:rPr>
              <a:t>secure-keystore</a:t>
            </a:r>
            <a:r>
              <a:rPr sz="930" b="0" i="0">
                <a:solidFill>
                  <a:srgbClr val="1E293B"/>
                </a:solidFill>
                <a:latin typeface="Arial"/>
              </a:rPr>
              <a:t>, </a:t>
            </a:r>
            <a:r>
              <a:rPr sz="930" b="0" i="0">
                <a:solidFill>
                  <a:srgbClr val="1D4E89"/>
                </a:solidFill>
                <a:latin typeface="Consolas"/>
              </a:rPr>
              <a:t>injivcrenderer</a:t>
            </a:r>
            <a:r>
              <a:rPr sz="930" b="0" i="0">
                <a:solidFill>
                  <a:srgbClr val="1E293B"/>
                </a:solidFill>
                <a:latin typeface="Arial"/>
              </a:rPr>
              <a:t>, </a:t>
            </a:r>
            <a:r>
              <a:rPr sz="930" b="0" i="0">
                <a:solidFill>
                  <a:srgbClr val="1D4E89"/>
                </a:solidFill>
                <a:latin typeface="Consolas"/>
              </a:rPr>
              <a:t>tuvali</a:t>
            </a:r>
            <a:r>
              <a:rPr sz="930" b="0" i="0">
                <a:solidFill>
                  <a:srgbClr val="1E293B"/>
                </a:solidFill>
                <a:latin typeface="Arial"/>
              </a:rPr>
              <a:t>.</a:t>
            </a:r>
          </a:p>
        </p:txBody>
      </p:sp>
      <p:sp>
        <p:nvSpPr>
          <p:cNvPr id="31" name="Rounded Rectangle 30"/>
          <p:cNvSpPr/>
          <p:nvPr/>
        </p:nvSpPr>
        <p:spPr>
          <a:xfrm>
            <a:off x="8430768" y="1682496"/>
            <a:ext cx="2752344" cy="2377440"/>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430768" y="1682496"/>
            <a:ext cx="50292" cy="2377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68512" y="1828800"/>
            <a:ext cx="2368296"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F172A"/>
                </a:solidFill>
              </a:rPr>
              <a:t>Where the seams are</a:t>
            </a:r>
          </a:p>
        </p:txBody>
      </p:sp>
      <p:sp>
        <p:nvSpPr>
          <p:cNvPr id="34" name="Oval 33"/>
          <p:cNvSpPr/>
          <p:nvPr/>
        </p:nvSpPr>
        <p:spPr>
          <a:xfrm>
            <a:off x="8673084" y="2120138"/>
            <a:ext cx="77724" cy="77724"/>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0536" y="2057400"/>
            <a:ext cx="2139696" cy="565785"/>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0F172A"/>
                </a:solidFill>
                <a:latin typeface="Arial"/>
              </a:rPr>
              <a:t>Anything </a:t>
            </a:r>
            <a:r>
              <a:rPr sz="950" b="1" i="0">
                <a:solidFill>
                  <a:srgbClr val="0F172A"/>
                </a:solidFill>
                <a:latin typeface="Arial"/>
              </a:rPr>
              <a:t>above</a:t>
            </a:r>
            <a:r>
              <a:rPr sz="950" b="0" i="0">
                <a:solidFill>
                  <a:srgbClr val="0F172A"/>
                </a:solidFill>
                <a:latin typeface="Arial"/>
              </a:rPr>
              <a:t> the bridge is JavaScript you can change quickly.</a:t>
            </a:r>
          </a:p>
        </p:txBody>
      </p:sp>
      <p:sp>
        <p:nvSpPr>
          <p:cNvPr id="36" name="Oval 35"/>
          <p:cNvSpPr/>
          <p:nvPr/>
        </p:nvSpPr>
        <p:spPr>
          <a:xfrm>
            <a:off x="8673084" y="2653919"/>
            <a:ext cx="77724" cy="77724"/>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60536" y="2591181"/>
            <a:ext cx="2139696" cy="565785"/>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0F172A"/>
                </a:solidFill>
                <a:latin typeface="Arial"/>
              </a:rPr>
              <a:t>Anything </a:t>
            </a:r>
            <a:r>
              <a:rPr sz="950" b="1" i="0">
                <a:solidFill>
                  <a:srgbClr val="0F172A"/>
                </a:solidFill>
                <a:latin typeface="Arial"/>
              </a:rPr>
              <a:t>below</a:t>
            </a:r>
            <a:r>
              <a:rPr sz="950" b="0" i="0">
                <a:solidFill>
                  <a:srgbClr val="0F172A"/>
                </a:solidFill>
                <a:latin typeface="Arial"/>
              </a:rPr>
              <a:t> is a versioned artefact — change it upstream, not by patching.</a:t>
            </a:r>
          </a:p>
        </p:txBody>
      </p:sp>
      <p:sp>
        <p:nvSpPr>
          <p:cNvPr id="38" name="Oval 37"/>
          <p:cNvSpPr/>
          <p:nvPr/>
        </p:nvSpPr>
        <p:spPr>
          <a:xfrm>
            <a:off x="8673084" y="3187700"/>
            <a:ext cx="77724" cy="77724"/>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60536" y="3124962"/>
            <a:ext cx="2139696" cy="717804"/>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1D4E89"/>
                </a:solidFill>
                <a:latin typeface="Consolas"/>
              </a:rPr>
              <a:t>patches/</a:t>
            </a:r>
            <a:r>
              <a:rPr sz="950" b="0" i="0">
                <a:solidFill>
                  <a:srgbClr val="0F172A"/>
                </a:solidFill>
                <a:latin typeface="Arial"/>
              </a:rPr>
              <a:t> in the repo exists for third-party fixes. Read it before you debug odd behaviour.</a:t>
            </a:r>
          </a:p>
        </p:txBody>
      </p:sp>
      <p:sp>
        <p:nvSpPr>
          <p:cNvPr id="40" name="Rounded Rectangle 39"/>
          <p:cNvSpPr/>
          <p:nvPr/>
        </p:nvSpPr>
        <p:spPr>
          <a:xfrm>
            <a:off x="8430768" y="4187952"/>
            <a:ext cx="2752344" cy="1655064"/>
          </a:xfrm>
          <a:prstGeom prst="roundRect">
            <a:avLst>
              <a:gd name="adj" fmla="val 45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30768" y="4187952"/>
            <a:ext cx="50292" cy="165506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68512" y="4334256"/>
            <a:ext cx="2368296"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B31B1B"/>
                </a:solidFill>
              </a:rPr>
              <a:t>The rule</a:t>
            </a:r>
          </a:p>
        </p:txBody>
      </p:sp>
      <p:sp>
        <p:nvSpPr>
          <p:cNvPr id="43" name="Oval 42"/>
          <p:cNvSpPr/>
          <p:nvPr/>
        </p:nvSpPr>
        <p:spPr>
          <a:xfrm>
            <a:off x="8673084" y="4625594"/>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0536" y="4562856"/>
            <a:ext cx="2139696" cy="565785"/>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0F172A"/>
                </a:solidFill>
                <a:latin typeface="Arial"/>
              </a:rPr>
              <a:t>Protocol logic lives in native libraries </a:t>
            </a:r>
            <a:r>
              <a:rPr sz="950" b="1" i="0">
                <a:solidFill>
                  <a:srgbClr val="0F172A"/>
                </a:solidFill>
                <a:latin typeface="Arial"/>
              </a:rPr>
              <a:t>so Android, iOS and Mimoto share one implementation</a:t>
            </a:r>
            <a:r>
              <a:rPr sz="950" b="0" i="0">
                <a:solidFill>
                  <a:srgbClr val="0F172A"/>
                </a:solidFill>
                <a:latin typeface="Arial"/>
              </a:rPr>
              <a:t>.</a:t>
            </a:r>
          </a:p>
        </p:txBody>
      </p:sp>
      <p:sp>
        <p:nvSpPr>
          <p:cNvPr id="45" name="Oval 44"/>
          <p:cNvSpPr/>
          <p:nvPr/>
        </p:nvSpPr>
        <p:spPr>
          <a:xfrm>
            <a:off x="8673084" y="5159375"/>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60536" y="5096637"/>
            <a:ext cx="2139696" cy="413766"/>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0F172A"/>
                </a:solidFill>
                <a:latin typeface="Arial"/>
              </a:rPr>
              <a:t>If you find protocol logic in TypeScript, treat it as a smell.</a:t>
            </a:r>
          </a:p>
        </p:txBody>
      </p:sp>
      <p:sp>
        <p:nvSpPr>
          <p:cNvPr id="47" name="TextBox 4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Wallet architecture</a:t>
            </a:r>
          </a:p>
        </p:txBody>
      </p:sp>
      <p:sp>
        <p:nvSpPr>
          <p:cNvPr id="48" name="TextBox 4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REPO ORIENTATION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module map</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Where to look first when you are handed a bug report. Paths are from the root of </a:t>
            </a:r>
            <a:r>
              <a:rPr sz="1150" b="0" i="0">
                <a:solidFill>
                  <a:srgbClr val="1D4E89"/>
                </a:solidFill>
                <a:latin typeface="Consolas"/>
              </a:rPr>
              <a:t>mosip/inji-wallet</a:t>
            </a:r>
            <a:r>
              <a:rPr sz="1150" b="0" i="0">
                <a:solidFill>
                  <a:srgbClr val="5B6B7F"/>
                </a:solidFill>
                <a:latin typeface="Arial"/>
              </a:rPr>
              <a:t>.</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82496"/>
          <a:ext cx="11185854" cy="4471416"/>
        </p:xfrm>
        <a:graphic>
          <a:graphicData uri="http://schemas.openxmlformats.org/drawingml/2006/table">
            <a:tbl>
              <a:tblPr firstRow="1">
                <a:tableStyleId>{2D5ABB26-0587-4C30-8999-92F81FD0307C}</a:tableStyleId>
              </a:tblPr>
              <a:tblGrid>
                <a:gridCol w="3942555"/>
                <a:gridCol w="4125930"/>
                <a:gridCol w="3117369"/>
              </a:tblGrid>
              <a:tr h="310896">
                <a:tc>
                  <a:txBody>
                    <a:bodyPr wrap="square"/>
                    <a:lstStyle/>
                    <a:p>
                      <a:pPr algn="l"/>
                      <a:r>
                        <a:rPr sz="950" b="1">
                          <a:solidFill>
                            <a:srgbClr val="FFFFFF"/>
                          </a:solidFill>
                          <a:latin typeface="Arial"/>
                        </a:rPr>
                        <a:t>Path</a:t>
                      </a:r>
                    </a:p>
                  </a:txBody>
                  <a:tcPr marL="64008" marR="54864" marT="27432" marB="27432" anchor="ctr">
                    <a:solidFill>
                      <a:srgbClr val="1D4E89"/>
                    </a:solidFill>
                  </a:tcPr>
                </a:tc>
                <a:tc>
                  <a:txBody>
                    <a:bodyPr wrap="square"/>
                    <a:lstStyle/>
                    <a:p>
                      <a:pPr algn="l"/>
                      <a:r>
                        <a:rPr sz="950" b="1">
                          <a:solidFill>
                            <a:srgbClr val="FFFFFF"/>
                          </a:solidFill>
                          <a:latin typeface="Arial"/>
                        </a:rPr>
                        <a:t>What it owns</a:t>
                      </a:r>
                    </a:p>
                  </a:txBody>
                  <a:tcPr marL="64008" marR="54864" marT="27432" marB="27432" anchor="ctr">
                    <a:solidFill>
                      <a:srgbClr val="1D4E89"/>
                    </a:solidFill>
                  </a:tcPr>
                </a:tc>
                <a:tc>
                  <a:txBody>
                    <a:bodyPr wrap="square"/>
                    <a:lstStyle/>
                    <a:p>
                      <a:pPr algn="l"/>
                      <a:r>
                        <a:rPr sz="950" b="1">
                          <a:solidFill>
                            <a:srgbClr val="FFFFFF"/>
                          </a:solidFill>
                          <a:latin typeface="Arial"/>
                        </a:rPr>
                        <a:t>Go here when…</a:t>
                      </a:r>
                    </a:p>
                  </a:txBody>
                  <a:tcPr marL="64008" marR="54864" marT="27432" marB="27432" anchor="ctr">
                    <a:solidFill>
                      <a:srgbClr val="1D4E89"/>
                    </a:solidFill>
                  </a:tcPr>
                </a:tc>
              </a:tr>
              <a:tr h="297180">
                <a:tc>
                  <a:txBody>
                    <a:bodyPr wrap="square"/>
                    <a:lstStyle/>
                    <a:p>
                      <a:pPr algn="l">
                        <a:lnSpc>
                          <a:spcPct val="105000"/>
                        </a:lnSpc>
                      </a:pPr>
                      <a:r>
                        <a:rPr sz="919" b="0">
                          <a:solidFill>
                            <a:srgbClr val="1D4E89"/>
                          </a:solidFill>
                          <a:latin typeface="Consolas"/>
                        </a:rPr>
                        <a:t>machines/Issuers/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Issuer list, selection, the download journey</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Start here for 'credential will not download'</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machines/VerifiableCredential/VCItemMachine/</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One credential: load, render, share, delete</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Rendering and per-credential actions</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machines/VerifiableCredential/VCMetaMachine/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The collection: what is stored, ordering, metadata</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'My credential disappeared'</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machines/openID4VP/</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Online presentation: request → match → consent → send</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Start here for 'sharing failed'</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machines/bleShare/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Offline BLE sharing (scan and request sides)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Proximity sharing issues</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machines/QrLogin/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QR-based login to a relying party</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Login-with-wallet journeys</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shared/vciClient/VciClient.ts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Bridge to </a:t>
                      </a:r>
                      <a:r>
                        <a:rPr sz="919" b="0">
                          <a:solidFill>
                            <a:srgbClr val="1D4E89"/>
                          </a:solidFill>
                          <a:latin typeface="Consolas"/>
                        </a:rPr>
                        <a:t>inji-vci-client</a:t>
                      </a:r>
                      <a:r>
                        <a:rPr sz="919" b="0">
                          <a:solidFill>
                            <a:srgbClr val="1E293B"/>
                          </a:solidFill>
                          <a:latin typeface="Arial"/>
                        </a:rPr>
                        <a:t>, callback wiring</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Every issuance callback passes through here</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shared/openID4VP/</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Bridge to </a:t>
                      </a:r>
                      <a:r>
                        <a:rPr sz="919" b="0">
                          <a:solidFill>
                            <a:srgbClr val="1D4E89"/>
                          </a:solidFill>
                          <a:latin typeface="Consolas"/>
                        </a:rPr>
                        <a:t>inji-openid4vp</a:t>
                      </a:r>
                      <a:r>
                        <a:rPr sz="919" b="0">
                          <a:solidFill>
                            <a:srgbClr val="1E293B"/>
                          </a:solidFill>
                          <a:latin typeface="Arial"/>
                        </a:rPr>
                        <a:t>, plus </a:t>
                      </a:r>
                      <a:r>
                        <a:rPr sz="919" b="0">
                          <a:solidFill>
                            <a:srgbClr val="1D4E89"/>
                          </a:solidFill>
                          <a:latin typeface="Consolas"/>
                        </a:rPr>
                        <a:t>walletMetadata.ts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What the wallet advertises it can do</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shared/vcVerifier/VcVerifier.ts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Bridge to </a:t>
                      </a:r>
                      <a:r>
                        <a:rPr sz="919" b="0">
                          <a:solidFill>
                            <a:srgbClr val="1D4E89"/>
                          </a:solidFill>
                          <a:latin typeface="Consolas"/>
                        </a:rPr>
                        <a:t>vc-verifier</a:t>
                      </a:r>
                      <a:r>
                        <a:rPr sz="919" b="0">
                          <a:solidFill>
                            <a:srgbClr val="1E293B"/>
                          </a:solidFill>
                          <a:latin typeface="Arial"/>
                        </a:rPr>
                        <a:t>, verification + status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Verification result and error codes</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shared/keystore/SecureKeystore.ts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Bridge to </a:t>
                      </a:r>
                      <a:r>
                        <a:rPr sz="919" b="0">
                          <a:solidFill>
                            <a:srgbClr val="1D4E89"/>
                          </a:solidFill>
                          <a:latin typeface="Consolas"/>
                        </a:rPr>
                        <a:t>secure-keystore</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Key generation and signing</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shared/cryptoutil/</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Key types, encryption helpers, signature format conversion</a:t>
                      </a:r>
                    </a:p>
                  </a:txBody>
                  <a:tcPr marL="64008" marR="54864" marT="18288" marB="18288" anchor="ctr">
                    <a:solidFill>
                      <a:srgbClr val="FFFFFF"/>
                    </a:solidFill>
                  </a:tcPr>
                </a:tc>
                <a:tc>
                  <a:txBody>
                    <a:bodyPr wrap="square"/>
                    <a:lstStyle/>
                    <a:p>
                      <a:pPr algn="l">
                        <a:lnSpc>
                          <a:spcPct val="105000"/>
                        </a:lnSpc>
                      </a:pPr>
                      <a:r>
                        <a:rPr sz="919" b="0">
                          <a:solidFill>
                            <a:srgbClr val="1D4E89"/>
                          </a:solidFill>
                          <a:latin typeface="Consolas"/>
                        </a:rPr>
                        <a:t>KeyTypes.ts</a:t>
                      </a:r>
                      <a:r>
                        <a:rPr sz="919" b="0">
                          <a:solidFill>
                            <a:srgbClr val="1E293B"/>
                          </a:solidFill>
                          <a:latin typeface="Arial"/>
                        </a:rPr>
                        <a:t> lists supported algorithms</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shared/storage.ts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MMKV-backed encrypted store, HMAC integrity checks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Storage and tamper detection</a:t>
                      </a:r>
                    </a:p>
                  </a:txBody>
                  <a:tcPr marL="64008" marR="54864" marT="18288" marB="18288" anchor="ctr">
                    <a:solidFill>
                      <a:srgbClr val="F3F6F9"/>
                    </a:solidFill>
                  </a:tcPr>
                </a:tc>
              </a:tr>
              <a:tr h="297180">
                <a:tc>
                  <a:txBody>
                    <a:bodyPr wrap="square"/>
                    <a:lstStyle/>
                    <a:p>
                      <a:pPr algn="l">
                        <a:lnSpc>
                          <a:spcPct val="105000"/>
                        </a:lnSpc>
                      </a:pPr>
                      <a:r>
                        <a:rPr sz="919" b="0">
                          <a:solidFill>
                            <a:srgbClr val="1D4E89"/>
                          </a:solidFill>
                          <a:latin typeface="Consolas"/>
                        </a:rPr>
                        <a:t>locales/</a:t>
                      </a:r>
                      <a:r>
                        <a:rPr sz="919" b="0">
                          <a:solidFill>
                            <a:srgbClr val="1E293B"/>
                          </a:solidFill>
                          <a:latin typeface="Arial"/>
                        </a:rPr>
                        <a:t>, </a:t>
                      </a:r>
                      <a:r>
                        <a:rPr sz="919" b="0">
                          <a:solidFill>
                            <a:srgbClr val="1D4E89"/>
                          </a:solidFill>
                          <a:latin typeface="Consolas"/>
                        </a:rPr>
                        <a:t>i18n.ts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App language files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Portuguese UI strings go here</a:t>
                      </a:r>
                    </a:p>
                  </a:txBody>
                  <a:tcPr marL="64008" marR="54864" marT="18288" marB="18288" anchor="ctr">
                    <a:solidFill>
                      <a:srgbClr val="FFFFFF"/>
                    </a:solidFill>
                  </a:tcPr>
                </a:tc>
              </a:tr>
              <a:tr h="297180">
                <a:tc>
                  <a:txBody>
                    <a:bodyPr wrap="square"/>
                    <a:lstStyle/>
                    <a:p>
                      <a:pPr algn="l">
                        <a:lnSpc>
                          <a:spcPct val="105000"/>
                        </a:lnSpc>
                      </a:pPr>
                      <a:r>
                        <a:rPr sz="919" b="0">
                          <a:solidFill>
                            <a:srgbClr val="1D4E89"/>
                          </a:solidFill>
                          <a:latin typeface="Consolas"/>
                        </a:rPr>
                        <a:t>android/</a:t>
                      </a:r>
                      <a:r>
                        <a:rPr sz="919" b="0">
                          <a:solidFill>
                            <a:srgbClr val="1E293B"/>
                          </a:solidFill>
                          <a:latin typeface="Arial"/>
                        </a:rPr>
                        <a:t>, </a:t>
                      </a:r>
                      <a:r>
                        <a:rPr sz="919" b="0">
                          <a:solidFill>
                            <a:srgbClr val="1D4E89"/>
                          </a:solidFill>
                          <a:latin typeface="Consolas"/>
                        </a:rPr>
                        <a:t>ios/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Native modules, manifests, entitlements, deep links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Intent filters and URL schemes</a:t>
                      </a:r>
                    </a:p>
                  </a:txBody>
                  <a:tcPr marL="64008" marR="54864" marT="18288" marB="18288" anchor="ctr">
                    <a:solidFill>
                      <a:srgbClr val="F3F6F9"/>
                    </a:solidFill>
                  </a:tcPr>
                </a:tc>
              </a:tr>
            </a:tbl>
          </a:graphicData>
        </a:graphic>
      </p:graphicFrame>
      <p:sp>
        <p:nvSpPr>
          <p:cNvPr id="7" name="TextBox 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Wallet architecture</a:t>
            </a:r>
          </a:p>
        </p:txBody>
      </p:sp>
      <p:sp>
        <p:nvSpPr>
          <p:cNvPr id="8" name="TextBox 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ON THE DEVICE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Credential storage and secure key management</a:t>
            </a:r>
          </a:p>
        </p:txBody>
      </p:sp>
      <p:sp>
        <p:nvSpPr>
          <p:cNvPr id="4" name="TextBox 3"/>
          <p:cNvSpPr txBox="1"/>
          <p:nvPr/>
        </p:nvSpPr>
        <p:spPr>
          <a:xfrm>
            <a:off x="502920" y="1078992"/>
            <a:ext cx="11185855" cy="272529"/>
          </a:xfrm>
          <a:prstGeom prst="rect">
            <a:avLst/>
          </a:prstGeom>
          <a:noFill/>
        </p:spPr>
        <p:txBody>
          <a:bodyPr wrap="square" lIns="0" rIns="0" tIns="0" bIns="0" anchor="t">
            <a:spAutoFit/>
          </a:bodyPr>
          <a:lstStyle/>
          <a:p>
            <a:pPr algn="l">
              <a:lnSpc>
                <a:spcPct val="114000"/>
              </a:lnSpc>
              <a:spcBef>
                <a:spcPts val="0"/>
              </a:spcBef>
              <a:spcAft>
                <a:spcPts val="0"/>
              </a:spcAft>
            </a:pPr>
            <a:r>
              <a:rPr sz="1090" b="0" i="0">
                <a:solidFill>
                  <a:srgbClr val="5B6B7F"/>
                </a:solidFill>
                <a:latin typeface="Arial"/>
              </a:rPr>
              <a:t>Two separate problems: keeping the credential confidential, and keeping the signing key unextractable.</a:t>
            </a:r>
          </a:p>
        </p:txBody>
      </p:sp>
      <p:cxnSp>
        <p:nvCxnSpPr>
          <p:cNvPr id="5" name="Connector 4"/>
          <p:cNvCxnSpPr/>
          <p:nvPr/>
        </p:nvCxnSpPr>
        <p:spPr>
          <a:xfrm>
            <a:off x="502920" y="1442961"/>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19303"/>
            <a:ext cx="5440680" cy="1843580"/>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19303"/>
            <a:ext cx="50292" cy="18435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747552"/>
            <a:ext cx="5056632" cy="240466"/>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1D4E89"/>
                </a:solidFill>
              </a:rPr>
              <a:t>Credential storage</a:t>
            </a:r>
          </a:p>
        </p:txBody>
      </p:sp>
      <p:sp>
        <p:nvSpPr>
          <p:cNvPr id="9" name="Oval 8"/>
          <p:cNvSpPr/>
          <p:nvPr/>
        </p:nvSpPr>
        <p:spPr>
          <a:xfrm>
            <a:off x="745236" y="2005832"/>
            <a:ext cx="77724" cy="68132"/>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7941"/>
            <a:ext cx="4828031" cy="236459"/>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MMKV key-value store holds </a:t>
            </a:r>
            <a:r>
              <a:rPr sz="940" b="1" i="0">
                <a:solidFill>
                  <a:srgbClr val="0F172A"/>
                </a:solidFill>
                <a:latin typeface="Arial"/>
              </a:rPr>
              <a:t>ciphertext</a:t>
            </a:r>
            <a:r>
              <a:rPr sz="940" b="0" i="0">
                <a:solidFill>
                  <a:srgbClr val="0F172A"/>
                </a:solidFill>
                <a:latin typeface="Arial"/>
              </a:rPr>
              <a:t>, never plaintext credentials.</a:t>
            </a:r>
          </a:p>
        </p:txBody>
      </p:sp>
      <p:sp>
        <p:nvSpPr>
          <p:cNvPr id="11" name="Oval 10"/>
          <p:cNvSpPr/>
          <p:nvPr/>
        </p:nvSpPr>
        <p:spPr>
          <a:xfrm>
            <a:off x="745236" y="2214236"/>
            <a:ext cx="77724" cy="68132"/>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156346"/>
            <a:ext cx="4828031" cy="376731"/>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The encryption key itself lives in the OS keystore, unlocked by device authentication.</a:t>
            </a:r>
          </a:p>
        </p:txBody>
      </p:sp>
      <p:sp>
        <p:nvSpPr>
          <p:cNvPr id="13" name="Oval 12"/>
          <p:cNvSpPr/>
          <p:nvPr/>
        </p:nvSpPr>
        <p:spPr>
          <a:xfrm>
            <a:off x="745236" y="2562913"/>
            <a:ext cx="77724" cy="68132"/>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505023"/>
            <a:ext cx="4828031" cy="376731"/>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An </a:t>
            </a:r>
            <a:r>
              <a:rPr sz="940" b="1" i="0">
                <a:solidFill>
                  <a:srgbClr val="0F172A"/>
                </a:solidFill>
                <a:latin typeface="Arial"/>
              </a:rPr>
              <a:t>HMAC per credential</a:t>
            </a:r>
            <a:r>
              <a:rPr sz="940" b="0" i="0">
                <a:solidFill>
                  <a:srgbClr val="0F172A"/>
                </a:solidFill>
                <a:latin typeface="Arial"/>
              </a:rPr>
              <a:t> is stored and re-checked on read — tamper detection, not just confidentiality.</a:t>
            </a:r>
          </a:p>
        </p:txBody>
      </p:sp>
      <p:sp>
        <p:nvSpPr>
          <p:cNvPr id="15" name="Oval 14"/>
          <p:cNvSpPr/>
          <p:nvPr/>
        </p:nvSpPr>
        <p:spPr>
          <a:xfrm>
            <a:off x="745236" y="2911590"/>
            <a:ext cx="77724" cy="68132"/>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853700"/>
            <a:ext cx="4828031" cy="376731"/>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mDoc credentials are kept as the original base64url CBOR; the decoded JSON exists only in the state machine's memory.</a:t>
            </a:r>
          </a:p>
        </p:txBody>
      </p:sp>
      <p:sp>
        <p:nvSpPr>
          <p:cNvPr id="17" name="Oval 16"/>
          <p:cNvSpPr/>
          <p:nvPr/>
        </p:nvSpPr>
        <p:spPr>
          <a:xfrm>
            <a:off x="745236" y="3260268"/>
            <a:ext cx="77724" cy="68132"/>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202377"/>
            <a:ext cx="4828031" cy="376731"/>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Inji Web is different: credentials sit in Mimoto's Postgres, AES-256-GCM, key wrapped with a PBKDF2 key derived from the user's PIN.</a:t>
            </a:r>
          </a:p>
        </p:txBody>
      </p:sp>
      <p:sp>
        <p:nvSpPr>
          <p:cNvPr id="19" name="Rounded Rectangle 18"/>
          <p:cNvSpPr/>
          <p:nvPr/>
        </p:nvSpPr>
        <p:spPr>
          <a:xfrm>
            <a:off x="6245352" y="1619303"/>
            <a:ext cx="5440680" cy="1843580"/>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5352" y="1619303"/>
            <a:ext cx="50292" cy="184358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3096" y="1747552"/>
            <a:ext cx="5056632" cy="240466"/>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0E9488"/>
                </a:solidFill>
              </a:rPr>
              <a:t>Key management</a:t>
            </a:r>
          </a:p>
        </p:txBody>
      </p:sp>
      <p:sp>
        <p:nvSpPr>
          <p:cNvPr id="22" name="Oval 21"/>
          <p:cNvSpPr/>
          <p:nvPr/>
        </p:nvSpPr>
        <p:spPr>
          <a:xfrm>
            <a:off x="6487668" y="2005832"/>
            <a:ext cx="77724" cy="681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1947941"/>
            <a:ext cx="4828031" cy="236459"/>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Keys are generated </a:t>
            </a:r>
            <a:r>
              <a:rPr sz="940" b="1" i="0">
                <a:solidFill>
                  <a:srgbClr val="0F172A"/>
                </a:solidFill>
                <a:latin typeface="Arial"/>
              </a:rPr>
              <a:t>on the device</a:t>
            </a:r>
            <a:r>
              <a:rPr sz="940" b="0" i="0">
                <a:solidFill>
                  <a:srgbClr val="0F172A"/>
                </a:solidFill>
                <a:latin typeface="Arial"/>
              </a:rPr>
              <a:t>, at first use, and never leave it.</a:t>
            </a:r>
          </a:p>
        </p:txBody>
      </p:sp>
      <p:sp>
        <p:nvSpPr>
          <p:cNvPr id="24" name="Oval 23"/>
          <p:cNvSpPr/>
          <p:nvPr/>
        </p:nvSpPr>
        <p:spPr>
          <a:xfrm>
            <a:off x="6487668" y="2214236"/>
            <a:ext cx="77724" cy="681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156346"/>
            <a:ext cx="4828031" cy="376731"/>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1D4E89"/>
                </a:solidFill>
                <a:latin typeface="Consolas"/>
              </a:rPr>
              <a:t>secure-keystore</a:t>
            </a:r>
            <a:r>
              <a:rPr sz="940" b="0" i="0">
                <a:solidFill>
                  <a:srgbClr val="0F172A"/>
                </a:solidFill>
                <a:latin typeface="Arial"/>
              </a:rPr>
              <a:t> abstracts Android Keystore and iOS Keychain/Secure Enclave behind one interface.</a:t>
            </a:r>
          </a:p>
        </p:txBody>
      </p:sp>
      <p:sp>
        <p:nvSpPr>
          <p:cNvPr id="26" name="Oval 25"/>
          <p:cNvSpPr/>
          <p:nvPr/>
        </p:nvSpPr>
        <p:spPr>
          <a:xfrm>
            <a:off x="6487668" y="2562913"/>
            <a:ext cx="77724" cy="681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2505023"/>
            <a:ext cx="4828031" cy="376731"/>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Signing happens inside the platform, not in JavaScript — the app receives a signature, not a key.</a:t>
            </a:r>
          </a:p>
        </p:txBody>
      </p:sp>
      <p:sp>
        <p:nvSpPr>
          <p:cNvPr id="28" name="Oval 27"/>
          <p:cNvSpPr/>
          <p:nvPr/>
        </p:nvSpPr>
        <p:spPr>
          <a:xfrm>
            <a:off x="6487668" y="2911590"/>
            <a:ext cx="77724" cy="681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2853700"/>
            <a:ext cx="4828031" cy="236459"/>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Device authentication (PIN, biometric) gates access to the key.</a:t>
            </a:r>
          </a:p>
        </p:txBody>
      </p:sp>
      <p:sp>
        <p:nvSpPr>
          <p:cNvPr id="30" name="Oval 29"/>
          <p:cNvSpPr/>
          <p:nvPr/>
        </p:nvSpPr>
        <p:spPr>
          <a:xfrm>
            <a:off x="6487668" y="3119995"/>
            <a:ext cx="77724" cy="681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3062104"/>
            <a:ext cx="4828031" cy="376731"/>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The same key is used for the issuance proof and for presentation key binding.</a:t>
            </a:r>
          </a:p>
        </p:txBody>
      </p:sp>
      <p:graphicFrame>
        <p:nvGraphicFramePr>
          <p:cNvPr id="32" name="Table 31"/>
          <p:cNvGraphicFramePr>
            <a:graphicFrameLocks noGrp="1"/>
          </p:cNvGraphicFramePr>
          <p:nvPr/>
        </p:nvGraphicFramePr>
        <p:xfrm>
          <a:off x="502920" y="3663272"/>
          <a:ext cx="11185853" cy="2035953"/>
        </p:xfrm>
        <a:graphic>
          <a:graphicData uri="http://schemas.openxmlformats.org/drawingml/2006/table">
            <a:tbl>
              <a:tblPr firstRow="1">
                <a:tableStyleId>{2D5ABB26-0587-4C30-8999-92F81FD0307C}</a:tableStyleId>
              </a:tblPr>
              <a:tblGrid>
                <a:gridCol w="1707764"/>
                <a:gridCol w="2134705"/>
                <a:gridCol w="2561646"/>
                <a:gridCol w="2390869"/>
                <a:gridCol w="2390869"/>
              </a:tblGrid>
              <a:tr h="272529">
                <a:tc>
                  <a:txBody>
                    <a:bodyPr wrap="square"/>
                    <a:lstStyle/>
                    <a:p>
                      <a:pPr algn="l"/>
                      <a:r>
                        <a:rPr sz="900" b="1">
                          <a:solidFill>
                            <a:srgbClr val="FFFFFF"/>
                          </a:solidFill>
                          <a:latin typeface="Arial"/>
                        </a:rPr>
                        <a:t>Key type</a:t>
                      </a:r>
                    </a:p>
                  </a:txBody>
                  <a:tcPr marL="64008" marR="54864" marT="27432" marB="27432" anchor="ctr">
                    <a:solidFill>
                      <a:srgbClr val="1D4E89"/>
                    </a:solidFill>
                  </a:tcPr>
                </a:tc>
                <a:tc>
                  <a:txBody>
                    <a:bodyPr wrap="square"/>
                    <a:lstStyle/>
                    <a:p>
                      <a:pPr algn="l"/>
                      <a:r>
                        <a:rPr sz="900" b="1">
                          <a:solidFill>
                            <a:srgbClr val="FFFFFF"/>
                          </a:solidFill>
                          <a:latin typeface="Arial"/>
                        </a:rPr>
                        <a:t>Android</a:t>
                      </a:r>
                    </a:p>
                  </a:txBody>
                  <a:tcPr marL="64008" marR="54864" marT="27432" marB="27432" anchor="ctr">
                    <a:solidFill>
                      <a:srgbClr val="1D4E89"/>
                    </a:solidFill>
                  </a:tcPr>
                </a:tc>
                <a:tc>
                  <a:txBody>
                    <a:bodyPr wrap="square"/>
                    <a:lstStyle/>
                    <a:p>
                      <a:pPr algn="l"/>
                      <a:r>
                        <a:rPr sz="900" b="1">
                          <a:solidFill>
                            <a:srgbClr val="FFFFFF"/>
                          </a:solidFill>
                          <a:latin typeface="Arial"/>
                        </a:rPr>
                        <a:t>iOS</a:t>
                      </a:r>
                    </a:p>
                  </a:txBody>
                  <a:tcPr marL="64008" marR="54864" marT="27432" marB="27432" anchor="ctr">
                    <a:solidFill>
                      <a:srgbClr val="1D4E89"/>
                    </a:solidFill>
                  </a:tcPr>
                </a:tc>
                <a:tc>
                  <a:txBody>
                    <a:bodyPr wrap="square"/>
                    <a:lstStyle/>
                    <a:p>
                      <a:pPr algn="l"/>
                      <a:r>
                        <a:rPr sz="900" b="1">
                          <a:solidFill>
                            <a:srgbClr val="FFFFFF"/>
                          </a:solidFill>
                          <a:latin typeface="Arial"/>
                        </a:rPr>
                        <a:t>Used for</a:t>
                      </a:r>
                    </a:p>
                  </a:txBody>
                  <a:tcPr marL="64008" marR="54864" marT="27432" marB="27432" anchor="ctr">
                    <a:solidFill>
                      <a:srgbClr val="1D4E89"/>
                    </a:solidFill>
                  </a:tcPr>
                </a:tc>
                <a:tc>
                  <a:txBody>
                    <a:bodyPr wrap="square"/>
                    <a:lstStyle/>
                    <a:p>
                      <a:pPr algn="l"/>
                      <a:r>
                        <a:rPr sz="900" b="1">
                          <a:solidFill>
                            <a:srgbClr val="FFFFFF"/>
                          </a:solidFill>
                          <a:latin typeface="Arial"/>
                        </a:rPr>
                        <a:t>Consequence</a:t>
                      </a:r>
                    </a:p>
                  </a:txBody>
                  <a:tcPr marL="64008" marR="54864" marT="27432" marB="27432" anchor="ctr">
                    <a:solidFill>
                      <a:srgbClr val="1D4E89"/>
                    </a:solidFill>
                  </a:tcPr>
                </a:tc>
              </a:tr>
              <a:tr h="440856">
                <a:tc>
                  <a:txBody>
                    <a:bodyPr wrap="square"/>
                    <a:lstStyle/>
                    <a:p>
                      <a:pPr algn="l">
                        <a:lnSpc>
                          <a:spcPct val="105000"/>
                        </a:lnSpc>
                      </a:pPr>
                      <a:r>
                        <a:rPr sz="850" b="0">
                          <a:solidFill>
                            <a:srgbClr val="1D4E89"/>
                          </a:solidFill>
                          <a:latin typeface="Consolas"/>
                        </a:rPr>
                        <a:t>RSA-2048</a:t>
                      </a:r>
                    </a:p>
                  </a:txBody>
                  <a:tcPr marL="64008" marR="54864" marT="18288" marB="18288" anchor="ctr">
                    <a:solidFill>
                      <a:srgbClr val="FFFFFF"/>
                    </a:solidFill>
                  </a:tcPr>
                </a:tc>
                <a:tc>
                  <a:txBody>
                    <a:bodyPr wrap="square"/>
                    <a:lstStyle/>
                    <a:p>
                      <a:pPr algn="l">
                        <a:lnSpc>
                          <a:spcPct val="105000"/>
                        </a:lnSpc>
                      </a:pPr>
                      <a:r>
                        <a:rPr sz="850" b="1">
                          <a:solidFill>
                            <a:srgbClr val="15703D"/>
                          </a:solidFill>
                          <a:latin typeface="Arial"/>
                        </a:rPr>
                        <a:t>Hardware keystore</a:t>
                      </a:r>
                    </a:p>
                  </a:txBody>
                  <a:tcPr marL="64008" marR="54864" marT="18288" marB="18288" anchor="ctr">
                    <a:solidFill>
                      <a:srgbClr val="FFFFFF"/>
                    </a:solidFill>
                  </a:tcPr>
                </a:tc>
                <a:tc>
                  <a:txBody>
                    <a:bodyPr wrap="square"/>
                    <a:lstStyle/>
                    <a:p>
                      <a:pPr algn="l">
                        <a:lnSpc>
                          <a:spcPct val="105000"/>
                        </a:lnSpc>
                      </a:pPr>
                      <a:r>
                        <a:rPr sz="850" b="0">
                          <a:solidFill>
                            <a:srgbClr val="1E293B"/>
                          </a:solidFill>
                          <a:latin typeface="Arial"/>
                        </a:rPr>
                        <a:t>Generated and stored in Keychain, wrapped via Secure Enclave</a:t>
                      </a:r>
                    </a:p>
                  </a:txBody>
                  <a:tcPr marL="64008" marR="54864" marT="18288" marB="18288" anchor="ctr">
                    <a:solidFill>
                      <a:srgbClr val="FFFFFF"/>
                    </a:solidFill>
                  </a:tcPr>
                </a:tc>
                <a:tc>
                  <a:txBody>
                    <a:bodyPr wrap="square"/>
                    <a:lstStyle/>
                    <a:p>
                      <a:pPr algn="l">
                        <a:lnSpc>
                          <a:spcPct val="105000"/>
                        </a:lnSpc>
                      </a:pPr>
                      <a:r>
                        <a:rPr sz="850" b="0">
                          <a:solidFill>
                            <a:srgbClr val="1D4E89"/>
                          </a:solidFill>
                          <a:latin typeface="Consolas"/>
                        </a:rPr>
                        <a:t>RS256</a:t>
                      </a:r>
                      <a:r>
                        <a:rPr sz="850" b="0">
                          <a:solidFill>
                            <a:srgbClr val="1E293B"/>
                          </a:solidFill>
                          <a:latin typeface="Arial"/>
                        </a:rPr>
                        <a:t> proofs</a:t>
                      </a:r>
                    </a:p>
                  </a:txBody>
                  <a:tcPr marL="64008" marR="54864" marT="18288" marB="18288" anchor="ctr">
                    <a:solidFill>
                      <a:srgbClr val="FFFFFF"/>
                    </a:solidFill>
                  </a:tcPr>
                </a:tc>
                <a:tc>
                  <a:txBody>
                    <a:bodyPr wrap="square"/>
                    <a:lstStyle/>
                    <a:p>
                      <a:pPr algn="l">
                        <a:lnSpc>
                          <a:spcPct val="105000"/>
                        </a:lnSpc>
                      </a:pPr>
                      <a:r>
                        <a:rPr sz="850" b="0">
                          <a:solidFill>
                            <a:srgbClr val="1E293B"/>
                          </a:solidFill>
                          <a:latin typeface="Arial"/>
                        </a:rPr>
                        <a:t>Hardware-backed on both platforms</a:t>
                      </a:r>
                    </a:p>
                  </a:txBody>
                  <a:tcPr marL="64008" marR="54864" marT="18288" marB="18288" anchor="ctr">
                    <a:solidFill>
                      <a:srgbClr val="FFFFFF"/>
                    </a:solidFill>
                  </a:tcPr>
                </a:tc>
              </a:tr>
              <a:tr h="440856">
                <a:tc>
                  <a:txBody>
                    <a:bodyPr wrap="square"/>
                    <a:lstStyle/>
                    <a:p>
                      <a:pPr algn="l">
                        <a:lnSpc>
                          <a:spcPct val="105000"/>
                        </a:lnSpc>
                      </a:pPr>
                      <a:r>
                        <a:rPr sz="850" b="0">
                          <a:solidFill>
                            <a:srgbClr val="1D4E89"/>
                          </a:solidFill>
                          <a:latin typeface="Consolas"/>
                        </a:rPr>
                        <a:t>EC P-256</a:t>
                      </a:r>
                      <a:r>
                        <a:rPr sz="850" b="0">
                          <a:solidFill>
                            <a:srgbClr val="1E293B"/>
                          </a:solidFill>
                          <a:latin typeface="Arial"/>
                        </a:rPr>
                        <a:t> (R1)</a:t>
                      </a:r>
                    </a:p>
                  </a:txBody>
                  <a:tcPr marL="64008" marR="54864" marT="18288" marB="18288" anchor="ctr">
                    <a:solidFill>
                      <a:srgbClr val="F3F6F9"/>
                    </a:solidFill>
                  </a:tcPr>
                </a:tc>
                <a:tc>
                  <a:txBody>
                    <a:bodyPr wrap="square"/>
                    <a:lstStyle/>
                    <a:p>
                      <a:pPr algn="l">
                        <a:lnSpc>
                          <a:spcPct val="105000"/>
                        </a:lnSpc>
                      </a:pPr>
                      <a:r>
                        <a:rPr sz="850" b="1">
                          <a:solidFill>
                            <a:srgbClr val="15703D"/>
                          </a:solidFill>
                          <a:latin typeface="Arial"/>
                        </a:rPr>
                        <a:t>Hardware keystore</a:t>
                      </a:r>
                    </a:p>
                  </a:txBody>
                  <a:tcPr marL="64008" marR="54864" marT="18288" marB="18288" anchor="ctr">
                    <a:solidFill>
                      <a:srgbClr val="F3F6F9"/>
                    </a:solidFill>
                  </a:tcPr>
                </a:tc>
                <a:tc>
                  <a:txBody>
                    <a:bodyPr wrap="square"/>
                    <a:lstStyle/>
                    <a:p>
                      <a:pPr algn="l">
                        <a:lnSpc>
                          <a:spcPct val="105000"/>
                        </a:lnSpc>
                      </a:pPr>
                      <a:r>
                        <a:rPr sz="850" b="0">
                          <a:solidFill>
                            <a:srgbClr val="1E293B"/>
                          </a:solidFill>
                          <a:latin typeface="Arial"/>
                        </a:rPr>
                        <a:t>Keychain + Secure Enclave wrapping</a:t>
                      </a:r>
                    </a:p>
                  </a:txBody>
                  <a:tcPr marL="64008" marR="54864" marT="18288" marB="18288" anchor="ctr">
                    <a:solidFill>
                      <a:srgbClr val="F3F6F9"/>
                    </a:solidFill>
                  </a:tcPr>
                </a:tc>
                <a:tc>
                  <a:txBody>
                    <a:bodyPr wrap="square"/>
                    <a:lstStyle/>
                    <a:p>
                      <a:pPr algn="l">
                        <a:lnSpc>
                          <a:spcPct val="105000"/>
                        </a:lnSpc>
                      </a:pPr>
                      <a:r>
                        <a:rPr sz="850" b="0">
                          <a:solidFill>
                            <a:srgbClr val="1D4E89"/>
                          </a:solidFill>
                          <a:latin typeface="Consolas"/>
                        </a:rPr>
                        <a:t>ES256</a:t>
                      </a:r>
                      <a:r>
                        <a:rPr sz="850" b="0">
                          <a:solidFill>
                            <a:srgbClr val="1E293B"/>
                          </a:solidFill>
                          <a:latin typeface="Arial"/>
                        </a:rPr>
                        <a:t> — SD-JWT key binding, mDoc device key</a:t>
                      </a:r>
                    </a:p>
                  </a:txBody>
                  <a:tcPr marL="64008" marR="54864" marT="18288" marB="18288" anchor="ctr">
                    <a:solidFill>
                      <a:srgbClr val="F3F6F9"/>
                    </a:solidFill>
                  </a:tcPr>
                </a:tc>
                <a:tc>
                  <a:txBody>
                    <a:bodyPr wrap="square"/>
                    <a:lstStyle/>
                    <a:p>
                      <a:pPr algn="l">
                        <a:lnSpc>
                          <a:spcPct val="105000"/>
                        </a:lnSpc>
                      </a:pPr>
                      <a:r>
                        <a:rPr sz="850" b="0">
                          <a:solidFill>
                            <a:srgbClr val="1E293B"/>
                          </a:solidFill>
                          <a:latin typeface="Arial"/>
                        </a:rPr>
                        <a:t>The default choice for new work</a:t>
                      </a:r>
                    </a:p>
                  </a:txBody>
                  <a:tcPr marL="64008" marR="54864" marT="18288" marB="18288" anchor="ctr">
                    <a:solidFill>
                      <a:srgbClr val="F3F6F9"/>
                    </a:solidFill>
                  </a:tcPr>
                </a:tc>
              </a:tr>
              <a:tr h="440856">
                <a:tc>
                  <a:txBody>
                    <a:bodyPr wrap="square"/>
                    <a:lstStyle/>
                    <a:p>
                      <a:pPr algn="l">
                        <a:lnSpc>
                          <a:spcPct val="105000"/>
                        </a:lnSpc>
                      </a:pPr>
                      <a:r>
                        <a:rPr sz="850" b="0">
                          <a:solidFill>
                            <a:srgbClr val="1D4E89"/>
                          </a:solidFill>
                          <a:latin typeface="Consolas"/>
                        </a:rPr>
                        <a:t>EC secp256k1</a:t>
                      </a:r>
                      <a:r>
                        <a:rPr sz="850" b="0">
                          <a:solidFill>
                            <a:srgbClr val="1E293B"/>
                          </a:solidFill>
                          <a:latin typeface="Arial"/>
                        </a:rPr>
                        <a:t> (K1)</a:t>
                      </a:r>
                    </a:p>
                  </a:txBody>
                  <a:tcPr marL="64008" marR="54864" marT="18288" marB="18288" anchor="ctr">
                    <a:solidFill>
                      <a:srgbClr val="FFFFFF"/>
                    </a:solidFill>
                  </a:tcPr>
                </a:tc>
                <a:tc>
                  <a:txBody>
                    <a:bodyPr wrap="square"/>
                    <a:lstStyle/>
                    <a:p>
                      <a:pPr algn="l">
                        <a:lnSpc>
                          <a:spcPct val="105000"/>
                        </a:lnSpc>
                      </a:pPr>
                      <a:r>
                        <a:rPr sz="850" b="1">
                          <a:solidFill>
                            <a:srgbClr val="B45309"/>
                          </a:solidFill>
                          <a:latin typeface="Arial"/>
                        </a:rPr>
                        <a:t>EncryptedSharedPreferences</a:t>
                      </a:r>
                    </a:p>
                  </a:txBody>
                  <a:tcPr marL="64008" marR="54864" marT="18288" marB="18288" anchor="ctr">
                    <a:solidFill>
                      <a:srgbClr val="FFFFFF"/>
                    </a:solidFill>
                  </a:tcPr>
                </a:tc>
                <a:tc>
                  <a:txBody>
                    <a:bodyPr wrap="square"/>
                    <a:lstStyle/>
                    <a:p>
                      <a:pPr algn="l">
                        <a:lnSpc>
                          <a:spcPct val="105000"/>
                        </a:lnSpc>
                      </a:pPr>
                      <a:r>
                        <a:rPr sz="850" b="0">
                          <a:solidFill>
                            <a:srgbClr val="1E293B"/>
                          </a:solidFill>
                          <a:latin typeface="Arial"/>
                        </a:rPr>
                        <a:t>Keychain, key wrapping</a:t>
                      </a:r>
                    </a:p>
                  </a:txBody>
                  <a:tcPr marL="64008" marR="54864" marT="18288" marB="18288" anchor="ctr">
                    <a:solidFill>
                      <a:srgbClr val="FFFFFF"/>
                    </a:solidFill>
                  </a:tcPr>
                </a:tc>
                <a:tc>
                  <a:txBody>
                    <a:bodyPr wrap="square"/>
                    <a:lstStyle/>
                    <a:p>
                      <a:pPr algn="l">
                        <a:lnSpc>
                          <a:spcPct val="105000"/>
                        </a:lnSpc>
                      </a:pPr>
                      <a:r>
                        <a:rPr sz="850" b="0">
                          <a:solidFill>
                            <a:srgbClr val="1D4E89"/>
                          </a:solidFill>
                          <a:latin typeface="Consolas"/>
                        </a:rPr>
                        <a:t>ES256K</a:t>
                      </a:r>
                    </a:p>
                  </a:txBody>
                  <a:tcPr marL="64008" marR="54864" marT="18288" marB="18288" anchor="ctr">
                    <a:solidFill>
                      <a:srgbClr val="FFFFFF"/>
                    </a:solidFill>
                  </a:tcPr>
                </a:tc>
                <a:tc>
                  <a:txBody>
                    <a:bodyPr wrap="square"/>
                    <a:lstStyle/>
                    <a:p>
                      <a:pPr algn="l">
                        <a:lnSpc>
                          <a:spcPct val="105000"/>
                        </a:lnSpc>
                      </a:pPr>
                      <a:r>
                        <a:rPr sz="850" b="0">
                          <a:solidFill>
                            <a:srgbClr val="1E293B"/>
                          </a:solidFill>
                          <a:latin typeface="Arial"/>
                        </a:rPr>
                        <a:t>Not supported by hardware keystore — signing happens in software</a:t>
                      </a:r>
                    </a:p>
                  </a:txBody>
                  <a:tcPr marL="64008" marR="54864" marT="18288" marB="18288" anchor="ctr">
                    <a:solidFill>
                      <a:srgbClr val="FFFFFF"/>
                    </a:solidFill>
                  </a:tcPr>
                </a:tc>
              </a:tr>
              <a:tr h="440856">
                <a:tc>
                  <a:txBody>
                    <a:bodyPr wrap="square"/>
                    <a:lstStyle/>
                    <a:p>
                      <a:pPr algn="l">
                        <a:lnSpc>
                          <a:spcPct val="105000"/>
                        </a:lnSpc>
                      </a:pPr>
                      <a:r>
                        <a:rPr sz="850" b="0">
                          <a:solidFill>
                            <a:srgbClr val="1D4E89"/>
                          </a:solidFill>
                          <a:latin typeface="Consolas"/>
                        </a:rPr>
                        <a:t>Ed25519</a:t>
                      </a:r>
                    </a:p>
                  </a:txBody>
                  <a:tcPr marL="64008" marR="54864" marT="18288" marB="18288" anchor="ctr">
                    <a:solidFill>
                      <a:srgbClr val="F3F6F9"/>
                    </a:solidFill>
                  </a:tcPr>
                </a:tc>
                <a:tc>
                  <a:txBody>
                    <a:bodyPr wrap="square"/>
                    <a:lstStyle/>
                    <a:p>
                      <a:pPr algn="l">
                        <a:lnSpc>
                          <a:spcPct val="105000"/>
                        </a:lnSpc>
                      </a:pPr>
                      <a:r>
                        <a:rPr sz="850" b="1">
                          <a:solidFill>
                            <a:srgbClr val="B45309"/>
                          </a:solidFill>
                          <a:latin typeface="Arial"/>
                        </a:rPr>
                        <a:t>EncryptedSharedPreferences</a:t>
                      </a:r>
                    </a:p>
                  </a:txBody>
                  <a:tcPr marL="64008" marR="54864" marT="18288" marB="18288" anchor="ctr">
                    <a:solidFill>
                      <a:srgbClr val="F3F6F9"/>
                    </a:solidFill>
                  </a:tcPr>
                </a:tc>
                <a:tc>
                  <a:txBody>
                    <a:bodyPr wrap="square"/>
                    <a:lstStyle/>
                    <a:p>
                      <a:pPr algn="l">
                        <a:lnSpc>
                          <a:spcPct val="105000"/>
                        </a:lnSpc>
                      </a:pPr>
                      <a:r>
                        <a:rPr sz="850" b="0">
                          <a:solidFill>
                            <a:srgbClr val="1E293B"/>
                          </a:solidFill>
                          <a:latin typeface="Arial"/>
                        </a:rPr>
                        <a:t>Keychain, key wrapping</a:t>
                      </a:r>
                    </a:p>
                  </a:txBody>
                  <a:tcPr marL="64008" marR="54864" marT="18288" marB="18288" anchor="ctr">
                    <a:solidFill>
                      <a:srgbClr val="F3F6F9"/>
                    </a:solidFill>
                  </a:tcPr>
                </a:tc>
                <a:tc>
                  <a:txBody>
                    <a:bodyPr wrap="square"/>
                    <a:lstStyle/>
                    <a:p>
                      <a:pPr algn="l">
                        <a:lnSpc>
                          <a:spcPct val="105000"/>
                        </a:lnSpc>
                      </a:pPr>
                      <a:r>
                        <a:rPr sz="850" b="0">
                          <a:solidFill>
                            <a:srgbClr val="1D4E89"/>
                          </a:solidFill>
                          <a:latin typeface="Consolas"/>
                        </a:rPr>
                        <a:t>EdDSA</a:t>
                      </a:r>
                      <a:r>
                        <a:rPr sz="850" b="0">
                          <a:solidFill>
                            <a:srgbClr val="1E293B"/>
                          </a:solidFill>
                          <a:latin typeface="Arial"/>
                        </a:rPr>
                        <a:t> — </a:t>
                      </a:r>
                      <a:r>
                        <a:rPr sz="850" b="0">
                          <a:solidFill>
                            <a:srgbClr val="1D4E89"/>
                          </a:solidFill>
                          <a:latin typeface="Consolas"/>
                        </a:rPr>
                        <a:t>Ed25519Signature2020</a:t>
                      </a:r>
                      <a:r>
                        <a:rPr sz="850" b="0">
                          <a:solidFill>
                            <a:srgbClr val="1E293B"/>
                          </a:solidFill>
                          <a:latin typeface="Arial"/>
                        </a:rPr>
                        <a:t> for ldp_vc</a:t>
                      </a:r>
                    </a:p>
                  </a:txBody>
                  <a:tcPr marL="64008" marR="54864" marT="18288" marB="18288" anchor="ctr">
                    <a:solidFill>
                      <a:srgbClr val="F3F6F9"/>
                    </a:solidFill>
                  </a:tcPr>
                </a:tc>
                <a:tc>
                  <a:txBody>
                    <a:bodyPr wrap="square"/>
                    <a:lstStyle/>
                    <a:p>
                      <a:pPr algn="l">
                        <a:lnSpc>
                          <a:spcPct val="105000"/>
                        </a:lnSpc>
                      </a:pPr>
                      <a:r>
                        <a:rPr sz="850" b="0">
                          <a:solidFill>
                            <a:srgbClr val="1E293B"/>
                          </a:solidFill>
                          <a:latin typeface="Arial"/>
                        </a:rPr>
                        <a:t>Not supported by hardware keystore — signing happens in software</a:t>
                      </a:r>
                    </a:p>
                  </a:txBody>
                  <a:tcPr marL="64008" marR="54864" marT="18288" marB="18288" anchor="ctr">
                    <a:solidFill>
                      <a:srgbClr val="F3F6F9"/>
                    </a:solidFill>
                  </a:tcPr>
                </a:tc>
              </a:tr>
            </a:tbl>
          </a:graphicData>
        </a:graphic>
      </p:graphicFrame>
      <p:sp>
        <p:nvSpPr>
          <p:cNvPr id="33" name="Rounded Rectangle 32"/>
          <p:cNvSpPr/>
          <p:nvPr/>
        </p:nvSpPr>
        <p:spPr>
          <a:xfrm>
            <a:off x="502920" y="5811443"/>
            <a:ext cx="11185855" cy="461340"/>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5811443"/>
            <a:ext cx="45720" cy="4613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5891599"/>
            <a:ext cx="10820095" cy="333091"/>
          </a:xfrm>
          <a:prstGeom prst="rect">
            <a:avLst/>
          </a:prstGeom>
          <a:noFill/>
        </p:spPr>
        <p:txBody>
          <a:bodyPr wrap="square" lIns="0" rIns="0" tIns="0" bIns="0" anchor="t">
            <a:spAutoFit/>
          </a:bodyPr>
          <a:lstStyle/>
          <a:p>
            <a:pPr algn="l">
              <a:lnSpc>
                <a:spcPct val="122000"/>
              </a:lnSpc>
              <a:spcBef>
                <a:spcPts val="0"/>
              </a:spcBef>
              <a:spcAft>
                <a:spcPts val="0"/>
              </a:spcAft>
            </a:pPr>
            <a:r>
              <a:rPr sz="980" b="0" i="0">
                <a:solidFill>
                  <a:srgbClr val="1E293B"/>
                </a:solidFill>
                <a:latin typeface="Arial"/>
              </a:rPr>
              <a:t>The consequence column is the planning point: </a:t>
            </a:r>
            <a:r>
              <a:rPr sz="980" b="1" i="0">
                <a:solidFill>
                  <a:srgbClr val="B45309"/>
                </a:solidFill>
                <a:latin typeface="Arial"/>
              </a:rPr>
              <a:t>if Brazil's trust framework demands hardware-backed keys, the practical choices are RSA-2048 and EC P-256.</a:t>
            </a:r>
            <a:r>
              <a:rPr sz="980" b="0" i="0">
                <a:solidFill>
                  <a:srgbClr val="1E293B"/>
                </a:solidFill>
                <a:latin typeface="Arial"/>
              </a:rPr>
              <a:t> Choosing Ed25519 for elegance quietly gives up hardware protection on both platforms.</a:t>
            </a:r>
          </a:p>
        </p:txBody>
      </p:sp>
      <p:sp>
        <p:nvSpPr>
          <p:cNvPr id="36" name="TextBox 3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Wallet architecture</a:t>
            </a:r>
          </a:p>
        </p:txBody>
      </p:sp>
      <p:sp>
        <p:nvSpPr>
          <p:cNvPr id="37" name="TextBox 3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ENTRY POINTS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Deep links, QR codes and how things get into the app</a:t>
            </a:r>
          </a:p>
        </p:txBody>
      </p:sp>
      <p:sp>
        <p:nvSpPr>
          <p:cNvPr id="4" name="TextBox 3"/>
          <p:cNvSpPr txBox="1"/>
          <p:nvPr/>
        </p:nvSpPr>
        <p:spPr>
          <a:xfrm>
            <a:off x="502920" y="1078992"/>
            <a:ext cx="11185855" cy="279806"/>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B6B7F"/>
                </a:solidFill>
                <a:latin typeface="Arial"/>
              </a:rPr>
              <a:t>Four ways the outside world reaches Inji Wallet. Each one is an attack surface and a configuration item.</a:t>
            </a:r>
          </a:p>
        </p:txBody>
      </p:sp>
      <p:cxnSp>
        <p:nvCxnSpPr>
          <p:cNvPr id="5" name="Connector 4"/>
          <p:cNvCxnSpPr/>
          <p:nvPr/>
        </p:nvCxnSpPr>
        <p:spPr>
          <a:xfrm>
            <a:off x="502920" y="145023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31289"/>
          <a:ext cx="11185854" cy="2748686"/>
        </p:xfrm>
        <a:graphic>
          <a:graphicData uri="http://schemas.openxmlformats.org/drawingml/2006/table">
            <a:tbl>
              <a:tblPr firstRow="1">
                <a:tableStyleId>{2D5ABB26-0587-4C30-8999-92F81FD0307C}</a:tableStyleId>
              </a:tblPr>
              <a:tblGrid>
                <a:gridCol w="2147684"/>
                <a:gridCol w="3311013"/>
                <a:gridCol w="3221526"/>
                <a:gridCol w="2505631"/>
              </a:tblGrid>
              <a:tr h="279806">
                <a:tc>
                  <a:txBody>
                    <a:bodyPr wrap="square"/>
                    <a:lstStyle/>
                    <a:p>
                      <a:pPr algn="l"/>
                      <a:r>
                        <a:rPr sz="910" b="1">
                          <a:solidFill>
                            <a:srgbClr val="FFFFFF"/>
                          </a:solidFill>
                          <a:latin typeface="Arial"/>
                        </a:rPr>
                        <a:t>Entry point</a:t>
                      </a:r>
                    </a:p>
                  </a:txBody>
                  <a:tcPr marL="64008" marR="54864" marT="27432" marB="27432" anchor="ctr">
                    <a:solidFill>
                      <a:srgbClr val="1D4E89"/>
                    </a:solidFill>
                  </a:tcPr>
                </a:tc>
                <a:tc>
                  <a:txBody>
                    <a:bodyPr wrap="square"/>
                    <a:lstStyle/>
                    <a:p>
                      <a:pPr algn="l"/>
                      <a:r>
                        <a:rPr sz="910" b="1">
                          <a:solidFill>
                            <a:srgbClr val="FFFFFF"/>
                          </a:solidFill>
                          <a:latin typeface="Arial"/>
                        </a:rPr>
                        <a:t>URI / payload shape</a:t>
                      </a:r>
                    </a:p>
                  </a:txBody>
                  <a:tcPr marL="64008" marR="54864" marT="27432" marB="27432" anchor="ctr">
                    <a:solidFill>
                      <a:srgbClr val="1D4E89"/>
                    </a:solidFill>
                  </a:tcPr>
                </a:tc>
                <a:tc>
                  <a:txBody>
                    <a:bodyPr wrap="square"/>
                    <a:lstStyle/>
                    <a:p>
                      <a:pPr algn="l"/>
                      <a:r>
                        <a:rPr sz="910" b="1">
                          <a:solidFill>
                            <a:srgbClr val="FFFFFF"/>
                          </a:solidFill>
                          <a:latin typeface="Arial"/>
                        </a:rPr>
                        <a:t>Where it is configured</a:t>
                      </a:r>
                    </a:p>
                  </a:txBody>
                  <a:tcPr marL="64008" marR="54864" marT="27432" marB="27432" anchor="ctr">
                    <a:solidFill>
                      <a:srgbClr val="1D4E89"/>
                    </a:solidFill>
                  </a:tcPr>
                </a:tc>
                <a:tc>
                  <a:txBody>
                    <a:bodyPr wrap="square"/>
                    <a:lstStyle/>
                    <a:p>
                      <a:pPr algn="l"/>
                      <a:r>
                        <a:rPr sz="910" b="1">
                          <a:solidFill>
                            <a:srgbClr val="FFFFFF"/>
                          </a:solidFill>
                          <a:latin typeface="Arial"/>
                        </a:rPr>
                        <a:t>Used for</a:t>
                      </a:r>
                    </a:p>
                  </a:txBody>
                  <a:tcPr marL="64008" marR="54864" marT="27432" marB="27432" anchor="ctr">
                    <a:solidFill>
                      <a:srgbClr val="1D4E89"/>
                    </a:solidFill>
                  </a:tcPr>
                </a:tc>
              </a:tr>
              <a:tr h="411480">
                <a:tc>
                  <a:txBody>
                    <a:bodyPr wrap="square"/>
                    <a:lstStyle/>
                    <a:p>
                      <a:pPr algn="l">
                        <a:lnSpc>
                          <a:spcPct val="105000"/>
                        </a:lnSpc>
                      </a:pPr>
                      <a:r>
                        <a:rPr sz="880" b="0">
                          <a:solidFill>
                            <a:srgbClr val="1E293B"/>
                          </a:solidFill>
                          <a:latin typeface="Arial"/>
                        </a:rPr>
                        <a:t>OAuth redirect</a:t>
                      </a: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io.mosip.residentapp.inji://oauthredirect</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Custom URI scheme, declared in </a:t>
                      </a:r>
                      <a:r>
                        <a:rPr sz="880" b="0">
                          <a:solidFill>
                            <a:srgbClr val="1D4E89"/>
                          </a:solidFill>
                          <a:latin typeface="Consolas"/>
                        </a:rPr>
                        <a:t>AndroidManifest.xml</a:t>
                      </a:r>
                      <a:r>
                        <a:rPr sz="880" b="0">
                          <a:solidFill>
                            <a:srgbClr val="1E293B"/>
                          </a:solidFill>
                          <a:latin typeface="Arial"/>
                        </a:rPr>
                        <a:t> and in the issuer config in Mimoto</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Returning from the authorization server with a </a:t>
                      </a:r>
                      <a:r>
                        <a:rPr sz="880" b="0">
                          <a:solidFill>
                            <a:srgbClr val="1D4E89"/>
                          </a:solidFill>
                          <a:latin typeface="Consolas"/>
                        </a:rPr>
                        <a:t>code</a:t>
                      </a:r>
                    </a:p>
                  </a:txBody>
                  <a:tcPr marL="64008" marR="54864" marT="18288" marB="18288" anchor="ctr">
                    <a:solidFill>
                      <a:srgbClr val="FFFFFF"/>
                    </a:solidFill>
                  </a:tcPr>
                </a:tc>
              </a:tr>
              <a:tr h="411480">
                <a:tc>
                  <a:txBody>
                    <a:bodyPr wrap="square"/>
                    <a:lstStyle/>
                    <a:p>
                      <a:pPr algn="l">
                        <a:lnSpc>
                          <a:spcPct val="105000"/>
                        </a:lnSpc>
                      </a:pPr>
                      <a:r>
                        <a:rPr sz="880" b="0">
                          <a:solidFill>
                            <a:srgbClr val="1E293B"/>
                          </a:solidFill>
                          <a:latin typeface="Arial"/>
                        </a:rPr>
                        <a:t>OpenID4VP deep link</a:t>
                      </a: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openid4vp://authorize?…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Intent filter on scheme </a:t>
                      </a:r>
                      <a:r>
                        <a:rPr sz="880" b="0">
                          <a:solidFill>
                            <a:srgbClr val="1D4E89"/>
                          </a:solidFill>
                          <a:latin typeface="Consolas"/>
                        </a:rPr>
                        <a:t>openid4vp</a:t>
                      </a:r>
                      <a:r>
                        <a:rPr sz="880" b="0">
                          <a:solidFill>
                            <a:srgbClr val="1E293B"/>
                          </a:solidFill>
                          <a:latin typeface="Arial"/>
                        </a:rPr>
                        <a:t>, host </a:t>
                      </a:r>
                      <a:r>
                        <a:rPr sz="880" b="0">
                          <a:solidFill>
                            <a:srgbClr val="1D4E89"/>
                          </a:solidFill>
                          <a:latin typeface="Consolas"/>
                        </a:rPr>
                        <a:t>authorize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Same-device presentation from a mobile browser</a:t>
                      </a:r>
                    </a:p>
                  </a:txBody>
                  <a:tcPr marL="64008" marR="54864" marT="18288" marB="18288" anchor="ctr">
                    <a:solidFill>
                      <a:srgbClr val="F3F6F9"/>
                    </a:solidFill>
                  </a:tcPr>
                </a:tc>
              </a:tr>
              <a:tr h="411480">
                <a:tc>
                  <a:txBody>
                    <a:bodyPr wrap="square"/>
                    <a:lstStyle/>
                    <a:p>
                      <a:pPr algn="l">
                        <a:lnSpc>
                          <a:spcPct val="105000"/>
                        </a:lnSpc>
                      </a:pPr>
                      <a:r>
                        <a:rPr sz="880" b="0">
                          <a:solidFill>
                            <a:srgbClr val="1E293B"/>
                          </a:solidFill>
                          <a:latin typeface="Arial"/>
                        </a:rPr>
                        <a:t>Wallet-linked auth</a:t>
                      </a: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io.mosip.residentapp.inji://wla-auth</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Intent filter, host </a:t>
                      </a:r>
                      <a:r>
                        <a:rPr sz="880" b="0">
                          <a:solidFill>
                            <a:srgbClr val="1D4E89"/>
                          </a:solidFill>
                          <a:latin typeface="Consolas"/>
                        </a:rPr>
                        <a:t>wla-auth</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Wallet-linked authentication callbacks</a:t>
                      </a:r>
                    </a:p>
                  </a:txBody>
                  <a:tcPr marL="64008" marR="54864" marT="18288" marB="18288" anchor="ctr">
                    <a:solidFill>
                      <a:srgbClr val="FFFFFF"/>
                    </a:solidFill>
                  </a:tcPr>
                </a:tc>
              </a:tr>
              <a:tr h="411480">
                <a:tc>
                  <a:txBody>
                    <a:bodyPr wrap="square"/>
                    <a:lstStyle/>
                    <a:p>
                      <a:pPr algn="l">
                        <a:lnSpc>
                          <a:spcPct val="105000"/>
                        </a:lnSpc>
                      </a:pPr>
                      <a:r>
                        <a:rPr sz="880" b="0">
                          <a:solidFill>
                            <a:srgbClr val="1E293B"/>
                          </a:solidFill>
                          <a:latin typeface="Arial"/>
                        </a:rPr>
                        <a:t>QR scan (OpenID4VP)</a:t>
                      </a: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OPENID4VP://…</a:t>
                      </a:r>
                      <a:r>
                        <a:rPr sz="880" b="0">
                          <a:solidFill>
                            <a:srgbClr val="1E293B"/>
                          </a:solidFill>
                          <a:latin typeface="Arial"/>
                        </a:rPr>
                        <a:t> or an authorization request</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Camera → </a:t>
                      </a:r>
                      <a:r>
                        <a:rPr sz="880" b="0">
                          <a:solidFill>
                            <a:srgbClr val="1D4E89"/>
                          </a:solidFill>
                          <a:latin typeface="Consolas"/>
                        </a:rPr>
                        <a:t>scanGuards</a:t>
                      </a:r>
                      <a:r>
                        <a:rPr sz="880" b="0">
                          <a:solidFill>
                            <a:srgbClr val="1E293B"/>
                          </a:solidFill>
                          <a:latin typeface="Arial"/>
                        </a:rPr>
                        <a:t> classify the payload</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Cross-device presentation</a:t>
                      </a:r>
                    </a:p>
                  </a:txBody>
                  <a:tcPr marL="64008" marR="54864" marT="18288" marB="18288" anchor="ctr">
                    <a:solidFill>
                      <a:srgbClr val="F3F6F9"/>
                    </a:solidFill>
                  </a:tcPr>
                </a:tc>
              </a:tr>
              <a:tr h="411480">
                <a:tc>
                  <a:txBody>
                    <a:bodyPr wrap="square"/>
                    <a:lstStyle/>
                    <a:p>
                      <a:pPr algn="l">
                        <a:lnSpc>
                          <a:spcPct val="105000"/>
                        </a:lnSpc>
                      </a:pPr>
                      <a:r>
                        <a:rPr sz="880" b="0">
                          <a:solidFill>
                            <a:srgbClr val="1E293B"/>
                          </a:solidFill>
                          <a:latin typeface="Arial"/>
                        </a:rPr>
                        <a:t>QR scan (credential offer)</a:t>
                      </a: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openid-credential-offer://?credential_offer_uri=…</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Camera → </a:t>
                      </a:r>
                      <a:r>
                        <a:rPr sz="880" b="0">
                          <a:solidFill>
                            <a:srgbClr val="1D4E89"/>
                          </a:solidFill>
                          <a:latin typeface="Consolas"/>
                        </a:rPr>
                        <a:t>inji-vci-client</a:t>
                      </a:r>
                      <a:r>
                        <a:rPr sz="880" b="0">
                          <a:solidFill>
                            <a:srgbClr val="1E293B"/>
                          </a:solidFill>
                          <a:latin typeface="Arial"/>
                        </a:rPr>
                        <a:t> parses it</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Issuer-initiated issuance</a:t>
                      </a:r>
                    </a:p>
                  </a:txBody>
                  <a:tcPr marL="64008" marR="54864" marT="18288" marB="18288" anchor="ctr">
                    <a:solidFill>
                      <a:srgbClr val="FFFFFF"/>
                    </a:solidFill>
                  </a:tcPr>
                </a:tc>
              </a:tr>
              <a:tr h="411480">
                <a:tc>
                  <a:txBody>
                    <a:bodyPr wrap="square"/>
                    <a:lstStyle/>
                    <a:p>
                      <a:pPr algn="l">
                        <a:lnSpc>
                          <a:spcPct val="105000"/>
                        </a:lnSpc>
                      </a:pPr>
                      <a:r>
                        <a:rPr sz="880" b="0">
                          <a:solidFill>
                            <a:srgbClr val="1E293B"/>
                          </a:solidFill>
                          <a:latin typeface="Arial"/>
                        </a:rPr>
                        <a:t>QR scan (QR login)</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a URL carrying </a:t>
                      </a:r>
                      <a:r>
                        <a:rPr sz="880" b="0">
                          <a:solidFill>
                            <a:srgbClr val="1D4E89"/>
                          </a:solidFill>
                          <a:latin typeface="Consolas"/>
                        </a:rPr>
                        <a:t>linkCode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Camera → </a:t>
                      </a:r>
                      <a:r>
                        <a:rPr sz="880" b="0">
                          <a:solidFill>
                            <a:srgbClr val="1D4E89"/>
                          </a:solidFill>
                          <a:latin typeface="Consolas"/>
                        </a:rPr>
                        <a:t>QrLogin</a:t>
                      </a:r>
                      <a:r>
                        <a:rPr sz="880" b="0">
                          <a:solidFill>
                            <a:srgbClr val="1E293B"/>
                          </a:solidFill>
                          <a:latin typeface="Arial"/>
                        </a:rPr>
                        <a:t> machine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Log in to a relying party with the wallet</a:t>
                      </a:r>
                    </a:p>
                  </a:txBody>
                  <a:tcPr marL="64008" marR="54864" marT="18288" marB="18288" anchor="ctr">
                    <a:solidFill>
                      <a:srgbClr val="F3F6F9"/>
                    </a:solidFill>
                  </a:tcPr>
                </a:tc>
              </a:tr>
            </a:tbl>
          </a:graphicData>
        </a:graphic>
      </p:graphicFrame>
      <p:sp>
        <p:nvSpPr>
          <p:cNvPr id="7" name="Rounded Rectangle 6"/>
          <p:cNvSpPr/>
          <p:nvPr/>
        </p:nvSpPr>
        <p:spPr>
          <a:xfrm>
            <a:off x="502920" y="4544568"/>
            <a:ext cx="5440680" cy="1728216"/>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4544568"/>
            <a:ext cx="50292" cy="1728216"/>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4676241"/>
            <a:ext cx="5056632" cy="246888"/>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1D4E89"/>
                </a:solidFill>
              </a:rPr>
              <a:t>What must line up</a:t>
            </a:r>
          </a:p>
        </p:txBody>
      </p:sp>
      <p:sp>
        <p:nvSpPr>
          <p:cNvPr id="10" name="Oval 9"/>
          <p:cNvSpPr/>
          <p:nvPr/>
        </p:nvSpPr>
        <p:spPr>
          <a:xfrm>
            <a:off x="745236" y="4941417"/>
            <a:ext cx="77724" cy="69951"/>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881981"/>
            <a:ext cx="4828031" cy="530809"/>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The redirect URI is configured in </a:t>
            </a:r>
            <a:r>
              <a:rPr sz="960" b="1" i="0">
                <a:solidFill>
                  <a:srgbClr val="0F172A"/>
                </a:solidFill>
                <a:latin typeface="Arial"/>
              </a:rPr>
              <a:t>three</a:t>
            </a:r>
            <a:r>
              <a:rPr sz="960" b="0" i="0">
                <a:solidFill>
                  <a:srgbClr val="0F172A"/>
                </a:solidFill>
                <a:latin typeface="Arial"/>
              </a:rPr>
              <a:t> places: the authorization server's client registration, </a:t>
            </a:r>
            <a:r>
              <a:rPr sz="960" b="0" i="0">
                <a:solidFill>
                  <a:srgbClr val="1D4E89"/>
                </a:solidFill>
                <a:latin typeface="Consolas"/>
              </a:rPr>
              <a:t>mimoto-issuers-config.json</a:t>
            </a:r>
            <a:r>
              <a:rPr sz="960" b="0" i="0">
                <a:solidFill>
                  <a:srgbClr val="0F172A"/>
                </a:solidFill>
                <a:latin typeface="Arial"/>
              </a:rPr>
              <a:t>, and the app manifest. All three must be byte-identical.</a:t>
            </a:r>
          </a:p>
        </p:txBody>
      </p:sp>
      <p:sp>
        <p:nvSpPr>
          <p:cNvPr id="12" name="Oval 11"/>
          <p:cNvSpPr/>
          <p:nvPr/>
        </p:nvSpPr>
        <p:spPr>
          <a:xfrm>
            <a:off x="745236" y="5443423"/>
            <a:ext cx="77724" cy="69951"/>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5383987"/>
            <a:ext cx="4828031" cy="386791"/>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Android: </a:t>
            </a:r>
            <a:r>
              <a:rPr sz="960" b="0" i="0">
                <a:solidFill>
                  <a:srgbClr val="1D4E89"/>
                </a:solidFill>
                <a:latin typeface="Consolas"/>
              </a:rPr>
              <a:t>intent-filter</a:t>
            </a:r>
            <a:r>
              <a:rPr sz="960" b="0" i="0">
                <a:solidFill>
                  <a:srgbClr val="0F172A"/>
                </a:solidFill>
                <a:latin typeface="Arial"/>
              </a:rPr>
              <a:t> with </a:t>
            </a:r>
            <a:r>
              <a:rPr sz="960" b="0" i="0">
                <a:solidFill>
                  <a:srgbClr val="1D4E89"/>
                </a:solidFill>
                <a:latin typeface="Consolas"/>
              </a:rPr>
              <a:t>action.VIEW</a:t>
            </a:r>
            <a:r>
              <a:rPr sz="960" b="0" i="0">
                <a:solidFill>
                  <a:srgbClr val="0F172A"/>
                </a:solidFill>
                <a:latin typeface="Arial"/>
              </a:rPr>
              <a:t>, categories </a:t>
            </a:r>
            <a:r>
              <a:rPr sz="960" b="0" i="0">
                <a:solidFill>
                  <a:srgbClr val="1D4E89"/>
                </a:solidFill>
                <a:latin typeface="Consolas"/>
              </a:rPr>
              <a:t>DEFAULT</a:t>
            </a:r>
            <a:r>
              <a:rPr sz="960" b="0" i="0">
                <a:solidFill>
                  <a:srgbClr val="0F172A"/>
                </a:solidFill>
                <a:latin typeface="Arial"/>
              </a:rPr>
              <a:t> and </a:t>
            </a:r>
            <a:r>
              <a:rPr sz="960" b="0" i="0">
                <a:solidFill>
                  <a:srgbClr val="1D4E89"/>
                </a:solidFill>
                <a:latin typeface="Consolas"/>
              </a:rPr>
              <a:t>BROWSABLE</a:t>
            </a:r>
            <a:r>
              <a:rPr sz="960" b="0" i="0">
                <a:solidFill>
                  <a:srgbClr val="0F172A"/>
                </a:solidFill>
                <a:latin typeface="Arial"/>
              </a:rPr>
              <a:t>.</a:t>
            </a:r>
          </a:p>
        </p:txBody>
      </p:sp>
      <p:sp>
        <p:nvSpPr>
          <p:cNvPr id="14" name="Oval 13"/>
          <p:cNvSpPr/>
          <p:nvPr/>
        </p:nvSpPr>
        <p:spPr>
          <a:xfrm>
            <a:off x="745236" y="5801410"/>
            <a:ext cx="77724" cy="69951"/>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741974"/>
            <a:ext cx="4828031" cy="386791"/>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iOS: </a:t>
            </a:r>
            <a:r>
              <a:rPr sz="960" b="0" i="0">
                <a:solidFill>
                  <a:srgbClr val="1D4E89"/>
                </a:solidFill>
                <a:latin typeface="Consolas"/>
              </a:rPr>
              <a:t>CFBundleURLSchemes</a:t>
            </a:r>
            <a:r>
              <a:rPr sz="960" b="0" i="0">
                <a:solidFill>
                  <a:srgbClr val="0F172A"/>
                </a:solidFill>
                <a:latin typeface="Arial"/>
              </a:rPr>
              <a:t> in </a:t>
            </a:r>
            <a:r>
              <a:rPr sz="960" b="0" i="0">
                <a:solidFill>
                  <a:srgbClr val="1D4E89"/>
                </a:solidFill>
                <a:latin typeface="Consolas"/>
              </a:rPr>
              <a:t>Info.plist</a:t>
            </a:r>
            <a:r>
              <a:rPr sz="960" b="0" i="0">
                <a:solidFill>
                  <a:srgbClr val="0F172A"/>
                </a:solidFill>
                <a:latin typeface="Arial"/>
              </a:rPr>
              <a:t>; associated domains if you use Universal Links.</a:t>
            </a:r>
          </a:p>
        </p:txBody>
      </p:sp>
      <p:sp>
        <p:nvSpPr>
          <p:cNvPr id="16" name="Rounded Rectangle 15"/>
          <p:cNvSpPr/>
          <p:nvPr/>
        </p:nvSpPr>
        <p:spPr>
          <a:xfrm>
            <a:off x="6245352" y="4544568"/>
            <a:ext cx="5440680" cy="1728216"/>
          </a:xfrm>
          <a:prstGeom prst="roundRect">
            <a:avLst>
              <a:gd name="adj" fmla="val 45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4544568"/>
            <a:ext cx="50292" cy="172821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4676241"/>
            <a:ext cx="5056632" cy="246888"/>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B31B1B"/>
                </a:solidFill>
              </a:rPr>
              <a:t>Why this is a security surface</a:t>
            </a:r>
          </a:p>
        </p:txBody>
      </p:sp>
      <p:sp>
        <p:nvSpPr>
          <p:cNvPr id="19" name="Oval 18"/>
          <p:cNvSpPr/>
          <p:nvPr/>
        </p:nvSpPr>
        <p:spPr>
          <a:xfrm>
            <a:off x="6487668" y="4941417"/>
            <a:ext cx="77724" cy="69951"/>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4881981"/>
            <a:ext cx="4828031" cy="530809"/>
          </a:xfrm>
          <a:prstGeom prst="rect">
            <a:avLst/>
          </a:prstGeom>
          <a:noFill/>
        </p:spPr>
        <p:txBody>
          <a:bodyPr wrap="square" lIns="0" rIns="0" tIns="0" bIns="0" anchor="t">
            <a:spAutoFit/>
          </a:bodyPr>
          <a:lstStyle/>
          <a:p>
            <a:pPr algn="l">
              <a:lnSpc>
                <a:spcPct val="124000"/>
              </a:lnSpc>
              <a:spcBef>
                <a:spcPts val="0"/>
              </a:spcBef>
              <a:spcAft>
                <a:spcPts val="0"/>
              </a:spcAft>
            </a:pPr>
            <a:r>
              <a:rPr sz="960" b="1" i="0">
                <a:solidFill>
                  <a:srgbClr val="0F172A"/>
                </a:solidFill>
                <a:latin typeface="Arial"/>
              </a:rPr>
              <a:t>Custom schemes are not exclusive.</a:t>
            </a:r>
            <a:r>
              <a:rPr sz="960" b="0" i="0">
                <a:solidFill>
                  <a:srgbClr val="0F172A"/>
                </a:solidFill>
                <a:latin typeface="Arial"/>
              </a:rPr>
              <a:t> Any app can register </a:t>
            </a:r>
            <a:r>
              <a:rPr sz="960" b="0" i="0">
                <a:solidFill>
                  <a:srgbClr val="1D4E89"/>
                </a:solidFill>
                <a:latin typeface="Consolas"/>
              </a:rPr>
              <a:t>openid4vp://</a:t>
            </a:r>
            <a:r>
              <a:rPr sz="960" b="0" i="0">
                <a:solidFill>
                  <a:srgbClr val="0F172A"/>
                </a:solidFill>
                <a:latin typeface="Arial"/>
              </a:rPr>
              <a:t>. On Android the user may be shown a chooser; a malicious app may win.</a:t>
            </a:r>
          </a:p>
        </p:txBody>
      </p:sp>
      <p:sp>
        <p:nvSpPr>
          <p:cNvPr id="21" name="Oval 20"/>
          <p:cNvSpPr/>
          <p:nvPr/>
        </p:nvSpPr>
        <p:spPr>
          <a:xfrm>
            <a:off x="6487668" y="5443423"/>
            <a:ext cx="77724" cy="69951"/>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5383987"/>
            <a:ext cx="4828031" cy="386791"/>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Prefer </a:t>
            </a:r>
            <a:r>
              <a:rPr sz="960" b="1" i="0">
                <a:solidFill>
                  <a:srgbClr val="0F172A"/>
                </a:solidFill>
                <a:latin typeface="Arial"/>
              </a:rPr>
              <a:t>App Links (Android) / Universal Links (iOS)</a:t>
            </a:r>
            <a:r>
              <a:rPr sz="960" b="0" i="0">
                <a:solidFill>
                  <a:srgbClr val="0F172A"/>
                </a:solidFill>
                <a:latin typeface="Arial"/>
              </a:rPr>
              <a:t> where you can — they are domain-verified and cannot be hijacked.</a:t>
            </a:r>
          </a:p>
        </p:txBody>
      </p:sp>
      <p:sp>
        <p:nvSpPr>
          <p:cNvPr id="23" name="Oval 22"/>
          <p:cNvSpPr/>
          <p:nvPr/>
        </p:nvSpPr>
        <p:spPr>
          <a:xfrm>
            <a:off x="6487668" y="5801410"/>
            <a:ext cx="77724" cy="69951"/>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5741974"/>
            <a:ext cx="4828031" cy="386791"/>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Every parameter arriving on a deep link is attacker-controlled. Validate before acting; never auto-submit.</a:t>
            </a:r>
          </a:p>
        </p:txBody>
      </p:sp>
      <p:sp>
        <p:nvSpPr>
          <p:cNvPr id="25" name="TextBox 2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Wallet architecture</a:t>
            </a:r>
          </a:p>
        </p:txBody>
      </p:sp>
      <p:sp>
        <p:nvSpPr>
          <p:cNvPr id="26" name="TextBox 2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WHERE YOU PLUG IN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Configuration, error handling and extension points</a:t>
            </a:r>
          </a:p>
        </p:txBody>
      </p:sp>
      <p:sp>
        <p:nvSpPr>
          <p:cNvPr id="4" name="TextBox 3"/>
          <p:cNvSpPr txBox="1"/>
          <p:nvPr/>
        </p:nvSpPr>
        <p:spPr>
          <a:xfrm>
            <a:off x="502920" y="1078992"/>
            <a:ext cx="11185855" cy="302083"/>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What you can change with a config file, what needs code, and where the code is designed to be extended.</a:t>
            </a:r>
          </a:p>
        </p:txBody>
      </p:sp>
      <p:cxnSp>
        <p:nvCxnSpPr>
          <p:cNvPr id="5" name="Connector 4"/>
          <p:cNvCxnSpPr/>
          <p:nvPr/>
        </p:nvCxnSpPr>
        <p:spPr>
          <a:xfrm>
            <a:off x="502920" y="1472515"/>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67981"/>
            <a:ext cx="3566160" cy="3864893"/>
          </a:xfrm>
          <a:prstGeom prst="roundRect">
            <a:avLst>
              <a:gd name="adj" fmla="val 45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67981"/>
            <a:ext cx="50292" cy="3864893"/>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810138"/>
            <a:ext cx="3182112" cy="266544"/>
          </a:xfrm>
          <a:prstGeom prst="rect">
            <a:avLst/>
          </a:prstGeom>
          <a:noFill/>
        </p:spPr>
        <p:txBody>
          <a:bodyPr wrap="square" lIns="0" rIns="0" tIns="0" bIns="0" anchor="t">
            <a:spAutoFit/>
          </a:bodyPr>
          <a:lstStyle/>
          <a:p>
            <a:pPr algn="l">
              <a:lnSpc>
                <a:spcPct val="114000"/>
              </a:lnSpc>
              <a:spcBef>
                <a:spcPts val="0"/>
              </a:spcBef>
              <a:spcAft>
                <a:spcPts val="0"/>
              </a:spcAft>
            </a:pPr>
            <a:r>
              <a:rPr sz="1180" b="1" i="0">
                <a:solidFill>
                  <a:srgbClr val="15703D"/>
                </a:solidFill>
              </a:rPr>
              <a:t>Configuration (no code change)</a:t>
            </a:r>
          </a:p>
        </p:txBody>
      </p:sp>
      <p:sp>
        <p:nvSpPr>
          <p:cNvPr id="9" name="Oval 8"/>
          <p:cNvSpPr/>
          <p:nvPr/>
        </p:nvSpPr>
        <p:spPr>
          <a:xfrm>
            <a:off x="745236" y="2095143"/>
            <a:ext cx="77724" cy="7552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032259"/>
            <a:ext cx="2953512" cy="563740"/>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1D4E89"/>
                </a:solidFill>
                <a:latin typeface="Consolas"/>
              </a:rPr>
              <a:t>.env</a:t>
            </a:r>
            <a:r>
              <a:rPr sz="969" b="0" i="0">
                <a:solidFill>
                  <a:srgbClr val="0F172A"/>
                </a:solidFill>
                <a:latin typeface="Arial"/>
              </a:rPr>
              <a:t> / </a:t>
            </a:r>
            <a:r>
              <a:rPr sz="969" b="0" i="0">
                <a:solidFill>
                  <a:srgbClr val="1D4E89"/>
                </a:solidFill>
                <a:latin typeface="Consolas"/>
              </a:rPr>
              <a:t>.env.local</a:t>
            </a:r>
            <a:r>
              <a:rPr sz="969" b="0" i="0">
                <a:solidFill>
                  <a:srgbClr val="0F172A"/>
                </a:solidFill>
                <a:latin typeface="Arial"/>
              </a:rPr>
              <a:t>: </a:t>
            </a:r>
            <a:r>
              <a:rPr sz="969" b="0" i="0">
                <a:solidFill>
                  <a:srgbClr val="1D4E89"/>
                </a:solidFill>
                <a:latin typeface="Consolas"/>
              </a:rPr>
              <a:t>MIMOTO_HOST</a:t>
            </a:r>
            <a:r>
              <a:rPr sz="969" b="0" i="0">
                <a:solidFill>
                  <a:srgbClr val="0F172A"/>
                </a:solidFill>
                <a:latin typeface="Arial"/>
              </a:rPr>
              <a:t>, </a:t>
            </a:r>
            <a:r>
              <a:rPr sz="969" b="0" i="0">
                <a:solidFill>
                  <a:srgbClr val="1D4E89"/>
                </a:solidFill>
                <a:latin typeface="Consolas"/>
              </a:rPr>
              <a:t>ESIGNET_HOST</a:t>
            </a:r>
            <a:r>
              <a:rPr sz="969" b="0" i="0">
                <a:solidFill>
                  <a:srgbClr val="0F172A"/>
                </a:solidFill>
                <a:latin typeface="Arial"/>
              </a:rPr>
              <a:t>, </a:t>
            </a:r>
            <a:r>
              <a:rPr sz="969" b="0" i="0">
                <a:solidFill>
                  <a:srgbClr val="1D4E89"/>
                </a:solidFill>
                <a:latin typeface="Consolas"/>
              </a:rPr>
              <a:t>OBSRV_HOST</a:t>
            </a:r>
            <a:r>
              <a:rPr sz="969" b="0" i="0">
                <a:solidFill>
                  <a:srgbClr val="0F172A"/>
                </a:solidFill>
                <a:latin typeface="Arial"/>
              </a:rPr>
              <a:t>, </a:t>
            </a:r>
            <a:r>
              <a:rPr sz="969" b="0" i="0">
                <a:solidFill>
                  <a:srgbClr val="1D4E89"/>
                </a:solidFill>
                <a:latin typeface="Consolas"/>
              </a:rPr>
              <a:t>APPLICATION_THEME</a:t>
            </a:r>
            <a:r>
              <a:rPr sz="969" b="0" i="0">
                <a:solidFill>
                  <a:srgbClr val="0F172A"/>
                </a:solidFill>
                <a:latin typeface="Arial"/>
              </a:rPr>
              <a:t>.</a:t>
            </a:r>
          </a:p>
        </p:txBody>
      </p:sp>
      <p:sp>
        <p:nvSpPr>
          <p:cNvPr id="11" name="Oval 10"/>
          <p:cNvSpPr/>
          <p:nvPr/>
        </p:nvSpPr>
        <p:spPr>
          <a:xfrm>
            <a:off x="745236" y="2627788"/>
            <a:ext cx="77724" cy="7552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564902"/>
            <a:ext cx="2953512" cy="563740"/>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1D4E89"/>
                </a:solidFill>
                <a:latin typeface="Consolas"/>
              </a:rPr>
              <a:t>app.config.ts</a:t>
            </a:r>
            <a:r>
              <a:rPr sz="969" b="0" i="0">
                <a:solidFill>
                  <a:srgbClr val="0F172A"/>
                </a:solidFill>
                <a:latin typeface="Arial"/>
              </a:rPr>
              <a:t> and product flavours in </a:t>
            </a:r>
            <a:r>
              <a:rPr sz="969" b="0" i="0">
                <a:solidFill>
                  <a:srgbClr val="1D4E89"/>
                </a:solidFill>
                <a:latin typeface="Consolas"/>
              </a:rPr>
              <a:t>android/app/build.gradle</a:t>
            </a:r>
            <a:r>
              <a:rPr sz="969" b="0" i="0">
                <a:solidFill>
                  <a:srgbClr val="0F172A"/>
                </a:solidFill>
                <a:latin typeface="Arial"/>
              </a:rPr>
              <a:t> (application id, name, icons).</a:t>
            </a:r>
          </a:p>
        </p:txBody>
      </p:sp>
      <p:sp>
        <p:nvSpPr>
          <p:cNvPr id="13" name="Oval 12"/>
          <p:cNvSpPr/>
          <p:nvPr/>
        </p:nvSpPr>
        <p:spPr>
          <a:xfrm>
            <a:off x="745236" y="3160432"/>
            <a:ext cx="77724" cy="7552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097547"/>
            <a:ext cx="2953512" cy="4113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1D4E89"/>
                </a:solidFill>
                <a:latin typeface="Consolas"/>
              </a:rPr>
              <a:t>locales/*.json</a:t>
            </a:r>
            <a:r>
              <a:rPr sz="969" b="0" i="0">
                <a:solidFill>
                  <a:srgbClr val="0F172A"/>
                </a:solidFill>
                <a:latin typeface="Arial"/>
              </a:rPr>
              <a:t> for UI language — add </a:t>
            </a:r>
            <a:r>
              <a:rPr sz="969" b="0" i="0">
                <a:solidFill>
                  <a:srgbClr val="1D4E89"/>
                </a:solidFill>
                <a:latin typeface="Consolas"/>
              </a:rPr>
              <a:t>pt-BR</a:t>
            </a:r>
            <a:r>
              <a:rPr sz="969" b="0" i="0">
                <a:solidFill>
                  <a:srgbClr val="0F172A"/>
                </a:solidFill>
                <a:latin typeface="Arial"/>
              </a:rPr>
              <a:t> here.</a:t>
            </a:r>
          </a:p>
        </p:txBody>
      </p:sp>
      <p:sp>
        <p:nvSpPr>
          <p:cNvPr id="15" name="Oval 14"/>
          <p:cNvSpPr/>
          <p:nvPr/>
        </p:nvSpPr>
        <p:spPr>
          <a:xfrm>
            <a:off x="745236" y="3540703"/>
            <a:ext cx="77724" cy="7552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477817"/>
            <a:ext cx="2953512" cy="4113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Issuer list and trusted verifiers: not in the app at all — they come from </a:t>
            </a:r>
            <a:r>
              <a:rPr sz="969" b="1" i="0">
                <a:solidFill>
                  <a:srgbClr val="0F172A"/>
                </a:solidFill>
                <a:latin typeface="Arial"/>
              </a:rPr>
              <a:t>Mimoto</a:t>
            </a:r>
            <a:r>
              <a:rPr sz="969" b="0" i="0">
                <a:solidFill>
                  <a:srgbClr val="0F172A"/>
                </a:solidFill>
                <a:latin typeface="Arial"/>
              </a:rPr>
              <a:t>.</a:t>
            </a:r>
          </a:p>
        </p:txBody>
      </p:sp>
      <p:sp>
        <p:nvSpPr>
          <p:cNvPr id="17" name="Oval 16"/>
          <p:cNvSpPr/>
          <p:nvPr/>
        </p:nvSpPr>
        <p:spPr>
          <a:xfrm>
            <a:off x="745236" y="3920973"/>
            <a:ext cx="77724" cy="7552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858087"/>
            <a:ext cx="2953512" cy="4113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Credential labels and field order: not in the app — they come from </a:t>
            </a:r>
            <a:r>
              <a:rPr sz="969" b="1" i="0">
                <a:solidFill>
                  <a:srgbClr val="0F172A"/>
                </a:solidFill>
                <a:latin typeface="Arial"/>
              </a:rPr>
              <a:t>issuer metadata</a:t>
            </a:r>
            <a:r>
              <a:rPr sz="969" b="0" i="0">
                <a:solidFill>
                  <a:srgbClr val="0F172A"/>
                </a:solidFill>
                <a:latin typeface="Arial"/>
              </a:rPr>
              <a:t>.</a:t>
            </a:r>
          </a:p>
        </p:txBody>
      </p:sp>
      <p:sp>
        <p:nvSpPr>
          <p:cNvPr id="19" name="Rounded Rectangle 18"/>
          <p:cNvSpPr/>
          <p:nvPr/>
        </p:nvSpPr>
        <p:spPr>
          <a:xfrm>
            <a:off x="4297680" y="1667981"/>
            <a:ext cx="3566160" cy="3864893"/>
          </a:xfrm>
          <a:prstGeom prst="roundRect">
            <a:avLst>
              <a:gd name="adj" fmla="val 45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1667981"/>
            <a:ext cx="50292" cy="386489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5424" y="1810138"/>
            <a:ext cx="3182112" cy="266544"/>
          </a:xfrm>
          <a:prstGeom prst="rect">
            <a:avLst/>
          </a:prstGeom>
          <a:noFill/>
        </p:spPr>
        <p:txBody>
          <a:bodyPr wrap="square" lIns="0" rIns="0" tIns="0" bIns="0" anchor="t">
            <a:spAutoFit/>
          </a:bodyPr>
          <a:lstStyle/>
          <a:p>
            <a:pPr algn="l">
              <a:lnSpc>
                <a:spcPct val="114000"/>
              </a:lnSpc>
              <a:spcBef>
                <a:spcPts val="0"/>
              </a:spcBef>
              <a:spcAft>
                <a:spcPts val="0"/>
              </a:spcAft>
            </a:pPr>
            <a:r>
              <a:rPr sz="1180" b="1" i="0">
                <a:solidFill>
                  <a:srgbClr val="B45309"/>
                </a:solidFill>
              </a:rPr>
              <a:t>Error handling</a:t>
            </a:r>
          </a:p>
        </p:txBody>
      </p:sp>
      <p:sp>
        <p:nvSpPr>
          <p:cNvPr id="22" name="Oval 21"/>
          <p:cNvSpPr/>
          <p:nvPr/>
        </p:nvSpPr>
        <p:spPr>
          <a:xfrm>
            <a:off x="4539996" y="2095143"/>
            <a:ext cx="77724" cy="755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27448" y="2032259"/>
            <a:ext cx="2953512" cy="563740"/>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Library errors arrive with structured codes: </a:t>
            </a:r>
            <a:r>
              <a:rPr sz="969" b="0" i="0">
                <a:solidFill>
                  <a:srgbClr val="1D4E89"/>
                </a:solidFill>
                <a:latin typeface="Consolas"/>
              </a:rPr>
              <a:t>VCI-001</a:t>
            </a:r>
            <a:r>
              <a:rPr sz="969" b="0" i="0">
                <a:solidFill>
                  <a:srgbClr val="0F172A"/>
                </a:solidFill>
                <a:latin typeface="Arial"/>
              </a:rPr>
              <a:t> … </a:t>
            </a:r>
            <a:r>
              <a:rPr sz="969" b="0" i="0">
                <a:solidFill>
                  <a:srgbClr val="1D4E89"/>
                </a:solidFill>
                <a:latin typeface="Consolas"/>
              </a:rPr>
              <a:t>VCI-011</a:t>
            </a:r>
            <a:r>
              <a:rPr sz="969" b="0" i="0">
                <a:solidFill>
                  <a:srgbClr val="0F172A"/>
                </a:solidFill>
                <a:latin typeface="Arial"/>
              </a:rPr>
              <a:t> from </a:t>
            </a:r>
            <a:r>
              <a:rPr sz="969" b="0" i="0">
                <a:solidFill>
                  <a:srgbClr val="1D4E89"/>
                </a:solidFill>
                <a:latin typeface="Consolas"/>
              </a:rPr>
              <a:t>inji-vci-client</a:t>
            </a:r>
            <a:r>
              <a:rPr sz="969" b="0" i="0">
                <a:solidFill>
                  <a:srgbClr val="0F172A"/>
                </a:solidFill>
                <a:latin typeface="Arial"/>
              </a:rPr>
              <a:t>.</a:t>
            </a:r>
          </a:p>
        </p:txBody>
      </p:sp>
      <p:sp>
        <p:nvSpPr>
          <p:cNvPr id="24" name="Oval 23"/>
          <p:cNvSpPr/>
          <p:nvPr/>
        </p:nvSpPr>
        <p:spPr>
          <a:xfrm>
            <a:off x="4539996" y="2627788"/>
            <a:ext cx="77724" cy="755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27448" y="2564902"/>
            <a:ext cx="2953512" cy="4113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1D4E89"/>
                </a:solidFill>
                <a:latin typeface="Consolas"/>
              </a:rPr>
              <a:t>shared/error/</a:t>
            </a:r>
            <a:r>
              <a:rPr sz="969" b="0" i="0">
                <a:solidFill>
                  <a:srgbClr val="0F172A"/>
                </a:solidFill>
                <a:latin typeface="Arial"/>
              </a:rPr>
              <a:t> centralises mapping from error code to user-facing message.</a:t>
            </a:r>
          </a:p>
        </p:txBody>
      </p:sp>
      <p:sp>
        <p:nvSpPr>
          <p:cNvPr id="26" name="Oval 25"/>
          <p:cNvSpPr/>
          <p:nvPr/>
        </p:nvSpPr>
        <p:spPr>
          <a:xfrm>
            <a:off x="4539996" y="3008058"/>
            <a:ext cx="77724" cy="755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27448" y="2945173"/>
            <a:ext cx="2953512" cy="563740"/>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The state machines have explicit error states — a failure is a transition, not an exception thrown into the void.</a:t>
            </a:r>
          </a:p>
        </p:txBody>
      </p:sp>
      <p:sp>
        <p:nvSpPr>
          <p:cNvPr id="28" name="Oval 27"/>
          <p:cNvSpPr/>
          <p:nvPr/>
        </p:nvSpPr>
        <p:spPr>
          <a:xfrm>
            <a:off x="4539996" y="3540703"/>
            <a:ext cx="77724" cy="755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27448" y="3477817"/>
            <a:ext cx="2953512" cy="4113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Telemetry goes to the configured Obsrv endpoint via </a:t>
            </a:r>
            <a:r>
              <a:rPr sz="969" b="0" i="0">
                <a:solidFill>
                  <a:srgbClr val="1D4E89"/>
                </a:solidFill>
                <a:latin typeface="Consolas"/>
              </a:rPr>
              <a:t>shared/telemetry/</a:t>
            </a:r>
            <a:r>
              <a:rPr sz="969" b="0" i="0">
                <a:solidFill>
                  <a:srgbClr val="0F172A"/>
                </a:solidFill>
                <a:latin typeface="Arial"/>
              </a:rPr>
              <a:t>.</a:t>
            </a:r>
          </a:p>
        </p:txBody>
      </p:sp>
      <p:sp>
        <p:nvSpPr>
          <p:cNvPr id="30" name="Oval 29"/>
          <p:cNvSpPr/>
          <p:nvPr/>
        </p:nvSpPr>
        <p:spPr>
          <a:xfrm>
            <a:off x="4539996" y="3920973"/>
            <a:ext cx="77724" cy="755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27448" y="3858087"/>
            <a:ext cx="2953512" cy="4113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Rule: </a:t>
            </a:r>
            <a:r>
              <a:rPr sz="969" b="1" i="0">
                <a:solidFill>
                  <a:srgbClr val="0F172A"/>
                </a:solidFill>
                <a:latin typeface="Arial"/>
              </a:rPr>
              <a:t>never show a raw library error to a citizen</a:t>
            </a:r>
            <a:r>
              <a:rPr sz="969" b="0" i="0">
                <a:solidFill>
                  <a:srgbClr val="0F172A"/>
                </a:solidFill>
                <a:latin typeface="Arial"/>
              </a:rPr>
              <a:t>, and never hide it from the log.</a:t>
            </a:r>
          </a:p>
        </p:txBody>
      </p:sp>
      <p:sp>
        <p:nvSpPr>
          <p:cNvPr id="32" name="Rounded Rectangle 31"/>
          <p:cNvSpPr/>
          <p:nvPr/>
        </p:nvSpPr>
        <p:spPr>
          <a:xfrm>
            <a:off x="8110728" y="1667981"/>
            <a:ext cx="3575304" cy="3864893"/>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10728" y="1667981"/>
            <a:ext cx="50292" cy="3864893"/>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48472" y="1810138"/>
            <a:ext cx="3191256" cy="266544"/>
          </a:xfrm>
          <a:prstGeom prst="rect">
            <a:avLst/>
          </a:prstGeom>
          <a:noFill/>
        </p:spPr>
        <p:txBody>
          <a:bodyPr wrap="square" lIns="0" rIns="0" tIns="0" bIns="0" anchor="t">
            <a:spAutoFit/>
          </a:bodyPr>
          <a:lstStyle/>
          <a:p>
            <a:pPr algn="l">
              <a:lnSpc>
                <a:spcPct val="114000"/>
              </a:lnSpc>
              <a:spcBef>
                <a:spcPts val="0"/>
              </a:spcBef>
              <a:spcAft>
                <a:spcPts val="0"/>
              </a:spcAft>
            </a:pPr>
            <a:r>
              <a:rPr sz="1180" b="1" i="0">
                <a:solidFill>
                  <a:srgbClr val="6D28D9"/>
                </a:solidFill>
              </a:rPr>
              <a:t>Extension points</a:t>
            </a:r>
          </a:p>
        </p:txBody>
      </p:sp>
      <p:sp>
        <p:nvSpPr>
          <p:cNvPr id="35" name="Oval 34"/>
          <p:cNvSpPr/>
          <p:nvPr/>
        </p:nvSpPr>
        <p:spPr>
          <a:xfrm>
            <a:off x="8353044" y="2095143"/>
            <a:ext cx="77724" cy="755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0496" y="2032259"/>
            <a:ext cx="2962656" cy="563740"/>
          </a:xfrm>
          <a:prstGeom prst="rect">
            <a:avLst/>
          </a:prstGeom>
          <a:noFill/>
        </p:spPr>
        <p:txBody>
          <a:bodyPr wrap="square" lIns="0" rIns="0" tIns="0" bIns="0" anchor="t">
            <a:spAutoFit/>
          </a:bodyPr>
          <a:lstStyle/>
          <a:p>
            <a:pPr algn="l">
              <a:lnSpc>
                <a:spcPct val="124000"/>
              </a:lnSpc>
              <a:spcBef>
                <a:spcPts val="0"/>
              </a:spcBef>
              <a:spcAft>
                <a:spcPts val="0"/>
              </a:spcAft>
            </a:pPr>
            <a:r>
              <a:rPr sz="969" b="1" i="0">
                <a:solidFill>
                  <a:srgbClr val="0F172A"/>
                </a:solidFill>
                <a:latin typeface="Arial"/>
              </a:rPr>
              <a:t>New credential format</a:t>
            </a:r>
            <a:r>
              <a:rPr sz="969" b="0" i="0">
                <a:solidFill>
                  <a:srgbClr val="0F172A"/>
                </a:solidFill>
                <a:latin typeface="Arial"/>
              </a:rPr>
              <a:t>: add a handler in the native libraries, then rendering support. Not an app-only change.</a:t>
            </a:r>
          </a:p>
        </p:txBody>
      </p:sp>
      <p:sp>
        <p:nvSpPr>
          <p:cNvPr id="37" name="Oval 36"/>
          <p:cNvSpPr/>
          <p:nvPr/>
        </p:nvSpPr>
        <p:spPr>
          <a:xfrm>
            <a:off x="8353044" y="2627788"/>
            <a:ext cx="77724" cy="755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0496" y="2564902"/>
            <a:ext cx="2962656" cy="563740"/>
          </a:xfrm>
          <a:prstGeom prst="rect">
            <a:avLst/>
          </a:prstGeom>
          <a:noFill/>
        </p:spPr>
        <p:txBody>
          <a:bodyPr wrap="square" lIns="0" rIns="0" tIns="0" bIns="0" anchor="t">
            <a:spAutoFit/>
          </a:bodyPr>
          <a:lstStyle/>
          <a:p>
            <a:pPr algn="l">
              <a:lnSpc>
                <a:spcPct val="124000"/>
              </a:lnSpc>
              <a:spcBef>
                <a:spcPts val="0"/>
              </a:spcBef>
              <a:spcAft>
                <a:spcPts val="0"/>
              </a:spcAft>
            </a:pPr>
            <a:r>
              <a:rPr sz="969" b="1" i="0">
                <a:solidFill>
                  <a:srgbClr val="0F172A"/>
                </a:solidFill>
                <a:latin typeface="Arial"/>
              </a:rPr>
              <a:t>New issuer</a:t>
            </a:r>
            <a:r>
              <a:rPr sz="969" b="0" i="0">
                <a:solidFill>
                  <a:srgbClr val="0F172A"/>
                </a:solidFill>
                <a:latin typeface="Arial"/>
              </a:rPr>
              <a:t>: configuration in Mimoto. Zero app changes if the metadata is well formed.</a:t>
            </a:r>
          </a:p>
        </p:txBody>
      </p:sp>
      <p:sp>
        <p:nvSpPr>
          <p:cNvPr id="39" name="Oval 38"/>
          <p:cNvSpPr/>
          <p:nvPr/>
        </p:nvSpPr>
        <p:spPr>
          <a:xfrm>
            <a:off x="8353044" y="3160432"/>
            <a:ext cx="77724" cy="755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0496" y="3097547"/>
            <a:ext cx="2962656" cy="563740"/>
          </a:xfrm>
          <a:prstGeom prst="rect">
            <a:avLst/>
          </a:prstGeom>
          <a:noFill/>
        </p:spPr>
        <p:txBody>
          <a:bodyPr wrap="square" lIns="0" rIns="0" tIns="0" bIns="0" anchor="t">
            <a:spAutoFit/>
          </a:bodyPr>
          <a:lstStyle/>
          <a:p>
            <a:pPr algn="l">
              <a:lnSpc>
                <a:spcPct val="124000"/>
              </a:lnSpc>
              <a:spcBef>
                <a:spcPts val="0"/>
              </a:spcBef>
              <a:spcAft>
                <a:spcPts val="0"/>
              </a:spcAft>
            </a:pPr>
            <a:r>
              <a:rPr sz="969" b="1" i="0">
                <a:solidFill>
                  <a:srgbClr val="0F172A"/>
                </a:solidFill>
                <a:latin typeface="Arial"/>
              </a:rPr>
              <a:t>New language</a:t>
            </a:r>
            <a:r>
              <a:rPr sz="969" b="0" i="0">
                <a:solidFill>
                  <a:srgbClr val="0F172A"/>
                </a:solidFill>
                <a:latin typeface="Arial"/>
              </a:rPr>
              <a:t>: add a locale file; ask the issuer for matching </a:t>
            </a:r>
            <a:r>
              <a:rPr sz="969" b="0" i="0">
                <a:solidFill>
                  <a:srgbClr val="1D4E89"/>
                </a:solidFill>
                <a:latin typeface="Consolas"/>
              </a:rPr>
              <a:t>display</a:t>
            </a:r>
            <a:r>
              <a:rPr sz="969" b="0" i="0">
                <a:solidFill>
                  <a:srgbClr val="0F172A"/>
                </a:solidFill>
                <a:latin typeface="Arial"/>
              </a:rPr>
              <a:t> entries.</a:t>
            </a:r>
          </a:p>
        </p:txBody>
      </p:sp>
      <p:sp>
        <p:nvSpPr>
          <p:cNvPr id="41" name="Oval 40"/>
          <p:cNvSpPr/>
          <p:nvPr/>
        </p:nvSpPr>
        <p:spPr>
          <a:xfrm>
            <a:off x="8353044" y="3693077"/>
            <a:ext cx="77724" cy="755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40496" y="3630192"/>
            <a:ext cx="2962656" cy="411366"/>
          </a:xfrm>
          <a:prstGeom prst="rect">
            <a:avLst/>
          </a:prstGeom>
          <a:noFill/>
        </p:spPr>
        <p:txBody>
          <a:bodyPr wrap="square" lIns="0" rIns="0" tIns="0" bIns="0" anchor="t">
            <a:spAutoFit/>
          </a:bodyPr>
          <a:lstStyle/>
          <a:p>
            <a:pPr algn="l">
              <a:lnSpc>
                <a:spcPct val="124000"/>
              </a:lnSpc>
              <a:spcBef>
                <a:spcPts val="0"/>
              </a:spcBef>
              <a:spcAft>
                <a:spcPts val="0"/>
              </a:spcAft>
            </a:pPr>
            <a:r>
              <a:rPr sz="969" b="1" i="0">
                <a:solidFill>
                  <a:srgbClr val="0F172A"/>
                </a:solidFill>
                <a:latin typeface="Arial"/>
              </a:rPr>
              <a:t>Theming</a:t>
            </a:r>
            <a:r>
              <a:rPr sz="969" b="0" i="0">
                <a:solidFill>
                  <a:srgbClr val="0F172A"/>
                </a:solidFill>
                <a:latin typeface="Arial"/>
              </a:rPr>
              <a:t>: </a:t>
            </a:r>
            <a:r>
              <a:rPr sz="969" b="0" i="0">
                <a:solidFill>
                  <a:srgbClr val="1D4E89"/>
                </a:solidFill>
                <a:latin typeface="Consolas"/>
              </a:rPr>
              <a:t>APPLICATION_THEME</a:t>
            </a:r>
            <a:r>
              <a:rPr sz="969" b="0" i="0">
                <a:solidFill>
                  <a:srgbClr val="0F172A"/>
                </a:solidFill>
                <a:latin typeface="Arial"/>
              </a:rPr>
              <a:t> plus asset replacement.</a:t>
            </a:r>
          </a:p>
        </p:txBody>
      </p:sp>
      <p:sp>
        <p:nvSpPr>
          <p:cNvPr id="43" name="Oval 42"/>
          <p:cNvSpPr/>
          <p:nvPr/>
        </p:nvSpPr>
        <p:spPr>
          <a:xfrm>
            <a:off x="8353044" y="4073347"/>
            <a:ext cx="77724" cy="755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40496" y="4010462"/>
            <a:ext cx="2962656" cy="563740"/>
          </a:xfrm>
          <a:prstGeom prst="rect">
            <a:avLst/>
          </a:prstGeom>
          <a:noFill/>
        </p:spPr>
        <p:txBody>
          <a:bodyPr wrap="square" lIns="0" rIns="0" tIns="0" bIns="0" anchor="t">
            <a:spAutoFit/>
          </a:bodyPr>
          <a:lstStyle/>
          <a:p>
            <a:pPr algn="l">
              <a:lnSpc>
                <a:spcPct val="124000"/>
              </a:lnSpc>
              <a:spcBef>
                <a:spcPts val="0"/>
              </a:spcBef>
              <a:spcAft>
                <a:spcPts val="0"/>
              </a:spcAft>
            </a:pPr>
            <a:r>
              <a:rPr sz="969" b="1" i="0">
                <a:solidFill>
                  <a:srgbClr val="0F172A"/>
                </a:solidFill>
                <a:latin typeface="Arial"/>
              </a:rPr>
              <a:t>New transport</a:t>
            </a:r>
            <a:r>
              <a:rPr sz="969" b="0" i="0">
                <a:solidFill>
                  <a:srgbClr val="0F172A"/>
                </a:solidFill>
                <a:latin typeface="Arial"/>
              </a:rPr>
              <a:t>: the bridge pattern — a native module plus a </a:t>
            </a:r>
            <a:r>
              <a:rPr sz="969" b="0" i="0">
                <a:solidFill>
                  <a:srgbClr val="1D4E89"/>
                </a:solidFill>
                <a:latin typeface="Consolas"/>
              </a:rPr>
              <a:t>shared/</a:t>
            </a:r>
            <a:r>
              <a:rPr sz="969" b="0" i="0">
                <a:solidFill>
                  <a:srgbClr val="0F172A"/>
                </a:solidFill>
                <a:latin typeface="Arial"/>
              </a:rPr>
              <a:t> adapter plus a machine.</a:t>
            </a:r>
          </a:p>
        </p:txBody>
      </p:sp>
      <p:sp>
        <p:nvSpPr>
          <p:cNvPr id="45" name="Rounded Rectangle 44"/>
          <p:cNvSpPr/>
          <p:nvPr/>
        </p:nvSpPr>
        <p:spPr>
          <a:xfrm>
            <a:off x="502920" y="5754996"/>
            <a:ext cx="11185855" cy="517787"/>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920" y="5754996"/>
            <a:ext cx="45720" cy="517787"/>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088" y="5843843"/>
            <a:ext cx="10820095" cy="37563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1E293B"/>
                </a:solidFill>
                <a:latin typeface="Arial"/>
              </a:rPr>
              <a:t>The test for 'is this configuration or customisation?': </a:t>
            </a:r>
            <a:r>
              <a:rPr sz="1050" b="1" i="0">
                <a:solidFill>
                  <a:srgbClr val="0E9488"/>
                </a:solidFill>
                <a:latin typeface="Arial"/>
              </a:rPr>
              <a:t>if adding a second country would need the same change again, it is configuration and belongs in a file. If it only ever applies to Brazil, it is customisation and belongs in a fork you have to maintain.</a:t>
            </a:r>
          </a:p>
        </p:txBody>
      </p:sp>
      <p:sp>
        <p:nvSpPr>
          <p:cNvPr id="48" name="TextBox 4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Wallet architecture</a:t>
            </a:r>
          </a:p>
        </p:txBody>
      </p:sp>
      <p:sp>
        <p:nvSpPr>
          <p:cNvPr id="49" name="TextBox 4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5   •   6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Trace one issuance through the running app</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adb logcat</a:t>
            </a:r>
            <a:r>
              <a:rPr sz="1019" b="0" i="0">
                <a:solidFill>
                  <a:srgbClr val="0F172A"/>
                </a:solidFill>
                <a:latin typeface="Arial"/>
              </a:rPr>
              <a:t> attached, or Flipper with the repo's </a:t>
            </a:r>
            <a:r>
              <a:rPr sz="1019" b="0" i="0">
                <a:solidFill>
                  <a:srgbClr val="1D4E89"/>
                </a:solidFill>
                <a:latin typeface="Consolas"/>
              </a:rPr>
              <a:t>inji.flipper</a:t>
            </a:r>
            <a:r>
              <a:rPr sz="1019" b="0" i="0">
                <a:solidFill>
                  <a:srgbClr val="0F172A"/>
                </a:solidFill>
                <a:latin typeface="Arial"/>
              </a:rPr>
              <a:t> config.</a:t>
            </a:r>
          </a:p>
        </p:txBody>
      </p:sp>
      <p:sp>
        <p:nvSpPr>
          <p:cNvPr id="10" name="Oval 9"/>
          <p:cNvSpPr/>
          <p:nvPr/>
        </p:nvSpPr>
        <p:spPr>
          <a:xfrm>
            <a:off x="745236" y="198028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1292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React Native debugger open on the running build.</a:t>
            </a:r>
          </a:p>
        </p:txBody>
      </p:sp>
      <p:sp>
        <p:nvSpPr>
          <p:cNvPr id="12" name="Oval 11"/>
          <p:cNvSpPr/>
          <p:nvPr/>
        </p:nvSpPr>
        <p:spPr>
          <a:xfrm>
            <a:off x="745236" y="238445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317089"/>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a:t>
            </a:r>
            <a:r>
              <a:rPr sz="1019" b="0" i="0">
                <a:solidFill>
                  <a:srgbClr val="1D4E89"/>
                </a:solidFill>
                <a:latin typeface="Consolas"/>
              </a:rPr>
              <a:t>machines/Issuers/</a:t>
            </a:r>
            <a:r>
              <a:rPr sz="1019" b="0" i="0">
                <a:solidFill>
                  <a:srgbClr val="0F172A"/>
                </a:solidFill>
                <a:latin typeface="Arial"/>
              </a:rPr>
              <a:t> source open in an editor.</a:t>
            </a:r>
          </a:p>
        </p:txBody>
      </p:sp>
      <p:sp>
        <p:nvSpPr>
          <p:cNvPr id="14" name="Oval 13"/>
          <p:cNvSpPr/>
          <p:nvPr/>
        </p:nvSpPr>
        <p:spPr>
          <a:xfrm>
            <a:off x="745236" y="278861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72125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network proxy if your environment allows it.</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Start a credential download.</a:t>
            </a:r>
          </a:p>
        </p:txBody>
      </p:sp>
      <p:sp>
        <p:nvSpPr>
          <p:cNvPr id="21" name="Oval 20"/>
          <p:cNvSpPr/>
          <p:nvPr/>
        </p:nvSpPr>
        <p:spPr>
          <a:xfrm>
            <a:off x="4466844" y="181706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1749704"/>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Watch the state machine transition: issuer selected → metadata → authorize → token → proof → download → verify → store.</a:t>
            </a:r>
          </a:p>
        </p:txBody>
      </p:sp>
      <p:sp>
        <p:nvSpPr>
          <p:cNvPr id="23" name="Oval 22"/>
          <p:cNvSpPr/>
          <p:nvPr/>
        </p:nvSpPr>
        <p:spPr>
          <a:xfrm>
            <a:off x="4466844" y="238445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317089"/>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Each transition appears in the log.</a:t>
            </a:r>
          </a:p>
        </p:txBody>
      </p:sp>
      <p:sp>
        <p:nvSpPr>
          <p:cNvPr id="25" name="Oval 24"/>
          <p:cNvSpPr/>
          <p:nvPr/>
        </p:nvSpPr>
        <p:spPr>
          <a:xfrm>
            <a:off x="4466844" y="262539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2558034"/>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card appears at the end.</a:t>
            </a:r>
          </a:p>
        </p:txBody>
      </p:sp>
      <p:sp>
        <p:nvSpPr>
          <p:cNvPr id="27" name="Rounded Rectangle 26"/>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30" name="Oval 29"/>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1508760"/>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Every transition is an XState state change you can name.</a:t>
            </a:r>
          </a:p>
        </p:txBody>
      </p:sp>
      <p:sp>
        <p:nvSpPr>
          <p:cNvPr id="32" name="Oval 31"/>
          <p:cNvSpPr/>
          <p:nvPr/>
        </p:nvSpPr>
        <p:spPr>
          <a:xfrm>
            <a:off x="8188452" y="198028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1912924"/>
            <a:ext cx="3118104" cy="76260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callbacks from </a:t>
            </a:r>
            <a:r>
              <a:rPr sz="1019" b="0" i="0">
                <a:solidFill>
                  <a:srgbClr val="1D4E89"/>
                </a:solidFill>
                <a:latin typeface="Consolas"/>
              </a:rPr>
              <a:t>inji-vci-client</a:t>
            </a:r>
            <a:r>
              <a:rPr sz="1019" b="0" i="0">
                <a:solidFill>
                  <a:srgbClr val="0F172A"/>
                </a:solidFill>
                <a:latin typeface="Arial"/>
              </a:rPr>
              <a:t> surface as native events: </a:t>
            </a:r>
            <a:r>
              <a:rPr sz="1019" b="0" i="0">
                <a:solidFill>
                  <a:srgbClr val="1D4E89"/>
                </a:solidFill>
                <a:latin typeface="Consolas"/>
              </a:rPr>
              <a:t>onRequestAuthCode</a:t>
            </a:r>
            <a:r>
              <a:rPr sz="1019" b="0" i="0">
                <a:solidFill>
                  <a:srgbClr val="0F172A"/>
                </a:solidFill>
                <a:latin typeface="Arial"/>
              </a:rPr>
              <a:t>, </a:t>
            </a:r>
            <a:r>
              <a:rPr sz="1019" b="0" i="0">
                <a:solidFill>
                  <a:srgbClr val="1D4E89"/>
                </a:solidFill>
                <a:latin typeface="Consolas"/>
              </a:rPr>
              <a:t>onRequestProof</a:t>
            </a:r>
            <a:r>
              <a:rPr sz="1019" b="0" i="0">
                <a:solidFill>
                  <a:srgbClr val="0F172A"/>
                </a:solidFill>
                <a:latin typeface="Arial"/>
              </a:rPr>
              <a:t>, </a:t>
            </a:r>
            <a:r>
              <a:rPr sz="1019" b="0" i="0">
                <a:solidFill>
                  <a:srgbClr val="1D4E89"/>
                </a:solidFill>
                <a:latin typeface="Consolas"/>
              </a:rPr>
              <a:t>onRequestTxCode</a:t>
            </a:r>
            <a:r>
              <a:rPr sz="1019" b="0" i="0">
                <a:solidFill>
                  <a:srgbClr val="0F172A"/>
                </a:solidFill>
                <a:latin typeface="Arial"/>
              </a:rPr>
              <a:t>.</a:t>
            </a:r>
          </a:p>
        </p:txBody>
      </p:sp>
      <p:sp>
        <p:nvSpPr>
          <p:cNvPr id="34" name="Oval 33"/>
          <p:cNvSpPr/>
          <p:nvPr/>
        </p:nvSpPr>
        <p:spPr>
          <a:xfrm>
            <a:off x="8188452" y="2710891"/>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2643530"/>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proof JWT is created in </a:t>
            </a:r>
            <a:r>
              <a:rPr sz="1019" b="0" i="0">
                <a:solidFill>
                  <a:srgbClr val="1D4E89"/>
                </a:solidFill>
                <a:latin typeface="Consolas"/>
              </a:rPr>
              <a:t>RNSecureKeystoreModule</a:t>
            </a:r>
            <a:r>
              <a:rPr sz="1019" b="0" i="0">
                <a:solidFill>
                  <a:srgbClr val="0F172A"/>
                </a:solidFill>
                <a:latin typeface="Arial"/>
              </a:rPr>
              <a:t> and handed back through </a:t>
            </a:r>
            <a:r>
              <a:rPr sz="1019" b="0" i="0">
                <a:solidFill>
                  <a:srgbClr val="1D4E89"/>
                </a:solidFill>
                <a:latin typeface="Consolas"/>
              </a:rPr>
              <a:t>VciClient.sendProof()</a:t>
            </a:r>
            <a:r>
              <a:rPr sz="1019" b="0" i="0">
                <a:solidFill>
                  <a:srgbClr val="0F172A"/>
                </a:solidFill>
                <a:latin typeface="Arial"/>
              </a:rPr>
              <a:t>.</a:t>
            </a:r>
          </a:p>
        </p:txBody>
      </p:sp>
      <p:sp>
        <p:nvSpPr>
          <p:cNvPr id="36" name="Oval 35"/>
          <p:cNvSpPr/>
          <p:nvPr/>
        </p:nvSpPr>
        <p:spPr>
          <a:xfrm>
            <a:off x="8188452" y="3278276"/>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5904" y="3210915"/>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vc-verifier</a:t>
            </a:r>
            <a:r>
              <a:rPr sz="1019" b="0" i="0">
                <a:solidFill>
                  <a:srgbClr val="0F172A"/>
                </a:solidFill>
                <a:latin typeface="Arial"/>
              </a:rPr>
              <a:t> runs before the store write.</a:t>
            </a:r>
          </a:p>
        </p:txBody>
      </p:sp>
      <p:sp>
        <p:nvSpPr>
          <p:cNvPr id="38" name="Rounded Rectangle 37"/>
          <p:cNvSpPr/>
          <p:nvPr/>
        </p:nvSpPr>
        <p:spPr>
          <a:xfrm>
            <a:off x="502920" y="5175504"/>
            <a:ext cx="11185855" cy="554101"/>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175504"/>
            <a:ext cx="45720" cy="55410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266944"/>
            <a:ext cx="10820095" cy="407797"/>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If nothing is logged after the browser closes, the redirect never reached the app — go straight to the deep-link configuration, not to the protocol.</a:t>
            </a:r>
          </a:p>
        </p:txBody>
      </p:sp>
      <p:sp>
        <p:nvSpPr>
          <p:cNvPr id="41" name="TextBox 4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Wallet architecture</a:t>
            </a:r>
          </a:p>
        </p:txBody>
      </p:sp>
      <p:sp>
        <p:nvSpPr>
          <p:cNvPr id="42" name="TextBox 4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7</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Mimoto — the wallet backend</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Why there is a backend at all, what belongs in it, and — just as important — what must never be put in it.</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25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Why Mimoto exists</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Internal architecture</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 API surface</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Issuer and verifier configuration</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Format handlers and verification</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Responsibility matrix</a:t>
            </a:r>
          </a:p>
        </p:txBody>
      </p:sp>
      <p:sp>
        <p:nvSpPr>
          <p:cNvPr id="23" name="Rounded Rectangle 22"/>
          <p:cNvSpPr/>
          <p:nvPr/>
        </p:nvSpPr>
        <p:spPr>
          <a:xfrm>
            <a:off x="50292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Mimoto — the wallet backend</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RATIONALE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Why Mimoto exists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Four problems that a pure client-side wallet cannot solve cleanly.</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5483199" cy="1188720"/>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0292" cy="118872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810512"/>
            <a:ext cx="5099151"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A browser cannot be a wallet on its own</a:t>
            </a:r>
          </a:p>
        </p:txBody>
      </p:sp>
      <p:sp>
        <p:nvSpPr>
          <p:cNvPr id="9" name="TextBox 8"/>
          <p:cNvSpPr txBox="1"/>
          <p:nvPr/>
        </p:nvSpPr>
        <p:spPr>
          <a:xfrm>
            <a:off x="704088" y="2121408"/>
            <a:ext cx="5099151" cy="676656"/>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rPr>
              <a:t>Inji Web has no secure key storage and no persistent local store you would trust. Someone has to hold the credential and the key. That someone is Mimoto.</a:t>
            </a:r>
          </a:p>
        </p:txBody>
      </p:sp>
      <p:sp>
        <p:nvSpPr>
          <p:cNvPr id="10" name="Rounded Rectangle 9"/>
          <p:cNvSpPr/>
          <p:nvPr/>
        </p:nvSpPr>
        <p:spPr>
          <a:xfrm>
            <a:off x="6205575" y="1682496"/>
            <a:ext cx="5483199" cy="1188720"/>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5575" y="1682496"/>
            <a:ext cx="50292" cy="11887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6743" y="1810512"/>
            <a:ext cx="5099151"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Somebody must curate the issuer list</a:t>
            </a:r>
          </a:p>
        </p:txBody>
      </p:sp>
      <p:sp>
        <p:nvSpPr>
          <p:cNvPr id="13" name="TextBox 12"/>
          <p:cNvSpPr txBox="1"/>
          <p:nvPr/>
        </p:nvSpPr>
        <p:spPr>
          <a:xfrm>
            <a:off x="6406743" y="2121408"/>
            <a:ext cx="5099151" cy="676656"/>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rPr>
              <a:t>Citizens should not type issuer URLs. Mimoto serves a governed catalogue, with logos, descriptions and per-issuer configuration, updatable without an app release.</a:t>
            </a:r>
          </a:p>
        </p:txBody>
      </p:sp>
      <p:sp>
        <p:nvSpPr>
          <p:cNvPr id="14" name="Rounded Rectangle 13"/>
          <p:cNvSpPr/>
          <p:nvPr/>
        </p:nvSpPr>
        <p:spPr>
          <a:xfrm>
            <a:off x="502920" y="3035808"/>
            <a:ext cx="5483199" cy="1188720"/>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035808"/>
            <a:ext cx="50292" cy="11887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163824"/>
            <a:ext cx="5099151"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Client secrets cannot live in an app</a:t>
            </a:r>
          </a:p>
        </p:txBody>
      </p:sp>
      <p:sp>
        <p:nvSpPr>
          <p:cNvPr id="17" name="TextBox 16"/>
          <p:cNvSpPr txBox="1"/>
          <p:nvPr/>
        </p:nvSpPr>
        <p:spPr>
          <a:xfrm>
            <a:off x="704088" y="3474720"/>
            <a:ext cx="5099151" cy="676656"/>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rPr>
              <a:t>Token exchange with an authorization server may need client authentication. Mimoto does it server-side so nothing sensitive ships in the APK.</a:t>
            </a:r>
          </a:p>
        </p:txBody>
      </p:sp>
      <p:sp>
        <p:nvSpPr>
          <p:cNvPr id="18" name="Rounded Rectangle 17"/>
          <p:cNvSpPr/>
          <p:nvPr/>
        </p:nvSpPr>
        <p:spPr>
          <a:xfrm>
            <a:off x="6205575" y="3035808"/>
            <a:ext cx="5483199" cy="1188720"/>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5575" y="3035808"/>
            <a:ext cx="50292" cy="1188720"/>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6743" y="3163824"/>
            <a:ext cx="5099151"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5703D"/>
                </a:solidFill>
              </a:rPr>
              <a:t>Shared services belong in one place</a:t>
            </a:r>
          </a:p>
        </p:txBody>
      </p:sp>
      <p:sp>
        <p:nvSpPr>
          <p:cNvPr id="21" name="TextBox 20"/>
          <p:cNvSpPr txBox="1"/>
          <p:nvPr/>
        </p:nvSpPr>
        <p:spPr>
          <a:xfrm>
            <a:off x="6406743" y="3474720"/>
            <a:ext cx="5099151" cy="676656"/>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rPr>
              <a:t>Caching of metadata, PDF rendering of credentials, the trusted-verifier list, telemetry and session handling — all needed by both Wallet and Web.</a:t>
            </a:r>
          </a:p>
        </p:txBody>
      </p:sp>
      <p:sp>
        <p:nvSpPr>
          <p:cNvPr id="22" name="Rounded Rectangle 21"/>
          <p:cNvSpPr/>
          <p:nvPr/>
        </p:nvSpPr>
        <p:spPr>
          <a:xfrm>
            <a:off x="502920" y="4471416"/>
            <a:ext cx="5440680" cy="1737360"/>
          </a:xfrm>
          <a:prstGeom prst="roundRect">
            <a:avLst>
              <a:gd name="adj" fmla="val 45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471416"/>
            <a:ext cx="50292" cy="1737360"/>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4617720"/>
            <a:ext cx="505663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B31B1B"/>
                </a:solidFill>
              </a:rPr>
              <a:t>Mimoto must NOT</a:t>
            </a:r>
          </a:p>
        </p:txBody>
      </p:sp>
      <p:sp>
        <p:nvSpPr>
          <p:cNvPr id="25" name="Oval 24"/>
          <p:cNvSpPr/>
          <p:nvPr/>
        </p:nvSpPr>
        <p:spPr>
          <a:xfrm>
            <a:off x="745236" y="4912360"/>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4846320"/>
            <a:ext cx="4828031" cy="26974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Sign credentials. That is the issuer's monopoly.</a:t>
            </a:r>
          </a:p>
        </p:txBody>
      </p:sp>
      <p:sp>
        <p:nvSpPr>
          <p:cNvPr id="27" name="Oval 26"/>
          <p:cNvSpPr/>
          <p:nvPr/>
        </p:nvSpPr>
        <p:spPr>
          <a:xfrm>
            <a:off x="745236" y="5150103"/>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5084064"/>
            <a:ext cx="4828031" cy="42976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Decide whether a presentation is acceptable. That is the verifier's job.</a:t>
            </a:r>
          </a:p>
        </p:txBody>
      </p:sp>
      <p:sp>
        <p:nvSpPr>
          <p:cNvPr id="29" name="Oval 28"/>
          <p:cNvSpPr/>
          <p:nvPr/>
        </p:nvSpPr>
        <p:spPr>
          <a:xfrm>
            <a:off x="745236" y="5547867"/>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5481827"/>
            <a:ext cx="4828031" cy="42976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Become an identity registry. It stores credentials for Web users, not a population database.</a:t>
            </a:r>
          </a:p>
        </p:txBody>
      </p:sp>
      <p:sp>
        <p:nvSpPr>
          <p:cNvPr id="31" name="Oval 30"/>
          <p:cNvSpPr/>
          <p:nvPr/>
        </p:nvSpPr>
        <p:spPr>
          <a:xfrm>
            <a:off x="745236" y="5945631"/>
            <a:ext cx="77724" cy="7772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5879592"/>
            <a:ext cx="4828031" cy="26974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Hold the Wallet's private keys. Those never leave the device.</a:t>
            </a:r>
          </a:p>
        </p:txBody>
      </p:sp>
      <p:sp>
        <p:nvSpPr>
          <p:cNvPr id="33" name="Rounded Rectangle 32"/>
          <p:cNvSpPr/>
          <p:nvPr/>
        </p:nvSpPr>
        <p:spPr>
          <a:xfrm>
            <a:off x="6245352" y="4471416"/>
            <a:ext cx="5440680" cy="1737360"/>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45352" y="4471416"/>
            <a:ext cx="50292" cy="17373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3096" y="4617720"/>
            <a:ext cx="505663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The test to apply</a:t>
            </a:r>
          </a:p>
        </p:txBody>
      </p:sp>
      <p:sp>
        <p:nvSpPr>
          <p:cNvPr id="36" name="Oval 35"/>
          <p:cNvSpPr/>
          <p:nvPr/>
        </p:nvSpPr>
        <p:spPr>
          <a:xfrm>
            <a:off x="6487668" y="491236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4846320"/>
            <a:ext cx="4828031" cy="26974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Ask: *would an external, standards-compliant wallet need this?*</a:t>
            </a:r>
          </a:p>
        </p:txBody>
      </p:sp>
      <p:sp>
        <p:nvSpPr>
          <p:cNvPr id="38" name="Oval 37"/>
          <p:cNvSpPr/>
          <p:nvPr/>
        </p:nvSpPr>
        <p:spPr>
          <a:xfrm>
            <a:off x="6487668" y="5150103"/>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0" y="5084064"/>
            <a:ext cx="4828031" cy="26974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If no — it is Inji-internal convenience, and Mimoto is the right home.</a:t>
            </a:r>
          </a:p>
        </p:txBody>
      </p:sp>
      <p:sp>
        <p:nvSpPr>
          <p:cNvPr id="40" name="Oval 39"/>
          <p:cNvSpPr/>
          <p:nvPr/>
        </p:nvSpPr>
        <p:spPr>
          <a:xfrm>
            <a:off x="6487668" y="5387847"/>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0" y="5321807"/>
            <a:ext cx="4828031" cy="429768"/>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If yes — it belongs in the protocol or in the issuer, and putting it in Mimoto breaks interoperability.</a:t>
            </a:r>
          </a:p>
        </p:txBody>
      </p:sp>
      <p:sp>
        <p:nvSpPr>
          <p:cNvPr id="42" name="TextBox 4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Mimoto — the wallet backend</a:t>
            </a:r>
          </a:p>
        </p:txBody>
      </p:sp>
      <p:sp>
        <p:nvSpPr>
          <p:cNvPr id="43" name="TextBox 4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ARCHITECTURE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Inside Mimoto</a:t>
            </a:r>
          </a:p>
        </p:txBody>
      </p:sp>
      <p:sp>
        <p:nvSpPr>
          <p:cNvPr id="4" name="TextBox 3"/>
          <p:cNvSpPr txBox="1"/>
          <p:nvPr/>
        </p:nvSpPr>
        <p:spPr>
          <a:xfrm>
            <a:off x="502920" y="1078992"/>
            <a:ext cx="11185855" cy="306742"/>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Spring Boot, Java 21. Controllers at the edge, services in the middle, Postgres and Redis behind.</a:t>
            </a:r>
          </a:p>
        </p:txBody>
      </p:sp>
      <p:cxnSp>
        <p:nvCxnSpPr>
          <p:cNvPr id="5" name="Connector 4"/>
          <p:cNvCxnSpPr/>
          <p:nvPr/>
        </p:nvCxnSpPr>
        <p:spPr>
          <a:xfrm>
            <a:off x="502920" y="1477174"/>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75655"/>
            <a:ext cx="2149388" cy="3897435"/>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75655"/>
            <a:ext cx="2149388" cy="63152"/>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856092"/>
            <a:ext cx="1893356" cy="270655"/>
          </a:xfrm>
          <a:prstGeom prst="rect">
            <a:avLst/>
          </a:prstGeom>
          <a:noFill/>
        </p:spPr>
        <p:txBody>
          <a:bodyPr wrap="square" lIns="0" rIns="0" tIns="0" bIns="0" anchor="t">
            <a:spAutoFit/>
          </a:bodyPr>
          <a:lstStyle/>
          <a:p>
            <a:pPr algn="l">
              <a:lnSpc>
                <a:spcPct val="114000"/>
              </a:lnSpc>
              <a:spcBef>
                <a:spcPts val="0"/>
              </a:spcBef>
              <a:spcAft>
                <a:spcPts val="0"/>
              </a:spcAft>
            </a:pPr>
            <a:r>
              <a:rPr sz="940" b="1" i="0">
                <a:solidFill>
                  <a:srgbClr val="0E9488"/>
                </a:solidFill>
              </a:rPr>
              <a:t>CLIENTS</a:t>
            </a:r>
          </a:p>
        </p:txBody>
      </p:sp>
      <p:sp>
        <p:nvSpPr>
          <p:cNvPr id="9" name="Rounded Rectangle 8"/>
          <p:cNvSpPr/>
          <p:nvPr/>
        </p:nvSpPr>
        <p:spPr>
          <a:xfrm>
            <a:off x="603504" y="217185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17185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Inji Wallet</a:t>
            </a:r>
          </a:p>
        </p:txBody>
      </p:sp>
      <p:sp>
        <p:nvSpPr>
          <p:cNvPr id="11" name="Rounded Rectangle 10"/>
          <p:cNvSpPr/>
          <p:nvPr/>
        </p:nvSpPr>
        <p:spPr>
          <a:xfrm>
            <a:off x="603504" y="2507468"/>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07468"/>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Inji Web</a:t>
            </a:r>
          </a:p>
        </p:txBody>
      </p:sp>
      <p:cxnSp>
        <p:nvCxnSpPr>
          <p:cNvPr id="13" name="Connector 12"/>
          <p:cNvCxnSpPr/>
          <p:nvPr/>
        </p:nvCxnSpPr>
        <p:spPr>
          <a:xfrm>
            <a:off x="2656880" y="3570242"/>
            <a:ext cx="96012" cy="0"/>
          </a:xfrm>
          <a:prstGeom prst="line">
            <a:avLst/>
          </a:prstGeom>
          <a:ln w="15240">
            <a:solidFill>
              <a:srgbClr val="5B6B7F"/>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762036" y="1675655"/>
            <a:ext cx="2149388" cy="3897435"/>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62036" y="1675655"/>
            <a:ext cx="2149388" cy="63152"/>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90052" y="1856092"/>
            <a:ext cx="1893356" cy="270655"/>
          </a:xfrm>
          <a:prstGeom prst="rect">
            <a:avLst/>
          </a:prstGeom>
          <a:noFill/>
        </p:spPr>
        <p:txBody>
          <a:bodyPr wrap="square" lIns="0" rIns="0" tIns="0" bIns="0" anchor="t">
            <a:spAutoFit/>
          </a:bodyPr>
          <a:lstStyle/>
          <a:p>
            <a:pPr algn="l">
              <a:lnSpc>
                <a:spcPct val="114000"/>
              </a:lnSpc>
              <a:spcBef>
                <a:spcPts val="0"/>
              </a:spcBef>
              <a:spcAft>
                <a:spcPts val="0"/>
              </a:spcAft>
            </a:pPr>
            <a:r>
              <a:rPr sz="940" b="1" i="0">
                <a:solidFill>
                  <a:srgbClr val="1D4E89"/>
                </a:solidFill>
              </a:rPr>
              <a:t>CONTROLLERS</a:t>
            </a:r>
          </a:p>
        </p:txBody>
      </p:sp>
      <p:sp>
        <p:nvSpPr>
          <p:cNvPr id="17" name="Rounded Rectangle 16"/>
          <p:cNvSpPr/>
          <p:nvPr/>
        </p:nvSpPr>
        <p:spPr>
          <a:xfrm>
            <a:off x="2862620" y="217185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17484" y="217185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IssuersV2Controller</a:t>
            </a:r>
          </a:p>
        </p:txBody>
      </p:sp>
      <p:sp>
        <p:nvSpPr>
          <p:cNvPr id="19" name="Rounded Rectangle 18"/>
          <p:cNvSpPr/>
          <p:nvPr/>
        </p:nvSpPr>
        <p:spPr>
          <a:xfrm>
            <a:off x="2862620" y="2507468"/>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17484" y="2507468"/>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WalletsController</a:t>
            </a:r>
          </a:p>
        </p:txBody>
      </p:sp>
      <p:sp>
        <p:nvSpPr>
          <p:cNvPr id="21" name="Rounded Rectangle 20"/>
          <p:cNvSpPr/>
          <p:nvPr/>
        </p:nvSpPr>
        <p:spPr>
          <a:xfrm>
            <a:off x="2862620" y="2843080"/>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17484" y="2843080"/>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WalletCredentialsController</a:t>
            </a:r>
          </a:p>
        </p:txBody>
      </p:sp>
      <p:sp>
        <p:nvSpPr>
          <p:cNvPr id="23" name="Rounded Rectangle 22"/>
          <p:cNvSpPr/>
          <p:nvPr/>
        </p:nvSpPr>
        <p:spPr>
          <a:xfrm>
            <a:off x="2862620" y="3178693"/>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17484" y="3178693"/>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WalletPresentationsController</a:t>
            </a:r>
          </a:p>
        </p:txBody>
      </p:sp>
      <p:sp>
        <p:nvSpPr>
          <p:cNvPr id="25" name="Rounded Rectangle 24"/>
          <p:cNvSpPr/>
          <p:nvPr/>
        </p:nvSpPr>
        <p:spPr>
          <a:xfrm>
            <a:off x="2862620" y="351430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17484" y="351430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VerifiersController</a:t>
            </a:r>
          </a:p>
        </p:txBody>
      </p:sp>
      <p:sp>
        <p:nvSpPr>
          <p:cNvPr id="27" name="Rounded Rectangle 26"/>
          <p:cNvSpPr/>
          <p:nvPr/>
        </p:nvSpPr>
        <p:spPr>
          <a:xfrm>
            <a:off x="2862620" y="3849919"/>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17484" y="3849919"/>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IdpController / TokenAuth</a:t>
            </a:r>
          </a:p>
        </p:txBody>
      </p:sp>
      <p:sp>
        <p:nvSpPr>
          <p:cNvPr id="29" name="Rounded Rectangle 28"/>
          <p:cNvSpPr/>
          <p:nvPr/>
        </p:nvSpPr>
        <p:spPr>
          <a:xfrm>
            <a:off x="2862620" y="4185530"/>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17484" y="4185530"/>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CredentialsController (PDF)</a:t>
            </a:r>
          </a:p>
        </p:txBody>
      </p:sp>
      <p:sp>
        <p:nvSpPr>
          <p:cNvPr id="31" name="Rounded Rectangle 30"/>
          <p:cNvSpPr/>
          <p:nvPr/>
        </p:nvSpPr>
        <p:spPr>
          <a:xfrm>
            <a:off x="2862620" y="4521143"/>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17484" y="4521143"/>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AttestationServiceController</a:t>
            </a:r>
          </a:p>
        </p:txBody>
      </p:sp>
      <p:cxnSp>
        <p:nvCxnSpPr>
          <p:cNvPr id="33" name="Connector 32"/>
          <p:cNvCxnSpPr/>
          <p:nvPr/>
        </p:nvCxnSpPr>
        <p:spPr>
          <a:xfrm>
            <a:off x="4915997" y="3570242"/>
            <a:ext cx="96012" cy="0"/>
          </a:xfrm>
          <a:prstGeom prst="line">
            <a:avLst/>
          </a:prstGeom>
          <a:ln w="15240">
            <a:solidFill>
              <a:srgbClr val="5B6B7F"/>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21153" y="1675655"/>
            <a:ext cx="2149388" cy="3897435"/>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1153" y="1675655"/>
            <a:ext cx="2149388" cy="6315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49169" y="1856092"/>
            <a:ext cx="1893356" cy="270655"/>
          </a:xfrm>
          <a:prstGeom prst="rect">
            <a:avLst/>
          </a:prstGeom>
          <a:noFill/>
        </p:spPr>
        <p:txBody>
          <a:bodyPr wrap="square" lIns="0" rIns="0" tIns="0" bIns="0" anchor="t">
            <a:spAutoFit/>
          </a:bodyPr>
          <a:lstStyle/>
          <a:p>
            <a:pPr algn="l">
              <a:lnSpc>
                <a:spcPct val="114000"/>
              </a:lnSpc>
              <a:spcBef>
                <a:spcPts val="0"/>
              </a:spcBef>
              <a:spcAft>
                <a:spcPts val="0"/>
              </a:spcAft>
            </a:pPr>
            <a:r>
              <a:rPr sz="940" b="1" i="0">
                <a:solidFill>
                  <a:srgbClr val="6D28D9"/>
                </a:solidFill>
              </a:rPr>
              <a:t>SERVICES</a:t>
            </a:r>
          </a:p>
        </p:txBody>
      </p:sp>
      <p:sp>
        <p:nvSpPr>
          <p:cNvPr id="37" name="Rounded Rectangle 36"/>
          <p:cNvSpPr/>
          <p:nvPr/>
        </p:nvSpPr>
        <p:spPr>
          <a:xfrm>
            <a:off x="5121737" y="217185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76601" y="217185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IssuersService</a:t>
            </a:r>
          </a:p>
        </p:txBody>
      </p:sp>
      <p:sp>
        <p:nvSpPr>
          <p:cNvPr id="39" name="Rounded Rectangle 38"/>
          <p:cNvSpPr/>
          <p:nvPr/>
        </p:nvSpPr>
        <p:spPr>
          <a:xfrm>
            <a:off x="5121737" y="2507468"/>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6601" y="2507468"/>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CredentialService</a:t>
            </a:r>
          </a:p>
        </p:txBody>
      </p:sp>
      <p:sp>
        <p:nvSpPr>
          <p:cNvPr id="41" name="Rounded Rectangle 40"/>
          <p:cNvSpPr/>
          <p:nvPr/>
        </p:nvSpPr>
        <p:spPr>
          <a:xfrm>
            <a:off x="5121737" y="2843080"/>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76601" y="2843080"/>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CredentialRequestService</a:t>
            </a:r>
          </a:p>
        </p:txBody>
      </p:sp>
      <p:sp>
        <p:nvSpPr>
          <p:cNvPr id="43" name="Rounded Rectangle 42"/>
          <p:cNvSpPr/>
          <p:nvPr/>
        </p:nvSpPr>
        <p:spPr>
          <a:xfrm>
            <a:off x="5121737" y="3178693"/>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76601" y="3178693"/>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CredentialFormatHandlerFactory</a:t>
            </a:r>
          </a:p>
        </p:txBody>
      </p:sp>
      <p:sp>
        <p:nvSpPr>
          <p:cNvPr id="45" name="Rounded Rectangle 44"/>
          <p:cNvSpPr/>
          <p:nvPr/>
        </p:nvSpPr>
        <p:spPr>
          <a:xfrm>
            <a:off x="5121737" y="351430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6601" y="351430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CredentialVerifierService</a:t>
            </a:r>
          </a:p>
        </p:txBody>
      </p:sp>
      <p:sp>
        <p:nvSpPr>
          <p:cNvPr id="47" name="Rounded Rectangle 46"/>
          <p:cNvSpPr/>
          <p:nvPr/>
        </p:nvSpPr>
        <p:spPr>
          <a:xfrm>
            <a:off x="5121737" y="3849919"/>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76601" y="3849919"/>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PresentationService / OpenID4VPService</a:t>
            </a:r>
          </a:p>
        </p:txBody>
      </p:sp>
      <p:sp>
        <p:nvSpPr>
          <p:cNvPr id="49" name="Rounded Rectangle 48"/>
          <p:cNvSpPr/>
          <p:nvPr/>
        </p:nvSpPr>
        <p:spPr>
          <a:xfrm>
            <a:off x="5121737" y="4185530"/>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76601" y="4185530"/>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CredentialMatchingService</a:t>
            </a:r>
          </a:p>
        </p:txBody>
      </p:sp>
      <p:sp>
        <p:nvSpPr>
          <p:cNvPr id="51" name="Rounded Rectangle 50"/>
          <p:cNvSpPr/>
          <p:nvPr/>
        </p:nvSpPr>
        <p:spPr>
          <a:xfrm>
            <a:off x="5121737" y="4521143"/>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76601" y="4521143"/>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WalletService / Unlock / Lock</a:t>
            </a:r>
          </a:p>
        </p:txBody>
      </p:sp>
      <p:sp>
        <p:nvSpPr>
          <p:cNvPr id="53" name="Rounded Rectangle 52"/>
          <p:cNvSpPr/>
          <p:nvPr/>
        </p:nvSpPr>
        <p:spPr>
          <a:xfrm>
            <a:off x="5121737" y="485675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76601" y="485675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DataProtectionService</a:t>
            </a:r>
          </a:p>
        </p:txBody>
      </p:sp>
      <p:sp>
        <p:nvSpPr>
          <p:cNvPr id="55" name="Rounded Rectangle 54"/>
          <p:cNvSpPr/>
          <p:nvPr/>
        </p:nvSpPr>
        <p:spPr>
          <a:xfrm>
            <a:off x="5121737" y="5192369"/>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6601" y="5192369"/>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Consolas"/>
              </a:rPr>
              <a:t>TrustedVerifierService</a:t>
            </a:r>
          </a:p>
        </p:txBody>
      </p:sp>
      <p:cxnSp>
        <p:nvCxnSpPr>
          <p:cNvPr id="57" name="Connector 56"/>
          <p:cNvCxnSpPr/>
          <p:nvPr/>
        </p:nvCxnSpPr>
        <p:spPr>
          <a:xfrm>
            <a:off x="7175113" y="3570242"/>
            <a:ext cx="96012" cy="0"/>
          </a:xfrm>
          <a:prstGeom prst="line">
            <a:avLst/>
          </a:prstGeom>
          <a:ln w="15240">
            <a:solidFill>
              <a:srgbClr val="5B6B7F"/>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7280269" y="1675655"/>
            <a:ext cx="2149388" cy="3897435"/>
          </a:xfrm>
          <a:prstGeom prst="roundRect">
            <a:avLst>
              <a:gd name="adj" fmla="val 45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80269" y="1675655"/>
            <a:ext cx="2149388" cy="63152"/>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08285" y="1856092"/>
            <a:ext cx="1893356" cy="270655"/>
          </a:xfrm>
          <a:prstGeom prst="rect">
            <a:avLst/>
          </a:prstGeom>
          <a:noFill/>
        </p:spPr>
        <p:txBody>
          <a:bodyPr wrap="square" lIns="0" rIns="0" tIns="0" bIns="0" anchor="t">
            <a:spAutoFit/>
          </a:bodyPr>
          <a:lstStyle/>
          <a:p>
            <a:pPr algn="l">
              <a:lnSpc>
                <a:spcPct val="114000"/>
              </a:lnSpc>
              <a:spcBef>
                <a:spcPts val="0"/>
              </a:spcBef>
              <a:spcAft>
                <a:spcPts val="0"/>
              </a:spcAft>
            </a:pPr>
            <a:r>
              <a:rPr sz="940" b="1" i="0">
                <a:solidFill>
                  <a:srgbClr val="15703D"/>
                </a:solidFill>
              </a:rPr>
              <a:t>STATE AND CONFIG</a:t>
            </a:r>
          </a:p>
        </p:txBody>
      </p:sp>
      <p:sp>
        <p:nvSpPr>
          <p:cNvPr id="61" name="Rounded Rectangle 60"/>
          <p:cNvSpPr/>
          <p:nvPr/>
        </p:nvSpPr>
        <p:spPr>
          <a:xfrm>
            <a:off x="7380853" y="217185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35717" y="217185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Postgres — wallets, credentials</a:t>
            </a:r>
          </a:p>
        </p:txBody>
      </p:sp>
      <p:sp>
        <p:nvSpPr>
          <p:cNvPr id="63" name="Rounded Rectangle 62"/>
          <p:cNvSpPr/>
          <p:nvPr/>
        </p:nvSpPr>
        <p:spPr>
          <a:xfrm>
            <a:off x="7380853" y="2507468"/>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35717" y="2507468"/>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Redis or Caffeine — cache, sessions</a:t>
            </a:r>
          </a:p>
        </p:txBody>
      </p:sp>
      <p:sp>
        <p:nvSpPr>
          <p:cNvPr id="65" name="Rounded Rectangle 64"/>
          <p:cNvSpPr/>
          <p:nvPr/>
        </p:nvSpPr>
        <p:spPr>
          <a:xfrm>
            <a:off x="7380853" y="2843080"/>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35717" y="2843080"/>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mimoto-issuers-config.json</a:t>
            </a:r>
          </a:p>
        </p:txBody>
      </p:sp>
      <p:sp>
        <p:nvSpPr>
          <p:cNvPr id="67" name="Rounded Rectangle 66"/>
          <p:cNvSpPr/>
          <p:nvPr/>
        </p:nvSpPr>
        <p:spPr>
          <a:xfrm>
            <a:off x="7380853" y="3178693"/>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35717" y="3178693"/>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mimoto-trusted-verifiers.json</a:t>
            </a:r>
          </a:p>
        </p:txBody>
      </p:sp>
      <p:sp>
        <p:nvSpPr>
          <p:cNvPr id="69" name="Rounded Rectangle 68"/>
          <p:cNvSpPr/>
          <p:nvPr/>
        </p:nvSpPr>
        <p:spPr>
          <a:xfrm>
            <a:off x="7380853" y="351430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35717" y="351430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mimoto-default.properties</a:t>
            </a:r>
          </a:p>
        </p:txBody>
      </p:sp>
      <p:cxnSp>
        <p:nvCxnSpPr>
          <p:cNvPr id="71" name="Connector 70"/>
          <p:cNvCxnSpPr/>
          <p:nvPr/>
        </p:nvCxnSpPr>
        <p:spPr>
          <a:xfrm>
            <a:off x="9434230" y="3570242"/>
            <a:ext cx="96012" cy="0"/>
          </a:xfrm>
          <a:prstGeom prst="line">
            <a:avLst/>
          </a:prstGeom>
          <a:ln w="15240">
            <a:solidFill>
              <a:srgbClr val="5B6B7F"/>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9539386" y="1675655"/>
            <a:ext cx="2149388" cy="3897435"/>
          </a:xfrm>
          <a:prstGeom prst="roundRect">
            <a:avLst>
              <a:gd name="adj" fmla="val 45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539386" y="1675655"/>
            <a:ext cx="2149388" cy="631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67402" y="1856092"/>
            <a:ext cx="1893356" cy="270655"/>
          </a:xfrm>
          <a:prstGeom prst="rect">
            <a:avLst/>
          </a:prstGeom>
          <a:noFill/>
        </p:spPr>
        <p:txBody>
          <a:bodyPr wrap="square" lIns="0" rIns="0" tIns="0" bIns="0" anchor="t">
            <a:spAutoFit/>
          </a:bodyPr>
          <a:lstStyle/>
          <a:p>
            <a:pPr algn="l">
              <a:lnSpc>
                <a:spcPct val="114000"/>
              </a:lnSpc>
              <a:spcBef>
                <a:spcPts val="0"/>
              </a:spcBef>
              <a:spcAft>
                <a:spcPts val="0"/>
              </a:spcAft>
            </a:pPr>
            <a:r>
              <a:rPr sz="940" b="1" i="0">
                <a:solidFill>
                  <a:srgbClr val="B45309"/>
                </a:solidFill>
              </a:rPr>
              <a:t>OUTBOUND</a:t>
            </a:r>
          </a:p>
        </p:txBody>
      </p:sp>
      <p:sp>
        <p:nvSpPr>
          <p:cNvPr id="75" name="Rounded Rectangle 74"/>
          <p:cNvSpPr/>
          <p:nvPr/>
        </p:nvSpPr>
        <p:spPr>
          <a:xfrm>
            <a:off x="9639970" y="217185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694834" y="217185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Issuer well-known</a:t>
            </a:r>
          </a:p>
        </p:txBody>
      </p:sp>
      <p:sp>
        <p:nvSpPr>
          <p:cNvPr id="77" name="Rounded Rectangle 76"/>
          <p:cNvSpPr/>
          <p:nvPr/>
        </p:nvSpPr>
        <p:spPr>
          <a:xfrm>
            <a:off x="9639970" y="2507468"/>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694834" y="2507468"/>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Authorization server token endpoint</a:t>
            </a:r>
          </a:p>
        </p:txBody>
      </p:sp>
      <p:sp>
        <p:nvSpPr>
          <p:cNvPr id="79" name="Rounded Rectangle 78"/>
          <p:cNvSpPr/>
          <p:nvPr/>
        </p:nvSpPr>
        <p:spPr>
          <a:xfrm>
            <a:off x="9639970" y="2843080"/>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694834" y="2843080"/>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Credential endpoint</a:t>
            </a:r>
          </a:p>
        </p:txBody>
      </p:sp>
      <p:sp>
        <p:nvSpPr>
          <p:cNvPr id="81" name="Rounded Rectangle 80"/>
          <p:cNvSpPr/>
          <p:nvPr/>
        </p:nvSpPr>
        <p:spPr>
          <a:xfrm>
            <a:off x="9639970" y="3178693"/>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694834" y="3178693"/>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Verifier response_uri</a:t>
            </a:r>
          </a:p>
        </p:txBody>
      </p:sp>
      <p:sp>
        <p:nvSpPr>
          <p:cNvPr id="83" name="Rounded Rectangle 82"/>
          <p:cNvSpPr/>
          <p:nvPr/>
        </p:nvSpPr>
        <p:spPr>
          <a:xfrm>
            <a:off x="9639970" y="3514306"/>
            <a:ext cx="1948220" cy="293209"/>
          </a:xfrm>
          <a:prstGeom prst="roundRect">
            <a:avLst>
              <a:gd name="adj" fmla="val 16000"/>
            </a:avLst>
          </a:prstGeom>
          <a:solidFill>
            <a:srgbClr val="FFFFFF"/>
          </a:solidFill>
          <a:ln w="10160">
            <a:solidFill>
              <a:srgbClr val="E4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694834" y="3514306"/>
            <a:ext cx="1838492" cy="293209"/>
          </a:xfrm>
          <a:prstGeom prst="rect">
            <a:avLst/>
          </a:prstGeom>
          <a:noFill/>
        </p:spPr>
        <p:txBody>
          <a:bodyPr wrap="square" lIns="0" rIns="0" tIns="0" bIns="0" anchor="ctr">
            <a:spAutoFit/>
          </a:bodyPr>
          <a:lstStyle/>
          <a:p>
            <a:pPr algn="l">
              <a:lnSpc>
                <a:spcPct val="98000"/>
              </a:lnSpc>
              <a:spcBef>
                <a:spcPts val="0"/>
              </a:spcBef>
              <a:spcAft>
                <a:spcPts val="0"/>
              </a:spcAft>
            </a:pPr>
            <a:r>
              <a:rPr sz="810" b="0" i="0">
                <a:solidFill>
                  <a:srgbClr val="1E293B"/>
                </a:solidFill>
                <a:latin typeface="Arial"/>
              </a:rPr>
              <a:t>Google / OIDC login</a:t>
            </a:r>
          </a:p>
        </p:txBody>
      </p:sp>
      <p:sp>
        <p:nvSpPr>
          <p:cNvPr id="85" name="Rounded Rectangle 84"/>
          <p:cNvSpPr/>
          <p:nvPr/>
        </p:nvSpPr>
        <p:spPr>
          <a:xfrm>
            <a:off x="502920" y="5753526"/>
            <a:ext cx="11185855" cy="519257"/>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2920" y="5753526"/>
            <a:ext cx="45720" cy="519257"/>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04088" y="5843745"/>
            <a:ext cx="10820095" cy="374907"/>
          </a:xfrm>
          <a:prstGeom prst="rect">
            <a:avLst/>
          </a:prstGeom>
          <a:noFill/>
        </p:spPr>
        <p:txBody>
          <a:bodyPr wrap="square" lIns="0" rIns="0" tIns="0" bIns="0" anchor="t">
            <a:spAutoFit/>
          </a:bodyPr>
          <a:lstStyle/>
          <a:p>
            <a:pPr algn="l">
              <a:lnSpc>
                <a:spcPct val="122000"/>
              </a:lnSpc>
              <a:spcBef>
                <a:spcPts val="0"/>
              </a:spcBef>
              <a:spcAft>
                <a:spcPts val="0"/>
              </a:spcAft>
            </a:pPr>
            <a:r>
              <a:rPr sz="1030" b="0" i="0">
                <a:solidFill>
                  <a:srgbClr val="1E293B"/>
                </a:solidFill>
                <a:latin typeface="Arial"/>
              </a:rPr>
              <a:t>Notice </a:t>
            </a:r>
            <a:r>
              <a:rPr sz="1030" b="0" i="0">
                <a:solidFill>
                  <a:srgbClr val="1D4E89"/>
                </a:solidFill>
                <a:latin typeface="Consolas"/>
              </a:rPr>
              <a:t>CredentialFormatHandlerFactory</a:t>
            </a:r>
            <a:r>
              <a:rPr sz="1030" b="0" i="0">
                <a:solidFill>
                  <a:srgbClr val="1E293B"/>
                </a:solidFill>
                <a:latin typeface="Arial"/>
              </a:rPr>
              <a:t> and its </a:t>
            </a:r>
            <a:r>
              <a:rPr sz="1030" b="0" i="0">
                <a:solidFill>
                  <a:srgbClr val="1D4E89"/>
                </a:solidFill>
                <a:latin typeface="Consolas"/>
              </a:rPr>
              <a:t>LdpVcCredentialFormatHandler</a:t>
            </a:r>
            <a:r>
              <a:rPr sz="1030" b="0" i="0">
                <a:solidFill>
                  <a:srgbClr val="1E293B"/>
                </a:solidFill>
                <a:latin typeface="Arial"/>
              </a:rPr>
              <a:t>, </a:t>
            </a:r>
            <a:r>
              <a:rPr sz="1030" b="0" i="0">
                <a:solidFill>
                  <a:srgbClr val="1D4E89"/>
                </a:solidFill>
                <a:latin typeface="Consolas"/>
              </a:rPr>
              <a:t>VcSdJwtCredentialFormatHandler</a:t>
            </a:r>
            <a:r>
              <a:rPr sz="1030" b="0" i="0">
                <a:solidFill>
                  <a:srgbClr val="1E293B"/>
                </a:solidFill>
                <a:latin typeface="Arial"/>
              </a:rPr>
              <a:t>, </a:t>
            </a:r>
            <a:r>
              <a:rPr sz="1030" b="0" i="0">
                <a:solidFill>
                  <a:srgbClr val="1D4E89"/>
                </a:solidFill>
                <a:latin typeface="Consolas"/>
              </a:rPr>
              <a:t>DcSdJwtCredentialFormatHandler</a:t>
            </a:r>
            <a:r>
              <a:rPr sz="1030" b="0" i="0">
                <a:solidFill>
                  <a:srgbClr val="1E293B"/>
                </a:solidFill>
                <a:latin typeface="Arial"/>
              </a:rPr>
              <a:t>. </a:t>
            </a:r>
            <a:r>
              <a:rPr sz="1030" b="1" i="0">
                <a:solidFill>
                  <a:srgbClr val="0E9488"/>
                </a:solidFill>
                <a:latin typeface="Arial"/>
              </a:rPr>
              <a:t>Format support in Mimoto is a strategy pattern</a:t>
            </a:r>
            <a:r>
              <a:rPr sz="1030" b="0" i="0">
                <a:solidFill>
                  <a:srgbClr val="1E293B"/>
                </a:solidFill>
                <a:latin typeface="Arial"/>
              </a:rPr>
              <a:t> — adding a format means adding a handler, not editing controllers.</a:t>
            </a:r>
          </a:p>
        </p:txBody>
      </p:sp>
      <p:sp>
        <p:nvSpPr>
          <p:cNvPr id="88" name="TextBox 8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Mimoto — the wallet backend</a:t>
            </a:r>
          </a:p>
        </p:txBody>
      </p:sp>
      <p:sp>
        <p:nvSpPr>
          <p:cNvPr id="89" name="TextBox 8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WHAT YOU WILL CALL AND EDIT</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Mimoto's API surface and configuration files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Base path </a:t>
            </a:r>
            <a:r>
              <a:rPr sz="1150" b="0" i="0">
                <a:solidFill>
                  <a:srgbClr val="1D4E89"/>
                </a:solidFill>
                <a:latin typeface="Consolas"/>
              </a:rPr>
              <a:t>/v1/mimoto</a:t>
            </a:r>
            <a:r>
              <a:rPr sz="1150" b="0" i="0">
                <a:solidFill>
                  <a:srgbClr val="5B6B7F"/>
                </a:solidFill>
                <a:latin typeface="Arial"/>
              </a:rPr>
              <a:t>. Two groups: catalogue endpoints, and the stateful wallet endpoints used by Inji Web.</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82496"/>
          <a:ext cx="6903719" cy="4195572"/>
        </p:xfrm>
        <a:graphic>
          <a:graphicData uri="http://schemas.openxmlformats.org/drawingml/2006/table">
            <a:tbl>
              <a:tblPr firstRow="1">
                <a:tableStyleId>{2D5ABB26-0587-4C30-8999-92F81FD0307C}</a:tableStyleId>
              </a:tblPr>
              <a:tblGrid>
                <a:gridCol w="3058610"/>
                <a:gridCol w="2971221"/>
                <a:gridCol w="873888"/>
              </a:tblGrid>
              <a:tr h="292608">
                <a:tc>
                  <a:txBody>
                    <a:bodyPr wrap="square"/>
                    <a:lstStyle/>
                    <a:p>
                      <a:pPr algn="l"/>
                      <a:r>
                        <a:rPr sz="950" b="1">
                          <a:solidFill>
                            <a:srgbClr val="FFFFFF"/>
                          </a:solidFill>
                          <a:latin typeface="Arial"/>
                        </a:rPr>
                        <a:t>Endpoint</a:t>
                      </a:r>
                    </a:p>
                  </a:txBody>
                  <a:tcPr marL="64008" marR="54864" marT="27432" marB="27432" anchor="ctr">
                    <a:solidFill>
                      <a:srgbClr val="1D4E89"/>
                    </a:solidFill>
                  </a:tcPr>
                </a:tc>
                <a:tc>
                  <a:txBody>
                    <a:bodyPr wrap="square"/>
                    <a:lstStyle/>
                    <a:p>
                      <a:pPr algn="l"/>
                      <a:r>
                        <a:rPr sz="950" b="1">
                          <a:solidFill>
                            <a:srgbClr val="FFFFFF"/>
                          </a:solidFill>
                          <a:latin typeface="Arial"/>
                        </a:rPr>
                        <a:t>What it does</a:t>
                      </a:r>
                    </a:p>
                  </a:txBody>
                  <a:tcPr marL="64008" marR="54864" marT="27432" marB="27432" anchor="ctr">
                    <a:solidFill>
                      <a:srgbClr val="1D4E89"/>
                    </a:solidFill>
                  </a:tcPr>
                </a:tc>
                <a:tc>
                  <a:txBody>
                    <a:bodyPr wrap="square"/>
                    <a:lstStyle/>
                    <a:p>
                      <a:pPr algn="l"/>
                      <a:r>
                        <a:rPr sz="950" b="1">
                          <a:solidFill>
                            <a:srgbClr val="FFFFFF"/>
                          </a:solidFill>
                          <a:latin typeface="Arial"/>
                        </a:rPr>
                        <a:t>Caller</a:t>
                      </a:r>
                    </a:p>
                  </a:txBody>
                  <a:tcPr marL="64008" marR="54864" marT="27432" marB="27432" anchor="ctr">
                    <a:solidFill>
                      <a:srgbClr val="1D4E89"/>
                    </a:solidFill>
                  </a:tcPr>
                </a:tc>
              </a:tr>
              <a:tr h="297180">
                <a:tc>
                  <a:txBody>
                    <a:bodyPr wrap="square"/>
                    <a:lstStyle/>
                    <a:p>
                      <a:pPr algn="l">
                        <a:lnSpc>
                          <a:spcPct val="105000"/>
                        </a:lnSpc>
                      </a:pPr>
                      <a:r>
                        <a:rPr sz="890" b="0">
                          <a:solidFill>
                            <a:srgbClr val="1D4E89"/>
                          </a:solidFill>
                          <a:latin typeface="Consolas"/>
                        </a:rPr>
                        <a:t>GET /v2/issuers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The governed issuer catalogue</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Wallet, Web</a:t>
                      </a:r>
                    </a:p>
                  </a:txBody>
                  <a:tcPr marL="64008" marR="54864" marT="18288" marB="18288" anchor="ctr">
                    <a:solidFill>
                      <a:srgbClr val="FFFFFF"/>
                    </a:solidFill>
                  </a:tcPr>
                </a:tc>
              </a:tr>
              <a:tr h="353314">
                <a:tc>
                  <a:txBody>
                    <a:bodyPr wrap="square"/>
                    <a:lstStyle/>
                    <a:p>
                      <a:pPr algn="l">
                        <a:lnSpc>
                          <a:spcPct val="105000"/>
                        </a:lnSpc>
                      </a:pPr>
                      <a:r>
                        <a:rPr sz="890" b="0">
                          <a:solidFill>
                            <a:srgbClr val="1D4E89"/>
                          </a:solidFill>
                          <a:latin typeface="Consolas"/>
                        </a:rPr>
                        <a:t>GET /issuers/{id}/configuration</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Issuer well-known + auth server well-known, merged and cached</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Web</a:t>
                      </a:r>
                    </a:p>
                  </a:txBody>
                  <a:tcPr marL="64008" marR="54864" marT="18288" marB="18288" anchor="ctr">
                    <a:solidFill>
                      <a:srgbClr val="F3F6F9"/>
                    </a:solidFill>
                  </a:tcPr>
                </a:tc>
              </a:tr>
              <a:tr h="297180">
                <a:tc>
                  <a:txBody>
                    <a:bodyPr wrap="square"/>
                    <a:lstStyle/>
                    <a:p>
                      <a:pPr algn="l">
                        <a:lnSpc>
                          <a:spcPct val="105000"/>
                        </a:lnSpc>
                      </a:pPr>
                      <a:r>
                        <a:rPr sz="890" b="0">
                          <a:solidFill>
                            <a:srgbClr val="1D4E89"/>
                          </a:solidFill>
                          <a:latin typeface="Consolas"/>
                        </a:rPr>
                        <a:t>GET /issuers/{id}/well-known-proxy</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Proxy to the issuer's well-known document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Wallet</a:t>
                      </a:r>
                    </a:p>
                  </a:txBody>
                  <a:tcPr marL="64008" marR="54864" marT="18288" marB="18288" anchor="ctr">
                    <a:solidFill>
                      <a:srgbClr val="FFFFFF"/>
                    </a:solidFill>
                  </a:tcPr>
                </a:tc>
              </a:tr>
              <a:tr h="353314">
                <a:tc>
                  <a:txBody>
                    <a:bodyPr wrap="square"/>
                    <a:lstStyle/>
                    <a:p>
                      <a:pPr algn="l">
                        <a:lnSpc>
                          <a:spcPct val="105000"/>
                        </a:lnSpc>
                      </a:pPr>
                      <a:r>
                        <a:rPr sz="890" b="0">
                          <a:solidFill>
                            <a:srgbClr val="1D4E89"/>
                          </a:solidFill>
                          <a:latin typeface="Consolas"/>
                        </a:rPr>
                        <a:t>POST /get-token/{issuer}</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Broker the authorization-code → access-token exchange</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Wallet</a:t>
                      </a:r>
                    </a:p>
                  </a:txBody>
                  <a:tcPr marL="64008" marR="54864" marT="18288" marB="18288" anchor="ctr">
                    <a:solidFill>
                      <a:srgbClr val="F3F6F9"/>
                    </a:solidFill>
                  </a:tcPr>
                </a:tc>
              </a:tr>
              <a:tr h="297180">
                <a:tc>
                  <a:txBody>
                    <a:bodyPr wrap="square"/>
                    <a:lstStyle/>
                    <a:p>
                      <a:pPr algn="l">
                        <a:lnSpc>
                          <a:spcPct val="105000"/>
                        </a:lnSpc>
                      </a:pPr>
                      <a:r>
                        <a:rPr sz="890" b="0">
                          <a:solidFill>
                            <a:srgbClr val="1D4E89"/>
                          </a:solidFill>
                          <a:latin typeface="Consolas"/>
                        </a:rPr>
                        <a:t>GET /verifiers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The trusted verifier list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Wallet</a:t>
                      </a:r>
                    </a:p>
                  </a:txBody>
                  <a:tcPr marL="64008" marR="54864" marT="18288" marB="18288" anchor="ctr">
                    <a:solidFill>
                      <a:srgbClr val="FFFFFF"/>
                    </a:solidFill>
                  </a:tcPr>
                </a:tc>
              </a:tr>
              <a:tr h="353314">
                <a:tc>
                  <a:txBody>
                    <a:bodyPr wrap="square"/>
                    <a:lstStyle/>
                    <a:p>
                      <a:pPr algn="l">
                        <a:lnSpc>
                          <a:spcPct val="105000"/>
                        </a:lnSpc>
                      </a:pPr>
                      <a:r>
                        <a:rPr sz="890" b="0">
                          <a:solidFill>
                            <a:srgbClr val="1D4E89"/>
                          </a:solidFill>
                          <a:latin typeface="Consolas"/>
                        </a:rPr>
                        <a:t>POST /wallets</a:t>
                      </a:r>
                      <a:r>
                        <a:rPr sz="890" b="0">
                          <a:solidFill>
                            <a:srgbClr val="1E293B"/>
                          </a:solidFill>
                          <a:latin typeface="Arial"/>
                        </a:rPr>
                        <a:t>  ·  </a:t>
                      </a:r>
                      <a:r>
                        <a:rPr sz="890" b="0">
                          <a:solidFill>
                            <a:srgbClr val="1D4E89"/>
                          </a:solidFill>
                          <a:latin typeface="Consolas"/>
                        </a:rPr>
                        <a:t>POST /wallets/{id}/unlock</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Create a Web wallet with a PIN; unlock it for a session</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Web</a:t>
                      </a:r>
                    </a:p>
                  </a:txBody>
                  <a:tcPr marL="64008" marR="54864" marT="18288" marB="18288" anchor="ctr">
                    <a:solidFill>
                      <a:srgbClr val="F3F6F9"/>
                    </a:solidFill>
                  </a:tcPr>
                </a:tc>
              </a:tr>
              <a:tr h="297180">
                <a:tc>
                  <a:txBody>
                    <a:bodyPr wrap="square"/>
                    <a:lstStyle/>
                    <a:p>
                      <a:pPr algn="l">
                        <a:lnSpc>
                          <a:spcPct val="105000"/>
                        </a:lnSpc>
                      </a:pPr>
                      <a:r>
                        <a:rPr sz="890" b="0">
                          <a:solidFill>
                            <a:srgbClr val="1D4E89"/>
                          </a:solidFill>
                          <a:latin typeface="Consolas"/>
                        </a:rPr>
                        <a:t>POST /wallets/{id}/credentials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Download a credential into the Web wallet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Web</a:t>
                      </a:r>
                    </a:p>
                  </a:txBody>
                  <a:tcPr marL="64008" marR="54864" marT="18288" marB="18288" anchor="ctr">
                    <a:solidFill>
                      <a:srgbClr val="FFFFFF"/>
                    </a:solidFill>
                  </a:tcPr>
                </a:tc>
              </a:tr>
              <a:tr h="353314">
                <a:tc>
                  <a:txBody>
                    <a:bodyPr wrap="square"/>
                    <a:lstStyle/>
                    <a:p>
                      <a:pPr algn="l">
                        <a:lnSpc>
                          <a:spcPct val="105000"/>
                        </a:lnSpc>
                      </a:pPr>
                      <a:r>
                        <a:rPr sz="890" b="0">
                          <a:solidFill>
                            <a:srgbClr val="1D4E89"/>
                          </a:solidFill>
                          <a:latin typeface="Consolas"/>
                        </a:rPr>
                        <a:t>GET /wallets/{id}/credentials</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List stored credentials; </a:t>
                      </a:r>
                      <a:r>
                        <a:rPr sz="890" b="0">
                          <a:solidFill>
                            <a:srgbClr val="1D4E89"/>
                          </a:solidFill>
                          <a:latin typeface="Consolas"/>
                        </a:rPr>
                        <a:t>/{credentialId}</a:t>
                      </a:r>
                      <a:r>
                        <a:rPr sz="890" b="0">
                          <a:solidFill>
                            <a:srgbClr val="1E293B"/>
                          </a:solidFill>
                          <a:latin typeface="Arial"/>
                        </a:rPr>
                        <a:t> fetches or downloads one</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Web</a:t>
                      </a:r>
                    </a:p>
                  </a:txBody>
                  <a:tcPr marL="64008" marR="54864" marT="18288" marB="18288" anchor="ctr">
                    <a:solidFill>
                      <a:srgbClr val="F3F6F9"/>
                    </a:solidFill>
                  </a:tcPr>
                </a:tc>
              </a:tr>
              <a:tr h="353314">
                <a:tc>
                  <a:txBody>
                    <a:bodyPr wrap="square"/>
                    <a:lstStyle/>
                    <a:p>
                      <a:pPr algn="l">
                        <a:lnSpc>
                          <a:spcPct val="105000"/>
                        </a:lnSpc>
                      </a:pPr>
                      <a:r>
                        <a:rPr sz="890" b="0">
                          <a:solidFill>
                            <a:srgbClr val="1D4E89"/>
                          </a:solidFill>
                          <a:latin typeface="Consolas"/>
                        </a:rPr>
                        <a:t>POST /wallets/{id}/presentations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Start an OpenID4VP presentation for a Web session</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Web</a:t>
                      </a:r>
                    </a:p>
                  </a:txBody>
                  <a:tcPr marL="64008" marR="54864" marT="18288" marB="18288" anchor="ctr">
                    <a:solidFill>
                      <a:srgbClr val="FFFFFF"/>
                    </a:solidFill>
                  </a:tcPr>
                </a:tc>
              </a:tr>
              <a:tr h="353314">
                <a:tc>
                  <a:txBody>
                    <a:bodyPr wrap="square"/>
                    <a:lstStyle/>
                    <a:p>
                      <a:pPr algn="l">
                        <a:lnSpc>
                          <a:spcPct val="105000"/>
                        </a:lnSpc>
                      </a:pPr>
                      <a:r>
                        <a:rPr sz="890" b="0">
                          <a:solidFill>
                            <a:srgbClr val="1D4E89"/>
                          </a:solidFill>
                          <a:latin typeface="Consolas"/>
                        </a:rPr>
                        <a:t>GET /wallets/{id}/presentations/{pid}/credentials</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Which stored credentials match this request</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Web</a:t>
                      </a:r>
                    </a:p>
                  </a:txBody>
                  <a:tcPr marL="64008" marR="54864" marT="18288" marB="18288" anchor="ctr">
                    <a:solidFill>
                      <a:srgbClr val="F3F6F9"/>
                    </a:solidFill>
                  </a:tcPr>
                </a:tc>
              </a:tr>
              <a:tr h="297180">
                <a:tc>
                  <a:txBody>
                    <a:bodyPr wrap="square"/>
                    <a:lstStyle/>
                    <a:p>
                      <a:pPr algn="l">
                        <a:lnSpc>
                          <a:spcPct val="105000"/>
                        </a:lnSpc>
                      </a:pPr>
                      <a:r>
                        <a:rPr sz="890" b="0">
                          <a:solidFill>
                            <a:srgbClr val="1D4E89"/>
                          </a:solidFill>
                          <a:latin typeface="Consolas"/>
                        </a:rPr>
                        <a:t>POST /credentials/download</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Render a credential as a PDF</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Wallet, Web</a:t>
                      </a:r>
                    </a:p>
                  </a:txBody>
                  <a:tcPr marL="64008" marR="54864" marT="18288" marB="18288" anchor="ctr">
                    <a:solidFill>
                      <a:srgbClr val="FFFFFF"/>
                    </a:solidFill>
                  </a:tcPr>
                </a:tc>
              </a:tr>
              <a:tr h="297180">
                <a:tc>
                  <a:txBody>
                    <a:bodyPr wrap="square"/>
                    <a:lstStyle/>
                    <a:p>
                      <a:pPr algn="l">
                        <a:lnSpc>
                          <a:spcPct val="105000"/>
                        </a:lnSpc>
                      </a:pPr>
                      <a:r>
                        <a:rPr sz="890" b="0">
                          <a:solidFill>
                            <a:srgbClr val="1D4E89"/>
                          </a:solidFill>
                          <a:latin typeface="Consolas"/>
                        </a:rPr>
                        <a:t>POST /safetynet/{online|offline}/verify</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Device attestation verification</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Wallet</a:t>
                      </a:r>
                    </a:p>
                  </a:txBody>
                  <a:tcPr marL="64008" marR="54864" marT="18288" marB="18288" anchor="ctr">
                    <a:solidFill>
                      <a:srgbClr val="F3F6F9"/>
                    </a:solidFill>
                  </a:tcPr>
                </a:tc>
              </a:tr>
            </a:tbl>
          </a:graphicData>
        </a:graphic>
      </p:graphicFrame>
      <p:sp>
        <p:nvSpPr>
          <p:cNvPr id="7" name="TextBox 6"/>
          <p:cNvSpPr txBox="1"/>
          <p:nvPr/>
        </p:nvSpPr>
        <p:spPr>
          <a:xfrm>
            <a:off x="7690104" y="1463040"/>
            <a:ext cx="3995928"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ADDING AN ISSUER</a:t>
            </a:r>
          </a:p>
        </p:txBody>
      </p:sp>
      <p:sp>
        <p:nvSpPr>
          <p:cNvPr id="8" name="Rounded Rectangle 7"/>
          <p:cNvSpPr/>
          <p:nvPr/>
        </p:nvSpPr>
        <p:spPr>
          <a:xfrm>
            <a:off x="7690104" y="1682496"/>
            <a:ext cx="3995928" cy="2148840"/>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36408" y="1801368"/>
            <a:ext cx="3703320" cy="1911095"/>
          </a:xfrm>
          <a:prstGeom prst="rect">
            <a:avLst/>
          </a:prstGeom>
          <a:noFill/>
        </p:spPr>
        <p:txBody>
          <a:bodyPr wrap="square" lIns="0" rIns="0" tIns="0" bIns="0" anchor="t">
            <a:spAutoFit/>
          </a:bodyPr>
          <a:lstStyle/>
          <a:p>
            <a:pPr>
              <a:lnSpc>
                <a:spcPct val="116000"/>
              </a:lnSpc>
              <a:spcBef>
                <a:spcPts val="0"/>
              </a:spcBef>
              <a:spcAft>
                <a:spcPts val="0"/>
              </a:spcAft>
            </a:pPr>
            <a:r>
              <a:rPr sz="830">
                <a:solidFill>
                  <a:srgbClr val="7E93A8"/>
                </a:solidFill>
                <a:latin typeface="Consolas"/>
              </a:rPr>
              <a:t>// mimoto-issuers-config.json</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"issuers"</a:t>
            </a: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"issuer_id"</a:t>
            </a:r>
            <a:r>
              <a:rPr sz="830">
                <a:solidFill>
                  <a:srgbClr val="CBD9E8"/>
                </a:solidFill>
                <a:latin typeface="Consolas"/>
              </a:rPr>
              <a:t>: </a:t>
            </a:r>
            <a:r>
              <a:rPr sz="830">
                <a:solidFill>
                  <a:srgbClr val="F6C67A"/>
                </a:solidFill>
                <a:latin typeface="Consolas"/>
              </a:rPr>
              <a:t>"GovBR"</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"display"</a:t>
            </a:r>
            <a:r>
              <a:rPr sz="830">
                <a:solidFill>
                  <a:srgbClr val="CBD9E8"/>
                </a:solidFill>
                <a:latin typeface="Consolas"/>
              </a:rPr>
              <a:t>: [{ </a:t>
            </a:r>
            <a:r>
              <a:rPr sz="830">
                <a:solidFill>
                  <a:srgbClr val="7DD3C8"/>
                </a:solidFill>
                <a:latin typeface="Consolas"/>
              </a:rPr>
              <a:t>"name"</a:t>
            </a:r>
            <a:r>
              <a:rPr sz="830">
                <a:solidFill>
                  <a:srgbClr val="CBD9E8"/>
                </a:solidFill>
                <a:latin typeface="Consolas"/>
              </a:rPr>
              <a:t>:</a:t>
            </a:r>
            <a:r>
              <a:rPr sz="830">
                <a:solidFill>
                  <a:srgbClr val="F6C67A"/>
                </a:solidFill>
                <a:latin typeface="Consolas"/>
              </a:rPr>
              <a:t>"gov.br"</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"language"</a:t>
            </a:r>
            <a:r>
              <a:rPr sz="830">
                <a:solidFill>
                  <a:srgbClr val="CBD9E8"/>
                </a:solidFill>
                <a:latin typeface="Consolas"/>
              </a:rPr>
              <a:t>:</a:t>
            </a:r>
            <a:r>
              <a:rPr sz="830">
                <a:solidFill>
                  <a:srgbClr val="F6C67A"/>
                </a:solidFill>
                <a:latin typeface="Consolas"/>
              </a:rPr>
              <a:t>"pt"</a:t>
            </a: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"protocol"</a:t>
            </a:r>
            <a:r>
              <a:rPr sz="830">
                <a:solidFill>
                  <a:srgbClr val="CBD9E8"/>
                </a:solidFill>
                <a:latin typeface="Consolas"/>
              </a:rPr>
              <a:t>: </a:t>
            </a:r>
            <a:r>
              <a:rPr sz="830">
                <a:solidFill>
                  <a:srgbClr val="F6C67A"/>
                </a:solidFill>
                <a:latin typeface="Consolas"/>
              </a:rPr>
              <a:t>"OpenId4VCI"</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"client_id"</a:t>
            </a:r>
            <a:r>
              <a:rPr sz="830">
                <a:solidFill>
                  <a:srgbClr val="CBD9E8"/>
                </a:solidFill>
                <a:latin typeface="Consolas"/>
              </a:rPr>
              <a:t>: </a:t>
            </a:r>
            <a:r>
              <a:rPr sz="830">
                <a:solidFill>
                  <a:srgbClr val="F6C67A"/>
                </a:solidFill>
                <a:latin typeface="Consolas"/>
              </a:rPr>
              <a:t>"inji-wallet"</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"credential_issuer_host"</a:t>
            </a:r>
            <a:r>
              <a:rPr sz="830">
                <a:solidFill>
                  <a:srgbClr val="CBD9E8"/>
                </a:solidFill>
                <a:latin typeface="Consolas"/>
              </a:rPr>
              <a:t>: </a:t>
            </a:r>
            <a:r>
              <a:rPr sz="830">
                <a:solidFill>
                  <a:srgbClr val="F6C67A"/>
                </a:solidFill>
                <a:latin typeface="Consolas"/>
              </a:rPr>
              <a:t>"https://…"</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"wellknown_endpoint"</a:t>
            </a:r>
            <a:r>
              <a:rPr sz="830">
                <a:solidFill>
                  <a:srgbClr val="CBD9E8"/>
                </a:solidFill>
                <a:latin typeface="Consolas"/>
              </a:rPr>
              <a:t>: </a:t>
            </a:r>
            <a:r>
              <a:rPr sz="830">
                <a:solidFill>
                  <a:srgbClr val="F6C67A"/>
                </a:solidFill>
                <a:latin typeface="Consolas"/>
              </a:rPr>
              <a:t>"https://…"</a:t>
            </a:r>
            <a:r>
              <a:rPr sz="830">
                <a:solidFill>
                  <a:srgbClr val="CBD9E8"/>
                </a:solidFill>
                <a:latin typeface="Consolas"/>
              </a:rPr>
              <a:t>,</a:t>
            </a:r>
          </a:p>
          <a:p>
            <a:pPr>
              <a:lnSpc>
                <a:spcPct val="116000"/>
              </a:lnSpc>
              <a:spcBef>
                <a:spcPts val="0"/>
              </a:spcBef>
              <a:spcAft>
                <a:spcPts val="0"/>
              </a:spcAft>
            </a:pPr>
            <a:r>
              <a:rPr sz="830" b="1">
                <a:solidFill>
                  <a:srgbClr val="FFD56B"/>
                </a:solidFill>
                <a:latin typeface="Consolas"/>
              </a:rPr>
              <a:t>  </a:t>
            </a:r>
            <a:r>
              <a:rPr sz="830" b="1">
                <a:solidFill>
                  <a:srgbClr val="FFD56B"/>
                </a:solidFill>
                <a:latin typeface="Consolas"/>
              </a:rPr>
              <a:t>"redirect_uri"</a:t>
            </a:r>
            <a:r>
              <a:rPr sz="830" b="1">
                <a:solidFill>
                  <a:srgbClr val="FFD56B"/>
                </a:solidFill>
                <a:latin typeface="Consolas"/>
              </a:rPr>
              <a:t>: </a:t>
            </a:r>
            <a:r>
              <a:rPr sz="830" b="1">
                <a:solidFill>
                  <a:srgbClr val="FFD56B"/>
                </a:solidFill>
                <a:latin typeface="Consolas"/>
              </a:rPr>
              <a:t>"io.mosip…://oauthredirect"</a:t>
            </a:r>
            <a:r>
              <a:rPr sz="830" b="1">
                <a:solidFill>
                  <a:srgbClr val="FFD56B"/>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"token_endpoint"</a:t>
            </a:r>
            <a:r>
              <a:rPr sz="830">
                <a:solidFill>
                  <a:srgbClr val="CBD9E8"/>
                </a:solidFill>
                <a:latin typeface="Consolas"/>
              </a:rPr>
              <a:t>: </a:t>
            </a:r>
            <a:r>
              <a:rPr sz="830">
                <a:solidFill>
                  <a:srgbClr val="F6C67A"/>
                </a:solidFill>
                <a:latin typeface="Consolas"/>
              </a:rPr>
              <a:t>"https://…/get-token/GovBR"</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"enabled"</a:t>
            </a:r>
            <a:r>
              <a:rPr sz="830">
                <a:solidFill>
                  <a:srgbClr val="CBD9E8"/>
                </a:solidFill>
                <a:latin typeface="Consolas"/>
              </a:rPr>
              <a:t>: </a:t>
            </a:r>
            <a:r>
              <a:rPr sz="830">
                <a:solidFill>
                  <a:srgbClr val="F6C67A"/>
                </a:solidFill>
                <a:latin typeface="Consolas"/>
              </a:rPr>
              <a:t>"true"</a:t>
            </a:r>
            <a:r>
              <a:rPr sz="830">
                <a:solidFill>
                  <a:srgbClr val="CBD9E8"/>
                </a:solidFill>
                <a:latin typeface="Consolas"/>
              </a:rPr>
              <a:t> }] }</a:t>
            </a:r>
          </a:p>
        </p:txBody>
      </p:sp>
      <p:sp>
        <p:nvSpPr>
          <p:cNvPr id="10" name="TextBox 9"/>
          <p:cNvSpPr txBox="1"/>
          <p:nvPr/>
        </p:nvSpPr>
        <p:spPr>
          <a:xfrm>
            <a:off x="7690104" y="3822191"/>
            <a:ext cx="3995928"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ADDING A VERIFIER</a:t>
            </a:r>
          </a:p>
        </p:txBody>
      </p:sp>
      <p:sp>
        <p:nvSpPr>
          <p:cNvPr id="11" name="Rounded Rectangle 10"/>
          <p:cNvSpPr/>
          <p:nvPr/>
        </p:nvSpPr>
        <p:spPr>
          <a:xfrm>
            <a:off x="7690104" y="4041648"/>
            <a:ext cx="3995928" cy="148132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36408" y="4160520"/>
            <a:ext cx="3703320" cy="1243584"/>
          </a:xfrm>
          <a:prstGeom prst="rect">
            <a:avLst/>
          </a:prstGeom>
          <a:noFill/>
        </p:spPr>
        <p:txBody>
          <a:bodyPr wrap="square" lIns="0" rIns="0" tIns="0" bIns="0" anchor="t">
            <a:spAutoFit/>
          </a:bodyPr>
          <a:lstStyle/>
          <a:p>
            <a:pPr>
              <a:lnSpc>
                <a:spcPct val="116000"/>
              </a:lnSpc>
              <a:spcBef>
                <a:spcPts val="0"/>
              </a:spcBef>
              <a:spcAft>
                <a:spcPts val="0"/>
              </a:spcAft>
            </a:pPr>
            <a:r>
              <a:rPr sz="830">
                <a:solidFill>
                  <a:srgbClr val="7E93A8"/>
                </a:solidFill>
                <a:latin typeface="Consolas"/>
              </a:rPr>
              <a:t>// mimoto-trusted-verifiers.json</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"verifiers"</a:t>
            </a: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"client_id"</a:t>
            </a:r>
            <a:r>
              <a:rPr sz="830">
                <a:solidFill>
                  <a:srgbClr val="CBD9E8"/>
                </a:solidFill>
                <a:latin typeface="Consolas"/>
              </a:rPr>
              <a:t>: </a:t>
            </a:r>
            <a:r>
              <a:rPr sz="830">
                <a:solidFill>
                  <a:srgbClr val="F6C67A"/>
                </a:solidFill>
                <a:latin typeface="Consolas"/>
              </a:rPr>
              <a:t>"verify.gov.br"</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"redirect_uris"</a:t>
            </a:r>
            <a:r>
              <a:rPr sz="830">
                <a:solidFill>
                  <a:srgbClr val="CBD9E8"/>
                </a:solidFill>
                <a:latin typeface="Consolas"/>
              </a:rPr>
              <a:t>: [</a:t>
            </a:r>
            <a:r>
              <a:rPr sz="830">
                <a:solidFill>
                  <a:srgbClr val="F6C67A"/>
                </a:solidFill>
                <a:latin typeface="Consolas"/>
              </a:rPr>
              <a:t>"https://verify.gov.br/"</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"response_uris"</a:t>
            </a:r>
            <a:r>
              <a:rPr sz="830">
                <a:solidFill>
                  <a:srgbClr val="CBD9E8"/>
                </a:solidFill>
                <a:latin typeface="Consolas"/>
              </a:rPr>
              <a:t>: [</a:t>
            </a:r>
            <a:r>
              <a:rPr sz="830">
                <a:solidFill>
                  <a:srgbClr val="F6C67A"/>
                </a:solidFill>
                <a:latin typeface="Consolas"/>
              </a:rPr>
              <a:t>"https://verify.gov.br/vp"</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"jwks_uri"</a:t>
            </a:r>
            <a:r>
              <a:rPr sz="830">
                <a:solidFill>
                  <a:srgbClr val="CBD9E8"/>
                </a:solidFill>
                <a:latin typeface="Consolas"/>
              </a:rPr>
              <a:t>: </a:t>
            </a:r>
            <a:r>
              <a:rPr sz="830">
                <a:solidFill>
                  <a:srgbClr val="F6C67A"/>
                </a:solidFill>
                <a:latin typeface="Consolas"/>
              </a:rPr>
              <a:t>"https://verify.gov.br/.well-known/jwks.json"</a:t>
            </a:r>
            <a:r>
              <a:rPr sz="830">
                <a:solidFill>
                  <a:srgbClr val="CBD9E8"/>
                </a:solidFill>
                <a:latin typeface="Consolas"/>
              </a:rPr>
              <a:t>,</a:t>
            </a:r>
          </a:p>
          <a:p>
            <a:pPr>
              <a:lnSpc>
                <a:spcPct val="116000"/>
              </a:lnSpc>
              <a:spcBef>
                <a:spcPts val="0"/>
              </a:spcBef>
              <a:spcAft>
                <a:spcPts val="0"/>
              </a:spcAft>
            </a:pPr>
            <a:r>
              <a:rPr sz="830" b="1">
                <a:solidFill>
                  <a:srgbClr val="FFD56B"/>
                </a:solidFill>
                <a:latin typeface="Consolas"/>
              </a:rPr>
              <a:t>  </a:t>
            </a:r>
            <a:r>
              <a:rPr sz="830" b="1">
                <a:solidFill>
                  <a:srgbClr val="FFD56B"/>
                </a:solidFill>
                <a:latin typeface="Consolas"/>
              </a:rPr>
              <a:t>"allow_unsigned_request"</a:t>
            </a:r>
            <a:r>
              <a:rPr sz="830" b="1">
                <a:solidFill>
                  <a:srgbClr val="FFD56B"/>
                </a:solidFill>
                <a:latin typeface="Consolas"/>
              </a:rPr>
              <a:t>: false }] }</a:t>
            </a:r>
          </a:p>
        </p:txBody>
      </p:sp>
      <p:sp>
        <p:nvSpPr>
          <p:cNvPr id="13" name="TextBox 1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Mimoto — the wallet backend</a:t>
            </a:r>
          </a:p>
        </p:txBody>
      </p:sp>
      <p:sp>
        <p:nvSpPr>
          <p:cNvPr id="14" name="TextBox 1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WHO OWNS WHAT</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Responsibility matrix — the slide to settle arguments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Print this. Put it on the wall of the integration room.</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11185855" cy="526288"/>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45720" cy="5262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73936"/>
            <a:ext cx="10820095" cy="379984"/>
          </a:xfrm>
          <a:prstGeom prst="rect">
            <a:avLst/>
          </a:prstGeom>
          <a:noFill/>
        </p:spPr>
        <p:txBody>
          <a:bodyPr wrap="square" lIns="0" rIns="0" tIns="0" bIns="0" anchor="t">
            <a:spAutoFit/>
          </a:bodyPr>
          <a:lstStyle/>
          <a:p>
            <a:pPr algn="l">
              <a:lnSpc>
                <a:spcPct val="122000"/>
              </a:lnSpc>
              <a:spcBef>
                <a:spcPts val="0"/>
              </a:spcBef>
              <a:spcAft>
                <a:spcPts val="0"/>
              </a:spcAft>
            </a:pPr>
            <a:r>
              <a:rPr sz="1040" b="0" i="0">
                <a:solidFill>
                  <a:srgbClr val="1E293B"/>
                </a:solidFill>
                <a:latin typeface="Arial"/>
              </a:rPr>
              <a:t>Read the key/credential rows across: for </a:t>
            </a:r>
            <a:r>
              <a:rPr sz="1040" b="1" i="0">
                <a:solidFill>
                  <a:srgbClr val="B45309"/>
                </a:solidFill>
                <a:latin typeface="Arial"/>
              </a:rPr>
              <a:t>Inji Wallet</a:t>
            </a:r>
            <a:r>
              <a:rPr sz="1040" b="0" i="0">
                <a:solidFill>
                  <a:srgbClr val="1E293B"/>
                </a:solidFill>
                <a:latin typeface="Arial"/>
              </a:rPr>
              <a:t> they are on the device; for </a:t>
            </a:r>
            <a:r>
              <a:rPr sz="1040" b="1" i="0">
                <a:solidFill>
                  <a:srgbClr val="B45309"/>
                </a:solidFill>
                <a:latin typeface="Arial"/>
              </a:rPr>
              <a:t>Inji Web</a:t>
            </a:r>
            <a:r>
              <a:rPr sz="1040" b="0" i="0">
                <a:solidFill>
                  <a:srgbClr val="1E293B"/>
                </a:solidFill>
                <a:latin typeface="Arial"/>
              </a:rPr>
              <a:t> they are in Mimoto. Same protocol, very different privacy and data-residency profile — the most important architectural difference between the two products.</a:t>
            </a:r>
          </a:p>
        </p:txBody>
      </p:sp>
      <p:graphicFrame>
        <p:nvGraphicFramePr>
          <p:cNvPr id="9" name="Table 8"/>
          <p:cNvGraphicFramePr>
            <a:graphicFrameLocks noGrp="1"/>
          </p:cNvGraphicFramePr>
          <p:nvPr/>
        </p:nvGraphicFramePr>
        <p:xfrm>
          <a:off x="502920" y="2340864"/>
          <a:ext cx="11185851" cy="3328416"/>
        </p:xfrm>
        <a:graphic>
          <a:graphicData uri="http://schemas.openxmlformats.org/drawingml/2006/table">
            <a:tbl>
              <a:tblPr firstRow="1">
                <a:tableStyleId>{2D5ABB26-0587-4C30-8999-92F81FD0307C}</a:tableStyleId>
              </a:tblPr>
              <a:tblGrid>
                <a:gridCol w="4365211"/>
                <a:gridCol w="1455070"/>
                <a:gridCol w="1273186"/>
                <a:gridCol w="1546012"/>
                <a:gridCol w="1364128"/>
                <a:gridCol w="1182244"/>
              </a:tblGrid>
              <a:tr h="310896">
                <a:tc>
                  <a:txBody>
                    <a:bodyPr wrap="square"/>
                    <a:lstStyle/>
                    <a:p>
                      <a:pPr algn="l"/>
                      <a:r>
                        <a:rPr sz="919" b="1">
                          <a:solidFill>
                            <a:srgbClr val="FFFFFF"/>
                          </a:solidFill>
                          <a:latin typeface="Arial"/>
                        </a:rPr>
                        <a:t>Responsibility</a:t>
                      </a:r>
                    </a:p>
                  </a:txBody>
                  <a:tcPr marL="64008" marR="54864" marT="27432" marB="27432" anchor="ctr">
                    <a:solidFill>
                      <a:srgbClr val="1D4E89"/>
                    </a:solidFill>
                  </a:tcPr>
                </a:tc>
                <a:tc>
                  <a:txBody>
                    <a:bodyPr wrap="square"/>
                    <a:lstStyle/>
                    <a:p>
                      <a:pPr algn="ctr"/>
                      <a:r>
                        <a:rPr sz="919" b="1">
                          <a:solidFill>
                            <a:srgbClr val="FFFFFF"/>
                          </a:solidFill>
                          <a:latin typeface="Arial"/>
                        </a:rPr>
                        <a:t>Inji Wallet</a:t>
                      </a:r>
                    </a:p>
                  </a:txBody>
                  <a:tcPr marL="64008" marR="54864" marT="27432" marB="27432" anchor="ctr">
                    <a:solidFill>
                      <a:srgbClr val="1D4E89"/>
                    </a:solidFill>
                  </a:tcPr>
                </a:tc>
                <a:tc>
                  <a:txBody>
                    <a:bodyPr wrap="square"/>
                    <a:lstStyle/>
                    <a:p>
                      <a:pPr algn="ctr"/>
                      <a:r>
                        <a:rPr sz="919" b="1">
                          <a:solidFill>
                            <a:srgbClr val="FFFFFF"/>
                          </a:solidFill>
                          <a:latin typeface="Arial"/>
                        </a:rPr>
                        <a:t>Inji Web</a:t>
                      </a:r>
                    </a:p>
                  </a:txBody>
                  <a:tcPr marL="64008" marR="54864" marT="27432" marB="27432" anchor="ctr">
                    <a:solidFill>
                      <a:srgbClr val="1D4E89"/>
                    </a:solidFill>
                  </a:tcPr>
                </a:tc>
                <a:tc>
                  <a:txBody>
                    <a:bodyPr wrap="square"/>
                    <a:lstStyle/>
                    <a:p>
                      <a:pPr algn="ctr"/>
                      <a:r>
                        <a:rPr sz="919" b="1">
                          <a:solidFill>
                            <a:srgbClr val="FFFFFF"/>
                          </a:solidFill>
                          <a:latin typeface="Arial"/>
                        </a:rPr>
                        <a:t>Mimoto</a:t>
                      </a:r>
                    </a:p>
                  </a:txBody>
                  <a:tcPr marL="64008" marR="54864" marT="27432" marB="27432" anchor="ctr">
                    <a:solidFill>
                      <a:srgbClr val="1D4E89"/>
                    </a:solidFill>
                  </a:tcPr>
                </a:tc>
                <a:tc>
                  <a:txBody>
                    <a:bodyPr wrap="square"/>
                    <a:lstStyle/>
                    <a:p>
                      <a:pPr algn="ctr"/>
                      <a:r>
                        <a:rPr sz="919" b="1">
                          <a:solidFill>
                            <a:srgbClr val="FFFFFF"/>
                          </a:solidFill>
                          <a:latin typeface="Arial"/>
                        </a:rPr>
                        <a:t>Issuer</a:t>
                      </a:r>
                    </a:p>
                  </a:txBody>
                  <a:tcPr marL="64008" marR="54864" marT="27432" marB="27432" anchor="ctr">
                    <a:solidFill>
                      <a:srgbClr val="1D4E89"/>
                    </a:solidFill>
                  </a:tcPr>
                </a:tc>
                <a:tc>
                  <a:txBody>
                    <a:bodyPr wrap="square"/>
                    <a:lstStyle/>
                    <a:p>
                      <a:pPr algn="ctr"/>
                      <a:r>
                        <a:rPr sz="919" b="1">
                          <a:solidFill>
                            <a:srgbClr val="FFFFFF"/>
                          </a:solidFill>
                          <a:latin typeface="Arial"/>
                        </a:rPr>
                        <a:t>Verifier</a:t>
                      </a:r>
                    </a:p>
                  </a:txBody>
                  <a:tcPr marL="64008" marR="54864" marT="27432" marB="27432" anchor="ctr">
                    <a:solidFill>
                      <a:srgbClr val="1D4E89"/>
                    </a:solidFill>
                  </a:tcPr>
                </a:tc>
              </a:tr>
              <a:tr h="274320">
                <a:tc>
                  <a:txBody>
                    <a:bodyPr wrap="square"/>
                    <a:lstStyle/>
                    <a:p>
                      <a:pPr algn="l">
                        <a:lnSpc>
                          <a:spcPct val="105000"/>
                        </a:lnSpc>
                      </a:pPr>
                      <a:r>
                        <a:rPr sz="890" b="0">
                          <a:solidFill>
                            <a:srgbClr val="1E293B"/>
                          </a:solidFill>
                          <a:latin typeface="Arial"/>
                        </a:rPr>
                        <a:t>Authenticate the citizen</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OWNS (via its AS)</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r>
              <a:tr h="274320">
                <a:tc>
                  <a:txBody>
                    <a:bodyPr wrap="square"/>
                    <a:lstStyle/>
                    <a:p>
                      <a:pPr algn="l">
                        <a:lnSpc>
                          <a:spcPct val="105000"/>
                        </a:lnSpc>
                      </a:pPr>
                      <a:r>
                        <a:rPr sz="890" b="0">
                          <a:solidFill>
                            <a:srgbClr val="1E293B"/>
                          </a:solidFill>
                          <a:latin typeface="Arial"/>
                        </a:rPr>
                        <a:t>Decide eligibility, mint and sign the credential</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r>
              <a:tr h="274320">
                <a:tc>
                  <a:txBody>
                    <a:bodyPr wrap="square"/>
                    <a:lstStyle/>
                    <a:p>
                      <a:pPr algn="l">
                        <a:lnSpc>
                          <a:spcPct val="105000"/>
                        </a:lnSpc>
                      </a:pPr>
                      <a:r>
                        <a:rPr sz="890" b="0">
                          <a:solidFill>
                            <a:srgbClr val="1E293B"/>
                          </a:solidFill>
                          <a:latin typeface="Arial"/>
                        </a:rPr>
                        <a:t>Publish issuer metadata and public keys</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r>
              <a:tr h="274320">
                <a:tc>
                  <a:txBody>
                    <a:bodyPr wrap="square"/>
                    <a:lstStyle/>
                    <a:p>
                      <a:pPr algn="l">
                        <a:lnSpc>
                          <a:spcPct val="105000"/>
                        </a:lnSpc>
                      </a:pPr>
                      <a:r>
                        <a:rPr sz="890" b="0">
                          <a:solidFill>
                            <a:srgbClr val="1E293B"/>
                          </a:solidFill>
                          <a:latin typeface="Arial"/>
                        </a:rPr>
                        <a:t>Curate which issuers appear in the app</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r>
              <a:tr h="274320">
                <a:tc>
                  <a:txBody>
                    <a:bodyPr wrap="square"/>
                    <a:lstStyle/>
                    <a:p>
                      <a:pPr algn="l">
                        <a:lnSpc>
                          <a:spcPct val="105000"/>
                        </a:lnSpc>
                      </a:pPr>
                      <a:r>
                        <a:rPr sz="890" b="0">
                          <a:solidFill>
                            <a:srgbClr val="1E293B"/>
                          </a:solidFill>
                          <a:latin typeface="Arial"/>
                        </a:rPr>
                        <a:t>Run the OpenID4VCI client state machine</a:t>
                      </a: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FFFFF"/>
                    </a:solidFill>
                  </a:tcPr>
                </a:tc>
                <a:tc>
                  <a:txBody>
                    <a:bodyPr wrap="square"/>
                    <a:lstStyle/>
                    <a:p>
                      <a:pPr algn="ctr">
                        <a:lnSpc>
                          <a:spcPct val="105000"/>
                        </a:lnSpc>
                      </a:pPr>
                      <a:r>
                        <a:rPr sz="890" b="0">
                          <a:solidFill>
                            <a:srgbClr val="1E293B"/>
                          </a:solidFill>
                          <a:latin typeface="Arial"/>
                        </a:rPr>
                        <a:t>via Mimoto</a:t>
                      </a: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for Web</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r>
              <a:tr h="274320">
                <a:tc>
                  <a:txBody>
                    <a:bodyPr wrap="square"/>
                    <a:lstStyle/>
                    <a:p>
                      <a:pPr algn="l">
                        <a:lnSpc>
                          <a:spcPct val="105000"/>
                        </a:lnSpc>
                      </a:pPr>
                      <a:r>
                        <a:rPr sz="890" b="0">
                          <a:solidFill>
                            <a:srgbClr val="1E293B"/>
                          </a:solidFill>
                          <a:latin typeface="Arial"/>
                        </a:rPr>
                        <a:t>Generate/protect the holder key and sign the issuance proof</a:t>
                      </a:r>
                    </a:p>
                  </a:txBody>
                  <a:tcPr marL="64008" marR="54864" marT="18288" marB="18288" anchor="ctr">
                    <a:solidFill>
                      <a:srgbClr val="F3F6F9"/>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r>
                        <a:rPr sz="890" b="1">
                          <a:solidFill>
                            <a:srgbClr val="15703D"/>
                          </a:solidFill>
                          <a:latin typeface="Arial"/>
                        </a:rPr>
                        <a:t>OWNS (for Web)</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r>
              <a:tr h="274320">
                <a:tc>
                  <a:txBody>
                    <a:bodyPr wrap="square"/>
                    <a:lstStyle/>
                    <a:p>
                      <a:pPr algn="l">
                        <a:lnSpc>
                          <a:spcPct val="105000"/>
                        </a:lnSpc>
                      </a:pPr>
                      <a:r>
                        <a:rPr sz="890" b="0">
                          <a:solidFill>
                            <a:srgbClr val="1E293B"/>
                          </a:solidFill>
                          <a:latin typeface="Arial"/>
                        </a:rPr>
                        <a:t>Store the credential</a:t>
                      </a: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OWNS (device)</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OWNS (Postgres)</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r>
              <a:tr h="274320">
                <a:tc>
                  <a:txBody>
                    <a:bodyPr wrap="square"/>
                    <a:lstStyle/>
                    <a:p>
                      <a:pPr algn="l">
                        <a:lnSpc>
                          <a:spcPct val="105000"/>
                        </a:lnSpc>
                      </a:pPr>
                      <a:r>
                        <a:rPr sz="890" b="0">
                          <a:solidFill>
                            <a:srgbClr val="1E293B"/>
                          </a:solidFill>
                          <a:latin typeface="Arial"/>
                        </a:rPr>
                        <a:t>Show the consent screen</a:t>
                      </a:r>
                    </a:p>
                  </a:txBody>
                  <a:tcPr marL="64008" marR="54864" marT="18288" marB="18288" anchor="ctr">
                    <a:solidFill>
                      <a:srgbClr val="F3F6F9"/>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3F6F9"/>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r>
              <a:tr h="274320">
                <a:tc>
                  <a:txBody>
                    <a:bodyPr wrap="square"/>
                    <a:lstStyle/>
                    <a:p>
                      <a:pPr algn="l">
                        <a:lnSpc>
                          <a:spcPct val="105000"/>
                        </a:lnSpc>
                      </a:pPr>
                      <a:r>
                        <a:rPr sz="890" b="0">
                          <a:solidFill>
                            <a:srgbClr val="1E293B"/>
                          </a:solidFill>
                          <a:latin typeface="Arial"/>
                        </a:rPr>
                        <a:t>Match credentials, build and sign the VP token</a:t>
                      </a: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OWNS (for Web)</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r>
              <a:tr h="274320">
                <a:tc>
                  <a:txBody>
                    <a:bodyPr wrap="square"/>
                    <a:lstStyle/>
                    <a:p>
                      <a:pPr algn="l">
                        <a:lnSpc>
                          <a:spcPct val="105000"/>
                        </a:lnSpc>
                      </a:pPr>
                      <a:r>
                        <a:rPr sz="890" b="0">
                          <a:solidFill>
                            <a:srgbClr val="1E293B"/>
                          </a:solidFill>
                          <a:latin typeface="Arial"/>
                        </a:rPr>
                        <a:t>Validate the verifier before responding</a:t>
                      </a:r>
                    </a:p>
                  </a:txBody>
                  <a:tcPr marL="64008" marR="54864" marT="18288" marB="18288" anchor="ctr">
                    <a:solidFill>
                      <a:srgbClr val="F3F6F9"/>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c>
                  <a:txBody>
                    <a:bodyPr wrap="square"/>
                    <a:lstStyle/>
                    <a:p>
                      <a:pPr algn="ctr">
                        <a:lnSpc>
                          <a:spcPct val="105000"/>
                        </a:lnSpc>
                      </a:pPr>
                    </a:p>
                  </a:txBody>
                  <a:tcPr marL="64008" marR="54864" marT="18288" marB="18288" anchor="ctr">
                    <a:solidFill>
                      <a:srgbClr val="F3F6F9"/>
                    </a:solidFill>
                  </a:tcPr>
                </a:tc>
              </a:tr>
              <a:tr h="274320">
                <a:tc>
                  <a:txBody>
                    <a:bodyPr wrap="square"/>
                    <a:lstStyle/>
                    <a:p>
                      <a:pPr algn="l">
                        <a:lnSpc>
                          <a:spcPct val="105000"/>
                        </a:lnSpc>
                      </a:pPr>
                      <a:r>
                        <a:rPr sz="890" b="0">
                          <a:solidFill>
                            <a:srgbClr val="1E293B"/>
                          </a:solidFill>
                          <a:latin typeface="Arial"/>
                        </a:rPr>
                        <a:t>Verify the issuer signature and decide whether to grant access</a:t>
                      </a: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p>
                  </a:txBody>
                  <a:tcPr marL="64008" marR="54864" marT="18288" marB="18288" anchor="ctr">
                    <a:solidFill>
                      <a:srgbClr val="FFFFFF"/>
                    </a:solidFill>
                  </a:tcPr>
                </a:tc>
                <a:tc>
                  <a:txBody>
                    <a:bodyPr wrap="square"/>
                    <a:lstStyle/>
                    <a:p>
                      <a:pPr algn="ctr">
                        <a:lnSpc>
                          <a:spcPct val="105000"/>
                        </a:lnSpc>
                      </a:pPr>
                      <a:r>
                        <a:rPr sz="890" b="1">
                          <a:solidFill>
                            <a:srgbClr val="15703D"/>
                          </a:solidFill>
                          <a:latin typeface="Arial"/>
                        </a:rPr>
                        <a:t>OWNS</a:t>
                      </a:r>
                    </a:p>
                  </a:txBody>
                  <a:tcPr marL="64008" marR="54864" marT="18288" marB="18288" anchor="ctr">
                    <a:solidFill>
                      <a:srgbClr val="FFFFFF"/>
                    </a:solidFill>
                  </a:tcPr>
                </a:tc>
              </a:tr>
            </a:tbl>
          </a:graphicData>
        </a:graphic>
      </p:graphicFrame>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Mimoto — the wallet backend</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6   •   5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Watch Mimoto handle a request</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Mimoto running locally (</a:t>
            </a:r>
            <a:r>
              <a:rPr sz="1019" b="0" i="0">
                <a:solidFill>
                  <a:srgbClr val="1D4E89"/>
                </a:solidFill>
                <a:latin typeface="Consolas"/>
              </a:rPr>
              <a:t>docker-compose</a:t>
            </a:r>
            <a:r>
              <a:rPr sz="1019" b="0" i="0">
                <a:solidFill>
                  <a:srgbClr val="0F172A"/>
                </a:solidFill>
                <a:latin typeface="Arial"/>
              </a:rPr>
              <a:t> in the repo brings up Mimoto, Postgres and Redis).</a:t>
            </a:r>
          </a:p>
        </p:txBody>
      </p:sp>
      <p:sp>
        <p:nvSpPr>
          <p:cNvPr id="10" name="Oval 9"/>
          <p:cNvSpPr/>
          <p:nvPr/>
        </p:nvSpPr>
        <p:spPr>
          <a:xfrm>
            <a:off x="745236" y="2143506"/>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76145"/>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Its logs on screen, at INFO or DEBUG.</a:t>
            </a:r>
          </a:p>
        </p:txBody>
      </p:sp>
      <p:sp>
        <p:nvSpPr>
          <p:cNvPr id="12" name="Oval 11"/>
          <p:cNvSpPr/>
          <p:nvPr/>
        </p:nvSpPr>
        <p:spPr>
          <a:xfrm>
            <a:off x="745236" y="238445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317089"/>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Swagger / the Stoplight API docs open.</a:t>
            </a:r>
          </a:p>
        </p:txBody>
      </p:sp>
      <p:sp>
        <p:nvSpPr>
          <p:cNvPr id="14" name="Oval 13"/>
          <p:cNvSpPr/>
          <p:nvPr/>
        </p:nvSpPr>
        <p:spPr>
          <a:xfrm>
            <a:off x="745236" y="2625394"/>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558034"/>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curl</a:t>
            </a:r>
            <a:r>
              <a:rPr sz="1019" b="0" i="0">
                <a:solidFill>
                  <a:srgbClr val="0F172A"/>
                </a:solidFill>
                <a:latin typeface="Arial"/>
              </a:rPr>
              <a:t> or Postman ready — the repo ships Postman collections in </a:t>
            </a:r>
            <a:r>
              <a:rPr sz="1019" b="0" i="0">
                <a:solidFill>
                  <a:srgbClr val="1D4E89"/>
                </a:solidFill>
                <a:latin typeface="Consolas"/>
              </a:rPr>
              <a:t>docs/postman-collections/</a:t>
            </a:r>
            <a:r>
              <a:rPr sz="1019" b="0" i="0">
                <a:solidFill>
                  <a:srgbClr val="0F172A"/>
                </a:solidFill>
                <a:latin typeface="Arial"/>
              </a:rPr>
              <a:t>.</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Call </a:t>
            </a:r>
            <a:r>
              <a:rPr sz="1019" b="0" i="0">
                <a:solidFill>
                  <a:srgbClr val="1D4E89"/>
                </a:solidFill>
                <a:latin typeface="Consolas"/>
              </a:rPr>
              <a:t>GET /v2/issuers</a:t>
            </a:r>
            <a:r>
              <a:rPr sz="1019" b="0" i="0">
                <a:solidFill>
                  <a:srgbClr val="0F172A"/>
                </a:solidFill>
                <a:latin typeface="Arial"/>
              </a:rPr>
              <a:t> and see the catalogue.</a:t>
            </a:r>
          </a:p>
        </p:txBody>
      </p:sp>
      <p:sp>
        <p:nvSpPr>
          <p:cNvPr id="21" name="Oval 20"/>
          <p:cNvSpPr/>
          <p:nvPr/>
        </p:nvSpPr>
        <p:spPr>
          <a:xfrm>
            <a:off x="4466844" y="198028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191292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Call </a:t>
            </a:r>
            <a:r>
              <a:rPr sz="1019" b="0" i="0">
                <a:solidFill>
                  <a:srgbClr val="1D4E89"/>
                </a:solidFill>
                <a:latin typeface="Consolas"/>
              </a:rPr>
              <a:t>GET /issuers/{id}/configuration</a:t>
            </a:r>
            <a:r>
              <a:rPr sz="1019" b="0" i="0">
                <a:solidFill>
                  <a:srgbClr val="0F172A"/>
                </a:solidFill>
                <a:latin typeface="Arial"/>
              </a:rPr>
              <a:t> twice.</a:t>
            </a:r>
          </a:p>
        </p:txBody>
      </p:sp>
      <p:sp>
        <p:nvSpPr>
          <p:cNvPr id="23" name="Oval 22"/>
          <p:cNvSpPr/>
          <p:nvPr/>
        </p:nvSpPr>
        <p:spPr>
          <a:xfrm>
            <a:off x="4466844" y="238445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317089"/>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second call is dramatically faster.</a:t>
            </a:r>
          </a:p>
        </p:txBody>
      </p:sp>
      <p:sp>
        <p:nvSpPr>
          <p:cNvPr id="25" name="Oval 24"/>
          <p:cNvSpPr/>
          <p:nvPr/>
        </p:nvSpPr>
        <p:spPr>
          <a:xfrm>
            <a:off x="4466844" y="262539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255803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Change an issuer's display name, call again — nothing changes yet.</a:t>
            </a:r>
          </a:p>
        </p:txBody>
      </p:sp>
      <p:sp>
        <p:nvSpPr>
          <p:cNvPr id="27" name="Rounded Rectangle 26"/>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30" name="Oval 29"/>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1508760"/>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first configuration call fetched </a:t>
            </a:r>
            <a:r>
              <a:rPr sz="1019" b="1" i="0">
                <a:solidFill>
                  <a:srgbClr val="0F172A"/>
                </a:solidFill>
                <a:latin typeface="Arial"/>
              </a:rPr>
              <a:t>two</a:t>
            </a:r>
            <a:r>
              <a:rPr sz="1019" b="0" i="0">
                <a:solidFill>
                  <a:srgbClr val="0F172A"/>
                </a:solidFill>
                <a:latin typeface="Arial"/>
              </a:rPr>
              <a:t> well-known documents and merged them.</a:t>
            </a:r>
          </a:p>
        </p:txBody>
      </p:sp>
      <p:sp>
        <p:nvSpPr>
          <p:cNvPr id="32" name="Oval 31"/>
          <p:cNvSpPr/>
          <p:nvPr/>
        </p:nvSpPr>
        <p:spPr>
          <a:xfrm>
            <a:off x="8188452" y="198028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1912924"/>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second was served from the Caffeine cache.</a:t>
            </a:r>
          </a:p>
        </p:txBody>
      </p:sp>
      <p:sp>
        <p:nvSpPr>
          <p:cNvPr id="34" name="Oval 33"/>
          <p:cNvSpPr/>
          <p:nvPr/>
        </p:nvSpPr>
        <p:spPr>
          <a:xfrm>
            <a:off x="8188452" y="238445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2317089"/>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unchanged display name is the cache TTL, </a:t>
            </a:r>
            <a:r>
              <a:rPr sz="1019" b="0" i="0">
                <a:solidFill>
                  <a:srgbClr val="1D4E89"/>
                </a:solidFill>
                <a:latin typeface="Consolas"/>
              </a:rPr>
              <a:t>cache.credential-issuer.wellknown.expiry-time-in-min</a:t>
            </a:r>
            <a:r>
              <a:rPr sz="1019" b="0" i="0">
                <a:solidFill>
                  <a:srgbClr val="0F172A"/>
                </a:solidFill>
                <a:latin typeface="Arial"/>
              </a:rPr>
              <a:t>.</a:t>
            </a:r>
          </a:p>
        </p:txBody>
      </p:sp>
      <p:sp>
        <p:nvSpPr>
          <p:cNvPr id="36" name="Oval 35"/>
          <p:cNvSpPr/>
          <p:nvPr/>
        </p:nvSpPr>
        <p:spPr>
          <a:xfrm>
            <a:off x="8188452" y="295183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5904" y="2884474"/>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This is the same cache that will make you think your issuer metadata fix did not work.</a:t>
            </a:r>
          </a:p>
        </p:txBody>
      </p:sp>
      <p:sp>
        <p:nvSpPr>
          <p:cNvPr id="38" name="Rounded Rectangle 37"/>
          <p:cNvSpPr/>
          <p:nvPr/>
        </p:nvSpPr>
        <p:spPr>
          <a:xfrm>
            <a:off x="502920" y="5175504"/>
            <a:ext cx="11185855" cy="724154"/>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175504"/>
            <a:ext cx="45720" cy="72415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266944"/>
            <a:ext cx="10820095" cy="577850"/>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Deliberately stop the issuer and call the configuration endpoint again. Note the error Mimoto returns and how it differs from a cache hit — that difference is your first triage signal.</a:t>
            </a:r>
          </a:p>
        </p:txBody>
      </p:sp>
      <p:sp>
        <p:nvSpPr>
          <p:cNvPr id="41" name="TextBox 4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Mimoto — the wallet backend</a:t>
            </a:r>
          </a:p>
        </p:txBody>
      </p:sp>
      <p:sp>
        <p:nvSpPr>
          <p:cNvPr id="42" name="TextBox 4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SDKS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Inji libraries — what to use and what not to rewrite</a:t>
            </a:r>
          </a:p>
        </p:txBody>
      </p:sp>
      <p:sp>
        <p:nvSpPr>
          <p:cNvPr id="4" name="TextBox 3"/>
          <p:cNvSpPr txBox="1"/>
          <p:nvPr/>
        </p:nvSpPr>
        <p:spPr>
          <a:xfrm>
            <a:off x="502920" y="1078992"/>
            <a:ext cx="11185855" cy="291291"/>
          </a:xfrm>
          <a:prstGeom prst="rect">
            <a:avLst/>
          </a:prstGeom>
          <a:noFill/>
        </p:spPr>
        <p:txBody>
          <a:bodyPr wrap="square" lIns="0" rIns="0" tIns="0" bIns="0" anchor="t">
            <a:spAutoFit/>
          </a:bodyPr>
          <a:lstStyle/>
          <a:p>
            <a:pPr algn="l">
              <a:lnSpc>
                <a:spcPct val="114000"/>
              </a:lnSpc>
              <a:spcBef>
                <a:spcPts val="0"/>
              </a:spcBef>
              <a:spcAft>
                <a:spcPts val="0"/>
              </a:spcAft>
            </a:pPr>
            <a:r>
              <a:rPr sz="1120" b="0" i="0">
                <a:solidFill>
                  <a:srgbClr val="5B6B7F"/>
                </a:solidFill>
                <a:latin typeface="Arial"/>
              </a:rPr>
              <a:t>Each library owns one problem. If your application code is solving one of these problems, stop and use the library.</a:t>
            </a:r>
          </a:p>
        </p:txBody>
      </p:sp>
      <p:cxnSp>
        <p:nvCxnSpPr>
          <p:cNvPr id="5" name="Connector 4"/>
          <p:cNvCxnSpPr/>
          <p:nvPr/>
        </p:nvCxnSpPr>
        <p:spPr>
          <a:xfrm>
            <a:off x="502920" y="1461723"/>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50205"/>
          <a:ext cx="11185852" cy="4009530"/>
        </p:xfrm>
        <a:graphic>
          <a:graphicData uri="http://schemas.openxmlformats.org/drawingml/2006/table">
            <a:tbl>
              <a:tblPr firstRow="1">
                <a:tableStyleId>{2D5ABB26-0587-4C30-8999-92F81FD0307C}</a:tableStyleId>
              </a:tblPr>
              <a:tblGrid>
                <a:gridCol w="1660400"/>
                <a:gridCol w="2709074"/>
                <a:gridCol w="2272126"/>
                <a:gridCol w="2272126"/>
                <a:gridCol w="2272126"/>
              </a:tblGrid>
              <a:tr h="291291">
                <a:tc>
                  <a:txBody>
                    <a:bodyPr wrap="square"/>
                    <a:lstStyle/>
                    <a:p>
                      <a:pPr algn="l"/>
                      <a:r>
                        <a:rPr sz="869" b="1">
                          <a:solidFill>
                            <a:srgbClr val="FFFFFF"/>
                          </a:solidFill>
                          <a:latin typeface="Arial"/>
                        </a:rPr>
                        <a:t>Library</a:t>
                      </a:r>
                    </a:p>
                  </a:txBody>
                  <a:tcPr marL="64008" marR="54864" marT="27432" marB="27432" anchor="ctr">
                    <a:solidFill>
                      <a:srgbClr val="1D4E89"/>
                    </a:solidFill>
                  </a:tcPr>
                </a:tc>
                <a:tc>
                  <a:txBody>
                    <a:bodyPr wrap="square"/>
                    <a:lstStyle/>
                    <a:p>
                      <a:pPr algn="l"/>
                      <a:r>
                        <a:rPr sz="869" b="1">
                          <a:solidFill>
                            <a:srgbClr val="FFFFFF"/>
                          </a:solidFill>
                          <a:latin typeface="Arial"/>
                        </a:rPr>
                        <a:t>Problem it solves</a:t>
                      </a:r>
                    </a:p>
                  </a:txBody>
                  <a:tcPr marL="64008" marR="54864" marT="27432" marB="27432" anchor="ctr">
                    <a:solidFill>
                      <a:srgbClr val="1D4E89"/>
                    </a:solidFill>
                  </a:tcPr>
                </a:tc>
                <a:tc>
                  <a:txBody>
                    <a:bodyPr wrap="square"/>
                    <a:lstStyle/>
                    <a:p>
                      <a:pPr algn="l"/>
                      <a:r>
                        <a:rPr sz="869" b="1">
                          <a:solidFill>
                            <a:srgbClr val="FFFFFF"/>
                          </a:solidFill>
                          <a:latin typeface="Arial"/>
                        </a:rPr>
                        <a:t>Input</a:t>
                      </a:r>
                    </a:p>
                  </a:txBody>
                  <a:tcPr marL="64008" marR="54864" marT="27432" marB="27432" anchor="ctr">
                    <a:solidFill>
                      <a:srgbClr val="1D4E89"/>
                    </a:solidFill>
                  </a:tcPr>
                </a:tc>
                <a:tc>
                  <a:txBody>
                    <a:bodyPr wrap="square"/>
                    <a:lstStyle/>
                    <a:p>
                      <a:pPr algn="l"/>
                      <a:r>
                        <a:rPr sz="869" b="1">
                          <a:solidFill>
                            <a:srgbClr val="FFFFFF"/>
                          </a:solidFill>
                          <a:latin typeface="Arial"/>
                        </a:rPr>
                        <a:t>Output</a:t>
                      </a:r>
                    </a:p>
                  </a:txBody>
                  <a:tcPr marL="64008" marR="54864" marT="27432" marB="27432" anchor="ctr">
                    <a:solidFill>
                      <a:srgbClr val="1D4E89"/>
                    </a:solidFill>
                  </a:tcPr>
                </a:tc>
                <a:tc>
                  <a:txBody>
                    <a:bodyPr wrap="square"/>
                    <a:lstStyle/>
                    <a:p>
                      <a:pPr algn="l"/>
                      <a:r>
                        <a:rPr sz="869" b="1">
                          <a:solidFill>
                            <a:srgbClr val="FFFFFF"/>
                          </a:solidFill>
                          <a:latin typeface="Arial"/>
                        </a:rPr>
                        <a:t>Do NOT reimplement</a:t>
                      </a:r>
                    </a:p>
                  </a:txBody>
                  <a:tcPr marL="64008" marR="54864" marT="27432" marB="27432" anchor="ctr">
                    <a:solidFill>
                      <a:srgbClr val="1D4E89"/>
                    </a:solidFill>
                  </a:tcPr>
                </a:tc>
              </a:tr>
              <a:tr h="531177">
                <a:tc>
                  <a:txBody>
                    <a:bodyPr wrap="square"/>
                    <a:lstStyle/>
                    <a:p>
                      <a:pPr algn="l">
                        <a:lnSpc>
                          <a:spcPct val="105000"/>
                        </a:lnSpc>
                      </a:pPr>
                      <a:r>
                        <a:rPr sz="840" b="0">
                          <a:solidFill>
                            <a:srgbClr val="1D4E89"/>
                          </a:solidFill>
                          <a:latin typeface="Consolas"/>
                        </a:rPr>
                        <a:t>inji-vci-client</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Running OpenID4VCI correctly (drafts 11 and 13), both flows, PKCE internally</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Credential offer or issuer + config id, client metadata, a set of callbacks</a:t>
                      </a:r>
                    </a:p>
                  </a:txBody>
                  <a:tcPr marL="64008" marR="54864" marT="18288" marB="18288" anchor="ctr">
                    <a:solidFill>
                      <a:srgbClr val="FFFFFF"/>
                    </a:solidFill>
                  </a:tcPr>
                </a:tc>
                <a:tc>
                  <a:txBody>
                    <a:bodyPr wrap="square"/>
                    <a:lstStyle/>
                    <a:p>
                      <a:pPr algn="l">
                        <a:lnSpc>
                          <a:spcPct val="105000"/>
                        </a:lnSpc>
                      </a:pPr>
                      <a:r>
                        <a:rPr sz="840" b="0">
                          <a:solidFill>
                            <a:srgbClr val="1D4E89"/>
                          </a:solidFill>
                          <a:latin typeface="Consolas"/>
                        </a:rPr>
                        <a:t>CredentialResponse</a:t>
                      </a:r>
                      <a:r>
                        <a:rPr sz="840" b="0">
                          <a:solidFill>
                            <a:srgbClr val="1E293B"/>
                          </a:solidFill>
                          <a:latin typeface="Arial"/>
                        </a:rPr>
                        <a:t>: credential, </a:t>
                      </a:r>
                      <a:r>
                        <a:rPr sz="840" b="0">
                          <a:solidFill>
                            <a:srgbClr val="1D4E89"/>
                          </a:solidFill>
                          <a:latin typeface="Consolas"/>
                        </a:rPr>
                        <a:t>credentialConfigurationId</a:t>
                      </a:r>
                      <a:r>
                        <a:rPr sz="840" b="0">
                          <a:solidFill>
                            <a:srgbClr val="1E293B"/>
                          </a:solidFill>
                          <a:latin typeface="Arial"/>
                        </a:rPr>
                        <a:t>, </a:t>
                      </a:r>
                      <a:r>
                        <a:rPr sz="840" b="0">
                          <a:solidFill>
                            <a:srgbClr val="1D4E89"/>
                          </a:solidFill>
                          <a:latin typeface="Consolas"/>
                        </a:rPr>
                        <a:t>credentialIssuer</a:t>
                      </a:r>
                    </a:p>
                  </a:txBody>
                  <a:tcPr marL="64008" marR="54864" marT="18288" marB="18288" anchor="ctr">
                    <a:solidFill>
                      <a:srgbClr val="FFFFFF"/>
                    </a:solidFill>
                  </a:tcPr>
                </a:tc>
                <a:tc>
                  <a:txBody>
                    <a:bodyPr wrap="square"/>
                    <a:lstStyle/>
                    <a:p>
                      <a:pPr algn="l">
                        <a:lnSpc>
                          <a:spcPct val="105000"/>
                        </a:lnSpc>
                      </a:pPr>
                      <a:r>
                        <a:rPr sz="840" b="1">
                          <a:solidFill>
                            <a:srgbClr val="B31B1B"/>
                          </a:solidFill>
                          <a:latin typeface="Arial"/>
                        </a:rPr>
                        <a:t>PKCE, metadata discovery, request construction, error taxonomy</a:t>
                      </a:r>
                    </a:p>
                  </a:txBody>
                  <a:tcPr marL="64008" marR="54864" marT="18288" marB="18288" anchor="ctr">
                    <a:solidFill>
                      <a:srgbClr val="FFFFFF"/>
                    </a:solidFill>
                  </a:tcPr>
                </a:tc>
              </a:tr>
              <a:tr h="531177">
                <a:tc>
                  <a:txBody>
                    <a:bodyPr wrap="square"/>
                    <a:lstStyle/>
                    <a:p>
                      <a:pPr algn="l">
                        <a:lnSpc>
                          <a:spcPct val="105000"/>
                        </a:lnSpc>
                      </a:pPr>
                      <a:r>
                        <a:rPr sz="840" b="0">
                          <a:solidFill>
                            <a:srgbClr val="1D4E89"/>
                          </a:solidFill>
                          <a:latin typeface="Consolas"/>
                        </a:rPr>
                        <a:t>inji-openid4vp</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Running OpenID4VP (drafts 21 and 23) — request validation through response delivery</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Encoded authorization request, trusted verifiers, selected credentials, signatures</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Validated request; unsigned VP token to sign; response POSTed to the verifier</a:t>
                      </a:r>
                    </a:p>
                  </a:txBody>
                  <a:tcPr marL="64008" marR="54864" marT="18288" marB="18288" anchor="ctr">
                    <a:solidFill>
                      <a:srgbClr val="F3F6F9"/>
                    </a:solidFill>
                  </a:tcPr>
                </a:tc>
                <a:tc>
                  <a:txBody>
                    <a:bodyPr wrap="square"/>
                    <a:lstStyle/>
                    <a:p>
                      <a:pPr algn="l">
                        <a:lnSpc>
                          <a:spcPct val="105000"/>
                        </a:lnSpc>
                      </a:pPr>
                      <a:r>
                        <a:rPr sz="840" b="1">
                          <a:solidFill>
                            <a:srgbClr val="B31B1B"/>
                          </a:solidFill>
                          <a:latin typeface="Arial"/>
                        </a:rPr>
                        <a:t>client_id scheme rules, presentation submission, response encryption</a:t>
                      </a:r>
                    </a:p>
                  </a:txBody>
                  <a:tcPr marL="64008" marR="54864" marT="18288" marB="18288" anchor="ctr">
                    <a:solidFill>
                      <a:srgbClr val="F3F6F9"/>
                    </a:solidFill>
                  </a:tcPr>
                </a:tc>
              </a:tr>
              <a:tr h="531177">
                <a:tc>
                  <a:txBody>
                    <a:bodyPr wrap="square"/>
                    <a:lstStyle/>
                    <a:p>
                      <a:pPr algn="l">
                        <a:lnSpc>
                          <a:spcPct val="105000"/>
                        </a:lnSpc>
                      </a:pPr>
                      <a:r>
                        <a:rPr sz="840" b="0">
                          <a:solidFill>
                            <a:srgbClr val="1D4E89"/>
                          </a:solidFill>
                          <a:latin typeface="Consolas"/>
                        </a:rPr>
                        <a:t>vc-verifier</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Deciding whether a credential is authentic and well-formed</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Credential + format string</a:t>
                      </a:r>
                    </a:p>
                  </a:txBody>
                  <a:tcPr marL="64008" marR="54864" marT="18288" marB="18288" anchor="ctr">
                    <a:solidFill>
                      <a:srgbClr val="FFFFFF"/>
                    </a:solidFill>
                  </a:tcPr>
                </a:tc>
                <a:tc>
                  <a:txBody>
                    <a:bodyPr wrap="square"/>
                    <a:lstStyle/>
                    <a:p>
                      <a:pPr algn="l">
                        <a:lnSpc>
                          <a:spcPct val="105000"/>
                        </a:lnSpc>
                      </a:pPr>
                      <a:r>
                        <a:rPr sz="840" b="0">
                          <a:solidFill>
                            <a:srgbClr val="1D4E89"/>
                          </a:solidFill>
                          <a:latin typeface="Consolas"/>
                        </a:rPr>
                        <a:t>verificationStatus</a:t>
                      </a:r>
                      <a:r>
                        <a:rPr sz="840" b="0">
                          <a:solidFill>
                            <a:srgbClr val="1E293B"/>
                          </a:solidFill>
                          <a:latin typeface="Arial"/>
                        </a:rPr>
                        <a:t>, message, error code, credential status</a:t>
                      </a:r>
                    </a:p>
                  </a:txBody>
                  <a:tcPr marL="64008" marR="54864" marT="18288" marB="18288" anchor="ctr">
                    <a:solidFill>
                      <a:srgbClr val="FFFFFF"/>
                    </a:solidFill>
                  </a:tcPr>
                </a:tc>
                <a:tc>
                  <a:txBody>
                    <a:bodyPr wrap="square"/>
                    <a:lstStyle/>
                    <a:p>
                      <a:pPr algn="l">
                        <a:lnSpc>
                          <a:spcPct val="105000"/>
                        </a:lnSpc>
                      </a:pPr>
                      <a:r>
                        <a:rPr sz="840" b="1">
                          <a:solidFill>
                            <a:srgbClr val="B31B1B"/>
                          </a:solidFill>
                          <a:latin typeface="Arial"/>
                        </a:rPr>
                        <a:t>Signature verification, key resolution, SD-JWT digest checks, mDoc validation</a:t>
                      </a:r>
                    </a:p>
                  </a:txBody>
                  <a:tcPr marL="64008" marR="54864" marT="18288" marB="18288" anchor="ctr">
                    <a:solidFill>
                      <a:srgbClr val="FFFFFF"/>
                    </a:solidFill>
                  </a:tcPr>
                </a:tc>
              </a:tr>
              <a:tr h="531177">
                <a:tc>
                  <a:txBody>
                    <a:bodyPr wrap="square"/>
                    <a:lstStyle/>
                    <a:p>
                      <a:pPr algn="l">
                        <a:lnSpc>
                          <a:spcPct val="105000"/>
                        </a:lnSpc>
                      </a:pPr>
                      <a:r>
                        <a:rPr sz="840" b="0">
                          <a:solidFill>
                            <a:srgbClr val="1D4E89"/>
                          </a:solidFill>
                          <a:latin typeface="Consolas"/>
                        </a:rPr>
                        <a:t>secure-keystore</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Platform key storage and signing</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Key alias, algorithm, data to sign</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A signature — never a private key</a:t>
                      </a:r>
                    </a:p>
                  </a:txBody>
                  <a:tcPr marL="64008" marR="54864" marT="18288" marB="18288" anchor="ctr">
                    <a:solidFill>
                      <a:srgbClr val="F3F6F9"/>
                    </a:solidFill>
                  </a:tcPr>
                </a:tc>
                <a:tc>
                  <a:txBody>
                    <a:bodyPr wrap="square"/>
                    <a:lstStyle/>
                    <a:p>
                      <a:pPr algn="l">
                        <a:lnSpc>
                          <a:spcPct val="105000"/>
                        </a:lnSpc>
                      </a:pPr>
                      <a:r>
                        <a:rPr sz="840" b="1">
                          <a:solidFill>
                            <a:srgbClr val="B31B1B"/>
                          </a:solidFill>
                          <a:latin typeface="Arial"/>
                        </a:rPr>
                        <a:t>Anything touching Android Keystore or iOS Keychain directly</a:t>
                      </a:r>
                    </a:p>
                  </a:txBody>
                  <a:tcPr marL="64008" marR="54864" marT="18288" marB="18288" anchor="ctr">
                    <a:solidFill>
                      <a:srgbClr val="F3F6F9"/>
                    </a:solidFill>
                  </a:tcPr>
                </a:tc>
              </a:tr>
              <a:tr h="531177">
                <a:tc>
                  <a:txBody>
                    <a:bodyPr wrap="square"/>
                    <a:lstStyle/>
                    <a:p>
                      <a:pPr algn="l">
                        <a:lnSpc>
                          <a:spcPct val="105000"/>
                        </a:lnSpc>
                      </a:pPr>
                      <a:r>
                        <a:rPr sz="840" b="0">
                          <a:solidFill>
                            <a:srgbClr val="1D4E89"/>
                          </a:solidFill>
                          <a:latin typeface="Consolas"/>
                        </a:rPr>
                        <a:t>pixelpass</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QR encoding/decoding and CBOR ↔ JSON</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CBOR bytes or a data payload</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JSON for rendering, or a compact QR payload</a:t>
                      </a:r>
                    </a:p>
                  </a:txBody>
                  <a:tcPr marL="64008" marR="54864" marT="18288" marB="18288" anchor="ctr">
                    <a:solidFill>
                      <a:srgbClr val="FFFFFF"/>
                    </a:solidFill>
                  </a:tcPr>
                </a:tc>
                <a:tc>
                  <a:txBody>
                    <a:bodyPr wrap="square"/>
                    <a:lstStyle/>
                    <a:p>
                      <a:pPr algn="l">
                        <a:lnSpc>
                          <a:spcPct val="105000"/>
                        </a:lnSpc>
                      </a:pPr>
                      <a:r>
                        <a:rPr sz="840" b="1">
                          <a:solidFill>
                            <a:srgbClr val="B31B1B"/>
                          </a:solidFill>
                          <a:latin typeface="Arial"/>
                        </a:rPr>
                        <a:t>CBOR parsing, QR compression</a:t>
                      </a:r>
                    </a:p>
                  </a:txBody>
                  <a:tcPr marL="64008" marR="54864" marT="18288" marB="18288" anchor="ctr">
                    <a:solidFill>
                      <a:srgbClr val="FFFFFF"/>
                    </a:solidFill>
                  </a:tcPr>
                </a:tc>
              </a:tr>
              <a:tr h="531177">
                <a:tc>
                  <a:txBody>
                    <a:bodyPr wrap="square"/>
                    <a:lstStyle/>
                    <a:p>
                      <a:pPr algn="l">
                        <a:lnSpc>
                          <a:spcPct val="105000"/>
                        </a:lnSpc>
                      </a:pPr>
                      <a:r>
                        <a:rPr sz="840" b="0">
                          <a:solidFill>
                            <a:srgbClr val="1D4E89"/>
                          </a:solidFill>
                          <a:latin typeface="Consolas"/>
                        </a:rPr>
                        <a:t>inji-vc-renderer</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Turning a credential into a visual representation</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Credential + template</a:t>
                      </a:r>
                    </a:p>
                  </a:txBody>
                  <a:tcPr marL="64008" marR="54864" marT="18288" marB="18288" anchor="ctr">
                    <a:solidFill>
                      <a:srgbClr val="F3F6F9"/>
                    </a:solidFill>
                  </a:tcPr>
                </a:tc>
                <a:tc>
                  <a:txBody>
                    <a:bodyPr wrap="square"/>
                    <a:lstStyle/>
                    <a:p>
                      <a:pPr algn="l">
                        <a:lnSpc>
                          <a:spcPct val="105000"/>
                        </a:lnSpc>
                      </a:pPr>
                      <a:r>
                        <a:rPr sz="840" b="0">
                          <a:solidFill>
                            <a:srgbClr val="1E293B"/>
                          </a:solidFill>
                          <a:latin typeface="Arial"/>
                        </a:rPr>
                        <a:t>Rendered output for display</a:t>
                      </a:r>
                    </a:p>
                  </a:txBody>
                  <a:tcPr marL="64008" marR="54864" marT="18288" marB="18288" anchor="ctr">
                    <a:solidFill>
                      <a:srgbClr val="F3F6F9"/>
                    </a:solidFill>
                  </a:tcPr>
                </a:tc>
                <a:tc>
                  <a:txBody>
                    <a:bodyPr wrap="square"/>
                    <a:lstStyle/>
                    <a:p>
                      <a:pPr algn="l">
                        <a:lnSpc>
                          <a:spcPct val="105000"/>
                        </a:lnSpc>
                      </a:pPr>
                      <a:r>
                        <a:rPr sz="840" b="1">
                          <a:solidFill>
                            <a:srgbClr val="B31B1B"/>
                          </a:solidFill>
                          <a:latin typeface="Arial"/>
                        </a:rPr>
                        <a:t>Bespoke per-credential rendering code</a:t>
                      </a:r>
                    </a:p>
                  </a:txBody>
                  <a:tcPr marL="64008" marR="54864" marT="18288" marB="18288" anchor="ctr">
                    <a:solidFill>
                      <a:srgbClr val="F3F6F9"/>
                    </a:solidFill>
                  </a:tcPr>
                </a:tc>
              </a:tr>
              <a:tr h="531177">
                <a:tc>
                  <a:txBody>
                    <a:bodyPr wrap="square"/>
                    <a:lstStyle/>
                    <a:p>
                      <a:pPr algn="l">
                        <a:lnSpc>
                          <a:spcPct val="105000"/>
                        </a:lnSpc>
                      </a:pPr>
                      <a:r>
                        <a:rPr sz="840" b="0">
                          <a:solidFill>
                            <a:srgbClr val="1D4E89"/>
                          </a:solidFill>
                          <a:latin typeface="Consolas"/>
                        </a:rPr>
                        <a:t>tuvali</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BLE transport for offline device-to-device sharing</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Payload + peer connection</a:t>
                      </a:r>
                    </a:p>
                  </a:txBody>
                  <a:tcPr marL="64008" marR="54864" marT="18288" marB="18288" anchor="ctr">
                    <a:solidFill>
                      <a:srgbClr val="FFFFFF"/>
                    </a:solidFill>
                  </a:tcPr>
                </a:tc>
                <a:tc>
                  <a:txBody>
                    <a:bodyPr wrap="square"/>
                    <a:lstStyle/>
                    <a:p>
                      <a:pPr algn="l">
                        <a:lnSpc>
                          <a:spcPct val="105000"/>
                        </a:lnSpc>
                      </a:pPr>
                      <a:r>
                        <a:rPr sz="840" b="0">
                          <a:solidFill>
                            <a:srgbClr val="1E293B"/>
                          </a:solidFill>
                          <a:latin typeface="Arial"/>
                        </a:rPr>
                        <a:t>Delivered payload</a:t>
                      </a:r>
                    </a:p>
                  </a:txBody>
                  <a:tcPr marL="64008" marR="54864" marT="18288" marB="18288" anchor="ctr">
                    <a:solidFill>
                      <a:srgbClr val="FFFFFF"/>
                    </a:solidFill>
                  </a:tcPr>
                </a:tc>
                <a:tc>
                  <a:txBody>
                    <a:bodyPr wrap="square"/>
                    <a:lstStyle/>
                    <a:p>
                      <a:pPr algn="l">
                        <a:lnSpc>
                          <a:spcPct val="105000"/>
                        </a:lnSpc>
                      </a:pPr>
                      <a:r>
                        <a:rPr sz="840" b="1">
                          <a:solidFill>
                            <a:srgbClr val="B31B1B"/>
                          </a:solidFill>
                          <a:latin typeface="Arial"/>
                        </a:rPr>
                        <a:t>BLE state machines and chunking</a:t>
                      </a:r>
                    </a:p>
                  </a:txBody>
                  <a:tcPr marL="64008" marR="54864" marT="18288" marB="18288" anchor="ctr">
                    <a:solidFill>
                      <a:srgbClr val="FFFFFF"/>
                    </a:solidFill>
                  </a:tcPr>
                </a:tc>
              </a:tr>
            </a:tbl>
          </a:graphicData>
        </a:graphic>
      </p:graphicFrame>
      <p:sp>
        <p:nvSpPr>
          <p:cNvPr id="7" name="Rounded Rectangle 6"/>
          <p:cNvSpPr/>
          <p:nvPr/>
        </p:nvSpPr>
        <p:spPr>
          <a:xfrm>
            <a:off x="502920" y="5779683"/>
            <a:ext cx="11185855" cy="493100"/>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779683"/>
            <a:ext cx="45720" cy="4931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865357"/>
            <a:ext cx="10820095" cy="356022"/>
          </a:xfrm>
          <a:prstGeom prst="rect">
            <a:avLst/>
          </a:prstGeom>
          <a:noFill/>
        </p:spPr>
        <p:txBody>
          <a:bodyPr wrap="square" lIns="0" rIns="0" tIns="0" bIns="0" anchor="t">
            <a:spAutoFit/>
          </a:bodyPr>
          <a:lstStyle/>
          <a:p>
            <a:pPr algn="l">
              <a:lnSpc>
                <a:spcPct val="122000"/>
              </a:lnSpc>
              <a:spcBef>
                <a:spcPts val="0"/>
              </a:spcBef>
              <a:spcAft>
                <a:spcPts val="0"/>
              </a:spcAft>
            </a:pPr>
            <a:r>
              <a:rPr sz="1010" b="0" i="0">
                <a:solidFill>
                  <a:srgbClr val="1E293B"/>
                </a:solidFill>
                <a:latin typeface="Arial"/>
              </a:rPr>
              <a:t>Integration point to remember: the libraries are </a:t>
            </a:r>
            <a:r>
              <a:rPr sz="1010" b="1" i="0">
                <a:solidFill>
                  <a:srgbClr val="0E9488"/>
                </a:solidFill>
                <a:latin typeface="Arial"/>
              </a:rPr>
              <a:t>callback-driven</a:t>
            </a:r>
            <a:r>
              <a:rPr sz="1010" b="0" i="0">
                <a:solidFill>
                  <a:srgbClr val="1E293B"/>
                </a:solidFill>
                <a:latin typeface="Arial"/>
              </a:rPr>
              <a:t>. They ask the application for a tx code, a token, a proof, a signature — and the application answers. Nothing that can sign is ever inside a library.</a:t>
            </a:r>
          </a:p>
        </p:txBody>
      </p:sp>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Mimoto — the wallet backend</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8</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Credential presentation with OpenID4VP</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The verifier asks; the wallet decides what to send. Request validation, credential matching, consent, the VP token, and what the verifier must check.</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30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 authorization request, field by field</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client_id schemes and why they matter</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Matching and consent</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 VP token and presentation submission</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direct_post and direct_post.jwt</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Verifier-side validation checklist</a:t>
            </a:r>
          </a:p>
        </p:txBody>
      </p:sp>
      <p:sp>
        <p:nvSpPr>
          <p:cNvPr id="23" name="Rounded Rectangle 22"/>
          <p:cNvSpPr/>
          <p:nvPr/>
        </p:nvSpPr>
        <p:spPr>
          <a:xfrm>
            <a:off x="50292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Credential presentation with OpenID4VP</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MESSAGE 1</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OpenID4VP authorization request</a:t>
            </a:r>
          </a:p>
        </p:txBody>
      </p:sp>
      <p:sp>
        <p:nvSpPr>
          <p:cNvPr id="4" name="TextBox 3"/>
          <p:cNvSpPr txBox="1"/>
          <p:nvPr/>
        </p:nvSpPr>
        <p:spPr>
          <a:xfrm>
            <a:off x="502920" y="1078992"/>
            <a:ext cx="11185855" cy="303817"/>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Everything the wallet needs to decide whether to talk to this verifier at all, and what it is being asked for.</a:t>
            </a:r>
          </a:p>
        </p:txBody>
      </p:sp>
      <p:cxnSp>
        <p:nvCxnSpPr>
          <p:cNvPr id="5" name="Connector 4"/>
          <p:cNvCxnSpPr/>
          <p:nvPr/>
        </p:nvCxnSpPr>
        <p:spPr>
          <a:xfrm>
            <a:off x="502920" y="1474249"/>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56378"/>
            <a:ext cx="5623560" cy="196587"/>
          </a:xfrm>
          <a:prstGeom prst="rect">
            <a:avLst/>
          </a:prstGeom>
          <a:noFill/>
        </p:spPr>
        <p:txBody>
          <a:bodyPr wrap="square" lIns="0" rIns="0" tIns="0" bIns="0" anchor="t">
            <a:spAutoFit/>
          </a:bodyPr>
          <a:lstStyle/>
          <a:p>
            <a:pPr algn="l">
              <a:lnSpc>
                <a:spcPct val="114000"/>
              </a:lnSpc>
              <a:spcBef>
                <a:spcPts val="0"/>
              </a:spcBef>
              <a:spcAft>
                <a:spcPts val="0"/>
              </a:spcAft>
            </a:pPr>
            <a:r>
              <a:rPr sz="890" b="1" i="0">
                <a:solidFill>
                  <a:srgbClr val="5B6B7F"/>
                </a:solidFill>
              </a:rPr>
              <a:t>AUTHORIZATION REQUEST</a:t>
            </a:r>
          </a:p>
        </p:txBody>
      </p:sp>
      <p:sp>
        <p:nvSpPr>
          <p:cNvPr id="7" name="Rounded Rectangle 6"/>
          <p:cNvSpPr/>
          <p:nvPr/>
        </p:nvSpPr>
        <p:spPr>
          <a:xfrm>
            <a:off x="502920" y="1670837"/>
            <a:ext cx="5623560" cy="2636066"/>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787003"/>
            <a:ext cx="5330952" cy="2403735"/>
          </a:xfrm>
          <a:prstGeom prst="rect">
            <a:avLst/>
          </a:prstGeom>
          <a:noFill/>
        </p:spPr>
        <p:txBody>
          <a:bodyPr wrap="square" lIns="0" rIns="0" tIns="0" bIns="0" anchor="t">
            <a:spAutoFit/>
          </a:bodyPr>
          <a:lstStyle/>
          <a:p>
            <a:pPr>
              <a:lnSpc>
                <a:spcPct val="116000"/>
              </a:lnSpc>
              <a:spcBef>
                <a:spcPts val="0"/>
              </a:spcBef>
              <a:spcAft>
                <a:spcPts val="0"/>
              </a:spcAft>
            </a:pPr>
            <a:r>
              <a:rPr sz="860">
                <a:solidFill>
                  <a:srgbClr val="CBD9E8"/>
                </a:solidFill>
                <a:latin typeface="Consolas"/>
              </a:rPr>
              <a:t>openid4vp://authorize?</a:t>
            </a:r>
          </a:p>
          <a:p>
            <a:pPr>
              <a:lnSpc>
                <a:spcPct val="116000"/>
              </a:lnSpc>
              <a:spcBef>
                <a:spcPts val="0"/>
              </a:spcBef>
              <a:spcAft>
                <a:spcPts val="0"/>
              </a:spcAft>
            </a:pPr>
            <a:r>
              <a:rPr sz="860" b="1">
                <a:solidFill>
                  <a:srgbClr val="FFD56B"/>
                </a:solidFill>
                <a:latin typeface="Consolas"/>
              </a:rPr>
              <a:t>  client_id=verify.gov.br</a:t>
            </a:r>
          </a:p>
          <a:p>
            <a:pPr>
              <a:lnSpc>
                <a:spcPct val="116000"/>
              </a:lnSpc>
              <a:spcBef>
                <a:spcPts val="0"/>
              </a:spcBef>
              <a:spcAft>
                <a:spcPts val="0"/>
              </a:spcAft>
            </a:pPr>
            <a:r>
              <a:rPr sz="860">
                <a:solidFill>
                  <a:srgbClr val="CBD9E8"/>
                </a:solidFill>
                <a:latin typeface="Consolas"/>
              </a:rPr>
              <a:t>  &amp;client_id_scheme=pre-registered</a:t>
            </a:r>
            <a:r>
              <a:rPr sz="860">
                <a:solidFill>
                  <a:srgbClr val="7E93A8"/>
                </a:solidFill>
                <a:latin typeface="Consolas"/>
              </a:rPr>
              <a:t>   // draft 21 only</a:t>
            </a:r>
          </a:p>
          <a:p>
            <a:pPr>
              <a:lnSpc>
                <a:spcPct val="116000"/>
              </a:lnSpc>
              <a:spcBef>
                <a:spcPts val="0"/>
              </a:spcBef>
              <a:spcAft>
                <a:spcPts val="0"/>
              </a:spcAft>
            </a:pPr>
            <a:r>
              <a:rPr sz="860">
                <a:solidFill>
                  <a:srgbClr val="CBD9E8"/>
                </a:solidFill>
                <a:latin typeface="Consolas"/>
              </a:rPr>
              <a:t>  &amp;response_type=vp_token</a:t>
            </a:r>
          </a:p>
          <a:p>
            <a:pPr>
              <a:lnSpc>
                <a:spcPct val="116000"/>
              </a:lnSpc>
              <a:spcBef>
                <a:spcPts val="0"/>
              </a:spcBef>
              <a:spcAft>
                <a:spcPts val="0"/>
              </a:spcAft>
            </a:pPr>
            <a:r>
              <a:rPr sz="860">
                <a:solidFill>
                  <a:srgbClr val="CBD9E8"/>
                </a:solidFill>
                <a:latin typeface="Consolas"/>
              </a:rPr>
              <a:t>  &amp;response_mode=direct_post</a:t>
            </a:r>
          </a:p>
          <a:p>
            <a:pPr>
              <a:lnSpc>
                <a:spcPct val="116000"/>
              </a:lnSpc>
              <a:spcBef>
                <a:spcPts val="0"/>
              </a:spcBef>
              <a:spcAft>
                <a:spcPts val="0"/>
              </a:spcAft>
            </a:pPr>
            <a:r>
              <a:rPr sz="860" b="1">
                <a:solidFill>
                  <a:srgbClr val="FFD56B"/>
                </a:solidFill>
                <a:latin typeface="Consolas"/>
              </a:rPr>
              <a:t>  &amp;response_uri=https://verify.gov.br/vp</a:t>
            </a:r>
          </a:p>
          <a:p>
            <a:pPr>
              <a:lnSpc>
                <a:spcPct val="116000"/>
              </a:lnSpc>
              <a:spcBef>
                <a:spcPts val="0"/>
              </a:spcBef>
              <a:spcAft>
                <a:spcPts val="0"/>
              </a:spcAft>
            </a:pPr>
            <a:r>
              <a:rPr sz="860" b="1">
                <a:solidFill>
                  <a:srgbClr val="FFD56B"/>
                </a:solidFill>
                <a:latin typeface="Consolas"/>
              </a:rPr>
              <a:t>  &amp;nonce=n-0S6_WzA2Mj</a:t>
            </a:r>
          </a:p>
          <a:p>
            <a:pPr>
              <a:lnSpc>
                <a:spcPct val="116000"/>
              </a:lnSpc>
              <a:spcBef>
                <a:spcPts val="0"/>
              </a:spcBef>
              <a:spcAft>
                <a:spcPts val="0"/>
              </a:spcAft>
            </a:pPr>
            <a:r>
              <a:rPr sz="860" b="1">
                <a:solidFill>
                  <a:srgbClr val="FFD56B"/>
                </a:solidFill>
                <a:latin typeface="Consolas"/>
              </a:rPr>
              <a:t>  &amp;state=af0ifjsldkj</a:t>
            </a:r>
          </a:p>
          <a:p>
            <a:pPr>
              <a:lnSpc>
                <a:spcPct val="116000"/>
              </a:lnSpc>
              <a:spcBef>
                <a:spcPts val="0"/>
              </a:spcBef>
              <a:spcAft>
                <a:spcPts val="0"/>
              </a:spcAft>
            </a:pPr>
            <a:r>
              <a:rPr sz="860">
                <a:solidFill>
                  <a:srgbClr val="CBD9E8"/>
                </a:solidFill>
                <a:latin typeface="Consolas"/>
              </a:rPr>
              <a:t>  &amp;presentation_definition={…}</a:t>
            </a:r>
            <a:r>
              <a:rPr sz="860">
                <a:solidFill>
                  <a:srgbClr val="7E93A8"/>
                </a:solidFill>
                <a:latin typeface="Consolas"/>
              </a:rPr>
              <a:t>   // or …_uri</a:t>
            </a:r>
          </a:p>
          <a:p>
            <a:pPr>
              <a:lnSpc>
                <a:spcPct val="116000"/>
              </a:lnSpc>
              <a:spcBef>
                <a:spcPts val="0"/>
              </a:spcBef>
              <a:spcAft>
                <a:spcPts val="0"/>
              </a:spcAft>
            </a:pPr>
            <a:r>
              <a:rPr sz="860">
                <a:solidFill>
                  <a:srgbClr val="CBD9E8"/>
                </a:solidFill>
                <a:latin typeface="Consolas"/>
              </a:rPr>
              <a:t>  &amp;client_metadata={…}</a:t>
            </a:r>
          </a:p>
          <a:p>
            <a:pPr>
              <a:lnSpc>
                <a:spcPct val="116000"/>
              </a:lnSpc>
              <a:spcBef>
                <a:spcPts val="0"/>
              </a:spcBef>
              <a:spcAft>
                <a:spcPts val="0"/>
              </a:spcAft>
            </a:pPr>
          </a:p>
          <a:p>
            <a:pPr>
              <a:lnSpc>
                <a:spcPct val="116000"/>
              </a:lnSpc>
              <a:spcBef>
                <a:spcPts val="0"/>
              </a:spcBef>
              <a:spcAft>
                <a:spcPts val="0"/>
              </a:spcAft>
            </a:pPr>
            <a:r>
              <a:rPr sz="860">
                <a:solidFill>
                  <a:srgbClr val="7E93A8"/>
                </a:solidFill>
                <a:latin typeface="Consolas"/>
              </a:rPr>
              <a:t>// or, by reference — keeps the QR small:</a:t>
            </a:r>
          </a:p>
          <a:p>
            <a:pPr>
              <a:lnSpc>
                <a:spcPct val="116000"/>
              </a:lnSpc>
              <a:spcBef>
                <a:spcPts val="0"/>
              </a:spcBef>
              <a:spcAft>
                <a:spcPts val="0"/>
              </a:spcAft>
            </a:pPr>
            <a:r>
              <a:rPr sz="860">
                <a:solidFill>
                  <a:srgbClr val="CBD9E8"/>
                </a:solidFill>
                <a:latin typeface="Consolas"/>
              </a:rPr>
              <a:t>  ?client_id=verify.gov.br&amp;request_uri=https://…/req</a:t>
            </a:r>
          </a:p>
          <a:p>
            <a:pPr>
              <a:lnSpc>
                <a:spcPct val="116000"/>
              </a:lnSpc>
              <a:spcBef>
                <a:spcPts val="0"/>
              </a:spcBef>
              <a:spcAft>
                <a:spcPts val="0"/>
              </a:spcAft>
            </a:pPr>
            <a:r>
              <a:rPr sz="860">
                <a:solidFill>
                  <a:srgbClr val="CBD9E8"/>
                </a:solidFill>
                <a:latin typeface="Consolas"/>
              </a:rPr>
              <a:t>   &amp;request_uri_method=post</a:t>
            </a:r>
          </a:p>
        </p:txBody>
      </p:sp>
      <p:graphicFrame>
        <p:nvGraphicFramePr>
          <p:cNvPr id="9" name="Table 8"/>
          <p:cNvGraphicFramePr>
            <a:graphicFrameLocks noGrp="1"/>
          </p:cNvGraphicFramePr>
          <p:nvPr/>
        </p:nvGraphicFramePr>
        <p:xfrm>
          <a:off x="6409944" y="1670837"/>
          <a:ext cx="5276087" cy="3292598"/>
        </p:xfrm>
        <a:graphic>
          <a:graphicData uri="http://schemas.openxmlformats.org/drawingml/2006/table">
            <a:tbl>
              <a:tblPr firstRow="1">
                <a:tableStyleId>{2D5ABB26-0587-4C30-8999-92F81FD0307C}</a:tableStyleId>
              </a:tblPr>
              <a:tblGrid>
                <a:gridCol w="1728373"/>
                <a:gridCol w="3547714"/>
              </a:tblGrid>
              <a:tr h="285946">
                <a:tc>
                  <a:txBody>
                    <a:bodyPr wrap="square"/>
                    <a:lstStyle/>
                    <a:p>
                      <a:pPr algn="l"/>
                      <a:r>
                        <a:rPr sz="940" b="1">
                          <a:solidFill>
                            <a:srgbClr val="FFFFFF"/>
                          </a:solidFill>
                          <a:latin typeface="Arial"/>
                        </a:rPr>
                        <a:t>Parameter</a:t>
                      </a:r>
                    </a:p>
                  </a:txBody>
                  <a:tcPr marL="64008" marR="54864" marT="27432" marB="27432" anchor="ctr">
                    <a:solidFill>
                      <a:srgbClr val="1D4E89"/>
                    </a:solidFill>
                  </a:tcPr>
                </a:tc>
                <a:tc>
                  <a:txBody>
                    <a:bodyPr wrap="square"/>
                    <a:lstStyle/>
                    <a:p>
                      <a:pPr algn="l"/>
                      <a:r>
                        <a:rPr sz="940" b="1">
                          <a:solidFill>
                            <a:srgbClr val="FFFFFF"/>
                          </a:solidFill>
                          <a:latin typeface="Arial"/>
                        </a:rPr>
                        <a:t>What it is for</a:t>
                      </a:r>
                    </a:p>
                  </a:txBody>
                  <a:tcPr marL="64008" marR="54864" marT="27432" marB="27432" anchor="ctr">
                    <a:solidFill>
                      <a:srgbClr val="1D4E89"/>
                    </a:solidFill>
                  </a:tcPr>
                </a:tc>
              </a:tr>
              <a:tr h="294881">
                <a:tc>
                  <a:txBody>
                    <a:bodyPr wrap="square"/>
                    <a:lstStyle/>
                    <a:p>
                      <a:pPr algn="l">
                        <a:lnSpc>
                          <a:spcPct val="105000"/>
                        </a:lnSpc>
                      </a:pPr>
                      <a:r>
                        <a:rPr sz="880" b="0">
                          <a:solidFill>
                            <a:srgbClr val="1D4E89"/>
                          </a:solidFill>
                          <a:latin typeface="Consolas"/>
                        </a:rPr>
                        <a:t>client_id</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Who is asking. Meaning depends on the scheme.</a:t>
                      </a:r>
                    </a:p>
                  </a:txBody>
                  <a:tcPr marL="64008" marR="54864" marT="18288" marB="18288" anchor="ctr">
                    <a:solidFill>
                      <a:srgbClr val="FFFFFF"/>
                    </a:solidFill>
                  </a:tcPr>
                </a:tc>
              </a:tr>
              <a:tr h="345270">
                <a:tc>
                  <a:txBody>
                    <a:bodyPr wrap="square"/>
                    <a:lstStyle/>
                    <a:p>
                      <a:pPr algn="l">
                        <a:lnSpc>
                          <a:spcPct val="105000"/>
                        </a:lnSpc>
                      </a:pPr>
                      <a:r>
                        <a:rPr sz="880" b="0">
                          <a:solidFill>
                            <a:srgbClr val="1D4E89"/>
                          </a:solidFill>
                          <a:latin typeface="Consolas"/>
                        </a:rPr>
                        <a:t>client_id_scheme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How to authenticate that claim. Present → draft 21. Absent → draft 23 rules.</a:t>
                      </a:r>
                    </a:p>
                  </a:txBody>
                  <a:tcPr marL="64008" marR="54864" marT="18288" marB="18288" anchor="ctr">
                    <a:solidFill>
                      <a:srgbClr val="F3F6F9"/>
                    </a:solidFill>
                  </a:tcPr>
                </a:tc>
              </a:tr>
              <a:tr h="294881">
                <a:tc>
                  <a:txBody>
                    <a:bodyPr wrap="square"/>
                    <a:lstStyle/>
                    <a:p>
                      <a:pPr algn="l">
                        <a:lnSpc>
                          <a:spcPct val="105000"/>
                        </a:lnSpc>
                      </a:pPr>
                      <a:r>
                        <a:rPr sz="880" b="0">
                          <a:solidFill>
                            <a:srgbClr val="1D4E89"/>
                          </a:solidFill>
                          <a:latin typeface="Consolas"/>
                        </a:rPr>
                        <a:t>response_type</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Always </a:t>
                      </a:r>
                      <a:r>
                        <a:rPr sz="880" b="0">
                          <a:solidFill>
                            <a:srgbClr val="1D4E89"/>
                          </a:solidFill>
                          <a:latin typeface="Consolas"/>
                        </a:rPr>
                        <a:t>vp_token</a:t>
                      </a:r>
                      <a:r>
                        <a:rPr sz="880" b="0">
                          <a:solidFill>
                            <a:srgbClr val="1E293B"/>
                          </a:solidFill>
                          <a:latin typeface="Arial"/>
                        </a:rPr>
                        <a:t> here.</a:t>
                      </a:r>
                    </a:p>
                  </a:txBody>
                  <a:tcPr marL="64008" marR="54864" marT="18288" marB="18288" anchor="ctr">
                    <a:solidFill>
                      <a:srgbClr val="FFFFFF"/>
                    </a:solidFill>
                  </a:tcPr>
                </a:tc>
              </a:tr>
              <a:tr h="345270">
                <a:tc>
                  <a:txBody>
                    <a:bodyPr wrap="square"/>
                    <a:lstStyle/>
                    <a:p>
                      <a:pPr algn="l">
                        <a:lnSpc>
                          <a:spcPct val="105000"/>
                        </a:lnSpc>
                      </a:pPr>
                      <a:r>
                        <a:rPr sz="880" b="0">
                          <a:solidFill>
                            <a:srgbClr val="1D4E89"/>
                          </a:solidFill>
                          <a:latin typeface="Consolas"/>
                        </a:rPr>
                        <a:t>response_mode</a:t>
                      </a: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direct_post</a:t>
                      </a:r>
                      <a:r>
                        <a:rPr sz="880" b="0">
                          <a:solidFill>
                            <a:srgbClr val="1E293B"/>
                          </a:solidFill>
                          <a:latin typeface="Arial"/>
                        </a:rPr>
                        <a:t> or </a:t>
                      </a:r>
                      <a:r>
                        <a:rPr sz="880" b="0">
                          <a:solidFill>
                            <a:srgbClr val="1D4E89"/>
                          </a:solidFill>
                          <a:latin typeface="Consolas"/>
                        </a:rPr>
                        <a:t>direct_post.jwt</a:t>
                      </a:r>
                      <a:r>
                        <a:rPr sz="880" b="0">
                          <a:solidFill>
                            <a:srgbClr val="1E293B"/>
                          </a:solidFill>
                          <a:latin typeface="Arial"/>
                        </a:rPr>
                        <a:t> (encrypted). Inji also supports </a:t>
                      </a:r>
                      <a:r>
                        <a:rPr sz="880" b="0">
                          <a:solidFill>
                            <a:srgbClr val="1D4E89"/>
                          </a:solidFill>
                          <a:latin typeface="Consolas"/>
                        </a:rPr>
                        <a:t>iar-post</a:t>
                      </a:r>
                      <a:r>
                        <a:rPr sz="880" b="0">
                          <a:solidFill>
                            <a:srgbClr val="1E293B"/>
                          </a:solidFill>
                          <a:latin typeface="Arial"/>
                        </a:rPr>
                        <a:t> variants.</a:t>
                      </a:r>
                    </a:p>
                  </a:txBody>
                  <a:tcPr marL="64008" marR="54864" marT="18288" marB="18288" anchor="ctr">
                    <a:solidFill>
                      <a:srgbClr val="F3F6F9"/>
                    </a:solidFill>
                  </a:tcPr>
                </a:tc>
              </a:tr>
              <a:tr h="345270">
                <a:tc>
                  <a:txBody>
                    <a:bodyPr wrap="square"/>
                    <a:lstStyle/>
                    <a:p>
                      <a:pPr algn="l">
                        <a:lnSpc>
                          <a:spcPct val="105000"/>
                        </a:lnSpc>
                      </a:pPr>
                      <a:r>
                        <a:rPr sz="880" b="0">
                          <a:solidFill>
                            <a:srgbClr val="1D4E89"/>
                          </a:solidFill>
                          <a:latin typeface="Consolas"/>
                        </a:rPr>
                        <a:t>response_uri</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Where the wallet POSTs the answer. Must match the registered value.</a:t>
                      </a:r>
                    </a:p>
                  </a:txBody>
                  <a:tcPr marL="64008" marR="54864" marT="18288" marB="18288" anchor="ctr">
                    <a:solidFill>
                      <a:srgbClr val="FFFFFF"/>
                    </a:solidFill>
                  </a:tcPr>
                </a:tc>
              </a:tr>
              <a:tr h="345270">
                <a:tc>
                  <a:txBody>
                    <a:bodyPr wrap="square"/>
                    <a:lstStyle/>
                    <a:p>
                      <a:pPr algn="l">
                        <a:lnSpc>
                          <a:spcPct val="105000"/>
                        </a:lnSpc>
                      </a:pPr>
                      <a:r>
                        <a:rPr sz="880" b="0">
                          <a:solidFill>
                            <a:srgbClr val="1D4E89"/>
                          </a:solidFill>
                          <a:latin typeface="Consolas"/>
                        </a:rPr>
                        <a:t>nonce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Freshness. Goes into the holder's signature so the verifier knows the presentation is for this request.</a:t>
                      </a:r>
                    </a:p>
                  </a:txBody>
                  <a:tcPr marL="64008" marR="54864" marT="18288" marB="18288" anchor="ctr">
                    <a:solidFill>
                      <a:srgbClr val="F3F6F9"/>
                    </a:solidFill>
                  </a:tcPr>
                </a:tc>
              </a:tr>
              <a:tr h="345270">
                <a:tc>
                  <a:txBody>
                    <a:bodyPr wrap="square"/>
                    <a:lstStyle/>
                    <a:p>
                      <a:pPr algn="l">
                        <a:lnSpc>
                          <a:spcPct val="105000"/>
                        </a:lnSpc>
                      </a:pPr>
                      <a:r>
                        <a:rPr sz="880" b="0">
                          <a:solidFill>
                            <a:srgbClr val="1D4E89"/>
                          </a:solidFill>
                          <a:latin typeface="Consolas"/>
                        </a:rPr>
                        <a:t>state</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The verifier's own correlation handle. Echoed back untouched.</a:t>
                      </a:r>
                    </a:p>
                  </a:txBody>
                  <a:tcPr marL="64008" marR="54864" marT="18288" marB="18288" anchor="ctr">
                    <a:solidFill>
                      <a:srgbClr val="FFFFFF"/>
                    </a:solidFill>
                  </a:tcPr>
                </a:tc>
              </a:tr>
              <a:tr h="345270">
                <a:tc>
                  <a:txBody>
                    <a:bodyPr wrap="square"/>
                    <a:lstStyle/>
                    <a:p>
                      <a:pPr algn="l">
                        <a:lnSpc>
                          <a:spcPct val="105000"/>
                        </a:lnSpc>
                      </a:pPr>
                      <a:r>
                        <a:rPr sz="880" b="0">
                          <a:solidFill>
                            <a:srgbClr val="1D4E89"/>
                          </a:solidFill>
                          <a:latin typeface="Consolas"/>
                        </a:rPr>
                        <a:t>presentation_definition</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What is being asked for: input descriptors, fields, constraints, format filters.</a:t>
                      </a:r>
                    </a:p>
                  </a:txBody>
                  <a:tcPr marL="64008" marR="54864" marT="18288" marB="18288" anchor="ctr">
                    <a:solidFill>
                      <a:srgbClr val="F3F6F9"/>
                    </a:solidFill>
                  </a:tcPr>
                </a:tc>
              </a:tr>
              <a:tr h="345270">
                <a:tc>
                  <a:txBody>
                    <a:bodyPr wrap="square"/>
                    <a:lstStyle/>
                    <a:p>
                      <a:pPr algn="l">
                        <a:lnSpc>
                          <a:spcPct val="105000"/>
                        </a:lnSpc>
                      </a:pPr>
                      <a:r>
                        <a:rPr sz="880" b="0">
                          <a:solidFill>
                            <a:srgbClr val="1D4E89"/>
                          </a:solidFill>
                          <a:latin typeface="Consolas"/>
                        </a:rPr>
                        <a:t>client_metadata</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The verifier's own metadata — including the public key used to encrypt the response.</a:t>
                      </a:r>
                    </a:p>
                  </a:txBody>
                  <a:tcPr marL="64008" marR="54864" marT="18288" marB="18288" anchor="ctr">
                    <a:solidFill>
                      <a:srgbClr val="FFFFFF"/>
                    </a:solidFill>
                  </a:tcPr>
                </a:tc>
              </a:tr>
            </a:tbl>
          </a:graphicData>
        </a:graphic>
      </p:graphicFrame>
      <p:sp>
        <p:nvSpPr>
          <p:cNvPr id="10" name="Rounded Rectangle 9"/>
          <p:cNvSpPr/>
          <p:nvPr/>
        </p:nvSpPr>
        <p:spPr>
          <a:xfrm>
            <a:off x="502920" y="4530299"/>
            <a:ext cx="5623560" cy="1742484"/>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4530299"/>
            <a:ext cx="50292" cy="174248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4673272"/>
            <a:ext cx="5239512" cy="268074"/>
          </a:xfrm>
          <a:prstGeom prst="rect">
            <a:avLst/>
          </a:prstGeom>
          <a:noFill/>
        </p:spPr>
        <p:txBody>
          <a:bodyPr wrap="square" lIns="0" rIns="0" tIns="0" bIns="0" anchor="t">
            <a:spAutoFit/>
          </a:bodyPr>
          <a:lstStyle/>
          <a:p>
            <a:pPr algn="l">
              <a:lnSpc>
                <a:spcPct val="114000"/>
              </a:lnSpc>
              <a:spcBef>
                <a:spcPts val="0"/>
              </a:spcBef>
              <a:spcAft>
                <a:spcPts val="0"/>
              </a:spcAft>
            </a:pPr>
            <a:r>
              <a:rPr sz="1190" b="1" i="0">
                <a:solidFill>
                  <a:srgbClr val="1D4E89"/>
                </a:solidFill>
              </a:rPr>
              <a:t>client_id schemes Inji supports</a:t>
            </a:r>
          </a:p>
        </p:txBody>
      </p:sp>
      <p:sp>
        <p:nvSpPr>
          <p:cNvPr id="13" name="Oval 12"/>
          <p:cNvSpPr/>
          <p:nvPr/>
        </p:nvSpPr>
        <p:spPr>
          <a:xfrm>
            <a:off x="745236" y="4958622"/>
            <a:ext cx="77724" cy="7595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896668"/>
            <a:ext cx="5010912" cy="557594"/>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1D4E89"/>
                </a:solidFill>
                <a:latin typeface="Consolas"/>
              </a:rPr>
              <a:t>pre-registered</a:t>
            </a:r>
            <a:r>
              <a:rPr sz="950" b="0" i="0">
                <a:solidFill>
                  <a:srgbClr val="0F172A"/>
                </a:solidFill>
                <a:latin typeface="Arial"/>
              </a:rPr>
              <a:t> — the verifier is in the wallet's trusted list. Signed requests validated against its </a:t>
            </a:r>
            <a:r>
              <a:rPr sz="950" b="0" i="0">
                <a:solidFill>
                  <a:srgbClr val="1D4E89"/>
                </a:solidFill>
                <a:latin typeface="Consolas"/>
              </a:rPr>
              <a:t>jwks_uri</a:t>
            </a:r>
            <a:r>
              <a:rPr sz="950" b="0" i="0">
                <a:solidFill>
                  <a:srgbClr val="0F172A"/>
                </a:solidFill>
                <a:latin typeface="Arial"/>
              </a:rPr>
              <a:t>. Unsigned allowed only if </a:t>
            </a:r>
            <a:r>
              <a:rPr sz="950" b="0" i="0">
                <a:solidFill>
                  <a:srgbClr val="1D4E89"/>
                </a:solidFill>
                <a:latin typeface="Consolas"/>
              </a:rPr>
              <a:t>allow_unsigned_request</a:t>
            </a:r>
            <a:r>
              <a:rPr sz="950" b="0" i="0">
                <a:solidFill>
                  <a:srgbClr val="0F172A"/>
                </a:solidFill>
                <a:latin typeface="Arial"/>
              </a:rPr>
              <a:t> is true.</a:t>
            </a:r>
          </a:p>
        </p:txBody>
      </p:sp>
      <p:sp>
        <p:nvSpPr>
          <p:cNvPr id="15" name="Oval 14"/>
          <p:cNvSpPr/>
          <p:nvPr/>
        </p:nvSpPr>
        <p:spPr>
          <a:xfrm>
            <a:off x="745236" y="5484942"/>
            <a:ext cx="77724" cy="7595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422987"/>
            <a:ext cx="5010912" cy="407472"/>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1D4E89"/>
                </a:solidFill>
                <a:latin typeface="Consolas"/>
              </a:rPr>
              <a:t>redirect_uri</a:t>
            </a:r>
            <a:r>
              <a:rPr sz="950" b="0" i="0">
                <a:solidFill>
                  <a:srgbClr val="0F172A"/>
                </a:solidFill>
                <a:latin typeface="Arial"/>
              </a:rPr>
              <a:t> — the </a:t>
            </a:r>
            <a:r>
              <a:rPr sz="950" b="0" i="0">
                <a:solidFill>
                  <a:srgbClr val="1D4E89"/>
                </a:solidFill>
                <a:latin typeface="Consolas"/>
              </a:rPr>
              <a:t>client_id</a:t>
            </a:r>
            <a:r>
              <a:rPr sz="950" b="0" i="0">
                <a:solidFill>
                  <a:srgbClr val="0F172A"/>
                </a:solidFill>
                <a:latin typeface="Arial"/>
              </a:rPr>
              <a:t> </a:t>
            </a:r>
            <a:r>
              <a:rPr sz="950" b="1" i="0">
                <a:solidFill>
                  <a:srgbClr val="0F172A"/>
                </a:solidFill>
                <a:latin typeface="Arial"/>
              </a:rPr>
              <a:t>is</a:t>
            </a:r>
            <a:r>
              <a:rPr sz="950" b="0" i="0">
                <a:solidFill>
                  <a:srgbClr val="0F172A"/>
                </a:solidFill>
                <a:latin typeface="Arial"/>
              </a:rPr>
              <a:t> the response URI. The request must be unsigned.</a:t>
            </a:r>
          </a:p>
        </p:txBody>
      </p:sp>
      <p:sp>
        <p:nvSpPr>
          <p:cNvPr id="17" name="Oval 16"/>
          <p:cNvSpPr/>
          <p:nvPr/>
        </p:nvSpPr>
        <p:spPr>
          <a:xfrm>
            <a:off x="745236" y="5861140"/>
            <a:ext cx="77724" cy="7595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5799185"/>
            <a:ext cx="5010912" cy="407472"/>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1D4E89"/>
                </a:solidFill>
                <a:latin typeface="Consolas"/>
              </a:rPr>
              <a:t>did</a:t>
            </a:r>
            <a:r>
              <a:rPr sz="950" b="0" i="0">
                <a:solidFill>
                  <a:srgbClr val="0F172A"/>
                </a:solidFill>
                <a:latin typeface="Arial"/>
              </a:rPr>
              <a:t> — </a:t>
            </a:r>
            <a:r>
              <a:rPr sz="950" b="0" i="0">
                <a:solidFill>
                  <a:srgbClr val="1D4E89"/>
                </a:solidFill>
                <a:latin typeface="Consolas"/>
              </a:rPr>
              <a:t>client_id</a:t>
            </a:r>
            <a:r>
              <a:rPr sz="950" b="0" i="0">
                <a:solidFill>
                  <a:srgbClr val="0F172A"/>
                </a:solidFill>
                <a:latin typeface="Arial"/>
              </a:rPr>
              <a:t> is a DID; the request must be signed and the key resolved from the DID document via </a:t>
            </a:r>
            <a:r>
              <a:rPr sz="950" b="0" i="0">
                <a:solidFill>
                  <a:srgbClr val="1D4E89"/>
                </a:solidFill>
                <a:latin typeface="Consolas"/>
              </a:rPr>
              <a:t>kid</a:t>
            </a:r>
            <a:r>
              <a:rPr sz="950" b="0" i="0">
                <a:solidFill>
                  <a:srgbClr val="0F172A"/>
                </a:solidFill>
                <a:latin typeface="Arial"/>
              </a:rPr>
              <a:t>.</a:t>
            </a:r>
          </a:p>
        </p:txBody>
      </p:sp>
      <p:sp>
        <p:nvSpPr>
          <p:cNvPr id="19" name="Rounded Rectangle 18"/>
          <p:cNvSpPr/>
          <p:nvPr/>
        </p:nvSpPr>
        <p:spPr>
          <a:xfrm>
            <a:off x="6409944" y="4530299"/>
            <a:ext cx="5276088" cy="1742484"/>
          </a:xfrm>
          <a:prstGeom prst="roundRect">
            <a:avLst>
              <a:gd name="adj" fmla="val 45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9944" y="4530299"/>
            <a:ext cx="50292" cy="174248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47688" y="4673272"/>
            <a:ext cx="4892040" cy="268074"/>
          </a:xfrm>
          <a:prstGeom prst="rect">
            <a:avLst/>
          </a:prstGeom>
          <a:noFill/>
        </p:spPr>
        <p:txBody>
          <a:bodyPr wrap="square" lIns="0" rIns="0" tIns="0" bIns="0" anchor="t">
            <a:spAutoFit/>
          </a:bodyPr>
          <a:lstStyle/>
          <a:p>
            <a:pPr algn="l">
              <a:lnSpc>
                <a:spcPct val="114000"/>
              </a:lnSpc>
              <a:spcBef>
                <a:spcPts val="0"/>
              </a:spcBef>
              <a:spcAft>
                <a:spcPts val="0"/>
              </a:spcAft>
            </a:pPr>
            <a:r>
              <a:rPr sz="1190" b="1" i="0">
                <a:solidFill>
                  <a:srgbClr val="B31B1B"/>
                </a:solidFill>
              </a:rPr>
              <a:t>Why this is the security hinge</a:t>
            </a:r>
          </a:p>
        </p:txBody>
      </p:sp>
      <p:sp>
        <p:nvSpPr>
          <p:cNvPr id="22" name="Oval 21"/>
          <p:cNvSpPr/>
          <p:nvPr/>
        </p:nvSpPr>
        <p:spPr>
          <a:xfrm>
            <a:off x="6652260" y="4958622"/>
            <a:ext cx="77724" cy="7595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39712" y="4896668"/>
            <a:ext cx="4663439" cy="407472"/>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0F172A"/>
                </a:solidFill>
                <a:latin typeface="Arial"/>
              </a:rPr>
              <a:t>The scheme decides </a:t>
            </a:r>
            <a:r>
              <a:rPr sz="950" b="1" i="0">
                <a:solidFill>
                  <a:srgbClr val="0F172A"/>
                </a:solidFill>
                <a:latin typeface="Arial"/>
              </a:rPr>
              <a:t>how the wallet knows the verifier is who it claims to be.</a:t>
            </a:r>
          </a:p>
        </p:txBody>
      </p:sp>
      <p:sp>
        <p:nvSpPr>
          <p:cNvPr id="24" name="Oval 23"/>
          <p:cNvSpPr/>
          <p:nvPr/>
        </p:nvSpPr>
        <p:spPr>
          <a:xfrm>
            <a:off x="6652260" y="5334820"/>
            <a:ext cx="77724" cy="7595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9712" y="5272865"/>
            <a:ext cx="4663439" cy="557594"/>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1D4E89"/>
                </a:solidFill>
                <a:latin typeface="Consolas"/>
              </a:rPr>
              <a:t>pre-registered</a:t>
            </a:r>
            <a:r>
              <a:rPr sz="950" b="0" i="0">
                <a:solidFill>
                  <a:srgbClr val="0F172A"/>
                </a:solidFill>
                <a:latin typeface="Arial"/>
              </a:rPr>
              <a:t> with </a:t>
            </a:r>
            <a:r>
              <a:rPr sz="950" b="0" i="0">
                <a:solidFill>
                  <a:srgbClr val="1D4E89"/>
                </a:solidFill>
                <a:latin typeface="Consolas"/>
              </a:rPr>
              <a:t>shouldValidateClient = true</a:t>
            </a:r>
            <a:r>
              <a:rPr sz="950" b="0" i="0">
                <a:solidFill>
                  <a:srgbClr val="0F172A"/>
                </a:solidFill>
                <a:latin typeface="Arial"/>
              </a:rPr>
              <a:t> is the strongest posture — and it defaults to true from release 0.4.x onwards.</a:t>
            </a:r>
          </a:p>
        </p:txBody>
      </p:sp>
      <p:sp>
        <p:nvSpPr>
          <p:cNvPr id="26" name="Oval 25"/>
          <p:cNvSpPr/>
          <p:nvPr/>
        </p:nvSpPr>
        <p:spPr>
          <a:xfrm>
            <a:off x="6652260" y="5861140"/>
            <a:ext cx="77724" cy="7595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39712" y="5799185"/>
            <a:ext cx="4663439" cy="407472"/>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0F172A"/>
                </a:solidFill>
                <a:latin typeface="Arial"/>
              </a:rPr>
              <a:t>Turning validation off makes demos easy and makes verifier impersonation trivial. Do not ship it.</a:t>
            </a:r>
          </a:p>
        </p:txBody>
      </p:sp>
      <p:sp>
        <p:nvSpPr>
          <p:cNvPr id="28" name="TextBox 2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presentation with OpenID4VP</a:t>
            </a:r>
          </a:p>
        </p:txBody>
      </p:sp>
      <p:sp>
        <p:nvSpPr>
          <p:cNvPr id="29" name="TextBox 2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SEQUENCE — OPENID4VP</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Cross-device presentation, step by step</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1D4E89"/>
                </a:solidFill>
                <a:latin typeface="Consolas"/>
              </a:rPr>
              <a:t>direct_post</a:t>
            </a:r>
            <a:r>
              <a:rPr sz="1150" b="0" i="0">
                <a:solidFill>
                  <a:srgbClr val="5B6B7F"/>
                </a:solidFill>
                <a:latin typeface="Arial"/>
              </a:rPr>
              <a:t>. The wallet is the client; the verifier never connects to the phone.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2241"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User</a:t>
            </a:r>
          </a:p>
        </p:txBody>
      </p:sp>
      <p:cxnSp>
        <p:nvCxnSpPr>
          <p:cNvPr id="7" name="Connector 6"/>
          <p:cNvCxnSpPr/>
          <p:nvPr/>
        </p:nvCxnSpPr>
        <p:spPr>
          <a:xfrm>
            <a:off x="1621505"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75785"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75785"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9412"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Verifier</a:t>
            </a:r>
          </a:p>
        </p:txBody>
      </p:sp>
      <p:cxnSp>
        <p:nvCxnSpPr>
          <p:cNvPr id="11" name="Connector 10"/>
          <p:cNvCxnSpPr/>
          <p:nvPr/>
        </p:nvCxnSpPr>
        <p:spPr>
          <a:xfrm>
            <a:off x="3858676"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812956"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12956"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6583"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Inji Wallet</a:t>
            </a:r>
          </a:p>
        </p:txBody>
      </p:sp>
      <p:cxnSp>
        <p:nvCxnSpPr>
          <p:cNvPr id="15" name="Connector 14"/>
          <p:cNvCxnSpPr/>
          <p:nvPr/>
        </p:nvCxnSpPr>
        <p:spPr>
          <a:xfrm>
            <a:off x="6095847"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050127"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50127"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63754"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inji-openid4vp</a:t>
            </a:r>
          </a:p>
        </p:txBody>
      </p:sp>
      <p:cxnSp>
        <p:nvCxnSpPr>
          <p:cNvPr id="19" name="Connector 18"/>
          <p:cNvCxnSpPr/>
          <p:nvPr/>
        </p:nvCxnSpPr>
        <p:spPr>
          <a:xfrm>
            <a:off x="8333018"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87298"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7298"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00925"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Credential Store</a:t>
            </a:r>
          </a:p>
        </p:txBody>
      </p:sp>
      <p:cxnSp>
        <p:nvCxnSpPr>
          <p:cNvPr id="23" name="Connector 22"/>
          <p:cNvCxnSpPr/>
          <p:nvPr/>
        </p:nvCxnSpPr>
        <p:spPr>
          <a:xfrm>
            <a:off x="10570189" y="1682495"/>
            <a:ext cx="0" cy="437083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0524469"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24469" y="600303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58676" y="1939340"/>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H="1">
            <a:off x="3876964" y="2085644"/>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169572" y="1851660"/>
            <a:ext cx="3468795"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15292" y="1865376"/>
            <a:ext cx="3377355" cy="146304"/>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0E9488"/>
                </a:solidFill>
                <a:latin typeface="Arial"/>
              </a:rPr>
              <a:t>1  </a:t>
            </a:r>
            <a:r>
              <a:rPr sz="869" b="0" i="0">
                <a:solidFill>
                  <a:srgbClr val="1E293B"/>
                </a:solidFill>
                <a:latin typeface="Arial"/>
              </a:rPr>
              <a:t>Create request, store nonce + state against a session</a:t>
            </a:r>
          </a:p>
        </p:txBody>
      </p:sp>
      <p:cxnSp>
        <p:nvCxnSpPr>
          <p:cNvPr id="30" name="Connector 29"/>
          <p:cNvCxnSpPr/>
          <p:nvPr/>
        </p:nvCxnSpPr>
        <p:spPr>
          <a:xfrm flipH="1">
            <a:off x="1648937" y="2260396"/>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1270040" y="2081276"/>
            <a:ext cx="2940100"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15760" y="2094992"/>
            <a:ext cx="2848660"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2  </a:t>
            </a:r>
            <a:r>
              <a:rPr sz="869" b="0" i="0">
                <a:solidFill>
                  <a:srgbClr val="5B6B7F"/>
                </a:solidFill>
                <a:latin typeface="Arial"/>
              </a:rPr>
              <a:t>Show QR (request by value, or </a:t>
            </a:r>
            <a:r>
              <a:rPr sz="869" b="0" i="0">
                <a:solidFill>
                  <a:srgbClr val="5B6B7F"/>
                </a:solidFill>
                <a:latin typeface="Consolas"/>
              </a:rPr>
              <a:t>request_uri</a:t>
            </a:r>
            <a:r>
              <a:rPr sz="869" b="0" i="0">
                <a:solidFill>
                  <a:srgbClr val="5B6B7F"/>
                </a:solidFill>
                <a:latin typeface="Arial"/>
              </a:rPr>
              <a:t>)</a:t>
            </a:r>
          </a:p>
        </p:txBody>
      </p:sp>
      <p:cxnSp>
        <p:nvCxnSpPr>
          <p:cNvPr id="33" name="Connector 32"/>
          <p:cNvCxnSpPr/>
          <p:nvPr/>
        </p:nvCxnSpPr>
        <p:spPr>
          <a:xfrm>
            <a:off x="1648937" y="2490012"/>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342431" y="2310892"/>
            <a:ext cx="1032490"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88151" y="2324608"/>
            <a:ext cx="941050"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3  </a:t>
            </a:r>
            <a:r>
              <a:rPr sz="869" b="0" i="0">
                <a:solidFill>
                  <a:srgbClr val="1E293B"/>
                </a:solidFill>
                <a:latin typeface="Arial"/>
              </a:rPr>
              <a:t>Scan the QR</a:t>
            </a:r>
          </a:p>
        </p:txBody>
      </p:sp>
      <p:cxnSp>
        <p:nvCxnSpPr>
          <p:cNvPr id="36" name="Connector 35"/>
          <p:cNvCxnSpPr/>
          <p:nvPr/>
        </p:nvCxnSpPr>
        <p:spPr>
          <a:xfrm>
            <a:off x="6123279" y="2719628"/>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216516" y="2540508"/>
            <a:ext cx="3995832"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62236" y="2554224"/>
            <a:ext cx="3904392"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4  </a:t>
            </a:r>
            <a:r>
              <a:rPr sz="869" b="0" i="0">
                <a:solidFill>
                  <a:srgbClr val="1D4E89"/>
                </a:solidFill>
                <a:latin typeface="Consolas"/>
              </a:rPr>
              <a:t>authenticateVerifier(request, trustedVerifiers, true)</a:t>
            </a:r>
          </a:p>
        </p:txBody>
      </p:sp>
      <p:cxnSp>
        <p:nvCxnSpPr>
          <p:cNvPr id="39" name="Connector 38"/>
          <p:cNvCxnSpPr/>
          <p:nvPr/>
        </p:nvCxnSpPr>
        <p:spPr>
          <a:xfrm flipH="1">
            <a:off x="3886108" y="2949244"/>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557017" y="2770124"/>
            <a:ext cx="3077660"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02737" y="2783840"/>
            <a:ext cx="2986220"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5  </a:t>
            </a:r>
            <a:r>
              <a:rPr sz="869" b="0" i="0">
                <a:solidFill>
                  <a:srgbClr val="1D4E89"/>
                </a:solidFill>
                <a:latin typeface="Consolas"/>
              </a:rPr>
              <a:t>GET</a:t>
            </a:r>
            <a:r>
              <a:rPr sz="869" b="0" i="0">
                <a:solidFill>
                  <a:srgbClr val="1E293B"/>
                </a:solidFill>
                <a:latin typeface="Arial"/>
              </a:rPr>
              <a:t>/</a:t>
            </a:r>
            <a:r>
              <a:rPr sz="869" b="0" i="0">
                <a:solidFill>
                  <a:srgbClr val="1D4E89"/>
                </a:solidFill>
                <a:latin typeface="Consolas"/>
              </a:rPr>
              <a:t>POST request_uri</a:t>
            </a:r>
            <a:r>
              <a:rPr sz="869" b="0" i="0">
                <a:solidFill>
                  <a:srgbClr val="1E293B"/>
                </a:solidFill>
                <a:latin typeface="Arial"/>
              </a:rPr>
              <a:t> — only if by reference</a:t>
            </a:r>
          </a:p>
        </p:txBody>
      </p:sp>
      <p:cxnSp>
        <p:nvCxnSpPr>
          <p:cNvPr id="42" name="Connector 41"/>
          <p:cNvCxnSpPr/>
          <p:nvPr/>
        </p:nvCxnSpPr>
        <p:spPr>
          <a:xfrm>
            <a:off x="3886108" y="3178860"/>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4709493" y="2999740"/>
            <a:ext cx="2772708"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55213" y="3013456"/>
            <a:ext cx="2681268"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6  </a:t>
            </a:r>
            <a:r>
              <a:rPr sz="869" b="0" i="0">
                <a:solidFill>
                  <a:srgbClr val="5B6B7F"/>
                </a:solidFill>
                <a:latin typeface="Arial"/>
              </a:rPr>
              <a:t>signed Authorization Request Object (JWT)</a:t>
            </a:r>
          </a:p>
        </p:txBody>
      </p:sp>
      <p:sp>
        <p:nvSpPr>
          <p:cNvPr id="45" name="Rectangle 44"/>
          <p:cNvSpPr/>
          <p:nvPr/>
        </p:nvSpPr>
        <p:spPr>
          <a:xfrm>
            <a:off x="8333018" y="3317036"/>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flipH="1">
            <a:off x="8351306" y="3463340"/>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809359" y="3229356"/>
            <a:ext cx="3468795"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55079" y="3243072"/>
            <a:ext cx="3377355" cy="146304"/>
          </a:xfrm>
          <a:prstGeom prst="rect">
            <a:avLst/>
          </a:prstGeom>
          <a:noFill/>
        </p:spPr>
        <p:txBody>
          <a:bodyPr wrap="none" lIns="0" rIns="0" tIns="0" bIns="0" anchor="ctr">
            <a:spAutoFit/>
          </a:bodyPr>
          <a:lstStyle/>
          <a:p>
            <a:pPr algn="r">
              <a:lnSpc>
                <a:spcPct val="100000"/>
              </a:lnSpc>
              <a:spcBef>
                <a:spcPts val="0"/>
              </a:spcBef>
              <a:spcAft>
                <a:spcPts val="0"/>
              </a:spcAft>
            </a:pPr>
            <a:r>
              <a:rPr sz="869" b="1" i="0">
                <a:solidFill>
                  <a:srgbClr val="0E9488"/>
                </a:solidFill>
                <a:latin typeface="Arial"/>
              </a:rPr>
              <a:t>7  </a:t>
            </a:r>
            <a:r>
              <a:rPr sz="869" b="0" i="0">
                <a:solidFill>
                  <a:srgbClr val="1E293B"/>
                </a:solidFill>
                <a:latin typeface="Arial"/>
              </a:rPr>
              <a:t>Validate client_id scheme, signature, required fields</a:t>
            </a:r>
          </a:p>
        </p:txBody>
      </p:sp>
      <p:cxnSp>
        <p:nvCxnSpPr>
          <p:cNvPr id="49" name="Connector 48"/>
          <p:cNvCxnSpPr/>
          <p:nvPr/>
        </p:nvCxnSpPr>
        <p:spPr>
          <a:xfrm flipH="1">
            <a:off x="6123279" y="3638092"/>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047677" y="3458972"/>
            <a:ext cx="2333510"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93397" y="3472688"/>
            <a:ext cx="2242070"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8  </a:t>
            </a:r>
            <a:r>
              <a:rPr sz="869" b="0" i="0">
                <a:solidFill>
                  <a:srgbClr val="5B6B7F"/>
                </a:solidFill>
                <a:latin typeface="Arial"/>
              </a:rPr>
              <a:t>validated </a:t>
            </a:r>
            <a:r>
              <a:rPr sz="869" b="0" i="0">
                <a:solidFill>
                  <a:srgbClr val="5B6B7F"/>
                </a:solidFill>
                <a:latin typeface="Consolas"/>
              </a:rPr>
              <a:t>AuthorizationRequest</a:t>
            </a:r>
          </a:p>
        </p:txBody>
      </p:sp>
      <p:cxnSp>
        <p:nvCxnSpPr>
          <p:cNvPr id="52" name="Connector 51"/>
          <p:cNvCxnSpPr/>
          <p:nvPr/>
        </p:nvCxnSpPr>
        <p:spPr>
          <a:xfrm>
            <a:off x="6123279" y="3867708"/>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6484263" y="3688588"/>
            <a:ext cx="3697509"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29983" y="3702303"/>
            <a:ext cx="3606069"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9  </a:t>
            </a:r>
            <a:r>
              <a:rPr sz="869" b="0" i="0">
                <a:solidFill>
                  <a:srgbClr val="1E293B"/>
                </a:solidFill>
                <a:latin typeface="Arial"/>
              </a:rPr>
              <a:t>Find credentials matching the </a:t>
            </a:r>
            <a:r>
              <a:rPr sz="869" b="0" i="0">
                <a:solidFill>
                  <a:srgbClr val="1D4E89"/>
                </a:solidFill>
                <a:latin typeface="Consolas"/>
              </a:rPr>
              <a:t>presentation_definition</a:t>
            </a:r>
          </a:p>
        </p:txBody>
      </p:sp>
      <p:cxnSp>
        <p:nvCxnSpPr>
          <p:cNvPr id="55" name="Connector 54"/>
          <p:cNvCxnSpPr/>
          <p:nvPr/>
        </p:nvCxnSpPr>
        <p:spPr>
          <a:xfrm flipH="1">
            <a:off x="6123279" y="4097324"/>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7526736" y="3918204"/>
            <a:ext cx="1612563"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72456" y="3931920"/>
            <a:ext cx="1521123"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10  </a:t>
            </a:r>
            <a:r>
              <a:rPr sz="869" b="0" i="0">
                <a:solidFill>
                  <a:srgbClr val="5B6B7F"/>
                </a:solidFill>
                <a:latin typeface="Arial"/>
              </a:rPr>
              <a:t>candidate credentials</a:t>
            </a:r>
          </a:p>
        </p:txBody>
      </p:sp>
      <p:cxnSp>
        <p:nvCxnSpPr>
          <p:cNvPr id="58" name="Connector 57"/>
          <p:cNvCxnSpPr/>
          <p:nvPr/>
        </p:nvCxnSpPr>
        <p:spPr>
          <a:xfrm flipH="1">
            <a:off x="1648937" y="4326940"/>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2182286" y="4147819"/>
            <a:ext cx="3352780"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228006" y="4161535"/>
            <a:ext cx="3261340"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11  </a:t>
            </a:r>
            <a:r>
              <a:rPr sz="869" b="0" i="0">
                <a:solidFill>
                  <a:srgbClr val="5B6B7F"/>
                </a:solidFill>
                <a:latin typeface="Arial"/>
              </a:rPr>
              <a:t>Show verifier identity + requested claims — consent</a:t>
            </a:r>
          </a:p>
        </p:txBody>
      </p:sp>
      <p:cxnSp>
        <p:nvCxnSpPr>
          <p:cNvPr id="61" name="Connector 60"/>
          <p:cNvCxnSpPr/>
          <p:nvPr/>
        </p:nvCxnSpPr>
        <p:spPr>
          <a:xfrm>
            <a:off x="1648937" y="4556556"/>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2530329" y="4377436"/>
            <a:ext cx="2656693"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576049" y="4391151"/>
            <a:ext cx="2565253"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12  </a:t>
            </a:r>
            <a:r>
              <a:rPr sz="869" b="0" i="0">
                <a:solidFill>
                  <a:srgbClr val="1E293B"/>
                </a:solidFill>
                <a:latin typeface="Arial"/>
              </a:rPr>
              <a:t>User selects credential(s) and approves</a:t>
            </a:r>
          </a:p>
        </p:txBody>
      </p:sp>
      <p:cxnSp>
        <p:nvCxnSpPr>
          <p:cNvPr id="64" name="Connector 63"/>
          <p:cNvCxnSpPr/>
          <p:nvPr/>
        </p:nvCxnSpPr>
        <p:spPr>
          <a:xfrm>
            <a:off x="6123279" y="4786172"/>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352419" y="4607052"/>
            <a:ext cx="3724027"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398139" y="4620767"/>
            <a:ext cx="3632587"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13  </a:t>
            </a:r>
            <a:r>
              <a:rPr sz="869" b="0" i="0">
                <a:solidFill>
                  <a:srgbClr val="1D4E89"/>
                </a:solidFill>
                <a:latin typeface="Consolas"/>
              </a:rPr>
              <a:t>constructUnsignedVPToken(selected, holderId, alg)</a:t>
            </a:r>
          </a:p>
        </p:txBody>
      </p:sp>
      <p:cxnSp>
        <p:nvCxnSpPr>
          <p:cNvPr id="67" name="Connector 66"/>
          <p:cNvCxnSpPr/>
          <p:nvPr/>
        </p:nvCxnSpPr>
        <p:spPr>
          <a:xfrm flipH="1">
            <a:off x="6123279" y="5015788"/>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5509039" y="4836668"/>
            <a:ext cx="3410788"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554759" y="4850384"/>
            <a:ext cx="3319348"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14  </a:t>
            </a:r>
            <a:r>
              <a:rPr sz="869" b="0" i="0">
                <a:solidFill>
                  <a:srgbClr val="5B6B7F"/>
                </a:solidFill>
                <a:latin typeface="Arial"/>
              </a:rPr>
              <a:t>unsigned VP token per format (KB-JWT header+payload)</a:t>
            </a:r>
          </a:p>
        </p:txBody>
      </p:sp>
      <p:sp>
        <p:nvSpPr>
          <p:cNvPr id="70" name="Rectangle 69"/>
          <p:cNvSpPr/>
          <p:nvPr/>
        </p:nvSpPr>
        <p:spPr>
          <a:xfrm>
            <a:off x="6095847" y="5153964"/>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flipH="1">
            <a:off x="6114135" y="5300268"/>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6406743" y="5066284"/>
            <a:ext cx="306274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52463" y="5080000"/>
            <a:ext cx="2971304" cy="146304"/>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0E9488"/>
                </a:solidFill>
                <a:latin typeface="Arial"/>
              </a:rPr>
              <a:t>15  </a:t>
            </a:r>
            <a:r>
              <a:rPr sz="869" b="0" i="0">
                <a:solidFill>
                  <a:srgbClr val="1E293B"/>
                </a:solidFill>
                <a:latin typeface="Arial"/>
              </a:rPr>
              <a:t>Sign with the bound key in the secure keystore</a:t>
            </a:r>
          </a:p>
        </p:txBody>
      </p:sp>
      <p:cxnSp>
        <p:nvCxnSpPr>
          <p:cNvPr id="74" name="Connector 73"/>
          <p:cNvCxnSpPr/>
          <p:nvPr/>
        </p:nvCxnSpPr>
        <p:spPr>
          <a:xfrm>
            <a:off x="6123279" y="5475020"/>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5590249" y="5295900"/>
            <a:ext cx="3248367"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635969" y="5309616"/>
            <a:ext cx="3156927"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16  </a:t>
            </a:r>
            <a:r>
              <a:rPr sz="869" b="0" i="0">
                <a:solidFill>
                  <a:srgbClr val="1D4E89"/>
                </a:solidFill>
                <a:latin typeface="Consolas"/>
              </a:rPr>
              <a:t>shareVerifiablePresentation(signingResult)</a:t>
            </a:r>
          </a:p>
        </p:txBody>
      </p:sp>
      <p:cxnSp>
        <p:nvCxnSpPr>
          <p:cNvPr id="77" name="Connector 76"/>
          <p:cNvCxnSpPr/>
          <p:nvPr/>
        </p:nvCxnSpPr>
        <p:spPr>
          <a:xfrm flipH="1">
            <a:off x="3886108" y="5704636"/>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044896" y="5525516"/>
            <a:ext cx="4101903"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090616" y="5539232"/>
            <a:ext cx="4010463" cy="146304"/>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17  </a:t>
            </a:r>
            <a:r>
              <a:rPr sz="869" b="0" i="0">
                <a:solidFill>
                  <a:srgbClr val="1D4E89"/>
                </a:solidFill>
                <a:latin typeface="Consolas"/>
              </a:rPr>
              <a:t>POST response_uri</a:t>
            </a:r>
            <a:r>
              <a:rPr sz="869" b="0" i="0">
                <a:solidFill>
                  <a:srgbClr val="1E293B"/>
                </a:solidFill>
                <a:latin typeface="Arial"/>
              </a:rPr>
              <a:t>  vp_token + presentation_submission + state</a:t>
            </a:r>
          </a:p>
        </p:txBody>
      </p:sp>
      <p:sp>
        <p:nvSpPr>
          <p:cNvPr id="80" name="Rectangle 79"/>
          <p:cNvSpPr/>
          <p:nvPr/>
        </p:nvSpPr>
        <p:spPr>
          <a:xfrm>
            <a:off x="3858676" y="5842812"/>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a:off x="3876964" y="5989116"/>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4169572" y="5755132"/>
            <a:ext cx="3816838"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215292" y="5768848"/>
            <a:ext cx="3725398" cy="146304"/>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0E9488"/>
                </a:solidFill>
                <a:latin typeface="Arial"/>
              </a:rPr>
              <a:t>18  </a:t>
            </a:r>
            <a:r>
              <a:rPr sz="869" b="0" i="0">
                <a:solidFill>
                  <a:srgbClr val="1E293B"/>
                </a:solidFill>
                <a:latin typeface="Arial"/>
              </a:rPr>
              <a:t>Verify issuer signature, holder binding, nonce, then decide</a:t>
            </a:r>
          </a:p>
        </p:txBody>
      </p:sp>
      <p:sp>
        <p:nvSpPr>
          <p:cNvPr id="84" name="TextBox 83"/>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presentation with OpenID4VP</a:t>
            </a:r>
          </a:p>
        </p:txBody>
      </p:sp>
      <p:sp>
        <p:nvSpPr>
          <p:cNvPr id="85" name="TextBox 84"/>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MESSAGE 2</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response: vp_token, presentation submission, and encryption</a:t>
            </a:r>
          </a:p>
        </p:txBody>
      </p:sp>
      <p:sp>
        <p:nvSpPr>
          <p:cNvPr id="4" name="TextBox 3"/>
          <p:cNvSpPr txBox="1"/>
          <p:nvPr/>
        </p:nvSpPr>
        <p:spPr>
          <a:xfrm>
            <a:off x="502920" y="1078992"/>
            <a:ext cx="11185855" cy="299697"/>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5B6B7F"/>
                </a:solidFill>
                <a:latin typeface="Arial"/>
              </a:rPr>
              <a:t>What actually gets POSTed, and the difference between direct_post and direct_post.jwt.</a:t>
            </a:r>
          </a:p>
        </p:txBody>
      </p:sp>
      <p:cxnSp>
        <p:nvCxnSpPr>
          <p:cNvPr id="5" name="Connector 4"/>
          <p:cNvCxnSpPr/>
          <p:nvPr/>
        </p:nvCxnSpPr>
        <p:spPr>
          <a:xfrm>
            <a:off x="502920" y="1470129"/>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52500"/>
            <a:ext cx="5623560" cy="193922"/>
          </a:xfrm>
          <a:prstGeom prst="rect">
            <a:avLst/>
          </a:prstGeom>
          <a:noFill/>
        </p:spPr>
        <p:txBody>
          <a:bodyPr wrap="square" lIns="0" rIns="0" tIns="0" bIns="0" anchor="t">
            <a:spAutoFit/>
          </a:bodyPr>
          <a:lstStyle/>
          <a:p>
            <a:pPr algn="l">
              <a:lnSpc>
                <a:spcPct val="114000"/>
              </a:lnSpc>
              <a:spcBef>
                <a:spcPts val="0"/>
              </a:spcBef>
              <a:spcAft>
                <a:spcPts val="0"/>
              </a:spcAft>
            </a:pPr>
            <a:r>
              <a:rPr sz="890" b="1" i="0">
                <a:solidFill>
                  <a:srgbClr val="5B6B7F"/>
                </a:solidFill>
              </a:rPr>
              <a:t>direct_post — UNENCRYPTED</a:t>
            </a:r>
          </a:p>
        </p:txBody>
      </p:sp>
      <p:sp>
        <p:nvSpPr>
          <p:cNvPr id="7" name="Rounded Rectangle 6"/>
          <p:cNvSpPr/>
          <p:nvPr/>
        </p:nvSpPr>
        <p:spPr>
          <a:xfrm>
            <a:off x="502920" y="1664051"/>
            <a:ext cx="5623560" cy="2027366"/>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778641"/>
            <a:ext cx="5330952" cy="1798185"/>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POST /vp   Content-Type: application/x-www-form-urlencoded</a:t>
            </a:r>
          </a:p>
          <a:p>
            <a:pPr>
              <a:lnSpc>
                <a:spcPct val="116000"/>
              </a:lnSpc>
              <a:spcBef>
                <a:spcPts val="0"/>
              </a:spcBef>
              <a:spcAft>
                <a:spcPts val="0"/>
              </a:spcAft>
            </a:pPr>
          </a:p>
          <a:p>
            <a:pPr>
              <a:lnSpc>
                <a:spcPct val="116000"/>
              </a:lnSpc>
              <a:spcBef>
                <a:spcPts val="0"/>
              </a:spcBef>
              <a:spcAft>
                <a:spcPts val="0"/>
              </a:spcAft>
            </a:pPr>
            <a:r>
              <a:rPr sz="850" b="1">
                <a:solidFill>
                  <a:srgbClr val="FFD56B"/>
                </a:solidFill>
                <a:latin typeface="Consolas"/>
              </a:rPr>
              <a:t>vp_token = </a:t>
            </a:r>
            <a:r>
              <a:rPr sz="850" b="1">
                <a:solidFill>
                  <a:srgbClr val="FFD56B"/>
                </a:solidFill>
                <a:latin typeface="Consolas"/>
              </a:rPr>
              <a:t>"eyJraWQi…~WyJzYWx0Iiwibm9tZSIsIkFuYSJd~eyJ0eXAi…"</a:t>
            </a:r>
          </a:p>
          <a:p>
            <a:pPr>
              <a:lnSpc>
                <a:spcPct val="116000"/>
              </a:lnSpc>
              <a:spcBef>
                <a:spcPts val="0"/>
              </a:spcBef>
              <a:spcAft>
                <a:spcPts val="0"/>
              </a:spcAft>
            </a:pPr>
            <a:r>
              <a:rPr sz="850" b="1">
                <a:solidFill>
                  <a:srgbClr val="FFD56B"/>
                </a:solidFill>
                <a:latin typeface="Consolas"/>
              </a:rPr>
              <a:t>           //  issuer JWT  ~   disclosure(s)   ~   KB-JWT</a:t>
            </a:r>
          </a:p>
          <a:p>
            <a:pPr>
              <a:lnSpc>
                <a:spcPct val="116000"/>
              </a:lnSpc>
              <a:spcBef>
                <a:spcPts val="0"/>
              </a:spcBef>
              <a:spcAft>
                <a:spcPts val="0"/>
              </a:spcAft>
            </a:pPr>
            <a:r>
              <a:rPr sz="850">
                <a:solidFill>
                  <a:srgbClr val="CBD9E8"/>
                </a:solidFill>
                <a:latin typeface="Consolas"/>
              </a:rPr>
              <a:t>&amp;presentation_submission = {</a:t>
            </a:r>
          </a:p>
          <a:p>
            <a:pPr>
              <a:lnSpc>
                <a:spcPct val="116000"/>
              </a:lnSpc>
              <a:spcBef>
                <a:spcPts val="0"/>
              </a:spcBef>
              <a:spcAft>
                <a:spcPts val="0"/>
              </a:spcAft>
            </a:pPr>
            <a:r>
              <a:rPr sz="850">
                <a:solidFill>
                  <a:srgbClr val="CBD9E8"/>
                </a:solidFill>
                <a:latin typeface="Consolas"/>
              </a:rPr>
              <a:t>   </a:t>
            </a:r>
            <a:r>
              <a:rPr sz="850">
                <a:solidFill>
                  <a:srgbClr val="7DD3C8"/>
                </a:solidFill>
                <a:latin typeface="Consolas"/>
              </a:rPr>
              <a:t>"id"</a:t>
            </a:r>
            <a:r>
              <a:rPr sz="850">
                <a:solidFill>
                  <a:srgbClr val="CBD9E8"/>
                </a:solidFill>
                <a:latin typeface="Consolas"/>
              </a:rPr>
              <a:t>: </a:t>
            </a:r>
            <a:r>
              <a:rPr sz="850">
                <a:solidFill>
                  <a:srgbClr val="F6C67A"/>
                </a:solidFill>
                <a:latin typeface="Consolas"/>
              </a:rPr>
              <a:t>"sub-1"</a:t>
            </a:r>
            <a:r>
              <a:rPr sz="850">
                <a:solidFill>
                  <a:srgbClr val="CBD9E8"/>
                </a:solidFill>
                <a:latin typeface="Consolas"/>
              </a:rPr>
              <a:t>, </a:t>
            </a:r>
            <a:r>
              <a:rPr sz="850">
                <a:solidFill>
                  <a:srgbClr val="7DD3C8"/>
                </a:solidFill>
                <a:latin typeface="Consolas"/>
              </a:rPr>
              <a:t>"definition_id"</a:t>
            </a:r>
            <a:r>
              <a:rPr sz="850">
                <a:solidFill>
                  <a:srgbClr val="CBD9E8"/>
                </a:solidFill>
                <a:latin typeface="Consolas"/>
              </a:rPr>
              <a:t>: </a:t>
            </a:r>
            <a:r>
              <a:rPr sz="850">
                <a:solidFill>
                  <a:srgbClr val="F6C67A"/>
                </a:solidFill>
                <a:latin typeface="Consolas"/>
              </a:rPr>
              <a:t>"def-1"</a:t>
            </a:r>
            <a:r>
              <a:rPr sz="850">
                <a:solidFill>
                  <a:srgbClr val="CBD9E8"/>
                </a:solidFill>
                <a:latin typeface="Consolas"/>
              </a:rPr>
              <a:t>,</a:t>
            </a:r>
          </a:p>
          <a:p>
            <a:pPr>
              <a:lnSpc>
                <a:spcPct val="116000"/>
              </a:lnSpc>
              <a:spcBef>
                <a:spcPts val="0"/>
              </a:spcBef>
              <a:spcAft>
                <a:spcPts val="0"/>
              </a:spcAft>
            </a:pPr>
            <a:r>
              <a:rPr sz="850">
                <a:solidFill>
                  <a:srgbClr val="CBD9E8"/>
                </a:solidFill>
                <a:latin typeface="Consolas"/>
              </a:rPr>
              <a:t>   </a:t>
            </a:r>
            <a:r>
              <a:rPr sz="850">
                <a:solidFill>
                  <a:srgbClr val="7DD3C8"/>
                </a:solidFill>
                <a:latin typeface="Consolas"/>
              </a:rPr>
              <a:t>"descriptor_map"</a:t>
            </a:r>
            <a:r>
              <a:rPr sz="850">
                <a:solidFill>
                  <a:srgbClr val="CBD9E8"/>
                </a:solidFill>
                <a:latin typeface="Consolas"/>
              </a:rPr>
              <a:t>: [{ </a:t>
            </a:r>
            <a:r>
              <a:rPr sz="850">
                <a:solidFill>
                  <a:srgbClr val="7DD3C8"/>
                </a:solidFill>
                <a:latin typeface="Consolas"/>
              </a:rPr>
              <a:t>"id"</a:t>
            </a:r>
            <a:r>
              <a:rPr sz="850">
                <a:solidFill>
                  <a:srgbClr val="CBD9E8"/>
                </a:solidFill>
                <a:latin typeface="Consolas"/>
              </a:rPr>
              <a:t>: </a:t>
            </a:r>
            <a:r>
              <a:rPr sz="850">
                <a:solidFill>
                  <a:srgbClr val="F6C67A"/>
                </a:solidFill>
                <a:latin typeface="Consolas"/>
              </a:rPr>
              <a:t>"cpf"</a:t>
            </a:r>
            <a:r>
              <a:rPr sz="850">
                <a:solidFill>
                  <a:srgbClr val="CBD9E8"/>
                </a:solidFill>
                <a:latin typeface="Consolas"/>
              </a:rPr>
              <a:t>, </a:t>
            </a:r>
            <a:r>
              <a:rPr sz="850">
                <a:solidFill>
                  <a:srgbClr val="7DD3C8"/>
                </a:solidFill>
                <a:latin typeface="Consolas"/>
              </a:rPr>
              <a:t>"format"</a:t>
            </a:r>
            <a:r>
              <a:rPr sz="850">
                <a:solidFill>
                  <a:srgbClr val="CBD9E8"/>
                </a:solidFill>
                <a:latin typeface="Consolas"/>
              </a:rPr>
              <a:t>: </a:t>
            </a:r>
            <a:r>
              <a:rPr sz="850">
                <a:solidFill>
                  <a:srgbClr val="F6C67A"/>
                </a:solidFill>
                <a:latin typeface="Consolas"/>
              </a:rPr>
              <a:t>"vc+sd-jwt"</a:t>
            </a:r>
            <a:r>
              <a:rPr sz="850">
                <a:solidFill>
                  <a:srgbClr val="CBD9E8"/>
                </a:solidFill>
                <a:latin typeface="Consolas"/>
              </a:rPr>
              <a:t>,</a:t>
            </a:r>
          </a:p>
          <a:p>
            <a:pPr>
              <a:lnSpc>
                <a:spcPct val="116000"/>
              </a:lnSpc>
              <a:spcBef>
                <a:spcPts val="0"/>
              </a:spcBef>
              <a:spcAft>
                <a:spcPts val="0"/>
              </a:spcAft>
            </a:pPr>
            <a:r>
              <a:rPr sz="850">
                <a:solidFill>
                  <a:srgbClr val="CBD9E8"/>
                </a:solidFill>
                <a:latin typeface="Consolas"/>
              </a:rPr>
              <a:t>                        </a:t>
            </a:r>
            <a:r>
              <a:rPr sz="850">
                <a:solidFill>
                  <a:srgbClr val="7DD3C8"/>
                </a:solidFill>
                <a:latin typeface="Consolas"/>
              </a:rPr>
              <a:t>"path"</a:t>
            </a:r>
            <a:r>
              <a:rPr sz="850">
                <a:solidFill>
                  <a:srgbClr val="CBD9E8"/>
                </a:solidFill>
                <a:latin typeface="Consolas"/>
              </a:rPr>
              <a:t>: </a:t>
            </a:r>
            <a:r>
              <a:rPr sz="850">
                <a:solidFill>
                  <a:srgbClr val="F6C67A"/>
                </a:solidFill>
                <a:latin typeface="Consolas"/>
              </a:rPr>
              <a:t>"$"</a:t>
            </a:r>
            <a:r>
              <a:rPr sz="850">
                <a:solidFill>
                  <a:srgbClr val="CBD9E8"/>
                </a:solidFill>
                <a:latin typeface="Consolas"/>
              </a:rPr>
              <a:t> }] }</a:t>
            </a:r>
          </a:p>
          <a:p>
            <a:pPr>
              <a:lnSpc>
                <a:spcPct val="116000"/>
              </a:lnSpc>
              <a:spcBef>
                <a:spcPts val="0"/>
              </a:spcBef>
              <a:spcAft>
                <a:spcPts val="0"/>
              </a:spcAft>
            </a:pPr>
            <a:r>
              <a:rPr sz="850">
                <a:solidFill>
                  <a:srgbClr val="CBD9E8"/>
                </a:solidFill>
                <a:latin typeface="Consolas"/>
              </a:rPr>
              <a:t>&amp;state = af0ifjsldkj</a:t>
            </a:r>
          </a:p>
        </p:txBody>
      </p:sp>
      <p:sp>
        <p:nvSpPr>
          <p:cNvPr id="9" name="TextBox 8"/>
          <p:cNvSpPr txBox="1"/>
          <p:nvPr/>
        </p:nvSpPr>
        <p:spPr>
          <a:xfrm>
            <a:off x="502920" y="3709047"/>
            <a:ext cx="5623560" cy="193922"/>
          </a:xfrm>
          <a:prstGeom prst="rect">
            <a:avLst/>
          </a:prstGeom>
          <a:noFill/>
        </p:spPr>
        <p:txBody>
          <a:bodyPr wrap="square" lIns="0" rIns="0" tIns="0" bIns="0" anchor="t">
            <a:spAutoFit/>
          </a:bodyPr>
          <a:lstStyle/>
          <a:p>
            <a:pPr algn="l">
              <a:lnSpc>
                <a:spcPct val="114000"/>
              </a:lnSpc>
              <a:spcBef>
                <a:spcPts val="0"/>
              </a:spcBef>
              <a:spcAft>
                <a:spcPts val="0"/>
              </a:spcAft>
            </a:pPr>
            <a:r>
              <a:rPr sz="890" b="1" i="0">
                <a:solidFill>
                  <a:srgbClr val="5B6B7F"/>
                </a:solidFill>
              </a:rPr>
              <a:t>direct_post.jwt — ENCRYPTED</a:t>
            </a:r>
          </a:p>
        </p:txBody>
      </p:sp>
      <p:sp>
        <p:nvSpPr>
          <p:cNvPr id="10" name="Rounded Rectangle 9"/>
          <p:cNvSpPr/>
          <p:nvPr/>
        </p:nvSpPr>
        <p:spPr>
          <a:xfrm>
            <a:off x="502920" y="3920598"/>
            <a:ext cx="5623560" cy="136626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4035188"/>
            <a:ext cx="5330952" cy="1137088"/>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POST /vp</a:t>
            </a:r>
          </a:p>
          <a:p>
            <a:pPr>
              <a:lnSpc>
                <a:spcPct val="116000"/>
              </a:lnSpc>
              <a:spcBef>
                <a:spcPts val="0"/>
              </a:spcBef>
              <a:spcAft>
                <a:spcPts val="0"/>
              </a:spcAft>
            </a:pPr>
            <a:r>
              <a:rPr sz="850" b="1">
                <a:solidFill>
                  <a:srgbClr val="FFD56B"/>
                </a:solidFill>
                <a:latin typeface="Consolas"/>
              </a:rPr>
              <a:t>response = &lt;JWE&gt;</a:t>
            </a:r>
          </a:p>
          <a:p>
            <a:pPr>
              <a:lnSpc>
                <a:spcPct val="116000"/>
              </a:lnSpc>
              <a:spcBef>
                <a:spcPts val="0"/>
              </a:spcBef>
              <a:spcAft>
                <a:spcPts val="0"/>
              </a:spcAft>
            </a:pPr>
          </a:p>
          <a:p>
            <a:pPr>
              <a:lnSpc>
                <a:spcPct val="116000"/>
              </a:lnSpc>
              <a:spcBef>
                <a:spcPts val="0"/>
              </a:spcBef>
              <a:spcAft>
                <a:spcPts val="0"/>
              </a:spcAft>
            </a:pPr>
            <a:r>
              <a:rPr sz="850">
                <a:solidFill>
                  <a:srgbClr val="7E93A8"/>
                </a:solidFill>
                <a:latin typeface="Consolas"/>
              </a:rPr>
              <a:t>// JWE header: alg=ECDH-ES, enc=A256GCM</a:t>
            </a:r>
          </a:p>
          <a:p>
            <a:pPr>
              <a:lnSpc>
                <a:spcPct val="116000"/>
              </a:lnSpc>
              <a:spcBef>
                <a:spcPts val="0"/>
              </a:spcBef>
              <a:spcAft>
                <a:spcPts val="0"/>
              </a:spcAft>
            </a:pPr>
            <a:r>
              <a:rPr sz="850">
                <a:solidFill>
                  <a:srgbClr val="7E93A8"/>
                </a:solidFill>
                <a:latin typeface="Consolas"/>
              </a:rPr>
              <a:t>//   apu = wallet-generated nonce (16 bytes of entropy)</a:t>
            </a:r>
          </a:p>
          <a:p>
            <a:pPr>
              <a:lnSpc>
                <a:spcPct val="116000"/>
              </a:lnSpc>
              <a:spcBef>
                <a:spcPts val="0"/>
              </a:spcBef>
              <a:spcAft>
                <a:spcPts val="0"/>
              </a:spcAft>
            </a:pPr>
            <a:r>
              <a:rPr sz="850">
                <a:solidFill>
                  <a:srgbClr val="7E93A8"/>
                </a:solidFill>
                <a:latin typeface="Consolas"/>
              </a:rPr>
              <a:t>//   apv = the verifier nonce from the request</a:t>
            </a:r>
          </a:p>
          <a:p>
            <a:pPr>
              <a:lnSpc>
                <a:spcPct val="116000"/>
              </a:lnSpc>
              <a:spcBef>
                <a:spcPts val="0"/>
              </a:spcBef>
              <a:spcAft>
                <a:spcPts val="0"/>
              </a:spcAft>
            </a:pPr>
            <a:r>
              <a:rPr sz="850">
                <a:solidFill>
                  <a:srgbClr val="7E93A8"/>
                </a:solidFill>
                <a:latin typeface="Consolas"/>
              </a:rPr>
              <a:t>// encrypted to the key in client_metadata</a:t>
            </a:r>
          </a:p>
        </p:txBody>
      </p:sp>
      <p:graphicFrame>
        <p:nvGraphicFramePr>
          <p:cNvPr id="12" name="Table 11"/>
          <p:cNvGraphicFramePr>
            <a:graphicFrameLocks noGrp="1"/>
          </p:cNvGraphicFramePr>
          <p:nvPr/>
        </p:nvGraphicFramePr>
        <p:xfrm>
          <a:off x="6409944" y="1664051"/>
          <a:ext cx="5276087" cy="2468096"/>
        </p:xfrm>
        <a:graphic>
          <a:graphicData uri="http://schemas.openxmlformats.org/drawingml/2006/table">
            <a:tbl>
              <a:tblPr firstRow="1">
                <a:tableStyleId>{2D5ABB26-0587-4C30-8999-92F81FD0307C}</a:tableStyleId>
              </a:tblPr>
              <a:tblGrid>
                <a:gridCol w="1819340"/>
                <a:gridCol w="3456747"/>
              </a:tblGrid>
              <a:tr h="282068">
                <a:tc>
                  <a:txBody>
                    <a:bodyPr wrap="square"/>
                    <a:lstStyle/>
                    <a:p>
                      <a:pPr algn="l"/>
                      <a:r>
                        <a:rPr sz="930" b="1">
                          <a:solidFill>
                            <a:srgbClr val="FFFFFF"/>
                          </a:solidFill>
                          <a:latin typeface="Arial"/>
                        </a:rPr>
                        <a:t>Field</a:t>
                      </a:r>
                    </a:p>
                  </a:txBody>
                  <a:tcPr marL="64008" marR="54864" marT="27432" marB="27432" anchor="ctr">
                    <a:solidFill>
                      <a:srgbClr val="1D4E89"/>
                    </a:solidFill>
                  </a:tcPr>
                </a:tc>
                <a:tc>
                  <a:txBody>
                    <a:bodyPr wrap="square"/>
                    <a:lstStyle/>
                    <a:p>
                      <a:pPr algn="l"/>
                      <a:r>
                        <a:rPr sz="930" b="1">
                          <a:solidFill>
                            <a:srgbClr val="FFFFFF"/>
                          </a:solidFill>
                          <a:latin typeface="Arial"/>
                        </a:rPr>
                        <a:t>What it carries</a:t>
                      </a:r>
                    </a:p>
                  </a:txBody>
                  <a:tcPr marL="64008" marR="54864" marT="27432" marB="27432" anchor="ctr">
                    <a:solidFill>
                      <a:srgbClr val="1D4E89"/>
                    </a:solidFill>
                  </a:tcPr>
                </a:tc>
              </a:tr>
              <a:tr h="546507">
                <a:tc>
                  <a:txBody>
                    <a:bodyPr wrap="square"/>
                    <a:lstStyle/>
                    <a:p>
                      <a:pPr algn="l">
                        <a:lnSpc>
                          <a:spcPct val="105000"/>
                        </a:lnSpc>
                      </a:pPr>
                      <a:r>
                        <a:rPr sz="890" b="0">
                          <a:solidFill>
                            <a:srgbClr val="1D4E89"/>
                          </a:solidFill>
                          <a:latin typeface="Consolas"/>
                        </a:rPr>
                        <a:t>vp_token</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The presentation itself. Shape depends on format: SD-JWT string, CBOR for mDoc, JSON-LD VP for ldp_vc.</a:t>
                      </a:r>
                    </a:p>
                  </a:txBody>
                  <a:tcPr marL="64008" marR="54864" marT="18288" marB="18288" anchor="ctr">
                    <a:solidFill>
                      <a:srgbClr val="FFFFFF"/>
                    </a:solidFill>
                  </a:tcPr>
                </a:tc>
              </a:tr>
              <a:tr h="546507">
                <a:tc>
                  <a:txBody>
                    <a:bodyPr wrap="square"/>
                    <a:lstStyle/>
                    <a:p>
                      <a:pPr algn="l">
                        <a:lnSpc>
                          <a:spcPct val="105000"/>
                        </a:lnSpc>
                      </a:pPr>
                      <a:r>
                        <a:rPr sz="890" b="0">
                          <a:solidFill>
                            <a:srgbClr val="1D4E89"/>
                          </a:solidFill>
                          <a:latin typeface="Consolas"/>
                        </a:rPr>
                        <a:t>presentation_submission</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A map telling the verifier which input descriptor each credential answers, and where to find it.</a:t>
                      </a:r>
                    </a:p>
                  </a:txBody>
                  <a:tcPr marL="64008" marR="54864" marT="18288" marB="18288" anchor="ctr">
                    <a:solidFill>
                      <a:srgbClr val="F3F6F9"/>
                    </a:solidFill>
                  </a:tcPr>
                </a:tc>
              </a:tr>
              <a:tr h="546507">
                <a:tc>
                  <a:txBody>
                    <a:bodyPr wrap="square"/>
                    <a:lstStyle/>
                    <a:p>
                      <a:pPr algn="l">
                        <a:lnSpc>
                          <a:spcPct val="105000"/>
                        </a:lnSpc>
                      </a:pPr>
                      <a:r>
                        <a:rPr sz="890" b="0">
                          <a:solidFill>
                            <a:srgbClr val="1D4E89"/>
                          </a:solidFill>
                          <a:latin typeface="Consolas"/>
                        </a:rPr>
                        <a:t>state</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Echoed so the verifier can find its session.</a:t>
                      </a:r>
                    </a:p>
                  </a:txBody>
                  <a:tcPr marL="64008" marR="54864" marT="18288" marB="18288" anchor="ctr">
                    <a:solidFill>
                      <a:srgbClr val="FFFFFF"/>
                    </a:solidFill>
                  </a:tcPr>
                </a:tc>
              </a:tr>
              <a:tr h="546507">
                <a:tc>
                  <a:txBody>
                    <a:bodyPr wrap="square"/>
                    <a:lstStyle/>
                    <a:p>
                      <a:pPr algn="l">
                        <a:lnSpc>
                          <a:spcPct val="105000"/>
                        </a:lnSpc>
                      </a:pPr>
                      <a:r>
                        <a:rPr sz="890" b="0">
                          <a:solidFill>
                            <a:srgbClr val="1D4E89"/>
                          </a:solidFill>
                          <a:latin typeface="Consolas"/>
                        </a:rPr>
                        <a:t>response</a:t>
                      </a:r>
                      <a:r>
                        <a:rPr sz="890" b="0">
                          <a:solidFill>
                            <a:srgbClr val="1E293B"/>
                          </a:solidFill>
                          <a:latin typeface="Arial"/>
                        </a:rPr>
                        <a:t> (JWE)</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In </a:t>
                      </a:r>
                      <a:r>
                        <a:rPr sz="890" b="0">
                          <a:solidFill>
                            <a:srgbClr val="1D4E89"/>
                          </a:solidFill>
                          <a:latin typeface="Consolas"/>
                        </a:rPr>
                        <a:t>direct_post.jwt</a:t>
                      </a:r>
                      <a:r>
                        <a:rPr sz="890" b="0">
                          <a:solidFill>
                            <a:srgbClr val="1E293B"/>
                          </a:solidFill>
                          <a:latin typeface="Arial"/>
                        </a:rPr>
                        <a:t>, everything above is encrypted into one JWE.</a:t>
                      </a:r>
                    </a:p>
                  </a:txBody>
                  <a:tcPr marL="64008" marR="54864" marT="18288" marB="18288" anchor="ctr">
                    <a:solidFill>
                      <a:srgbClr val="F3F6F9"/>
                    </a:solidFill>
                  </a:tcPr>
                </a:tc>
              </a:tr>
            </a:tbl>
          </a:graphicData>
        </a:graphic>
      </p:graphicFrame>
      <p:sp>
        <p:nvSpPr>
          <p:cNvPr id="13" name="Rounded Rectangle 12"/>
          <p:cNvSpPr/>
          <p:nvPr/>
        </p:nvSpPr>
        <p:spPr>
          <a:xfrm>
            <a:off x="6409944" y="4220296"/>
            <a:ext cx="5276088" cy="1939220"/>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9944" y="4220296"/>
            <a:ext cx="50292" cy="193922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47688" y="4361330"/>
            <a:ext cx="4892040" cy="264439"/>
          </a:xfrm>
          <a:prstGeom prst="rect">
            <a:avLst/>
          </a:prstGeom>
          <a:noFill/>
        </p:spPr>
        <p:txBody>
          <a:bodyPr wrap="square" lIns="0" rIns="0" tIns="0" bIns="0" anchor="t">
            <a:spAutoFit/>
          </a:bodyPr>
          <a:lstStyle/>
          <a:p>
            <a:pPr algn="l">
              <a:lnSpc>
                <a:spcPct val="114000"/>
              </a:lnSpc>
              <a:spcBef>
                <a:spcPts val="0"/>
              </a:spcBef>
              <a:spcAft>
                <a:spcPts val="0"/>
              </a:spcAft>
            </a:pPr>
            <a:r>
              <a:rPr sz="1180" b="1" i="0">
                <a:solidFill>
                  <a:srgbClr val="0E9488"/>
                </a:solidFill>
              </a:rPr>
              <a:t>When to insist on direct_post.jwt</a:t>
            </a:r>
          </a:p>
        </p:txBody>
      </p:sp>
      <p:sp>
        <p:nvSpPr>
          <p:cNvPr id="16" name="Oval 15"/>
          <p:cNvSpPr/>
          <p:nvPr/>
        </p:nvSpPr>
        <p:spPr>
          <a:xfrm>
            <a:off x="6652260" y="4644084"/>
            <a:ext cx="77724" cy="749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39712" y="4581696"/>
            <a:ext cx="4663439" cy="559287"/>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Whenever the claims are sensitive and the </a:t>
            </a:r>
            <a:r>
              <a:rPr sz="960" b="0" i="0">
                <a:solidFill>
                  <a:srgbClr val="1D4E89"/>
                </a:solidFill>
                <a:latin typeface="Consolas"/>
              </a:rPr>
              <a:t>response_uri</a:t>
            </a:r>
            <a:r>
              <a:rPr sz="960" b="0" i="0">
                <a:solidFill>
                  <a:srgbClr val="0F172A"/>
                </a:solidFill>
                <a:latin typeface="Arial"/>
              </a:rPr>
              <a:t> terminates TLS somewhere you do not control (CDN, WAF, load balancer).</a:t>
            </a:r>
          </a:p>
        </p:txBody>
      </p:sp>
      <p:sp>
        <p:nvSpPr>
          <p:cNvPr id="18" name="Oval 17"/>
          <p:cNvSpPr/>
          <p:nvPr/>
        </p:nvSpPr>
        <p:spPr>
          <a:xfrm>
            <a:off x="6652260" y="5172521"/>
            <a:ext cx="77724" cy="749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9712" y="5110133"/>
            <a:ext cx="4663439" cy="408117"/>
          </a:xfrm>
          <a:prstGeom prst="rect">
            <a:avLst/>
          </a:prstGeom>
          <a:noFill/>
        </p:spPr>
        <p:txBody>
          <a:bodyPr wrap="square" lIns="0" rIns="0" tIns="0" bIns="0" anchor="t">
            <a:spAutoFit/>
          </a:bodyPr>
          <a:lstStyle/>
          <a:p>
            <a:pPr algn="l">
              <a:lnSpc>
                <a:spcPct val="124000"/>
              </a:lnSpc>
              <a:spcBef>
                <a:spcPts val="0"/>
              </a:spcBef>
              <a:spcAft>
                <a:spcPts val="0"/>
              </a:spcAft>
            </a:pPr>
            <a:r>
              <a:rPr sz="960" b="1" i="0">
                <a:solidFill>
                  <a:srgbClr val="0F172A"/>
                </a:solidFill>
                <a:latin typeface="Arial"/>
              </a:rPr>
              <a:t>Always</a:t>
            </a:r>
            <a:r>
              <a:rPr sz="960" b="0" i="0">
                <a:solidFill>
                  <a:srgbClr val="0F172A"/>
                </a:solidFill>
                <a:latin typeface="Arial"/>
              </a:rPr>
              <a:t> for mDoc — ISO 18013-7 requires it and </a:t>
            </a:r>
            <a:r>
              <a:rPr sz="960" b="0" i="0">
                <a:solidFill>
                  <a:srgbClr val="1D4E89"/>
                </a:solidFill>
                <a:latin typeface="Consolas"/>
              </a:rPr>
              <a:t>inji-openid4vp</a:t>
            </a:r>
            <a:r>
              <a:rPr sz="960" b="0" i="0">
                <a:solidFill>
                  <a:srgbClr val="0F172A"/>
                </a:solidFill>
                <a:latin typeface="Arial"/>
              </a:rPr>
              <a:t> enforces it.</a:t>
            </a:r>
          </a:p>
        </p:txBody>
      </p:sp>
      <p:sp>
        <p:nvSpPr>
          <p:cNvPr id="20" name="Oval 19"/>
          <p:cNvSpPr/>
          <p:nvPr/>
        </p:nvSpPr>
        <p:spPr>
          <a:xfrm>
            <a:off x="6652260" y="5549788"/>
            <a:ext cx="77724" cy="749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9712" y="5487400"/>
            <a:ext cx="4663439" cy="408117"/>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Inji supports </a:t>
            </a:r>
            <a:r>
              <a:rPr sz="960" b="0" i="0">
                <a:solidFill>
                  <a:srgbClr val="1D4E89"/>
                </a:solidFill>
                <a:latin typeface="Consolas"/>
              </a:rPr>
              <a:t>ECDH-ES</a:t>
            </a:r>
            <a:r>
              <a:rPr sz="960" b="0" i="0">
                <a:solidFill>
                  <a:srgbClr val="0F172A"/>
                </a:solidFill>
                <a:latin typeface="Arial"/>
              </a:rPr>
              <a:t> key agreement with </a:t>
            </a:r>
            <a:r>
              <a:rPr sz="960" b="0" i="0">
                <a:solidFill>
                  <a:srgbClr val="1D4E89"/>
                </a:solidFill>
                <a:latin typeface="Consolas"/>
              </a:rPr>
              <a:t>A256GCM</a:t>
            </a:r>
            <a:r>
              <a:rPr sz="960" b="0" i="0">
                <a:solidFill>
                  <a:srgbClr val="0F172A"/>
                </a:solidFill>
                <a:latin typeface="Arial"/>
              </a:rPr>
              <a:t> content encryption.</a:t>
            </a:r>
          </a:p>
        </p:txBody>
      </p:sp>
      <p:sp>
        <p:nvSpPr>
          <p:cNvPr id="22" name="Oval 21"/>
          <p:cNvSpPr/>
          <p:nvPr/>
        </p:nvSpPr>
        <p:spPr>
          <a:xfrm>
            <a:off x="6652260" y="5927054"/>
            <a:ext cx="77724" cy="749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39712" y="5864666"/>
            <a:ext cx="4663439" cy="408117"/>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1D4E89"/>
                </a:solidFill>
                <a:latin typeface="Consolas"/>
              </a:rPr>
              <a:t>apu</a:t>
            </a:r>
            <a:r>
              <a:rPr sz="960" b="0" i="0">
                <a:solidFill>
                  <a:srgbClr val="0F172A"/>
                </a:solidFill>
                <a:latin typeface="Arial"/>
              </a:rPr>
              <a:t>/</a:t>
            </a:r>
            <a:r>
              <a:rPr sz="960" b="0" i="0">
                <a:solidFill>
                  <a:srgbClr val="1D4E89"/>
                </a:solidFill>
                <a:latin typeface="Consolas"/>
              </a:rPr>
              <a:t>apv</a:t>
            </a:r>
            <a:r>
              <a:rPr sz="960" b="0" i="0">
                <a:solidFill>
                  <a:srgbClr val="0F172A"/>
                </a:solidFill>
                <a:latin typeface="Arial"/>
              </a:rPr>
              <a:t> bind the encryption to this wallet and this request, so a captured JWE cannot be re-used.</a:t>
            </a:r>
          </a:p>
        </p:txBody>
      </p:sp>
      <p:sp>
        <p:nvSpPr>
          <p:cNvPr id="24" name="TextBox 23"/>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presentation with OpenID4VP</a:t>
            </a:r>
          </a:p>
        </p:txBody>
      </p:sp>
      <p:sp>
        <p:nvSpPr>
          <p:cNvPr id="25" name="TextBox 24"/>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VERIFIER SIDE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What a verifier must check — the checklist</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Hand this to whoever builds Brazil's verifiers. A verifier that skips any of these is not a verifier.</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2659303" cy="420624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2659303" cy="59436"/>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83664"/>
            <a:ext cx="2293543" cy="457200"/>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D4E89"/>
                </a:solidFill>
              </a:rPr>
              <a:t>Before you trust the envelope</a:t>
            </a:r>
          </a:p>
        </p:txBody>
      </p:sp>
      <p:sp>
        <p:nvSpPr>
          <p:cNvPr id="9" name="Rectangle 8"/>
          <p:cNvSpPr/>
          <p:nvPr/>
        </p:nvSpPr>
        <p:spPr>
          <a:xfrm>
            <a:off x="685800" y="2473452"/>
            <a:ext cx="128016" cy="128016"/>
          </a:xfrm>
          <a:prstGeom prst="rect">
            <a:avLst/>
          </a:prstGeom>
          <a:no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4323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D4E89"/>
                </a:solidFill>
                <a:latin typeface="Consolas"/>
              </a:rPr>
              <a:t>state</a:t>
            </a:r>
            <a:r>
              <a:rPr sz="930" b="0" i="0">
                <a:solidFill>
                  <a:srgbClr val="1E293B"/>
                </a:solidFill>
                <a:latin typeface="Arial"/>
              </a:rPr>
              <a:t> matches a session you opened, and that session is not already used.</a:t>
            </a:r>
          </a:p>
        </p:txBody>
      </p:sp>
      <p:sp>
        <p:nvSpPr>
          <p:cNvPr id="11" name="Rectangle 10"/>
          <p:cNvSpPr/>
          <p:nvPr/>
        </p:nvSpPr>
        <p:spPr>
          <a:xfrm>
            <a:off x="685800" y="3044952"/>
            <a:ext cx="128016" cy="128016"/>
          </a:xfrm>
          <a:prstGeom prst="rect">
            <a:avLst/>
          </a:prstGeom>
          <a:no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30038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The response arrived at the </a:t>
            </a:r>
            <a:r>
              <a:rPr sz="930" b="0" i="0">
                <a:solidFill>
                  <a:srgbClr val="1D4E89"/>
                </a:solidFill>
                <a:latin typeface="Consolas"/>
              </a:rPr>
              <a:t>response_uri</a:t>
            </a:r>
            <a:r>
              <a:rPr sz="930" b="0" i="0">
                <a:solidFill>
                  <a:srgbClr val="1E293B"/>
                </a:solidFill>
                <a:latin typeface="Arial"/>
              </a:rPr>
              <a:t> you published, over TLS you control.</a:t>
            </a:r>
          </a:p>
        </p:txBody>
      </p:sp>
      <p:sp>
        <p:nvSpPr>
          <p:cNvPr id="13" name="Rectangle 12"/>
          <p:cNvSpPr/>
          <p:nvPr/>
        </p:nvSpPr>
        <p:spPr>
          <a:xfrm>
            <a:off x="685800" y="3616452"/>
            <a:ext cx="128016" cy="128016"/>
          </a:xfrm>
          <a:prstGeom prst="rect">
            <a:avLst/>
          </a:prstGeom>
          <a:no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35753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D4E89"/>
                </a:solidFill>
                <a:latin typeface="Consolas"/>
              </a:rPr>
              <a:t>presentation_submission</a:t>
            </a:r>
            <a:r>
              <a:rPr sz="930" b="0" i="0">
                <a:solidFill>
                  <a:srgbClr val="1E293B"/>
                </a:solidFill>
                <a:latin typeface="Arial"/>
              </a:rPr>
              <a:t> maps every input descriptor you asked for.</a:t>
            </a:r>
          </a:p>
        </p:txBody>
      </p:sp>
      <p:sp>
        <p:nvSpPr>
          <p:cNvPr id="15" name="Rounded Rectangle 14"/>
          <p:cNvSpPr/>
          <p:nvPr/>
        </p:nvSpPr>
        <p:spPr>
          <a:xfrm>
            <a:off x="3345103" y="1682496"/>
            <a:ext cx="2659303" cy="420624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5103" y="1682496"/>
            <a:ext cx="2659303" cy="59436"/>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7983" y="1883664"/>
            <a:ext cx="2293543" cy="457200"/>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0E9488"/>
                </a:solidFill>
              </a:rPr>
              <a:t>The credential itself</a:t>
            </a:r>
          </a:p>
        </p:txBody>
      </p:sp>
      <p:sp>
        <p:nvSpPr>
          <p:cNvPr id="18" name="Rectangle 17"/>
          <p:cNvSpPr/>
          <p:nvPr/>
        </p:nvSpPr>
        <p:spPr>
          <a:xfrm>
            <a:off x="3527983" y="2473452"/>
            <a:ext cx="128016" cy="128016"/>
          </a:xfrm>
          <a:prstGeom prst="rect">
            <a:avLst/>
          </a:prstGeom>
          <a:noFill/>
          <a:ln w="1524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7439" y="24323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Issuer signature verifies against a key you resolved from a </a:t>
            </a:r>
            <a:r>
              <a:rPr sz="930" b="1" i="0">
                <a:solidFill>
                  <a:srgbClr val="0F172A"/>
                </a:solidFill>
                <a:latin typeface="Arial"/>
              </a:rPr>
              <a:t>trusted</a:t>
            </a:r>
            <a:r>
              <a:rPr sz="930" b="0" i="0">
                <a:solidFill>
                  <a:srgbClr val="1E293B"/>
                </a:solidFill>
                <a:latin typeface="Arial"/>
              </a:rPr>
              <a:t> source.</a:t>
            </a:r>
          </a:p>
        </p:txBody>
      </p:sp>
      <p:sp>
        <p:nvSpPr>
          <p:cNvPr id="20" name="Rectangle 19"/>
          <p:cNvSpPr/>
          <p:nvPr/>
        </p:nvSpPr>
        <p:spPr>
          <a:xfrm>
            <a:off x="3527983" y="3044952"/>
            <a:ext cx="128016" cy="128016"/>
          </a:xfrm>
          <a:prstGeom prst="rect">
            <a:avLst/>
          </a:prstGeom>
          <a:noFill/>
          <a:ln w="1524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7439" y="30038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The issuer is one you accept for this claim — a valid signature from the wrong issuer is worthless.</a:t>
            </a:r>
          </a:p>
        </p:txBody>
      </p:sp>
      <p:sp>
        <p:nvSpPr>
          <p:cNvPr id="22" name="Rectangle 21"/>
          <p:cNvSpPr/>
          <p:nvPr/>
        </p:nvSpPr>
        <p:spPr>
          <a:xfrm>
            <a:off x="3527983" y="3616452"/>
            <a:ext cx="128016" cy="128016"/>
          </a:xfrm>
          <a:prstGeom prst="rect">
            <a:avLst/>
          </a:prstGeom>
          <a:noFill/>
          <a:ln w="1524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7439" y="35753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D4E89"/>
                </a:solidFill>
                <a:latin typeface="Consolas"/>
              </a:rPr>
              <a:t>iat</a:t>
            </a:r>
            <a:r>
              <a:rPr sz="930" b="0" i="0">
                <a:solidFill>
                  <a:srgbClr val="1E293B"/>
                </a:solidFill>
                <a:latin typeface="Arial"/>
              </a:rPr>
              <a:t> / </a:t>
            </a:r>
            <a:r>
              <a:rPr sz="930" b="0" i="0">
                <a:solidFill>
                  <a:srgbClr val="1D4E89"/>
                </a:solidFill>
                <a:latin typeface="Consolas"/>
              </a:rPr>
              <a:t>exp</a:t>
            </a:r>
            <a:r>
              <a:rPr sz="930" b="0" i="0">
                <a:solidFill>
                  <a:srgbClr val="1E293B"/>
                </a:solidFill>
                <a:latin typeface="Arial"/>
              </a:rPr>
              <a:t> / </a:t>
            </a:r>
            <a:r>
              <a:rPr sz="930" b="0" i="0">
                <a:solidFill>
                  <a:srgbClr val="1D4E89"/>
                </a:solidFill>
                <a:latin typeface="Consolas"/>
              </a:rPr>
              <a:t>validityInfo</a:t>
            </a:r>
            <a:r>
              <a:rPr sz="930" b="0" i="0">
                <a:solidFill>
                  <a:srgbClr val="1E293B"/>
                </a:solidFill>
                <a:latin typeface="Arial"/>
              </a:rPr>
              <a:t> are within range.</a:t>
            </a:r>
          </a:p>
        </p:txBody>
      </p:sp>
      <p:sp>
        <p:nvSpPr>
          <p:cNvPr id="24" name="Rectangle 23"/>
          <p:cNvSpPr/>
          <p:nvPr/>
        </p:nvSpPr>
        <p:spPr>
          <a:xfrm>
            <a:off x="3527983" y="4046220"/>
            <a:ext cx="128016" cy="128016"/>
          </a:xfrm>
          <a:prstGeom prst="rect">
            <a:avLst/>
          </a:prstGeom>
          <a:noFill/>
          <a:ln w="1524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7439" y="4005072"/>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For SD-JWT: each disclosure's digest is present in </a:t>
            </a:r>
            <a:r>
              <a:rPr sz="930" b="0" i="0">
                <a:solidFill>
                  <a:srgbClr val="1D4E89"/>
                </a:solidFill>
                <a:latin typeface="Consolas"/>
              </a:rPr>
              <a:t>_sd</a:t>
            </a:r>
            <a:r>
              <a:rPr sz="930" b="0" i="0">
                <a:solidFill>
                  <a:srgbClr val="1E293B"/>
                </a:solidFill>
                <a:latin typeface="Arial"/>
              </a:rPr>
              <a:t>, using the declared </a:t>
            </a:r>
            <a:r>
              <a:rPr sz="930" b="0" i="0">
                <a:solidFill>
                  <a:srgbClr val="1D4E89"/>
                </a:solidFill>
                <a:latin typeface="Consolas"/>
              </a:rPr>
              <a:t>_sd_alg</a:t>
            </a:r>
            <a:r>
              <a:rPr sz="930" b="0" i="0">
                <a:solidFill>
                  <a:srgbClr val="1E293B"/>
                </a:solidFill>
                <a:latin typeface="Arial"/>
              </a:rPr>
              <a:t>.</a:t>
            </a:r>
          </a:p>
        </p:txBody>
      </p:sp>
      <p:sp>
        <p:nvSpPr>
          <p:cNvPr id="26" name="Rectangle 25"/>
          <p:cNvSpPr/>
          <p:nvPr/>
        </p:nvSpPr>
        <p:spPr>
          <a:xfrm>
            <a:off x="3527983" y="4617720"/>
            <a:ext cx="128016" cy="128016"/>
          </a:xfrm>
          <a:prstGeom prst="rect">
            <a:avLst/>
          </a:prstGeom>
          <a:noFill/>
          <a:ln w="1524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7439" y="4576572"/>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For mDoc: </a:t>
            </a:r>
            <a:r>
              <a:rPr sz="930" b="0" i="0">
                <a:solidFill>
                  <a:srgbClr val="1D4E89"/>
                </a:solidFill>
                <a:latin typeface="Consolas"/>
              </a:rPr>
              <a:t>issuerAuth</a:t>
            </a:r>
            <a:r>
              <a:rPr sz="930" b="0" i="0">
                <a:solidFill>
                  <a:srgbClr val="1E293B"/>
                </a:solidFill>
                <a:latin typeface="Arial"/>
              </a:rPr>
              <a:t> COSE signature valid, element digests match the MSO, doc type and issuing country expected.</a:t>
            </a:r>
          </a:p>
        </p:txBody>
      </p:sp>
      <p:sp>
        <p:nvSpPr>
          <p:cNvPr id="28" name="Rounded Rectangle 27"/>
          <p:cNvSpPr/>
          <p:nvPr/>
        </p:nvSpPr>
        <p:spPr>
          <a:xfrm>
            <a:off x="6187287" y="1682496"/>
            <a:ext cx="2659303" cy="420624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7287" y="1682496"/>
            <a:ext cx="2659303" cy="5943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0167" y="1883664"/>
            <a:ext cx="2293543" cy="457200"/>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6D28D9"/>
                </a:solidFill>
              </a:rPr>
              <a:t>The holder</a:t>
            </a:r>
          </a:p>
        </p:txBody>
      </p:sp>
      <p:sp>
        <p:nvSpPr>
          <p:cNvPr id="31" name="Rectangle 30"/>
          <p:cNvSpPr/>
          <p:nvPr/>
        </p:nvSpPr>
        <p:spPr>
          <a:xfrm>
            <a:off x="6370167" y="2473452"/>
            <a:ext cx="128016" cy="128016"/>
          </a:xfrm>
          <a:prstGeom prst="rect">
            <a:avLst/>
          </a:prstGeom>
          <a:no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9623" y="24323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A key-binding artefact is present: KB-JWT, </a:t>
            </a:r>
            <a:r>
              <a:rPr sz="930" b="0" i="0">
                <a:solidFill>
                  <a:srgbClr val="1D4E89"/>
                </a:solidFill>
                <a:latin typeface="Consolas"/>
              </a:rPr>
              <a:t>DeviceSignature</a:t>
            </a:r>
            <a:r>
              <a:rPr sz="930" b="0" i="0">
                <a:solidFill>
                  <a:srgbClr val="1E293B"/>
                </a:solidFill>
                <a:latin typeface="Arial"/>
              </a:rPr>
              <a:t>, or VP proof.</a:t>
            </a:r>
          </a:p>
        </p:txBody>
      </p:sp>
      <p:sp>
        <p:nvSpPr>
          <p:cNvPr id="33" name="Rectangle 32"/>
          <p:cNvSpPr/>
          <p:nvPr/>
        </p:nvSpPr>
        <p:spPr>
          <a:xfrm>
            <a:off x="6370167" y="3044952"/>
            <a:ext cx="128016" cy="128016"/>
          </a:xfrm>
          <a:prstGeom prst="rect">
            <a:avLst/>
          </a:prstGeom>
          <a:no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9623" y="30038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It is signed by the key named in the credential (</a:t>
            </a:r>
            <a:r>
              <a:rPr sz="930" b="0" i="0">
                <a:solidFill>
                  <a:srgbClr val="1D4E89"/>
                </a:solidFill>
                <a:latin typeface="Consolas"/>
              </a:rPr>
              <a:t>cnf</a:t>
            </a:r>
            <a:r>
              <a:rPr sz="930" b="0" i="0">
                <a:solidFill>
                  <a:srgbClr val="1E293B"/>
                </a:solidFill>
                <a:latin typeface="Arial"/>
              </a:rPr>
              <a:t>, </a:t>
            </a:r>
            <a:r>
              <a:rPr sz="930" b="0" i="0">
                <a:solidFill>
                  <a:srgbClr val="1D4E89"/>
                </a:solidFill>
                <a:latin typeface="Consolas"/>
              </a:rPr>
              <a:t>deviceKey</a:t>
            </a:r>
            <a:r>
              <a:rPr sz="930" b="0" i="0">
                <a:solidFill>
                  <a:srgbClr val="1E293B"/>
                </a:solidFill>
                <a:latin typeface="Arial"/>
              </a:rPr>
              <a:t>, or </a:t>
            </a:r>
            <a:r>
              <a:rPr sz="930" b="0" i="0">
                <a:solidFill>
                  <a:srgbClr val="1D4E89"/>
                </a:solidFill>
                <a:latin typeface="Consolas"/>
              </a:rPr>
              <a:t>credentialSubject.id</a:t>
            </a:r>
            <a:r>
              <a:rPr sz="930" b="0" i="0">
                <a:solidFill>
                  <a:srgbClr val="1E293B"/>
                </a:solidFill>
                <a:latin typeface="Arial"/>
              </a:rPr>
              <a:t>).</a:t>
            </a:r>
          </a:p>
        </p:txBody>
      </p:sp>
      <p:sp>
        <p:nvSpPr>
          <p:cNvPr id="35" name="Rectangle 34"/>
          <p:cNvSpPr/>
          <p:nvPr/>
        </p:nvSpPr>
        <p:spPr>
          <a:xfrm>
            <a:off x="6370167" y="3616452"/>
            <a:ext cx="128016" cy="128016"/>
          </a:xfrm>
          <a:prstGeom prst="rect">
            <a:avLst/>
          </a:prstGeom>
          <a:no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9623" y="35753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It covers </a:t>
            </a:r>
            <a:r>
              <a:rPr sz="930" b="1" i="0">
                <a:solidFill>
                  <a:srgbClr val="0F172A"/>
                </a:solidFill>
                <a:latin typeface="Arial"/>
              </a:rPr>
              <a:t>your</a:t>
            </a:r>
            <a:r>
              <a:rPr sz="930" b="0" i="0">
                <a:solidFill>
                  <a:srgbClr val="1E293B"/>
                </a:solidFill>
                <a:latin typeface="Arial"/>
              </a:rPr>
              <a:t> </a:t>
            </a:r>
            <a:r>
              <a:rPr sz="930" b="0" i="0">
                <a:solidFill>
                  <a:srgbClr val="1D4E89"/>
                </a:solidFill>
                <a:latin typeface="Consolas"/>
              </a:rPr>
              <a:t>nonce</a:t>
            </a:r>
            <a:r>
              <a:rPr sz="930" b="0" i="0">
                <a:solidFill>
                  <a:srgbClr val="1E293B"/>
                </a:solidFill>
                <a:latin typeface="Arial"/>
              </a:rPr>
              <a:t> and names </a:t>
            </a:r>
            <a:r>
              <a:rPr sz="930" b="1" i="0">
                <a:solidFill>
                  <a:srgbClr val="0F172A"/>
                </a:solidFill>
                <a:latin typeface="Arial"/>
              </a:rPr>
              <a:t>you</a:t>
            </a:r>
            <a:r>
              <a:rPr sz="930" b="0" i="0">
                <a:solidFill>
                  <a:srgbClr val="1E293B"/>
                </a:solidFill>
                <a:latin typeface="Arial"/>
              </a:rPr>
              <a:t> in </a:t>
            </a:r>
            <a:r>
              <a:rPr sz="930" b="0" i="0">
                <a:solidFill>
                  <a:srgbClr val="1D4E89"/>
                </a:solidFill>
                <a:latin typeface="Consolas"/>
              </a:rPr>
              <a:t>aud</a:t>
            </a:r>
            <a:r>
              <a:rPr sz="930" b="0" i="0">
                <a:solidFill>
                  <a:srgbClr val="1E293B"/>
                </a:solidFill>
                <a:latin typeface="Arial"/>
              </a:rPr>
              <a:t>.</a:t>
            </a:r>
          </a:p>
        </p:txBody>
      </p:sp>
      <p:sp>
        <p:nvSpPr>
          <p:cNvPr id="37" name="Rectangle 36"/>
          <p:cNvSpPr/>
          <p:nvPr/>
        </p:nvSpPr>
        <p:spPr>
          <a:xfrm>
            <a:off x="6370167" y="4046220"/>
            <a:ext cx="128016" cy="128016"/>
          </a:xfrm>
          <a:prstGeom prst="rect">
            <a:avLst/>
          </a:prstGeom>
          <a:no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9623" y="4005072"/>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For SD-JWT: </a:t>
            </a:r>
            <a:r>
              <a:rPr sz="930" b="0" i="0">
                <a:solidFill>
                  <a:srgbClr val="1D4E89"/>
                </a:solidFill>
                <a:latin typeface="Consolas"/>
              </a:rPr>
              <a:t>sd_hash</a:t>
            </a:r>
            <a:r>
              <a:rPr sz="930" b="0" i="0">
                <a:solidFill>
                  <a:srgbClr val="1E293B"/>
                </a:solidFill>
                <a:latin typeface="Arial"/>
              </a:rPr>
              <a:t> matches exactly the disclosures you received.</a:t>
            </a:r>
          </a:p>
        </p:txBody>
      </p:sp>
      <p:sp>
        <p:nvSpPr>
          <p:cNvPr id="39" name="Rounded Rectangle 38"/>
          <p:cNvSpPr/>
          <p:nvPr/>
        </p:nvSpPr>
        <p:spPr>
          <a:xfrm>
            <a:off x="9029471" y="1682496"/>
            <a:ext cx="2659303" cy="420624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29471" y="1682496"/>
            <a:ext cx="2659303" cy="59436"/>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12351" y="1883664"/>
            <a:ext cx="2293543" cy="457200"/>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5703D"/>
                </a:solidFill>
              </a:rPr>
              <a:t>Your own policy</a:t>
            </a:r>
          </a:p>
        </p:txBody>
      </p:sp>
      <p:sp>
        <p:nvSpPr>
          <p:cNvPr id="42" name="Rectangle 41"/>
          <p:cNvSpPr/>
          <p:nvPr/>
        </p:nvSpPr>
        <p:spPr>
          <a:xfrm>
            <a:off x="9212351" y="2473452"/>
            <a:ext cx="128016" cy="128016"/>
          </a:xfrm>
          <a:prstGeom prst="rect">
            <a:avLst/>
          </a:prstGeom>
          <a:no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31807" y="24323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Did you receive only the claims you asked for — and did you need all of them?</a:t>
            </a:r>
          </a:p>
        </p:txBody>
      </p:sp>
      <p:sp>
        <p:nvSpPr>
          <p:cNvPr id="44" name="Rectangle 43"/>
          <p:cNvSpPr/>
          <p:nvPr/>
        </p:nvSpPr>
        <p:spPr>
          <a:xfrm>
            <a:off x="9212351" y="3044952"/>
            <a:ext cx="128016" cy="128016"/>
          </a:xfrm>
          <a:prstGeom prst="rect">
            <a:avLst/>
          </a:prstGeom>
          <a:no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31807" y="3003804"/>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Is this credential type acceptable for this decision?</a:t>
            </a:r>
          </a:p>
        </p:txBody>
      </p:sp>
      <p:sp>
        <p:nvSpPr>
          <p:cNvPr id="46" name="Rectangle 45"/>
          <p:cNvSpPr/>
          <p:nvPr/>
        </p:nvSpPr>
        <p:spPr>
          <a:xfrm>
            <a:off x="9212351" y="3474720"/>
            <a:ext cx="128016" cy="128016"/>
          </a:xfrm>
          <a:prstGeom prst="rect">
            <a:avLst/>
          </a:prstGeom>
          <a:no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31807" y="3433572"/>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Revocation / status: do you check it, and can you tolerate the privacy cost of doing so?</a:t>
            </a:r>
          </a:p>
        </p:txBody>
      </p:sp>
      <p:sp>
        <p:nvSpPr>
          <p:cNvPr id="48" name="Rectangle 47"/>
          <p:cNvSpPr/>
          <p:nvPr/>
        </p:nvSpPr>
        <p:spPr>
          <a:xfrm>
            <a:off x="9212351" y="4046220"/>
            <a:ext cx="128016" cy="128016"/>
          </a:xfrm>
          <a:prstGeom prst="rect">
            <a:avLst/>
          </a:prstGeom>
          <a:no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31807" y="4005072"/>
            <a:ext cx="2055799" cy="822960"/>
          </a:xfrm>
          <a:prstGeom prst="rect">
            <a:avLst/>
          </a:prstGeom>
          <a:noFill/>
        </p:spPr>
        <p:txBody>
          <a:bodyPr wrap="square" lIns="0" rIns="0" tIns="0" bIns="0" anchor="t">
            <a:spAutoFit/>
          </a:bodyPr>
          <a:lstStyle/>
          <a:p>
            <a:pPr algn="l">
              <a:lnSpc>
                <a:spcPct val="125000"/>
              </a:lnSpc>
              <a:spcBef>
                <a:spcPts val="0"/>
              </a:spcBef>
              <a:spcAft>
                <a:spcPts val="0"/>
              </a:spcAft>
            </a:pPr>
            <a:r>
              <a:rPr sz="930" b="0" i="0">
                <a:solidFill>
                  <a:srgbClr val="1E293B"/>
                </a:solidFill>
                <a:latin typeface="Arial"/>
              </a:rPr>
              <a:t>Log the decision, not the credential.</a:t>
            </a:r>
          </a:p>
        </p:txBody>
      </p:sp>
      <p:sp>
        <p:nvSpPr>
          <p:cNvPr id="50" name="TextBox 4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presentation with OpenID4VP</a:t>
            </a:r>
          </a:p>
        </p:txBody>
      </p:sp>
      <p:sp>
        <p:nvSpPr>
          <p:cNvPr id="51" name="TextBox 5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7   •   6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Cross-device and same-device, back to back</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Verifier reachable from both the phone's network and the laptop's.</a:t>
            </a:r>
          </a:p>
        </p:txBody>
      </p:sp>
      <p:sp>
        <p:nvSpPr>
          <p:cNvPr id="10" name="Oval 9"/>
          <p:cNvSpPr/>
          <p:nvPr/>
        </p:nvSpPr>
        <p:spPr>
          <a:xfrm>
            <a:off x="745236" y="198028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12924"/>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verifier registered in </a:t>
            </a:r>
            <a:r>
              <a:rPr sz="1019" b="0" i="0">
                <a:solidFill>
                  <a:srgbClr val="1D4E89"/>
                </a:solidFill>
                <a:latin typeface="Consolas"/>
              </a:rPr>
              <a:t>mimoto-trusted-verifiers.json</a:t>
            </a:r>
            <a:r>
              <a:rPr sz="1019" b="0" i="0">
                <a:solidFill>
                  <a:srgbClr val="0F172A"/>
                </a:solidFill>
                <a:latin typeface="Arial"/>
              </a:rPr>
              <a:t> with the exact </a:t>
            </a:r>
            <a:r>
              <a:rPr sz="1019" b="0" i="0">
                <a:solidFill>
                  <a:srgbClr val="1D4E89"/>
                </a:solidFill>
                <a:latin typeface="Consolas"/>
              </a:rPr>
              <a:t>response_uri</a:t>
            </a:r>
            <a:r>
              <a:rPr sz="1019" b="0" i="0">
                <a:solidFill>
                  <a:srgbClr val="0F172A"/>
                </a:solidFill>
                <a:latin typeface="Arial"/>
              </a:rPr>
              <a:t>.</a:t>
            </a:r>
          </a:p>
        </p:txBody>
      </p:sp>
      <p:sp>
        <p:nvSpPr>
          <p:cNvPr id="12" name="Oval 11"/>
          <p:cNvSpPr/>
          <p:nvPr/>
        </p:nvSpPr>
        <p:spPr>
          <a:xfrm>
            <a:off x="745236" y="254767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48031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mobile browser on the same phone as the wallet, for the same-device run.</a:t>
            </a:r>
          </a:p>
        </p:txBody>
      </p:sp>
      <p:sp>
        <p:nvSpPr>
          <p:cNvPr id="14" name="Oval 13"/>
          <p:cNvSpPr/>
          <p:nvPr/>
        </p:nvSpPr>
        <p:spPr>
          <a:xfrm>
            <a:off x="745236" y="295183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884474"/>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network trace if possible.</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1" i="0">
                <a:solidFill>
                  <a:srgbClr val="0F172A"/>
                </a:solidFill>
                <a:latin typeface="Arial"/>
              </a:rPr>
              <a:t>Cross-device</a:t>
            </a:r>
            <a:r>
              <a:rPr sz="1019" b="0" i="0">
                <a:solidFill>
                  <a:srgbClr val="0F172A"/>
                </a:solidFill>
                <a:latin typeface="Arial"/>
              </a:rPr>
              <a:t>: QR on the laptop, scan with the phone, laptop flips to success without the user touching it.</a:t>
            </a:r>
          </a:p>
        </p:txBody>
      </p:sp>
      <p:sp>
        <p:nvSpPr>
          <p:cNvPr id="21" name="Oval 20"/>
          <p:cNvSpPr/>
          <p:nvPr/>
        </p:nvSpPr>
        <p:spPr>
          <a:xfrm>
            <a:off x="4466844" y="2143506"/>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2076145"/>
            <a:ext cx="2935224" cy="762609"/>
          </a:xfrm>
          <a:prstGeom prst="rect">
            <a:avLst/>
          </a:prstGeom>
          <a:noFill/>
        </p:spPr>
        <p:txBody>
          <a:bodyPr wrap="square" lIns="0" rIns="0" tIns="0" bIns="0" anchor="t">
            <a:spAutoFit/>
          </a:bodyPr>
          <a:lstStyle/>
          <a:p>
            <a:pPr algn="l">
              <a:lnSpc>
                <a:spcPct val="124000"/>
              </a:lnSpc>
              <a:spcBef>
                <a:spcPts val="0"/>
              </a:spcBef>
              <a:spcAft>
                <a:spcPts val="0"/>
              </a:spcAft>
            </a:pPr>
            <a:r>
              <a:rPr sz="1019" b="1" i="0">
                <a:solidFill>
                  <a:srgbClr val="0F172A"/>
                </a:solidFill>
                <a:latin typeface="Arial"/>
              </a:rPr>
              <a:t>Same-device</a:t>
            </a:r>
            <a:r>
              <a:rPr sz="1019" b="0" i="0">
                <a:solidFill>
                  <a:srgbClr val="0F172A"/>
                </a:solidFill>
                <a:latin typeface="Arial"/>
              </a:rPr>
              <a:t>: open the verifier in the phone's browser, tap the button, the wallet opens directly, then the browser returns.</a:t>
            </a:r>
          </a:p>
        </p:txBody>
      </p:sp>
      <p:sp>
        <p:nvSpPr>
          <p:cNvPr id="23" name="Oval 22"/>
          <p:cNvSpPr/>
          <p:nvPr/>
        </p:nvSpPr>
        <p:spPr>
          <a:xfrm>
            <a:off x="4466844" y="2874111"/>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806750"/>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consent screen is identical in both.</a:t>
            </a:r>
          </a:p>
        </p:txBody>
      </p:sp>
      <p:sp>
        <p:nvSpPr>
          <p:cNvPr id="25" name="Rounded Rectangle 24"/>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28" name="Oval 27"/>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4" y="1508760"/>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Cross-device: the phone POSTs to </a:t>
            </a:r>
            <a:r>
              <a:rPr sz="1019" b="0" i="0">
                <a:solidFill>
                  <a:srgbClr val="1D4E89"/>
                </a:solidFill>
                <a:latin typeface="Consolas"/>
              </a:rPr>
              <a:t>response_uri</a:t>
            </a:r>
            <a:r>
              <a:rPr sz="1019" b="0" i="0">
                <a:solidFill>
                  <a:srgbClr val="0F172A"/>
                </a:solidFill>
                <a:latin typeface="Arial"/>
              </a:rPr>
              <a:t>; the laptop learns of success from </a:t>
            </a:r>
            <a:r>
              <a:rPr sz="1019" b="1" i="0">
                <a:solidFill>
                  <a:srgbClr val="0F172A"/>
                </a:solidFill>
                <a:latin typeface="Arial"/>
              </a:rPr>
              <a:t>its own</a:t>
            </a:r>
            <a:r>
              <a:rPr sz="1019" b="0" i="0">
                <a:solidFill>
                  <a:srgbClr val="0F172A"/>
                </a:solidFill>
                <a:latin typeface="Arial"/>
              </a:rPr>
              <a:t> backend.</a:t>
            </a:r>
          </a:p>
        </p:txBody>
      </p:sp>
      <p:sp>
        <p:nvSpPr>
          <p:cNvPr id="30" name="Oval 29"/>
          <p:cNvSpPr/>
          <p:nvPr/>
        </p:nvSpPr>
        <p:spPr>
          <a:xfrm>
            <a:off x="8188452" y="2143506"/>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2076145"/>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Same-device: the browser fired an </a:t>
            </a:r>
            <a:r>
              <a:rPr sz="1019" b="0" i="0">
                <a:solidFill>
                  <a:srgbClr val="1D4E89"/>
                </a:solidFill>
                <a:latin typeface="Consolas"/>
              </a:rPr>
              <a:t>openid4vp://authorize</a:t>
            </a:r>
            <a:r>
              <a:rPr sz="1019" b="0" i="0">
                <a:solidFill>
                  <a:srgbClr val="0F172A"/>
                </a:solidFill>
                <a:latin typeface="Arial"/>
              </a:rPr>
              <a:t> deep link; after posting, the wallet sends the user back.</a:t>
            </a:r>
          </a:p>
        </p:txBody>
      </p:sp>
      <p:sp>
        <p:nvSpPr>
          <p:cNvPr id="32" name="Oval 31"/>
          <p:cNvSpPr/>
          <p:nvPr/>
        </p:nvSpPr>
        <p:spPr>
          <a:xfrm>
            <a:off x="8188452" y="2710891"/>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2643530"/>
            <a:ext cx="3118104" cy="59938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protocol messages are the same in both runs — only the delivery channel and the return path differ.</a:t>
            </a:r>
          </a:p>
        </p:txBody>
      </p:sp>
      <p:sp>
        <p:nvSpPr>
          <p:cNvPr id="34" name="Rounded Rectangle 33"/>
          <p:cNvSpPr/>
          <p:nvPr/>
        </p:nvSpPr>
        <p:spPr>
          <a:xfrm>
            <a:off x="502920" y="5175504"/>
            <a:ext cx="11185855" cy="724154"/>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5175504"/>
            <a:ext cx="45720" cy="72415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4088" y="5266944"/>
            <a:ext cx="10820095" cy="577850"/>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If the same-device run opens a browser page saying 'no app can handle this link', the intent filter or URL scheme is wrong. That is an OS configuration problem, not a protocol problem.</a:t>
            </a:r>
          </a:p>
        </p:txBody>
      </p:sp>
      <p:sp>
        <p:nvSpPr>
          <p:cNvPr id="37" name="TextBox 3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Credential presentation with OpenID4VP</a:t>
            </a:r>
          </a:p>
        </p:txBody>
      </p:sp>
      <p:sp>
        <p:nvSpPr>
          <p:cNvPr id="38" name="TextBox 3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9</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Inji Web and device flows</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The browser wallet: why it exists, how it differs from the mobile wallet, and how the four device journeys actually work.</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25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Why a browser wallet</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Frontend architecture and the BFF pattern</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Guest and logged-in journeys</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Same-device, cross-device, handoff</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What Web does that Wallet does not</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Theming, localisation, deployment</a:t>
            </a:r>
          </a:p>
        </p:txBody>
      </p:sp>
      <p:sp>
        <p:nvSpPr>
          <p:cNvPr id="23" name="Rounded Rectangle 22"/>
          <p:cNvSpPr/>
          <p:nvPr/>
        </p:nvSpPr>
        <p:spPr>
          <a:xfrm>
            <a:off x="50292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Inji Web and device flows</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BACKEND-FOR-FRONTEND</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Inji Web architecture</a:t>
            </a:r>
          </a:p>
        </p:txBody>
      </p:sp>
      <p:sp>
        <p:nvSpPr>
          <p:cNvPr id="4" name="TextBox 3"/>
          <p:cNvSpPr txBox="1"/>
          <p:nvPr/>
        </p:nvSpPr>
        <p:spPr>
          <a:xfrm>
            <a:off x="502920" y="1078992"/>
            <a:ext cx="11185855" cy="310339"/>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A React frontend that is deliberately stateless, with Mimoto doing everything that needs a secret or a key.</a:t>
            </a:r>
          </a:p>
        </p:txBody>
      </p:sp>
      <p:cxnSp>
        <p:nvCxnSpPr>
          <p:cNvPr id="5" name="Connector 4"/>
          <p:cNvCxnSpPr/>
          <p:nvPr/>
        </p:nvCxnSpPr>
        <p:spPr>
          <a:xfrm>
            <a:off x="502920" y="1480771"/>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1579"/>
            <a:ext cx="3749039" cy="2920845"/>
          </a:xfrm>
          <a:prstGeom prst="roundRect">
            <a:avLst>
              <a:gd name="adj" fmla="val 5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1579"/>
            <a:ext cx="3749039" cy="63893"/>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900643"/>
            <a:ext cx="3346703" cy="292084"/>
          </a:xfrm>
          <a:prstGeom prst="rect">
            <a:avLst/>
          </a:prstGeom>
          <a:noFill/>
        </p:spPr>
        <p:txBody>
          <a:bodyPr wrap="square" lIns="0" rIns="0" tIns="0" bIns="0" anchor="t">
            <a:spAutoFit/>
          </a:bodyPr>
          <a:lstStyle/>
          <a:p>
            <a:pPr algn="l">
              <a:lnSpc>
                <a:spcPct val="114000"/>
              </a:lnSpc>
              <a:spcBef>
                <a:spcPts val="0"/>
              </a:spcBef>
              <a:spcAft>
                <a:spcPts val="0"/>
              </a:spcAft>
            </a:pPr>
            <a:r>
              <a:rPr sz="1250" b="1" i="0">
                <a:solidFill>
                  <a:srgbClr val="0E9488"/>
                </a:solidFill>
              </a:rPr>
              <a:t>Browser — Inji Web</a:t>
            </a:r>
          </a:p>
        </p:txBody>
      </p:sp>
      <p:sp>
        <p:nvSpPr>
          <p:cNvPr id="9" name="Oval 8"/>
          <p:cNvSpPr/>
          <p:nvPr/>
        </p:nvSpPr>
        <p:spPr>
          <a:xfrm>
            <a:off x="726948" y="2348607"/>
            <a:ext cx="77724" cy="7758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84004"/>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React + TypeScript</a:t>
            </a:r>
          </a:p>
        </p:txBody>
      </p:sp>
      <p:sp>
        <p:nvSpPr>
          <p:cNvPr id="11" name="Oval 10"/>
          <p:cNvSpPr/>
          <p:nvPr/>
        </p:nvSpPr>
        <p:spPr>
          <a:xfrm>
            <a:off x="726948" y="2578167"/>
            <a:ext cx="77724" cy="7758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13563"/>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Tailwind, i18next</a:t>
            </a:r>
          </a:p>
        </p:txBody>
      </p:sp>
      <p:sp>
        <p:nvSpPr>
          <p:cNvPr id="13" name="Oval 12"/>
          <p:cNvSpPr/>
          <p:nvPr/>
        </p:nvSpPr>
        <p:spPr>
          <a:xfrm>
            <a:off x="726948" y="2807727"/>
            <a:ext cx="77724" cy="7758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43124"/>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Redux for UI state</a:t>
            </a:r>
          </a:p>
        </p:txBody>
      </p:sp>
      <p:sp>
        <p:nvSpPr>
          <p:cNvPr id="15" name="Oval 14"/>
          <p:cNvSpPr/>
          <p:nvPr/>
        </p:nvSpPr>
        <p:spPr>
          <a:xfrm>
            <a:off x="726948" y="3037288"/>
            <a:ext cx="77724" cy="7758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972684"/>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pages/, components/, hooks/</a:t>
            </a:r>
          </a:p>
        </p:txBody>
      </p:sp>
      <p:sp>
        <p:nvSpPr>
          <p:cNvPr id="17" name="Oval 16"/>
          <p:cNvSpPr/>
          <p:nvPr/>
        </p:nvSpPr>
        <p:spPr>
          <a:xfrm>
            <a:off x="726948" y="3266847"/>
            <a:ext cx="77724" cy="7758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02244"/>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env.config.js at runtime</a:t>
            </a:r>
          </a:p>
        </p:txBody>
      </p:sp>
      <p:sp>
        <p:nvSpPr>
          <p:cNvPr id="19" name="Oval 18"/>
          <p:cNvSpPr/>
          <p:nvPr/>
        </p:nvSpPr>
        <p:spPr>
          <a:xfrm>
            <a:off x="726948" y="3496408"/>
            <a:ext cx="77724" cy="7758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431805"/>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Holds NO credential, NO key</a:t>
            </a:r>
          </a:p>
        </p:txBody>
      </p:sp>
      <p:cxnSp>
        <p:nvCxnSpPr>
          <p:cNvPr id="21" name="Connector 20"/>
          <p:cNvCxnSpPr/>
          <p:nvPr/>
        </p:nvCxnSpPr>
        <p:spPr>
          <a:xfrm>
            <a:off x="4288536" y="3142002"/>
            <a:ext cx="155447"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480559" y="1681579"/>
            <a:ext cx="3749039" cy="2920845"/>
          </a:xfrm>
          <a:prstGeom prst="roundRect">
            <a:avLst>
              <a:gd name="adj" fmla="val 5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59" y="1681579"/>
            <a:ext cx="3749039" cy="63893"/>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81727" y="1900643"/>
            <a:ext cx="3346703" cy="292084"/>
          </a:xfrm>
          <a:prstGeom prst="rect">
            <a:avLst/>
          </a:prstGeom>
          <a:noFill/>
        </p:spPr>
        <p:txBody>
          <a:bodyPr wrap="square" lIns="0" rIns="0" tIns="0" bIns="0" anchor="t">
            <a:spAutoFit/>
          </a:bodyPr>
          <a:lstStyle/>
          <a:p>
            <a:pPr algn="l">
              <a:lnSpc>
                <a:spcPct val="114000"/>
              </a:lnSpc>
              <a:spcBef>
                <a:spcPts val="0"/>
              </a:spcBef>
              <a:spcAft>
                <a:spcPts val="0"/>
              </a:spcAft>
            </a:pPr>
            <a:r>
              <a:rPr sz="1250" b="1" i="0">
                <a:solidFill>
                  <a:srgbClr val="6D28D9"/>
                </a:solidFill>
              </a:rPr>
              <a:t>Mimoto — the BFF</a:t>
            </a:r>
          </a:p>
        </p:txBody>
      </p:sp>
      <p:sp>
        <p:nvSpPr>
          <p:cNvPr id="25" name="Oval 24"/>
          <p:cNvSpPr/>
          <p:nvPr/>
        </p:nvSpPr>
        <p:spPr>
          <a:xfrm>
            <a:off x="4704588" y="2348607"/>
            <a:ext cx="77724" cy="775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92040" y="2284004"/>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Session per logged-in user</a:t>
            </a:r>
          </a:p>
        </p:txBody>
      </p:sp>
      <p:sp>
        <p:nvSpPr>
          <p:cNvPr id="27" name="Oval 26"/>
          <p:cNvSpPr/>
          <p:nvPr/>
        </p:nvSpPr>
        <p:spPr>
          <a:xfrm>
            <a:off x="4704588" y="2578167"/>
            <a:ext cx="77724" cy="775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92040" y="2513563"/>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Wallet created with a PIN</a:t>
            </a:r>
          </a:p>
        </p:txBody>
      </p:sp>
      <p:sp>
        <p:nvSpPr>
          <p:cNvPr id="29" name="Oval 28"/>
          <p:cNvSpPr/>
          <p:nvPr/>
        </p:nvSpPr>
        <p:spPr>
          <a:xfrm>
            <a:off x="4704588" y="2807727"/>
            <a:ext cx="77724" cy="775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92040" y="2743124"/>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AES-256-GCM credential store</a:t>
            </a:r>
          </a:p>
        </p:txBody>
      </p:sp>
      <p:sp>
        <p:nvSpPr>
          <p:cNvPr id="31" name="Oval 30"/>
          <p:cNvSpPr/>
          <p:nvPr/>
        </p:nvSpPr>
        <p:spPr>
          <a:xfrm>
            <a:off x="4704588" y="3037288"/>
            <a:ext cx="77724" cy="775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92040" y="2972684"/>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Runs OpenID4VCI and OpenID4VP</a:t>
            </a:r>
          </a:p>
        </p:txBody>
      </p:sp>
      <p:sp>
        <p:nvSpPr>
          <p:cNvPr id="33" name="Oval 32"/>
          <p:cNvSpPr/>
          <p:nvPr/>
        </p:nvSpPr>
        <p:spPr>
          <a:xfrm>
            <a:off x="4704588" y="3266847"/>
            <a:ext cx="77724" cy="775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92040" y="3202244"/>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Issuer catalogue + trusted verifiers</a:t>
            </a:r>
          </a:p>
        </p:txBody>
      </p:sp>
      <p:sp>
        <p:nvSpPr>
          <p:cNvPr id="35" name="Oval 34"/>
          <p:cNvSpPr/>
          <p:nvPr/>
        </p:nvSpPr>
        <p:spPr>
          <a:xfrm>
            <a:off x="4704588" y="3496408"/>
            <a:ext cx="77724" cy="775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92040" y="3431805"/>
            <a:ext cx="3136391"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PDF rendering</a:t>
            </a:r>
          </a:p>
        </p:txBody>
      </p:sp>
      <p:cxnSp>
        <p:nvCxnSpPr>
          <p:cNvPr id="37" name="Connector 36"/>
          <p:cNvCxnSpPr/>
          <p:nvPr/>
        </p:nvCxnSpPr>
        <p:spPr>
          <a:xfrm>
            <a:off x="8266175" y="3142002"/>
            <a:ext cx="155449"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458200" y="1681579"/>
            <a:ext cx="3227832" cy="2920845"/>
          </a:xfrm>
          <a:prstGeom prst="roundRect">
            <a:avLst>
              <a:gd name="adj" fmla="val 5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58200" y="1681579"/>
            <a:ext cx="3227832" cy="63893"/>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9368" y="1900643"/>
            <a:ext cx="2825496" cy="292084"/>
          </a:xfrm>
          <a:prstGeom prst="rect">
            <a:avLst/>
          </a:prstGeom>
          <a:noFill/>
        </p:spPr>
        <p:txBody>
          <a:bodyPr wrap="square" lIns="0" rIns="0" tIns="0" bIns="0" anchor="t">
            <a:spAutoFit/>
          </a:bodyPr>
          <a:lstStyle/>
          <a:p>
            <a:pPr algn="l">
              <a:lnSpc>
                <a:spcPct val="114000"/>
              </a:lnSpc>
              <a:spcBef>
                <a:spcPts val="0"/>
              </a:spcBef>
              <a:spcAft>
                <a:spcPts val="0"/>
              </a:spcAft>
            </a:pPr>
            <a:r>
              <a:rPr sz="1250" b="1" i="0">
                <a:solidFill>
                  <a:srgbClr val="1D4E89"/>
                </a:solidFill>
              </a:rPr>
              <a:t>Outside world</a:t>
            </a:r>
          </a:p>
        </p:txBody>
      </p:sp>
      <p:sp>
        <p:nvSpPr>
          <p:cNvPr id="41" name="Oval 40"/>
          <p:cNvSpPr/>
          <p:nvPr/>
        </p:nvSpPr>
        <p:spPr>
          <a:xfrm>
            <a:off x="8682228" y="2348607"/>
            <a:ext cx="77724" cy="7758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0" y="2284004"/>
            <a:ext cx="2615184"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Issuer well-known + credential endpoint</a:t>
            </a:r>
          </a:p>
        </p:txBody>
      </p:sp>
      <p:sp>
        <p:nvSpPr>
          <p:cNvPr id="43" name="Oval 42"/>
          <p:cNvSpPr/>
          <p:nvPr/>
        </p:nvSpPr>
        <p:spPr>
          <a:xfrm>
            <a:off x="8682228" y="2578167"/>
            <a:ext cx="77724" cy="7758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0" y="2513563"/>
            <a:ext cx="2615184" cy="422609"/>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Authorization server (eSignet, OIDC, Google)</a:t>
            </a:r>
          </a:p>
        </p:txBody>
      </p:sp>
      <p:sp>
        <p:nvSpPr>
          <p:cNvPr id="45" name="Oval 44"/>
          <p:cNvSpPr/>
          <p:nvPr/>
        </p:nvSpPr>
        <p:spPr>
          <a:xfrm>
            <a:off x="8682228" y="2964267"/>
            <a:ext cx="77724" cy="7758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69680" y="2899663"/>
            <a:ext cx="2615184"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Verifier response_uri</a:t>
            </a:r>
          </a:p>
        </p:txBody>
      </p:sp>
      <p:sp>
        <p:nvSpPr>
          <p:cNvPr id="47" name="Oval 46"/>
          <p:cNvSpPr/>
          <p:nvPr/>
        </p:nvSpPr>
        <p:spPr>
          <a:xfrm>
            <a:off x="8682228" y="3193826"/>
            <a:ext cx="77724" cy="7758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0" y="3129223"/>
            <a:ext cx="2615184"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Postgres (durable)</a:t>
            </a:r>
          </a:p>
        </p:txBody>
      </p:sp>
      <p:sp>
        <p:nvSpPr>
          <p:cNvPr id="49" name="Oval 48"/>
          <p:cNvSpPr/>
          <p:nvPr/>
        </p:nvSpPr>
        <p:spPr>
          <a:xfrm>
            <a:off x="8682228" y="3423387"/>
            <a:ext cx="77724" cy="7758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0" y="3358784"/>
            <a:ext cx="2615184" cy="266070"/>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Redis (sessions, cache)</a:t>
            </a:r>
          </a:p>
        </p:txBody>
      </p:sp>
      <p:sp>
        <p:nvSpPr>
          <p:cNvPr id="51" name="TextBox 50"/>
          <p:cNvSpPr txBox="1"/>
          <p:nvPr/>
        </p:nvSpPr>
        <p:spPr>
          <a:xfrm>
            <a:off x="4206240" y="2776897"/>
            <a:ext cx="548640" cy="273829"/>
          </a:xfrm>
          <a:prstGeom prst="rect">
            <a:avLst/>
          </a:prstGeom>
          <a:noFill/>
        </p:spPr>
        <p:txBody>
          <a:bodyPr wrap="square" lIns="0" rIns="0" tIns="0" bIns="0" anchor="t">
            <a:spAutoFit/>
          </a:bodyPr>
          <a:lstStyle/>
          <a:p>
            <a:pPr algn="ctr">
              <a:lnSpc>
                <a:spcPct val="114000"/>
              </a:lnSpc>
              <a:spcBef>
                <a:spcPts val="0"/>
              </a:spcBef>
              <a:spcAft>
                <a:spcPts val="0"/>
              </a:spcAft>
            </a:pPr>
            <a:r>
              <a:rPr sz="780" b="0" i="0">
                <a:solidFill>
                  <a:srgbClr val="5B6B7F"/>
                </a:solidFill>
              </a:rPr>
              <a:t>HTTPS
session cookie</a:t>
            </a:r>
          </a:p>
        </p:txBody>
      </p:sp>
      <p:graphicFrame>
        <p:nvGraphicFramePr>
          <p:cNvPr id="52" name="Table 51"/>
          <p:cNvGraphicFramePr>
            <a:graphicFrameLocks noGrp="1"/>
          </p:cNvGraphicFramePr>
          <p:nvPr/>
        </p:nvGraphicFramePr>
        <p:xfrm>
          <a:off x="502920" y="4830616"/>
          <a:ext cx="11185853" cy="1442165"/>
        </p:xfrm>
        <a:graphic>
          <a:graphicData uri="http://schemas.openxmlformats.org/drawingml/2006/table">
            <a:tbl>
              <a:tblPr firstRow="1">
                <a:tableStyleId>{2D5ABB26-0587-4C30-8999-92F81FD0307C}</a:tableStyleId>
              </a:tblPr>
              <a:tblGrid>
                <a:gridCol w="1650372"/>
                <a:gridCol w="4034242"/>
                <a:gridCol w="3484118"/>
                <a:gridCol w="2017121"/>
              </a:tblGrid>
              <a:tr h="310339">
                <a:tc>
                  <a:txBody>
                    <a:bodyPr wrap="square"/>
                    <a:lstStyle/>
                    <a:p>
                      <a:pPr algn="l"/>
                      <a:r>
                        <a:rPr sz="950" b="1">
                          <a:solidFill>
                            <a:srgbClr val="FFFFFF"/>
                          </a:solidFill>
                          <a:latin typeface="Arial"/>
                        </a:rPr>
                        <a:t>Journey</a:t>
                      </a:r>
                    </a:p>
                  </a:txBody>
                  <a:tcPr marL="64008" marR="54864" marT="27432" marB="27432" anchor="ctr">
                    <a:solidFill>
                      <a:srgbClr val="1D4E89"/>
                    </a:solidFill>
                  </a:tcPr>
                </a:tc>
                <a:tc>
                  <a:txBody>
                    <a:bodyPr wrap="square"/>
                    <a:lstStyle/>
                    <a:p>
                      <a:pPr algn="l"/>
                      <a:r>
                        <a:rPr sz="950" b="1">
                          <a:solidFill>
                            <a:srgbClr val="FFFFFF"/>
                          </a:solidFill>
                          <a:latin typeface="Arial"/>
                        </a:rPr>
                        <a:t>What the user does</a:t>
                      </a:r>
                    </a:p>
                  </a:txBody>
                  <a:tcPr marL="64008" marR="54864" marT="27432" marB="27432" anchor="ctr">
                    <a:solidFill>
                      <a:srgbClr val="1D4E89"/>
                    </a:solidFill>
                  </a:tcPr>
                </a:tc>
                <a:tc>
                  <a:txBody>
                    <a:bodyPr wrap="square"/>
                    <a:lstStyle/>
                    <a:p>
                      <a:pPr algn="l"/>
                      <a:r>
                        <a:rPr sz="950" b="1">
                          <a:solidFill>
                            <a:srgbClr val="FFFFFF"/>
                          </a:solidFill>
                          <a:latin typeface="Arial"/>
                        </a:rPr>
                        <a:t>What is stored</a:t>
                      </a:r>
                    </a:p>
                  </a:txBody>
                  <a:tcPr marL="64008" marR="54864" marT="27432" marB="27432" anchor="ctr">
                    <a:solidFill>
                      <a:srgbClr val="1D4E89"/>
                    </a:solidFill>
                  </a:tcPr>
                </a:tc>
                <a:tc>
                  <a:txBody>
                    <a:bodyPr wrap="square"/>
                    <a:lstStyle/>
                    <a:p>
                      <a:pPr algn="l"/>
                      <a:r>
                        <a:rPr sz="950" b="1">
                          <a:solidFill>
                            <a:srgbClr val="FFFFFF"/>
                          </a:solidFill>
                          <a:latin typeface="Arial"/>
                        </a:rPr>
                        <a:t>Why it exists</a:t>
                      </a:r>
                    </a:p>
                  </a:txBody>
                  <a:tcPr marL="64008" marR="54864" marT="27432" marB="27432" anchor="ctr">
                    <a:solidFill>
                      <a:srgbClr val="1D4E89"/>
                    </a:solidFill>
                  </a:tcPr>
                </a:tc>
              </a:tr>
              <a:tr h="565913">
                <a:tc>
                  <a:txBody>
                    <a:bodyPr wrap="square"/>
                    <a:lstStyle/>
                    <a:p>
                      <a:pPr algn="l">
                        <a:lnSpc>
                          <a:spcPct val="105000"/>
                        </a:lnSpc>
                      </a:pPr>
                      <a:r>
                        <a:rPr sz="940" b="0">
                          <a:solidFill>
                            <a:srgbClr val="1E293B"/>
                          </a:solidFill>
                          <a:latin typeface="Arial"/>
                        </a:rPr>
                        <a:t>Guest journey</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Browse issuers, download a credential, receive it as a </a:t>
                      </a:r>
                      <a:r>
                        <a:rPr sz="940" b="1">
                          <a:solidFill>
                            <a:srgbClr val="0F172A"/>
                          </a:solidFill>
                          <a:latin typeface="Arial"/>
                        </a:rPr>
                        <a:t>PDF or a file</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Nothing persisted server-side for the user</a:t>
                      </a:r>
                    </a:p>
                  </a:txBody>
                  <a:tcPr marL="64008" marR="54864" marT="18288" marB="18288" anchor="ctr">
                    <a:solidFill>
                      <a:srgbClr val="FFFFFF"/>
                    </a:solidFill>
                  </a:tcPr>
                </a:tc>
                <a:tc>
                  <a:txBody>
                    <a:bodyPr wrap="square"/>
                    <a:lstStyle/>
                    <a:p>
                      <a:pPr algn="l">
                        <a:lnSpc>
                          <a:spcPct val="105000"/>
                        </a:lnSpc>
                      </a:pPr>
                      <a:r>
                        <a:rPr sz="940" b="0">
                          <a:solidFill>
                            <a:srgbClr val="1E293B"/>
                          </a:solidFill>
                          <a:latin typeface="Arial"/>
                        </a:rPr>
                        <a:t>Quick, anonymous, one-off</a:t>
                      </a:r>
                    </a:p>
                  </a:txBody>
                  <a:tcPr marL="64008" marR="54864" marT="18288" marB="18288" anchor="ctr">
                    <a:solidFill>
                      <a:srgbClr val="FFFFFF"/>
                    </a:solidFill>
                  </a:tcPr>
                </a:tc>
              </a:tr>
              <a:tr h="565913">
                <a:tc>
                  <a:txBody>
                    <a:bodyPr wrap="square"/>
                    <a:lstStyle/>
                    <a:p>
                      <a:pPr algn="l">
                        <a:lnSpc>
                          <a:spcPct val="105000"/>
                        </a:lnSpc>
                      </a:pPr>
                      <a:r>
                        <a:rPr sz="940" b="0">
                          <a:solidFill>
                            <a:srgbClr val="1E293B"/>
                          </a:solidFill>
                          <a:latin typeface="Arial"/>
                        </a:rPr>
                        <a:t>Logged-in journey</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Create a wallet with a </a:t>
                      </a:r>
                      <a:r>
                        <a:rPr sz="940" b="1">
                          <a:solidFill>
                            <a:srgbClr val="0F172A"/>
                          </a:solidFill>
                          <a:latin typeface="Arial"/>
                        </a:rPr>
                        <a:t>PIN</a:t>
                      </a:r>
                      <a:r>
                        <a:rPr sz="940" b="0">
                          <a:solidFill>
                            <a:srgbClr val="1E293B"/>
                          </a:solidFill>
                          <a:latin typeface="Arial"/>
                        </a:rPr>
                        <a:t>, download credentials into it, present them</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Credentials stored in Mimoto, encrypted with a PIN-derived key</a:t>
                      </a:r>
                    </a:p>
                  </a:txBody>
                  <a:tcPr marL="64008" marR="54864" marT="18288" marB="18288" anchor="ctr">
                    <a:solidFill>
                      <a:srgbClr val="F3F6F9"/>
                    </a:solidFill>
                  </a:tcPr>
                </a:tc>
                <a:tc>
                  <a:txBody>
                    <a:bodyPr wrap="square"/>
                    <a:lstStyle/>
                    <a:p>
                      <a:pPr algn="l">
                        <a:lnSpc>
                          <a:spcPct val="105000"/>
                        </a:lnSpc>
                      </a:pPr>
                      <a:r>
                        <a:rPr sz="940" b="0">
                          <a:solidFill>
                            <a:srgbClr val="1E293B"/>
                          </a:solidFill>
                          <a:latin typeface="Arial"/>
                        </a:rPr>
                        <a:t>Repeat use, presentation support</a:t>
                      </a:r>
                    </a:p>
                  </a:txBody>
                  <a:tcPr marL="64008" marR="54864" marT="18288" marB="18288" anchor="ctr">
                    <a:solidFill>
                      <a:srgbClr val="F3F6F9"/>
                    </a:solidFill>
                  </a:tcPr>
                </a:tc>
              </a:tr>
            </a:tbl>
          </a:graphicData>
        </a:graphic>
      </p:graphicFrame>
      <p:sp>
        <p:nvSpPr>
          <p:cNvPr id="53" name="TextBox 5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Web and device flows</a:t>
            </a:r>
          </a:p>
        </p:txBody>
      </p:sp>
      <p:sp>
        <p:nvSpPr>
          <p:cNvPr id="54" name="TextBox 5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SAME-DEVICE, CROSS-DEVICE, HANDOFF</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four device journeys in detail</a:t>
            </a:r>
          </a:p>
        </p:txBody>
      </p:sp>
      <p:sp>
        <p:nvSpPr>
          <p:cNvPr id="4" name="TextBox 3"/>
          <p:cNvSpPr txBox="1"/>
          <p:nvPr/>
        </p:nvSpPr>
        <p:spPr>
          <a:xfrm>
            <a:off x="502920" y="1078992"/>
            <a:ext cx="11185855" cy="302229"/>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Who holds the credential, where the request comes from, and how the user gets back to where they started.</a:t>
            </a:r>
          </a:p>
        </p:txBody>
      </p:sp>
      <p:cxnSp>
        <p:nvCxnSpPr>
          <p:cNvPr id="5" name="Connector 4"/>
          <p:cNvCxnSpPr/>
          <p:nvPr/>
        </p:nvCxnSpPr>
        <p:spPr>
          <a:xfrm>
            <a:off x="502920" y="1472661"/>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68222"/>
            <a:ext cx="2659303" cy="2800071"/>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68222"/>
            <a:ext cx="2659303" cy="57779"/>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63782"/>
            <a:ext cx="2293543" cy="266673"/>
          </a:xfrm>
          <a:prstGeom prst="rect">
            <a:avLst/>
          </a:prstGeom>
          <a:noFill/>
        </p:spPr>
        <p:txBody>
          <a:bodyPr wrap="square" lIns="0" rIns="0" tIns="0" bIns="0" anchor="t">
            <a:spAutoFit/>
          </a:bodyPr>
          <a:lstStyle/>
          <a:p>
            <a:pPr algn="l">
              <a:lnSpc>
                <a:spcPct val="114000"/>
              </a:lnSpc>
              <a:spcBef>
                <a:spcPts val="0"/>
              </a:spcBef>
              <a:spcAft>
                <a:spcPts val="0"/>
              </a:spcAft>
            </a:pPr>
            <a:r>
              <a:rPr sz="1230" b="1" i="0">
                <a:solidFill>
                  <a:srgbClr val="1D4E89"/>
                </a:solidFill>
              </a:rPr>
              <a:t>Cross-device</a:t>
            </a:r>
          </a:p>
        </p:txBody>
      </p:sp>
      <p:sp>
        <p:nvSpPr>
          <p:cNvPr id="9" name="TextBox 8"/>
          <p:cNvSpPr txBox="1"/>
          <p:nvPr/>
        </p:nvSpPr>
        <p:spPr>
          <a:xfrm>
            <a:off x="685800" y="2157123"/>
            <a:ext cx="2293543" cy="355564"/>
          </a:xfrm>
          <a:prstGeom prst="rect">
            <a:avLst/>
          </a:prstGeom>
          <a:noFill/>
        </p:spPr>
        <p:txBody>
          <a:bodyPr wrap="square" lIns="0" rIns="0" tIns="0" bIns="0" anchor="t">
            <a:spAutoFit/>
          </a:bodyPr>
          <a:lstStyle/>
          <a:p>
            <a:pPr algn="l">
              <a:lnSpc>
                <a:spcPct val="120000"/>
              </a:lnSpc>
              <a:spcBef>
                <a:spcPts val="0"/>
              </a:spcBef>
              <a:spcAft>
                <a:spcPts val="0"/>
              </a:spcAft>
            </a:pPr>
            <a:r>
              <a:rPr sz="869" b="0" i="1">
                <a:solidFill>
                  <a:srgbClr val="5B6B7F"/>
                </a:solidFill>
              </a:rPr>
              <a:t>Verifier on a screen • Wallet on a phone</a:t>
            </a:r>
          </a:p>
        </p:txBody>
      </p:sp>
      <p:sp>
        <p:nvSpPr>
          <p:cNvPr id="10" name="Oval 9"/>
          <p:cNvSpPr/>
          <p:nvPr/>
        </p:nvSpPr>
        <p:spPr>
          <a:xfrm>
            <a:off x="685800" y="2574912"/>
            <a:ext cx="201168" cy="19556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1</a:t>
            </a:r>
          </a:p>
        </p:txBody>
      </p:sp>
      <p:sp>
        <p:nvSpPr>
          <p:cNvPr id="11" name="TextBox 10"/>
          <p:cNvSpPr txBox="1"/>
          <p:nvPr/>
        </p:nvSpPr>
        <p:spPr>
          <a:xfrm>
            <a:off x="960120" y="2557133"/>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Verifier renders a QR containing the request or a </a:t>
            </a:r>
            <a:r>
              <a:rPr sz="910" b="0" i="0">
                <a:solidFill>
                  <a:srgbClr val="1D4E89"/>
                </a:solidFill>
                <a:latin typeface="Consolas"/>
              </a:rPr>
              <a:t>request_uri</a:t>
            </a:r>
            <a:r>
              <a:rPr sz="910" b="0" i="0">
                <a:solidFill>
                  <a:srgbClr val="1E293B"/>
                </a:solidFill>
                <a:latin typeface="Arial"/>
              </a:rPr>
              <a:t>.</a:t>
            </a:r>
          </a:p>
        </p:txBody>
      </p:sp>
      <p:sp>
        <p:nvSpPr>
          <p:cNvPr id="12" name="Oval 11"/>
          <p:cNvSpPr/>
          <p:nvPr/>
        </p:nvSpPr>
        <p:spPr>
          <a:xfrm>
            <a:off x="685800" y="2969588"/>
            <a:ext cx="201168" cy="19556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2</a:t>
            </a:r>
          </a:p>
        </p:txBody>
      </p:sp>
      <p:sp>
        <p:nvSpPr>
          <p:cNvPr id="13" name="TextBox 12"/>
          <p:cNvSpPr txBox="1"/>
          <p:nvPr/>
        </p:nvSpPr>
        <p:spPr>
          <a:xfrm>
            <a:off x="960120" y="2951810"/>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User scans with Inji Wallet.</a:t>
            </a:r>
          </a:p>
        </p:txBody>
      </p:sp>
      <p:sp>
        <p:nvSpPr>
          <p:cNvPr id="14" name="Oval 13"/>
          <p:cNvSpPr/>
          <p:nvPr/>
        </p:nvSpPr>
        <p:spPr>
          <a:xfrm>
            <a:off x="685800" y="3229150"/>
            <a:ext cx="201168" cy="19556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3</a:t>
            </a:r>
          </a:p>
        </p:txBody>
      </p:sp>
      <p:sp>
        <p:nvSpPr>
          <p:cNvPr id="15" name="TextBox 14"/>
          <p:cNvSpPr txBox="1"/>
          <p:nvPr/>
        </p:nvSpPr>
        <p:spPr>
          <a:xfrm>
            <a:off x="960120" y="3211372"/>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Wallet POSTs the </a:t>
            </a:r>
            <a:r>
              <a:rPr sz="910" b="0" i="0">
                <a:solidFill>
                  <a:srgbClr val="1D4E89"/>
                </a:solidFill>
                <a:latin typeface="Consolas"/>
              </a:rPr>
              <a:t>vp_token</a:t>
            </a:r>
            <a:r>
              <a:rPr sz="910" b="0" i="0">
                <a:solidFill>
                  <a:srgbClr val="1E293B"/>
                </a:solidFill>
                <a:latin typeface="Arial"/>
              </a:rPr>
              <a:t> to </a:t>
            </a:r>
            <a:r>
              <a:rPr sz="910" b="0" i="0">
                <a:solidFill>
                  <a:srgbClr val="1D4E89"/>
                </a:solidFill>
                <a:latin typeface="Consolas"/>
              </a:rPr>
              <a:t>response_uri</a:t>
            </a:r>
            <a:r>
              <a:rPr sz="910" b="0" i="0">
                <a:solidFill>
                  <a:srgbClr val="1E293B"/>
                </a:solidFill>
                <a:latin typeface="Arial"/>
              </a:rPr>
              <a:t>.</a:t>
            </a:r>
          </a:p>
        </p:txBody>
      </p:sp>
      <p:sp>
        <p:nvSpPr>
          <p:cNvPr id="16" name="Oval 15"/>
          <p:cNvSpPr/>
          <p:nvPr/>
        </p:nvSpPr>
        <p:spPr>
          <a:xfrm>
            <a:off x="685800" y="3623826"/>
            <a:ext cx="201168" cy="19556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4</a:t>
            </a:r>
          </a:p>
        </p:txBody>
      </p:sp>
      <p:sp>
        <p:nvSpPr>
          <p:cNvPr id="17" name="TextBox 16"/>
          <p:cNvSpPr txBox="1"/>
          <p:nvPr/>
        </p:nvSpPr>
        <p:spPr>
          <a:xfrm>
            <a:off x="960120" y="3606048"/>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1" i="0">
                <a:solidFill>
                  <a:srgbClr val="B31B1B"/>
                </a:solidFill>
                <a:latin typeface="Arial"/>
              </a:rPr>
              <a:t>No return redirect</a:t>
            </a:r>
            <a:r>
              <a:rPr sz="910" b="0" i="0">
                <a:solidFill>
                  <a:srgbClr val="1E293B"/>
                </a:solidFill>
                <a:latin typeface="Arial"/>
              </a:rPr>
              <a:t> — the verifier's page updates from its own backend.</a:t>
            </a:r>
          </a:p>
        </p:txBody>
      </p:sp>
      <p:sp>
        <p:nvSpPr>
          <p:cNvPr id="18" name="Rounded Rectangle 17"/>
          <p:cNvSpPr/>
          <p:nvPr/>
        </p:nvSpPr>
        <p:spPr>
          <a:xfrm>
            <a:off x="3345103" y="1668222"/>
            <a:ext cx="2659303" cy="2800071"/>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45103" y="1668222"/>
            <a:ext cx="2659303" cy="57779"/>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7983" y="1863782"/>
            <a:ext cx="2293543" cy="266673"/>
          </a:xfrm>
          <a:prstGeom prst="rect">
            <a:avLst/>
          </a:prstGeom>
          <a:noFill/>
        </p:spPr>
        <p:txBody>
          <a:bodyPr wrap="square" lIns="0" rIns="0" tIns="0" bIns="0" anchor="t">
            <a:spAutoFit/>
          </a:bodyPr>
          <a:lstStyle/>
          <a:p>
            <a:pPr algn="l">
              <a:lnSpc>
                <a:spcPct val="114000"/>
              </a:lnSpc>
              <a:spcBef>
                <a:spcPts val="0"/>
              </a:spcBef>
              <a:spcAft>
                <a:spcPts val="0"/>
              </a:spcAft>
            </a:pPr>
            <a:r>
              <a:rPr sz="1230" b="1" i="0">
                <a:solidFill>
                  <a:srgbClr val="0E9488"/>
                </a:solidFill>
              </a:rPr>
              <a:t>Same-device</a:t>
            </a:r>
          </a:p>
        </p:txBody>
      </p:sp>
      <p:sp>
        <p:nvSpPr>
          <p:cNvPr id="21" name="TextBox 20"/>
          <p:cNvSpPr txBox="1"/>
          <p:nvPr/>
        </p:nvSpPr>
        <p:spPr>
          <a:xfrm>
            <a:off x="3527983" y="2157123"/>
            <a:ext cx="2293543" cy="355564"/>
          </a:xfrm>
          <a:prstGeom prst="rect">
            <a:avLst/>
          </a:prstGeom>
          <a:noFill/>
        </p:spPr>
        <p:txBody>
          <a:bodyPr wrap="square" lIns="0" rIns="0" tIns="0" bIns="0" anchor="t">
            <a:spAutoFit/>
          </a:bodyPr>
          <a:lstStyle/>
          <a:p>
            <a:pPr algn="l">
              <a:lnSpc>
                <a:spcPct val="120000"/>
              </a:lnSpc>
              <a:spcBef>
                <a:spcPts val="0"/>
              </a:spcBef>
              <a:spcAft>
                <a:spcPts val="0"/>
              </a:spcAft>
            </a:pPr>
            <a:r>
              <a:rPr sz="869" b="0" i="1">
                <a:solidFill>
                  <a:srgbClr val="5B6B7F"/>
                </a:solidFill>
              </a:rPr>
              <a:t>Verifier website and Wallet on the same phone</a:t>
            </a:r>
          </a:p>
        </p:txBody>
      </p:sp>
      <p:sp>
        <p:nvSpPr>
          <p:cNvPr id="22" name="Oval 21"/>
          <p:cNvSpPr/>
          <p:nvPr/>
        </p:nvSpPr>
        <p:spPr>
          <a:xfrm>
            <a:off x="3527983" y="2574912"/>
            <a:ext cx="201168" cy="195560"/>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1</a:t>
            </a:r>
          </a:p>
        </p:txBody>
      </p:sp>
      <p:sp>
        <p:nvSpPr>
          <p:cNvPr id="23" name="TextBox 22"/>
          <p:cNvSpPr txBox="1"/>
          <p:nvPr/>
        </p:nvSpPr>
        <p:spPr>
          <a:xfrm>
            <a:off x="3802303" y="2557133"/>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The web page fires </a:t>
            </a:r>
            <a:r>
              <a:rPr sz="910" b="0" i="0">
                <a:solidFill>
                  <a:srgbClr val="1D4E89"/>
                </a:solidFill>
                <a:latin typeface="Consolas"/>
              </a:rPr>
              <a:t>openid4vp://authorize?…</a:t>
            </a:r>
            <a:r>
              <a:rPr sz="910" b="0" i="0">
                <a:solidFill>
                  <a:srgbClr val="1E293B"/>
                </a:solidFill>
                <a:latin typeface="Arial"/>
              </a:rPr>
              <a:t>.</a:t>
            </a:r>
          </a:p>
        </p:txBody>
      </p:sp>
      <p:sp>
        <p:nvSpPr>
          <p:cNvPr id="24" name="Oval 23"/>
          <p:cNvSpPr/>
          <p:nvPr/>
        </p:nvSpPr>
        <p:spPr>
          <a:xfrm>
            <a:off x="3527983" y="2969588"/>
            <a:ext cx="201168" cy="195560"/>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2</a:t>
            </a:r>
          </a:p>
        </p:txBody>
      </p:sp>
      <p:sp>
        <p:nvSpPr>
          <p:cNvPr id="25" name="TextBox 24"/>
          <p:cNvSpPr txBox="1"/>
          <p:nvPr/>
        </p:nvSpPr>
        <p:spPr>
          <a:xfrm>
            <a:off x="3802303" y="2951810"/>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Android intent filter / iOS URL scheme opens the Wallet.</a:t>
            </a:r>
          </a:p>
        </p:txBody>
      </p:sp>
      <p:sp>
        <p:nvSpPr>
          <p:cNvPr id="26" name="Oval 25"/>
          <p:cNvSpPr/>
          <p:nvPr/>
        </p:nvSpPr>
        <p:spPr>
          <a:xfrm>
            <a:off x="3527983" y="3364265"/>
            <a:ext cx="201168" cy="195560"/>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3</a:t>
            </a:r>
          </a:p>
        </p:txBody>
      </p:sp>
      <p:sp>
        <p:nvSpPr>
          <p:cNvPr id="27" name="TextBox 26"/>
          <p:cNvSpPr txBox="1"/>
          <p:nvPr/>
        </p:nvSpPr>
        <p:spPr>
          <a:xfrm>
            <a:off x="3802303" y="3346487"/>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Wallet POSTs the response.</a:t>
            </a:r>
          </a:p>
        </p:txBody>
      </p:sp>
      <p:sp>
        <p:nvSpPr>
          <p:cNvPr id="28" name="Oval 27"/>
          <p:cNvSpPr/>
          <p:nvPr/>
        </p:nvSpPr>
        <p:spPr>
          <a:xfrm>
            <a:off x="3527983" y="3623826"/>
            <a:ext cx="201168" cy="195560"/>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4</a:t>
            </a:r>
          </a:p>
        </p:txBody>
      </p:sp>
      <p:sp>
        <p:nvSpPr>
          <p:cNvPr id="29" name="TextBox 28"/>
          <p:cNvSpPr txBox="1"/>
          <p:nvPr/>
        </p:nvSpPr>
        <p:spPr>
          <a:xfrm>
            <a:off x="3802303" y="3606048"/>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Wallet can then return the user to the browser.</a:t>
            </a:r>
          </a:p>
        </p:txBody>
      </p:sp>
      <p:sp>
        <p:nvSpPr>
          <p:cNvPr id="30" name="Rounded Rectangle 29"/>
          <p:cNvSpPr/>
          <p:nvPr/>
        </p:nvSpPr>
        <p:spPr>
          <a:xfrm>
            <a:off x="6187287" y="1668222"/>
            <a:ext cx="2659303" cy="2800071"/>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87287" y="1668222"/>
            <a:ext cx="2659303" cy="57779"/>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0167" y="1863782"/>
            <a:ext cx="2293543" cy="266673"/>
          </a:xfrm>
          <a:prstGeom prst="rect">
            <a:avLst/>
          </a:prstGeom>
          <a:noFill/>
        </p:spPr>
        <p:txBody>
          <a:bodyPr wrap="square" lIns="0" rIns="0" tIns="0" bIns="0" anchor="t">
            <a:spAutoFit/>
          </a:bodyPr>
          <a:lstStyle/>
          <a:p>
            <a:pPr algn="l">
              <a:lnSpc>
                <a:spcPct val="114000"/>
              </a:lnSpc>
              <a:spcBef>
                <a:spcPts val="0"/>
              </a:spcBef>
              <a:spcAft>
                <a:spcPts val="0"/>
              </a:spcAft>
            </a:pPr>
            <a:r>
              <a:rPr sz="1230" b="1" i="0">
                <a:solidFill>
                  <a:srgbClr val="6D28D9"/>
                </a:solidFill>
              </a:rPr>
              <a:t>Web holder</a:t>
            </a:r>
          </a:p>
        </p:txBody>
      </p:sp>
      <p:sp>
        <p:nvSpPr>
          <p:cNvPr id="33" name="TextBox 32"/>
          <p:cNvSpPr txBox="1"/>
          <p:nvPr/>
        </p:nvSpPr>
        <p:spPr>
          <a:xfrm>
            <a:off x="6370167" y="2157123"/>
            <a:ext cx="2293543" cy="355564"/>
          </a:xfrm>
          <a:prstGeom prst="rect">
            <a:avLst/>
          </a:prstGeom>
          <a:noFill/>
        </p:spPr>
        <p:txBody>
          <a:bodyPr wrap="square" lIns="0" rIns="0" tIns="0" bIns="0" anchor="t">
            <a:spAutoFit/>
          </a:bodyPr>
          <a:lstStyle/>
          <a:p>
            <a:pPr algn="l">
              <a:lnSpc>
                <a:spcPct val="120000"/>
              </a:lnSpc>
              <a:spcBef>
                <a:spcPts val="0"/>
              </a:spcBef>
              <a:spcAft>
                <a:spcPts val="0"/>
              </a:spcAft>
            </a:pPr>
            <a:r>
              <a:rPr sz="869" b="0" i="1">
                <a:solidFill>
                  <a:srgbClr val="5B6B7F"/>
                </a:solidFill>
              </a:rPr>
              <a:t>Inji Web is the wallet, on a laptop</a:t>
            </a:r>
          </a:p>
        </p:txBody>
      </p:sp>
      <p:sp>
        <p:nvSpPr>
          <p:cNvPr id="34" name="Oval 33"/>
          <p:cNvSpPr/>
          <p:nvPr/>
        </p:nvSpPr>
        <p:spPr>
          <a:xfrm>
            <a:off x="6370167" y="2574912"/>
            <a:ext cx="201168" cy="19556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1</a:t>
            </a:r>
          </a:p>
        </p:txBody>
      </p:sp>
      <p:sp>
        <p:nvSpPr>
          <p:cNvPr id="35" name="TextBox 34"/>
          <p:cNvSpPr txBox="1"/>
          <p:nvPr/>
        </p:nvSpPr>
        <p:spPr>
          <a:xfrm>
            <a:off x="6644487" y="2557133"/>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User is logged in and has unlocked their Mimoto wallet.</a:t>
            </a:r>
          </a:p>
        </p:txBody>
      </p:sp>
      <p:sp>
        <p:nvSpPr>
          <p:cNvPr id="36" name="Oval 35"/>
          <p:cNvSpPr/>
          <p:nvPr/>
        </p:nvSpPr>
        <p:spPr>
          <a:xfrm>
            <a:off x="6370167" y="2969588"/>
            <a:ext cx="201168" cy="19556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2</a:t>
            </a:r>
          </a:p>
        </p:txBody>
      </p:sp>
      <p:sp>
        <p:nvSpPr>
          <p:cNvPr id="37" name="TextBox 36"/>
          <p:cNvSpPr txBox="1"/>
          <p:nvPr/>
        </p:nvSpPr>
        <p:spPr>
          <a:xfrm>
            <a:off x="6644487" y="2951810"/>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The request reaches Inji Web (link or paste).</a:t>
            </a:r>
          </a:p>
        </p:txBody>
      </p:sp>
      <p:sp>
        <p:nvSpPr>
          <p:cNvPr id="38" name="Oval 37"/>
          <p:cNvSpPr/>
          <p:nvPr/>
        </p:nvSpPr>
        <p:spPr>
          <a:xfrm>
            <a:off x="6370167" y="3364265"/>
            <a:ext cx="201168" cy="19556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3</a:t>
            </a:r>
          </a:p>
        </p:txBody>
      </p:sp>
      <p:sp>
        <p:nvSpPr>
          <p:cNvPr id="39" name="TextBox 38"/>
          <p:cNvSpPr txBox="1"/>
          <p:nvPr/>
        </p:nvSpPr>
        <p:spPr>
          <a:xfrm>
            <a:off x="6644487" y="3346487"/>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Mimoto matches credentials and builds the VP.</a:t>
            </a:r>
          </a:p>
        </p:txBody>
      </p:sp>
      <p:sp>
        <p:nvSpPr>
          <p:cNvPr id="40" name="Oval 39"/>
          <p:cNvSpPr/>
          <p:nvPr/>
        </p:nvSpPr>
        <p:spPr>
          <a:xfrm>
            <a:off x="6370167" y="3758941"/>
            <a:ext cx="201168" cy="19556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4</a:t>
            </a:r>
          </a:p>
        </p:txBody>
      </p:sp>
      <p:sp>
        <p:nvSpPr>
          <p:cNvPr id="41" name="TextBox 40"/>
          <p:cNvSpPr txBox="1"/>
          <p:nvPr/>
        </p:nvSpPr>
        <p:spPr>
          <a:xfrm>
            <a:off x="6644487" y="3741163"/>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Currently </a:t>
            </a:r>
            <a:r>
              <a:rPr sz="910" b="0" i="0">
                <a:solidFill>
                  <a:srgbClr val="1D4E89"/>
                </a:solidFill>
                <a:latin typeface="Consolas"/>
              </a:rPr>
              <a:t>ldp_vc</a:t>
            </a:r>
            <a:r>
              <a:rPr sz="910" b="0" i="0">
                <a:solidFill>
                  <a:srgbClr val="1E293B"/>
                </a:solidFill>
                <a:latin typeface="Arial"/>
              </a:rPr>
              <a:t> only.</a:t>
            </a:r>
          </a:p>
        </p:txBody>
      </p:sp>
      <p:sp>
        <p:nvSpPr>
          <p:cNvPr id="42" name="Rounded Rectangle 41"/>
          <p:cNvSpPr/>
          <p:nvPr/>
        </p:nvSpPr>
        <p:spPr>
          <a:xfrm>
            <a:off x="9029471" y="1668222"/>
            <a:ext cx="2659303" cy="2800071"/>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29471" y="1668222"/>
            <a:ext cx="2659303" cy="57779"/>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12351" y="1863782"/>
            <a:ext cx="2293543" cy="266673"/>
          </a:xfrm>
          <a:prstGeom prst="rect">
            <a:avLst/>
          </a:prstGeom>
          <a:noFill/>
        </p:spPr>
        <p:txBody>
          <a:bodyPr wrap="square" lIns="0" rIns="0" tIns="0" bIns="0" anchor="t">
            <a:spAutoFit/>
          </a:bodyPr>
          <a:lstStyle/>
          <a:p>
            <a:pPr algn="l">
              <a:lnSpc>
                <a:spcPct val="114000"/>
              </a:lnSpc>
              <a:spcBef>
                <a:spcPts val="0"/>
              </a:spcBef>
              <a:spcAft>
                <a:spcPts val="0"/>
              </a:spcAft>
            </a:pPr>
            <a:r>
              <a:rPr sz="1230" b="1" i="0">
                <a:solidFill>
                  <a:srgbClr val="15703D"/>
                </a:solidFill>
              </a:rPr>
              <a:t>Web-to-mobile handoff</a:t>
            </a:r>
          </a:p>
        </p:txBody>
      </p:sp>
      <p:sp>
        <p:nvSpPr>
          <p:cNvPr id="45" name="TextBox 44"/>
          <p:cNvSpPr txBox="1"/>
          <p:nvPr/>
        </p:nvSpPr>
        <p:spPr>
          <a:xfrm>
            <a:off x="9212351" y="2157123"/>
            <a:ext cx="2293543" cy="355564"/>
          </a:xfrm>
          <a:prstGeom prst="rect">
            <a:avLst/>
          </a:prstGeom>
          <a:noFill/>
        </p:spPr>
        <p:txBody>
          <a:bodyPr wrap="square" lIns="0" rIns="0" tIns="0" bIns="0" anchor="t">
            <a:spAutoFit/>
          </a:bodyPr>
          <a:lstStyle/>
          <a:p>
            <a:pPr algn="l">
              <a:lnSpc>
                <a:spcPct val="120000"/>
              </a:lnSpc>
              <a:spcBef>
                <a:spcPts val="0"/>
              </a:spcBef>
              <a:spcAft>
                <a:spcPts val="0"/>
              </a:spcAft>
            </a:pPr>
            <a:r>
              <a:rPr sz="869" b="0" i="1">
                <a:solidFill>
                  <a:srgbClr val="5B6B7F"/>
                </a:solidFill>
              </a:rPr>
              <a:t>Journey starts on the web, finishes on the phone</a:t>
            </a:r>
          </a:p>
        </p:txBody>
      </p:sp>
      <p:sp>
        <p:nvSpPr>
          <p:cNvPr id="46" name="Oval 45"/>
          <p:cNvSpPr/>
          <p:nvPr/>
        </p:nvSpPr>
        <p:spPr>
          <a:xfrm>
            <a:off x="9212351" y="2574912"/>
            <a:ext cx="201168" cy="19556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1</a:t>
            </a:r>
          </a:p>
        </p:txBody>
      </p:sp>
      <p:sp>
        <p:nvSpPr>
          <p:cNvPr id="47" name="TextBox 46"/>
          <p:cNvSpPr txBox="1"/>
          <p:nvPr/>
        </p:nvSpPr>
        <p:spPr>
          <a:xfrm>
            <a:off x="9486671" y="2557133"/>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Inji Web (or any site) renders a QR.</a:t>
            </a:r>
          </a:p>
        </p:txBody>
      </p:sp>
      <p:sp>
        <p:nvSpPr>
          <p:cNvPr id="48" name="Oval 47"/>
          <p:cNvSpPr/>
          <p:nvPr/>
        </p:nvSpPr>
        <p:spPr>
          <a:xfrm>
            <a:off x="9212351" y="2969588"/>
            <a:ext cx="201168" cy="19556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2</a:t>
            </a:r>
          </a:p>
        </p:txBody>
      </p:sp>
      <p:sp>
        <p:nvSpPr>
          <p:cNvPr id="49" name="TextBox 48"/>
          <p:cNvSpPr txBox="1"/>
          <p:nvPr/>
        </p:nvSpPr>
        <p:spPr>
          <a:xfrm>
            <a:off x="9486671" y="2951810"/>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Inji Wallet scans it and completes the exchange.</a:t>
            </a:r>
          </a:p>
        </p:txBody>
      </p:sp>
      <p:sp>
        <p:nvSpPr>
          <p:cNvPr id="50" name="Oval 49"/>
          <p:cNvSpPr/>
          <p:nvPr/>
        </p:nvSpPr>
        <p:spPr>
          <a:xfrm>
            <a:off x="9212351" y="3364265"/>
            <a:ext cx="201168" cy="19556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3</a:t>
            </a:r>
          </a:p>
        </p:txBody>
      </p:sp>
      <p:sp>
        <p:nvSpPr>
          <p:cNvPr id="51" name="TextBox 50"/>
          <p:cNvSpPr txBox="1"/>
          <p:nvPr/>
        </p:nvSpPr>
        <p:spPr>
          <a:xfrm>
            <a:off x="9486671" y="3346487"/>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Useful when the credential is on the phone but the journey began on a shared PC.</a:t>
            </a:r>
          </a:p>
        </p:txBody>
      </p:sp>
      <p:sp>
        <p:nvSpPr>
          <p:cNvPr id="52" name="Oval 51"/>
          <p:cNvSpPr/>
          <p:nvPr/>
        </p:nvSpPr>
        <p:spPr>
          <a:xfrm>
            <a:off x="9212351" y="3894056"/>
            <a:ext cx="201168" cy="19556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40" b="1">
                <a:solidFill>
                  <a:srgbClr val="FFFFFF"/>
                </a:solidFill>
                <a:latin typeface="Arial"/>
              </a:rPr>
              <a:t>4</a:t>
            </a:r>
          </a:p>
        </p:txBody>
      </p:sp>
      <p:sp>
        <p:nvSpPr>
          <p:cNvPr id="53" name="TextBox 52"/>
          <p:cNvSpPr txBox="1"/>
          <p:nvPr/>
        </p:nvSpPr>
        <p:spPr>
          <a:xfrm>
            <a:off x="9486671" y="3876278"/>
            <a:ext cx="2000935" cy="711129"/>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1E293B"/>
                </a:solidFill>
                <a:latin typeface="Arial"/>
              </a:rPr>
              <a:t>Same protocol as cross-device.</a:t>
            </a:r>
          </a:p>
        </p:txBody>
      </p:sp>
      <p:graphicFrame>
        <p:nvGraphicFramePr>
          <p:cNvPr id="54" name="Table 53"/>
          <p:cNvGraphicFramePr>
            <a:graphicFrameLocks noGrp="1"/>
          </p:cNvGraphicFramePr>
          <p:nvPr/>
        </p:nvGraphicFramePr>
        <p:xfrm>
          <a:off x="502920" y="4690521"/>
          <a:ext cx="11185854" cy="1582261"/>
        </p:xfrm>
        <a:graphic>
          <a:graphicData uri="http://schemas.openxmlformats.org/drawingml/2006/table">
            <a:tbl>
              <a:tblPr firstRow="1">
                <a:tableStyleId>{2D5ABB26-0587-4C30-8999-92F81FD0307C}</a:tableStyleId>
              </a:tblPr>
              <a:tblGrid>
                <a:gridCol w="2750620"/>
                <a:gridCol w="2200496"/>
                <a:gridCol w="2200496"/>
                <a:gridCol w="2017121"/>
                <a:gridCol w="2017121"/>
              </a:tblGrid>
              <a:tr h="302229">
                <a:tc>
                  <a:txBody>
                    <a:bodyPr wrap="square"/>
                    <a:lstStyle/>
                    <a:p>
                      <a:pPr algn="l"/>
                    </a:p>
                  </a:txBody>
                  <a:tcPr marL="64008" marR="54864" marT="27432" marB="27432" anchor="ctr">
                    <a:solidFill>
                      <a:srgbClr val="1D4E89"/>
                    </a:solidFill>
                  </a:tcPr>
                </a:tc>
                <a:tc>
                  <a:txBody>
                    <a:bodyPr wrap="square"/>
                    <a:lstStyle/>
                    <a:p>
                      <a:pPr algn="l"/>
                      <a:r>
                        <a:rPr sz="940" b="1">
                          <a:solidFill>
                            <a:srgbClr val="FFFFFF"/>
                          </a:solidFill>
                          <a:latin typeface="Arial"/>
                        </a:rPr>
                        <a:t>Cross-device</a:t>
                      </a:r>
                    </a:p>
                  </a:txBody>
                  <a:tcPr marL="64008" marR="54864" marT="27432" marB="27432" anchor="ctr">
                    <a:solidFill>
                      <a:srgbClr val="1D4E89"/>
                    </a:solidFill>
                  </a:tcPr>
                </a:tc>
                <a:tc>
                  <a:txBody>
                    <a:bodyPr wrap="square"/>
                    <a:lstStyle/>
                    <a:p>
                      <a:pPr algn="l"/>
                      <a:r>
                        <a:rPr sz="940" b="1">
                          <a:solidFill>
                            <a:srgbClr val="FFFFFF"/>
                          </a:solidFill>
                          <a:latin typeface="Arial"/>
                        </a:rPr>
                        <a:t>Same-device</a:t>
                      </a:r>
                    </a:p>
                  </a:txBody>
                  <a:tcPr marL="64008" marR="54864" marT="27432" marB="27432" anchor="ctr">
                    <a:solidFill>
                      <a:srgbClr val="1D4E89"/>
                    </a:solidFill>
                  </a:tcPr>
                </a:tc>
                <a:tc>
                  <a:txBody>
                    <a:bodyPr wrap="square"/>
                    <a:lstStyle/>
                    <a:p>
                      <a:pPr algn="l"/>
                      <a:r>
                        <a:rPr sz="940" b="1">
                          <a:solidFill>
                            <a:srgbClr val="FFFFFF"/>
                          </a:solidFill>
                          <a:latin typeface="Arial"/>
                        </a:rPr>
                        <a:t>Web holder</a:t>
                      </a:r>
                    </a:p>
                  </a:txBody>
                  <a:tcPr marL="64008" marR="54864" marT="27432" marB="27432" anchor="ctr">
                    <a:solidFill>
                      <a:srgbClr val="1D4E89"/>
                    </a:solidFill>
                  </a:tcPr>
                </a:tc>
                <a:tc>
                  <a:txBody>
                    <a:bodyPr wrap="square"/>
                    <a:lstStyle/>
                    <a:p>
                      <a:pPr algn="l"/>
                      <a:r>
                        <a:rPr sz="940" b="1">
                          <a:solidFill>
                            <a:srgbClr val="FFFFFF"/>
                          </a:solidFill>
                          <a:latin typeface="Arial"/>
                        </a:rPr>
                        <a:t>Handoff</a:t>
                      </a:r>
                    </a:p>
                  </a:txBody>
                  <a:tcPr marL="64008" marR="54864" marT="27432" marB="27432" anchor="ctr">
                    <a:solidFill>
                      <a:srgbClr val="1D4E89"/>
                    </a:solidFill>
                  </a:tcPr>
                </a:tc>
              </a:tr>
              <a:tr h="320008">
                <a:tc>
                  <a:txBody>
                    <a:bodyPr wrap="square"/>
                    <a:lstStyle/>
                    <a:p>
                      <a:pPr algn="l">
                        <a:lnSpc>
                          <a:spcPct val="105000"/>
                        </a:lnSpc>
                      </a:pPr>
                      <a:r>
                        <a:rPr sz="919" b="0">
                          <a:solidFill>
                            <a:srgbClr val="1E293B"/>
                          </a:solidFill>
                          <a:latin typeface="Arial"/>
                        </a:rPr>
                        <a:t>Where the credential lives</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Phone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Phone</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Mimoto</a:t>
                      </a:r>
                    </a:p>
                  </a:txBody>
                  <a:tcPr marL="64008" marR="54864" marT="18288" marB="18288" anchor="ctr">
                    <a:solidFill>
                      <a:srgbClr val="FFFFFF"/>
                    </a:solidFill>
                  </a:tcPr>
                </a:tc>
                <a:tc>
                  <a:txBody>
                    <a:bodyPr wrap="square"/>
                    <a:lstStyle/>
                    <a:p>
                      <a:pPr algn="l">
                        <a:lnSpc>
                          <a:spcPct val="105000"/>
                        </a:lnSpc>
                      </a:pPr>
                      <a:r>
                        <a:rPr sz="919" b="0">
                          <a:solidFill>
                            <a:srgbClr val="1E293B"/>
                          </a:solidFill>
                          <a:latin typeface="Arial"/>
                        </a:rPr>
                        <a:t>Phone</a:t>
                      </a:r>
                    </a:p>
                  </a:txBody>
                  <a:tcPr marL="64008" marR="54864" marT="18288" marB="18288" anchor="ctr">
                    <a:solidFill>
                      <a:srgbClr val="FFFFFF"/>
                    </a:solidFill>
                  </a:tcPr>
                </a:tc>
              </a:tr>
              <a:tr h="320008">
                <a:tc>
                  <a:txBody>
                    <a:bodyPr wrap="square"/>
                    <a:lstStyle/>
                    <a:p>
                      <a:pPr algn="l">
                        <a:lnSpc>
                          <a:spcPct val="105000"/>
                        </a:lnSpc>
                      </a:pPr>
                      <a:r>
                        <a:rPr sz="919" b="0">
                          <a:solidFill>
                            <a:srgbClr val="1E293B"/>
                          </a:solidFill>
                          <a:latin typeface="Arial"/>
                        </a:rPr>
                        <a:t>How the request arrives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Camera</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Deep link</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Browser session</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Camera</a:t>
                      </a:r>
                    </a:p>
                  </a:txBody>
                  <a:tcPr marL="64008" marR="54864" marT="18288" marB="18288" anchor="ctr">
                    <a:solidFill>
                      <a:srgbClr val="F3F6F9"/>
                    </a:solidFill>
                  </a:tcPr>
                </a:tc>
              </a:tr>
              <a:tr h="320008">
                <a:tc>
                  <a:txBody>
                    <a:bodyPr wrap="square"/>
                    <a:lstStyle/>
                    <a:p>
                      <a:pPr algn="l">
                        <a:lnSpc>
                          <a:spcPct val="105000"/>
                        </a:lnSpc>
                      </a:pPr>
                      <a:r>
                        <a:rPr sz="919" b="0">
                          <a:solidFill>
                            <a:srgbClr val="1E293B"/>
                          </a:solidFill>
                          <a:latin typeface="Arial"/>
                        </a:rPr>
                        <a:t>Return path for the user</a:t>
                      </a:r>
                    </a:p>
                  </a:txBody>
                  <a:tcPr marL="64008" marR="54864" marT="18288" marB="18288" anchor="ctr">
                    <a:solidFill>
                      <a:srgbClr val="FFFFFF"/>
                    </a:solidFill>
                  </a:tcPr>
                </a:tc>
                <a:tc>
                  <a:txBody>
                    <a:bodyPr wrap="square"/>
                    <a:lstStyle/>
                    <a:p>
                      <a:pPr algn="l">
                        <a:lnSpc>
                          <a:spcPct val="105000"/>
                        </a:lnSpc>
                      </a:pPr>
                      <a:r>
                        <a:rPr sz="919" b="1">
                          <a:solidFill>
                            <a:srgbClr val="B31B1B"/>
                          </a:solidFill>
                          <a:latin typeface="Arial"/>
                        </a:rPr>
                        <a:t>None — verifier polls</a:t>
                      </a:r>
                    </a:p>
                  </a:txBody>
                  <a:tcPr marL="64008" marR="54864" marT="18288" marB="18288" anchor="ctr">
                    <a:solidFill>
                      <a:srgbClr val="FFFFFF"/>
                    </a:solidFill>
                  </a:tcPr>
                </a:tc>
                <a:tc>
                  <a:txBody>
                    <a:bodyPr wrap="square"/>
                    <a:lstStyle/>
                    <a:p>
                      <a:pPr algn="l">
                        <a:lnSpc>
                          <a:spcPct val="105000"/>
                        </a:lnSpc>
                      </a:pPr>
                      <a:r>
                        <a:rPr sz="919" b="1">
                          <a:solidFill>
                            <a:srgbClr val="15703D"/>
                          </a:solidFill>
                          <a:latin typeface="Arial"/>
                        </a:rPr>
                        <a:t>Deep link back to browser</a:t>
                      </a:r>
                    </a:p>
                  </a:txBody>
                  <a:tcPr marL="64008" marR="54864" marT="18288" marB="18288" anchor="ctr">
                    <a:solidFill>
                      <a:srgbClr val="FFFFFF"/>
                    </a:solidFill>
                  </a:tcPr>
                </a:tc>
                <a:tc>
                  <a:txBody>
                    <a:bodyPr wrap="square"/>
                    <a:lstStyle/>
                    <a:p>
                      <a:pPr algn="l">
                        <a:lnSpc>
                          <a:spcPct val="105000"/>
                        </a:lnSpc>
                      </a:pPr>
                      <a:r>
                        <a:rPr sz="919" b="1">
                          <a:solidFill>
                            <a:srgbClr val="15703D"/>
                          </a:solidFill>
                          <a:latin typeface="Arial"/>
                        </a:rPr>
                        <a:t>Same page</a:t>
                      </a:r>
                    </a:p>
                  </a:txBody>
                  <a:tcPr marL="64008" marR="54864" marT="18288" marB="18288" anchor="ctr">
                    <a:solidFill>
                      <a:srgbClr val="FFFFFF"/>
                    </a:solidFill>
                  </a:tcPr>
                </a:tc>
                <a:tc>
                  <a:txBody>
                    <a:bodyPr wrap="square"/>
                    <a:lstStyle/>
                    <a:p>
                      <a:pPr algn="l">
                        <a:lnSpc>
                          <a:spcPct val="105000"/>
                        </a:lnSpc>
                      </a:pPr>
                      <a:r>
                        <a:rPr sz="919" b="1">
                          <a:solidFill>
                            <a:srgbClr val="B31B1B"/>
                          </a:solidFill>
                          <a:latin typeface="Arial"/>
                        </a:rPr>
                        <a:t>None</a:t>
                      </a:r>
                    </a:p>
                  </a:txBody>
                  <a:tcPr marL="64008" marR="54864" marT="18288" marB="18288" anchor="ctr">
                    <a:solidFill>
                      <a:srgbClr val="FFFFFF"/>
                    </a:solidFill>
                  </a:tcPr>
                </a:tc>
              </a:tr>
              <a:tr h="320008">
                <a:tc>
                  <a:txBody>
                    <a:bodyPr wrap="square"/>
                    <a:lstStyle/>
                    <a:p>
                      <a:pPr algn="l">
                        <a:lnSpc>
                          <a:spcPct val="105000"/>
                        </a:lnSpc>
                      </a:pPr>
                      <a:r>
                        <a:rPr sz="919" b="0">
                          <a:solidFill>
                            <a:srgbClr val="1E293B"/>
                          </a:solidFill>
                          <a:latin typeface="Arial"/>
                        </a:rPr>
                        <a:t>Main configuration risk</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Verifier not in trusted list</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Intent filter / URL scheme</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CORS and session cookies</a:t>
                      </a:r>
                    </a:p>
                  </a:txBody>
                  <a:tcPr marL="64008" marR="54864" marT="18288" marB="18288" anchor="ctr">
                    <a:solidFill>
                      <a:srgbClr val="F3F6F9"/>
                    </a:solidFill>
                  </a:tcPr>
                </a:tc>
                <a:tc>
                  <a:txBody>
                    <a:bodyPr wrap="square"/>
                    <a:lstStyle/>
                    <a:p>
                      <a:pPr algn="l">
                        <a:lnSpc>
                          <a:spcPct val="105000"/>
                        </a:lnSpc>
                      </a:pPr>
                      <a:r>
                        <a:rPr sz="919" b="0">
                          <a:solidFill>
                            <a:srgbClr val="1E293B"/>
                          </a:solidFill>
                          <a:latin typeface="Arial"/>
                        </a:rPr>
                        <a:t>QR payload size</a:t>
                      </a:r>
                    </a:p>
                  </a:txBody>
                  <a:tcPr marL="64008" marR="54864" marT="18288" marB="18288" anchor="ctr">
                    <a:solidFill>
                      <a:srgbClr val="F3F6F9"/>
                    </a:solidFill>
                  </a:tcPr>
                </a:tc>
              </a:tr>
            </a:tbl>
          </a:graphicData>
        </a:graphic>
      </p:graphicFrame>
      <p:sp>
        <p:nvSpPr>
          <p:cNvPr id="55" name="TextBox 5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Web and device flows</a:t>
            </a:r>
          </a:p>
        </p:txBody>
      </p:sp>
      <p:sp>
        <p:nvSpPr>
          <p:cNvPr id="56" name="TextBox 5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8   •   6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The Inji Web journey, end to end</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Inji Web and Mimoto running (</a:t>
            </a:r>
            <a:r>
              <a:rPr sz="1019" b="0" i="0">
                <a:solidFill>
                  <a:srgbClr val="1D4E89"/>
                </a:solidFill>
                <a:latin typeface="Consolas"/>
              </a:rPr>
              <a:t>docker-compose</a:t>
            </a:r>
            <a:r>
              <a:rPr sz="1019" b="0" i="0">
                <a:solidFill>
                  <a:srgbClr val="0F172A"/>
                </a:solidFill>
                <a:latin typeface="Arial"/>
              </a:rPr>
              <a:t> brings up the full stack).</a:t>
            </a:r>
          </a:p>
        </p:txBody>
      </p:sp>
      <p:sp>
        <p:nvSpPr>
          <p:cNvPr id="10" name="Oval 9"/>
          <p:cNvSpPr/>
          <p:nvPr/>
        </p:nvSpPr>
        <p:spPr>
          <a:xfrm>
            <a:off x="745236" y="198028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1292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1D4E89"/>
                </a:solidFill>
                <a:latin typeface="Consolas"/>
              </a:rPr>
              <a:t>env.config.js</a:t>
            </a:r>
            <a:r>
              <a:rPr sz="1019" b="0" i="0">
                <a:solidFill>
                  <a:srgbClr val="0F172A"/>
                </a:solidFill>
                <a:latin typeface="Arial"/>
              </a:rPr>
              <a:t> pointing </a:t>
            </a:r>
            <a:r>
              <a:rPr sz="1019" b="0" i="0">
                <a:solidFill>
                  <a:srgbClr val="1D4E89"/>
                </a:solidFill>
                <a:latin typeface="Consolas"/>
              </a:rPr>
              <a:t>MIMOTO_URL</a:t>
            </a:r>
            <a:r>
              <a:rPr sz="1019" b="0" i="0">
                <a:solidFill>
                  <a:srgbClr val="0F172A"/>
                </a:solidFill>
                <a:latin typeface="Arial"/>
              </a:rPr>
              <a:t> at your Mimoto.</a:t>
            </a:r>
          </a:p>
        </p:txBody>
      </p:sp>
      <p:sp>
        <p:nvSpPr>
          <p:cNvPr id="12" name="Oval 11"/>
          <p:cNvSpPr/>
          <p:nvPr/>
        </p:nvSpPr>
        <p:spPr>
          <a:xfrm>
            <a:off x="745236" y="238445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317089"/>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An OIDC login configured, or Google login credentials.</a:t>
            </a:r>
          </a:p>
        </p:txBody>
      </p:sp>
      <p:sp>
        <p:nvSpPr>
          <p:cNvPr id="14" name="Oval 13"/>
          <p:cNvSpPr/>
          <p:nvPr/>
        </p:nvSpPr>
        <p:spPr>
          <a:xfrm>
            <a:off x="745236" y="278861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721254"/>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Browser devtools open on the network tab.</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Home page in Portuguese if you switch the language.</a:t>
            </a:r>
          </a:p>
        </p:txBody>
      </p:sp>
      <p:sp>
        <p:nvSpPr>
          <p:cNvPr id="21" name="Oval 20"/>
          <p:cNvSpPr/>
          <p:nvPr/>
        </p:nvSpPr>
        <p:spPr>
          <a:xfrm>
            <a:off x="4466844" y="198028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191292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Guest: pick an issuer, authenticate, receive the credential as a file.</a:t>
            </a:r>
          </a:p>
        </p:txBody>
      </p:sp>
      <p:sp>
        <p:nvSpPr>
          <p:cNvPr id="23" name="Oval 22"/>
          <p:cNvSpPr/>
          <p:nvPr/>
        </p:nvSpPr>
        <p:spPr>
          <a:xfrm>
            <a:off x="4466844" y="238445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317089"/>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Logged in: create a wallet with a PIN, download into it, list it, open it.</a:t>
            </a:r>
          </a:p>
        </p:txBody>
      </p:sp>
      <p:sp>
        <p:nvSpPr>
          <p:cNvPr id="25" name="Oval 24"/>
          <p:cNvSpPr/>
          <p:nvPr/>
        </p:nvSpPr>
        <p:spPr>
          <a:xfrm>
            <a:off x="4466844" y="278861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272125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Lock the session and unlock it again with the PIN.</a:t>
            </a:r>
          </a:p>
        </p:txBody>
      </p:sp>
      <p:sp>
        <p:nvSpPr>
          <p:cNvPr id="27" name="Rounded Rectangle 26"/>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30" name="Oval 29"/>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1508760"/>
            <a:ext cx="3118104" cy="76260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Every action is a call to Mimoto: </a:t>
            </a:r>
            <a:r>
              <a:rPr sz="1019" b="0" i="0">
                <a:solidFill>
                  <a:srgbClr val="1D4E89"/>
                </a:solidFill>
                <a:latin typeface="Consolas"/>
              </a:rPr>
              <a:t>/v2/issuers</a:t>
            </a:r>
            <a:r>
              <a:rPr sz="1019" b="0" i="0">
                <a:solidFill>
                  <a:srgbClr val="0F172A"/>
                </a:solidFill>
                <a:latin typeface="Arial"/>
              </a:rPr>
              <a:t>, </a:t>
            </a:r>
            <a:r>
              <a:rPr sz="1019" b="0" i="0">
                <a:solidFill>
                  <a:srgbClr val="1D4E89"/>
                </a:solidFill>
                <a:latin typeface="Consolas"/>
              </a:rPr>
              <a:t>/issuers/{id}/configuration</a:t>
            </a:r>
            <a:r>
              <a:rPr sz="1019" b="0" i="0">
                <a:solidFill>
                  <a:srgbClr val="0F172A"/>
                </a:solidFill>
                <a:latin typeface="Arial"/>
              </a:rPr>
              <a:t>, </a:t>
            </a:r>
            <a:r>
              <a:rPr sz="1019" b="0" i="0">
                <a:solidFill>
                  <a:srgbClr val="1D4E89"/>
                </a:solidFill>
                <a:latin typeface="Consolas"/>
              </a:rPr>
              <a:t>/wallets</a:t>
            </a:r>
            <a:r>
              <a:rPr sz="1019" b="0" i="0">
                <a:solidFill>
                  <a:srgbClr val="0F172A"/>
                </a:solidFill>
                <a:latin typeface="Arial"/>
              </a:rPr>
              <a:t>, </a:t>
            </a:r>
            <a:r>
              <a:rPr sz="1019" b="0" i="0">
                <a:solidFill>
                  <a:srgbClr val="1D4E89"/>
                </a:solidFill>
                <a:latin typeface="Consolas"/>
              </a:rPr>
              <a:t>/wallets/{id}/unlock</a:t>
            </a:r>
            <a:r>
              <a:rPr sz="1019" b="0" i="0">
                <a:solidFill>
                  <a:srgbClr val="0F172A"/>
                </a:solidFill>
                <a:latin typeface="Arial"/>
              </a:rPr>
              <a:t>, </a:t>
            </a:r>
            <a:r>
              <a:rPr sz="1019" b="0" i="0">
                <a:solidFill>
                  <a:srgbClr val="1D4E89"/>
                </a:solidFill>
                <a:latin typeface="Consolas"/>
              </a:rPr>
              <a:t>/wallets/{id}/credentials</a:t>
            </a:r>
            <a:r>
              <a:rPr sz="1019" b="0" i="0">
                <a:solidFill>
                  <a:srgbClr val="0F172A"/>
                </a:solidFill>
                <a:latin typeface="Arial"/>
              </a:rPr>
              <a:t>.</a:t>
            </a:r>
          </a:p>
        </p:txBody>
      </p:sp>
      <p:sp>
        <p:nvSpPr>
          <p:cNvPr id="32" name="Oval 31"/>
          <p:cNvSpPr/>
          <p:nvPr/>
        </p:nvSpPr>
        <p:spPr>
          <a:xfrm>
            <a:off x="8188452" y="2306726"/>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2239365"/>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browser never sees a private key or a plaintext credential store.</a:t>
            </a:r>
          </a:p>
        </p:txBody>
      </p:sp>
      <p:sp>
        <p:nvSpPr>
          <p:cNvPr id="34" name="Oval 33"/>
          <p:cNvSpPr/>
          <p:nvPr/>
        </p:nvSpPr>
        <p:spPr>
          <a:xfrm>
            <a:off x="8188452" y="2710891"/>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2643530"/>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Unlock derives the AES key from the PIN and puts it in the HTTP session.</a:t>
            </a:r>
          </a:p>
        </p:txBody>
      </p:sp>
      <p:sp>
        <p:nvSpPr>
          <p:cNvPr id="36" name="Oval 35"/>
          <p:cNvSpPr/>
          <p:nvPr/>
        </p:nvSpPr>
        <p:spPr>
          <a:xfrm>
            <a:off x="8188452" y="3115056"/>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5904" y="3047695"/>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Portuguese strings come from </a:t>
            </a:r>
            <a:r>
              <a:rPr sz="1019" b="0" i="0">
                <a:solidFill>
                  <a:srgbClr val="1D4E89"/>
                </a:solidFill>
                <a:latin typeface="Consolas"/>
              </a:rPr>
              <a:t>src/locales/pt.json</a:t>
            </a:r>
            <a:r>
              <a:rPr sz="1019" b="0" i="0">
                <a:solidFill>
                  <a:srgbClr val="0F172A"/>
                </a:solidFill>
                <a:latin typeface="Arial"/>
              </a:rPr>
              <a:t> — already in the repo.</a:t>
            </a:r>
          </a:p>
        </p:txBody>
      </p:sp>
      <p:sp>
        <p:nvSpPr>
          <p:cNvPr id="38" name="Rounded Rectangle 37"/>
          <p:cNvSpPr/>
          <p:nvPr/>
        </p:nvSpPr>
        <p:spPr>
          <a:xfrm>
            <a:off x="502920" y="5175504"/>
            <a:ext cx="11185855" cy="724154"/>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175504"/>
            <a:ext cx="45720" cy="72415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266944"/>
            <a:ext cx="10820095" cy="577850"/>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If login works but credential listing 401s, look at cookies: </a:t>
            </a:r>
            <a:r>
              <a:rPr sz="1030" b="0" i="0">
                <a:solidFill>
                  <a:srgbClr val="1D4E89"/>
                </a:solidFill>
                <a:latin typeface="Consolas"/>
              </a:rPr>
              <a:t>credentials: 'include'</a:t>
            </a:r>
            <a:r>
              <a:rPr sz="1030" b="0" i="0">
                <a:solidFill>
                  <a:srgbClr val="1E293B"/>
                </a:solidFill>
                <a:latin typeface="Arial"/>
              </a:rPr>
              <a:t> on the frontend, and </a:t>
            </a:r>
            <a:r>
              <a:rPr sz="1030" b="0" i="0">
                <a:solidFill>
                  <a:srgbClr val="1D4E89"/>
                </a:solidFill>
                <a:latin typeface="Consolas"/>
              </a:rPr>
              <a:t>SameSite</a:t>
            </a:r>
            <a:r>
              <a:rPr sz="1030" b="0" i="0">
                <a:solidFill>
                  <a:srgbClr val="1E293B"/>
                </a:solidFill>
                <a:latin typeface="Arial"/>
              </a:rPr>
              <a:t> / domain settings on Mimoto's session cookie.</a:t>
            </a:r>
          </a:p>
        </p:txBody>
      </p:sp>
      <p:sp>
        <p:nvSpPr>
          <p:cNvPr id="41" name="TextBox 4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Inji Web and device flows</a:t>
            </a:r>
          </a:p>
        </p:txBody>
      </p:sp>
      <p:sp>
        <p:nvSpPr>
          <p:cNvPr id="42" name="TextBox 4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10</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Security architecture and key resolution</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The threat model, the attacks that actually happen, the mitigations that actually work — and the key-resolution failures that eat integration weeks.</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25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Threat model and assets</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Attack → mitigation table</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Malicious QR, token theft, replay</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Compromised verifier and issuer endpoints</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kid, JWKS, DID and metadata resolution</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What happens when resolution fails</a:t>
            </a:r>
          </a:p>
        </p:txBody>
      </p:sp>
      <p:sp>
        <p:nvSpPr>
          <p:cNvPr id="23" name="Rounded Rectangle 22"/>
          <p:cNvSpPr/>
          <p:nvPr/>
        </p:nvSpPr>
        <p:spPr>
          <a:xfrm>
            <a:off x="50292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Security architecture and key resolution</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ASSETS AND ADVERSARIES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Threat model: what is worth stealing</a:t>
            </a:r>
          </a:p>
        </p:txBody>
      </p:sp>
      <p:sp>
        <p:nvSpPr>
          <p:cNvPr id="4" name="TextBox 3"/>
          <p:cNvSpPr txBox="1"/>
          <p:nvPr/>
        </p:nvSpPr>
        <p:spPr>
          <a:xfrm>
            <a:off x="502920" y="1078992"/>
            <a:ext cx="11185855" cy="294574"/>
          </a:xfrm>
          <a:prstGeom prst="rect">
            <a:avLst/>
          </a:prstGeom>
          <a:noFill/>
        </p:spPr>
        <p:txBody>
          <a:bodyPr wrap="square" lIns="0" rIns="0" tIns="0" bIns="0" anchor="t">
            <a:spAutoFit/>
          </a:bodyPr>
          <a:lstStyle/>
          <a:p>
            <a:pPr algn="l">
              <a:lnSpc>
                <a:spcPct val="114000"/>
              </a:lnSpc>
              <a:spcBef>
                <a:spcPts val="0"/>
              </a:spcBef>
              <a:spcAft>
                <a:spcPts val="0"/>
              </a:spcAft>
            </a:pPr>
            <a:r>
              <a:rPr sz="1120" b="0" i="0">
                <a:solidFill>
                  <a:srgbClr val="5B6B7F"/>
                </a:solidFill>
                <a:latin typeface="Arial"/>
              </a:rPr>
              <a:t>Start from the assets. The mitigations follow from what you are protecting and from whom.</a:t>
            </a:r>
          </a:p>
        </p:txBody>
      </p:sp>
      <p:cxnSp>
        <p:nvCxnSpPr>
          <p:cNvPr id="5" name="Connector 4"/>
          <p:cNvCxnSpPr/>
          <p:nvPr/>
        </p:nvCxnSpPr>
        <p:spPr>
          <a:xfrm>
            <a:off x="502920" y="1465006"/>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55613"/>
            <a:ext cx="11185855" cy="710444"/>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55613"/>
            <a:ext cx="50292" cy="71044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42253"/>
            <a:ext cx="2651760" cy="519837"/>
          </a:xfrm>
          <a:prstGeom prst="rect">
            <a:avLst/>
          </a:prstGeom>
          <a:noFill/>
        </p:spPr>
        <p:txBody>
          <a:bodyPr wrap="square" lIns="0" rIns="0" tIns="0" bIns="0" anchor="t">
            <a:spAutoFit/>
          </a:bodyPr>
          <a:lstStyle/>
          <a:p>
            <a:pPr algn="l">
              <a:lnSpc>
                <a:spcPct val="112000"/>
              </a:lnSpc>
              <a:spcBef>
                <a:spcPts val="0"/>
              </a:spcBef>
              <a:spcAft>
                <a:spcPts val="0"/>
              </a:spcAft>
            </a:pPr>
            <a:r>
              <a:rPr sz="1070" b="1" i="0">
                <a:solidFill>
                  <a:srgbClr val="B31B1B"/>
                </a:solidFill>
              </a:rPr>
              <a:t>The holder's private key</a:t>
            </a:r>
          </a:p>
        </p:txBody>
      </p:sp>
      <p:sp>
        <p:nvSpPr>
          <p:cNvPr id="9" name="TextBox 8"/>
          <p:cNvSpPr txBox="1"/>
          <p:nvPr/>
        </p:nvSpPr>
        <p:spPr>
          <a:xfrm>
            <a:off x="3474720" y="1742253"/>
            <a:ext cx="3749039"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1E293B"/>
                </a:solidFill>
              </a:rPr>
              <a:t>Lets an attacker present as the citizen, forever.</a:t>
            </a:r>
          </a:p>
        </p:txBody>
      </p:sp>
      <p:sp>
        <p:nvSpPr>
          <p:cNvPr id="10" name="TextBox 9"/>
          <p:cNvSpPr txBox="1"/>
          <p:nvPr/>
        </p:nvSpPr>
        <p:spPr>
          <a:xfrm>
            <a:off x="7406640" y="1742253"/>
            <a:ext cx="4099255"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Hardware keystore, device authentication, attestation. Never exportable.</a:t>
            </a:r>
          </a:p>
        </p:txBody>
      </p:sp>
      <p:sp>
        <p:nvSpPr>
          <p:cNvPr id="11" name="Rounded Rectangle 10"/>
          <p:cNvSpPr/>
          <p:nvPr/>
        </p:nvSpPr>
        <p:spPr>
          <a:xfrm>
            <a:off x="502920" y="2452698"/>
            <a:ext cx="11185855" cy="71044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452698"/>
            <a:ext cx="50292" cy="7104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2539338"/>
            <a:ext cx="2651760" cy="519837"/>
          </a:xfrm>
          <a:prstGeom prst="rect">
            <a:avLst/>
          </a:prstGeom>
          <a:noFill/>
        </p:spPr>
        <p:txBody>
          <a:bodyPr wrap="square" lIns="0" rIns="0" tIns="0" bIns="0" anchor="t">
            <a:spAutoFit/>
          </a:bodyPr>
          <a:lstStyle/>
          <a:p>
            <a:pPr algn="l">
              <a:lnSpc>
                <a:spcPct val="112000"/>
              </a:lnSpc>
              <a:spcBef>
                <a:spcPts val="0"/>
              </a:spcBef>
              <a:spcAft>
                <a:spcPts val="0"/>
              </a:spcAft>
            </a:pPr>
            <a:r>
              <a:rPr sz="1070" b="1" i="0">
                <a:solidFill>
                  <a:srgbClr val="B45309"/>
                </a:solidFill>
              </a:rPr>
              <a:t>Stored credentials</a:t>
            </a:r>
          </a:p>
        </p:txBody>
      </p:sp>
      <p:sp>
        <p:nvSpPr>
          <p:cNvPr id="14" name="TextBox 13"/>
          <p:cNvSpPr txBox="1"/>
          <p:nvPr/>
        </p:nvSpPr>
        <p:spPr>
          <a:xfrm>
            <a:off x="3474720" y="2539338"/>
            <a:ext cx="3749039"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1E293B"/>
                </a:solidFill>
              </a:rPr>
              <a:t>Personal data at rest — on the phone, or in Mimoto's database for Web users.</a:t>
            </a:r>
          </a:p>
        </p:txBody>
      </p:sp>
      <p:sp>
        <p:nvSpPr>
          <p:cNvPr id="15" name="TextBox 14"/>
          <p:cNvSpPr txBox="1"/>
          <p:nvPr/>
        </p:nvSpPr>
        <p:spPr>
          <a:xfrm>
            <a:off x="7406640" y="2539338"/>
            <a:ext cx="4099255"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Encryption at rest, HMAC integrity check, PIN-derived key wrapping, short sessions.</a:t>
            </a:r>
          </a:p>
        </p:txBody>
      </p:sp>
      <p:sp>
        <p:nvSpPr>
          <p:cNvPr id="16" name="Rounded Rectangle 15"/>
          <p:cNvSpPr/>
          <p:nvPr/>
        </p:nvSpPr>
        <p:spPr>
          <a:xfrm>
            <a:off x="502920" y="3249783"/>
            <a:ext cx="11185855" cy="710444"/>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249783"/>
            <a:ext cx="50292" cy="71044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3336422"/>
            <a:ext cx="2651760" cy="519837"/>
          </a:xfrm>
          <a:prstGeom prst="rect">
            <a:avLst/>
          </a:prstGeom>
          <a:noFill/>
        </p:spPr>
        <p:txBody>
          <a:bodyPr wrap="square" lIns="0" rIns="0" tIns="0" bIns="0" anchor="t">
            <a:spAutoFit/>
          </a:bodyPr>
          <a:lstStyle/>
          <a:p>
            <a:pPr algn="l">
              <a:lnSpc>
                <a:spcPct val="112000"/>
              </a:lnSpc>
              <a:spcBef>
                <a:spcPts val="0"/>
              </a:spcBef>
              <a:spcAft>
                <a:spcPts val="0"/>
              </a:spcAft>
            </a:pPr>
            <a:r>
              <a:rPr sz="1070" b="1" i="0">
                <a:solidFill>
                  <a:srgbClr val="6D28D9"/>
                </a:solidFill>
              </a:rPr>
              <a:t>Access tokens in flight</a:t>
            </a:r>
          </a:p>
        </p:txBody>
      </p:sp>
      <p:sp>
        <p:nvSpPr>
          <p:cNvPr id="19" name="TextBox 18"/>
          <p:cNvSpPr txBox="1"/>
          <p:nvPr/>
        </p:nvSpPr>
        <p:spPr>
          <a:xfrm>
            <a:off x="3474720" y="3336422"/>
            <a:ext cx="3749039"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1E293B"/>
                </a:solidFill>
              </a:rPr>
              <a:t>A stolen bearer token can fetch a credential in the citizen's name.</a:t>
            </a:r>
          </a:p>
        </p:txBody>
      </p:sp>
      <p:sp>
        <p:nvSpPr>
          <p:cNvPr id="20" name="TextBox 19"/>
          <p:cNvSpPr txBox="1"/>
          <p:nvPr/>
        </p:nvSpPr>
        <p:spPr>
          <a:xfrm>
            <a:off x="7406640" y="3336422"/>
            <a:ext cx="4099255"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TLS, short lifetimes, single-use codes. </a:t>
            </a:r>
            <a:r>
              <a:rPr sz="919" b="1" i="0">
                <a:solidFill>
                  <a:srgbClr val="B31B1B"/>
                </a:solidFill>
                <a:latin typeface="Arial"/>
              </a:rPr>
              <a:t>DPoP would bind them — not implemented today.</a:t>
            </a:r>
          </a:p>
        </p:txBody>
      </p:sp>
      <p:sp>
        <p:nvSpPr>
          <p:cNvPr id="21" name="Rounded Rectangle 20"/>
          <p:cNvSpPr/>
          <p:nvPr/>
        </p:nvSpPr>
        <p:spPr>
          <a:xfrm>
            <a:off x="502920" y="4046867"/>
            <a:ext cx="11185855" cy="71044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046867"/>
            <a:ext cx="50292" cy="71044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133507"/>
            <a:ext cx="2651760" cy="519837"/>
          </a:xfrm>
          <a:prstGeom prst="rect">
            <a:avLst/>
          </a:prstGeom>
          <a:noFill/>
        </p:spPr>
        <p:txBody>
          <a:bodyPr wrap="square" lIns="0" rIns="0" tIns="0" bIns="0" anchor="t">
            <a:spAutoFit/>
          </a:bodyPr>
          <a:lstStyle/>
          <a:p>
            <a:pPr algn="l">
              <a:lnSpc>
                <a:spcPct val="112000"/>
              </a:lnSpc>
              <a:spcBef>
                <a:spcPts val="0"/>
              </a:spcBef>
              <a:spcAft>
                <a:spcPts val="0"/>
              </a:spcAft>
            </a:pPr>
            <a:r>
              <a:rPr sz="1070" b="1" i="0">
                <a:solidFill>
                  <a:srgbClr val="1D4E89"/>
                </a:solidFill>
              </a:rPr>
              <a:t>The issuer's signing key</a:t>
            </a:r>
          </a:p>
        </p:txBody>
      </p:sp>
      <p:sp>
        <p:nvSpPr>
          <p:cNvPr id="24" name="TextBox 23"/>
          <p:cNvSpPr txBox="1"/>
          <p:nvPr/>
        </p:nvSpPr>
        <p:spPr>
          <a:xfrm>
            <a:off x="3474720" y="4133507"/>
            <a:ext cx="3749039"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1E293B"/>
                </a:solidFill>
              </a:rPr>
              <a:t>Total compromise: an attacker can mint credentials.</a:t>
            </a:r>
          </a:p>
        </p:txBody>
      </p:sp>
      <p:sp>
        <p:nvSpPr>
          <p:cNvPr id="25" name="TextBox 24"/>
          <p:cNvSpPr txBox="1"/>
          <p:nvPr/>
        </p:nvSpPr>
        <p:spPr>
          <a:xfrm>
            <a:off x="7406640" y="4133507"/>
            <a:ext cx="4099255"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HSM, separation of duties, key rotation with overlap, certificate transparency of a sort.</a:t>
            </a:r>
          </a:p>
        </p:txBody>
      </p:sp>
      <p:sp>
        <p:nvSpPr>
          <p:cNvPr id="26" name="Rounded Rectangle 25"/>
          <p:cNvSpPr/>
          <p:nvPr/>
        </p:nvSpPr>
        <p:spPr>
          <a:xfrm>
            <a:off x="502920" y="4843952"/>
            <a:ext cx="11185855" cy="710444"/>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4843952"/>
            <a:ext cx="50292" cy="710444"/>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4930591"/>
            <a:ext cx="2651760" cy="519837"/>
          </a:xfrm>
          <a:prstGeom prst="rect">
            <a:avLst/>
          </a:prstGeom>
          <a:noFill/>
        </p:spPr>
        <p:txBody>
          <a:bodyPr wrap="square" lIns="0" rIns="0" tIns="0" bIns="0" anchor="t">
            <a:spAutoFit/>
          </a:bodyPr>
          <a:lstStyle/>
          <a:p>
            <a:pPr algn="l">
              <a:lnSpc>
                <a:spcPct val="112000"/>
              </a:lnSpc>
              <a:spcBef>
                <a:spcPts val="0"/>
              </a:spcBef>
              <a:spcAft>
                <a:spcPts val="0"/>
              </a:spcAft>
            </a:pPr>
            <a:r>
              <a:rPr sz="1070" b="1" i="0">
                <a:solidFill>
                  <a:srgbClr val="0E9488"/>
                </a:solidFill>
              </a:rPr>
              <a:t>The citizen's attention</a:t>
            </a:r>
          </a:p>
        </p:txBody>
      </p:sp>
      <p:sp>
        <p:nvSpPr>
          <p:cNvPr id="29" name="TextBox 28"/>
          <p:cNvSpPr txBox="1"/>
          <p:nvPr/>
        </p:nvSpPr>
        <p:spPr>
          <a:xfrm>
            <a:off x="3474720" y="4930591"/>
            <a:ext cx="3749039"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1E293B"/>
                </a:solidFill>
              </a:rPr>
              <a:t>Most practical attacks are social: a QR that looks official, a page that looks like gov.br.</a:t>
            </a:r>
          </a:p>
        </p:txBody>
      </p:sp>
      <p:sp>
        <p:nvSpPr>
          <p:cNvPr id="30" name="TextBox 29"/>
          <p:cNvSpPr txBox="1"/>
          <p:nvPr/>
        </p:nvSpPr>
        <p:spPr>
          <a:xfrm>
            <a:off x="7406640" y="4930591"/>
            <a:ext cx="4099255" cy="563157"/>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Honest consent screens, verifier identity shown clearly, trusted-verifier lists.</a:t>
            </a:r>
          </a:p>
        </p:txBody>
      </p:sp>
      <p:sp>
        <p:nvSpPr>
          <p:cNvPr id="31" name="TextBox 30"/>
          <p:cNvSpPr txBox="1"/>
          <p:nvPr/>
        </p:nvSpPr>
        <p:spPr>
          <a:xfrm>
            <a:off x="3474720" y="1430350"/>
            <a:ext cx="3749039" cy="207935"/>
          </a:xfrm>
          <a:prstGeom prst="rect">
            <a:avLst/>
          </a:prstGeom>
          <a:noFill/>
        </p:spPr>
        <p:txBody>
          <a:bodyPr wrap="square" lIns="0" rIns="0" tIns="0" bIns="0" anchor="t">
            <a:spAutoFit/>
          </a:bodyPr>
          <a:lstStyle/>
          <a:p>
            <a:pPr algn="l">
              <a:lnSpc>
                <a:spcPct val="114000"/>
              </a:lnSpc>
              <a:spcBef>
                <a:spcPts val="0"/>
              </a:spcBef>
              <a:spcAft>
                <a:spcPts val="0"/>
              </a:spcAft>
            </a:pPr>
            <a:r>
              <a:rPr sz="800" b="1" i="0">
                <a:solidFill>
                  <a:srgbClr val="5B6B7F"/>
                </a:solidFill>
              </a:rPr>
              <a:t>WHY AN ATTACKER WANTS IT</a:t>
            </a:r>
          </a:p>
        </p:txBody>
      </p:sp>
      <p:sp>
        <p:nvSpPr>
          <p:cNvPr id="32" name="TextBox 31"/>
          <p:cNvSpPr txBox="1"/>
          <p:nvPr/>
        </p:nvSpPr>
        <p:spPr>
          <a:xfrm>
            <a:off x="7406640" y="1430350"/>
            <a:ext cx="3657600" cy="207935"/>
          </a:xfrm>
          <a:prstGeom prst="rect">
            <a:avLst/>
          </a:prstGeom>
          <a:noFill/>
        </p:spPr>
        <p:txBody>
          <a:bodyPr wrap="square" lIns="0" rIns="0" tIns="0" bIns="0" anchor="t">
            <a:spAutoFit/>
          </a:bodyPr>
          <a:lstStyle/>
          <a:p>
            <a:pPr algn="l">
              <a:lnSpc>
                <a:spcPct val="114000"/>
              </a:lnSpc>
              <a:spcBef>
                <a:spcPts val="0"/>
              </a:spcBef>
              <a:spcAft>
                <a:spcPts val="0"/>
              </a:spcAft>
            </a:pPr>
            <a:r>
              <a:rPr sz="800" b="1" i="0">
                <a:solidFill>
                  <a:srgbClr val="5B6B7F"/>
                </a:solidFill>
              </a:rPr>
              <a:t>WHAT ACTUALLY PROTECTS IT</a:t>
            </a:r>
          </a:p>
        </p:txBody>
      </p:sp>
      <p:sp>
        <p:nvSpPr>
          <p:cNvPr id="33" name="TextBox 32"/>
          <p:cNvSpPr txBox="1"/>
          <p:nvPr/>
        </p:nvSpPr>
        <p:spPr>
          <a:xfrm>
            <a:off x="704088" y="1430350"/>
            <a:ext cx="2651760" cy="207935"/>
          </a:xfrm>
          <a:prstGeom prst="rect">
            <a:avLst/>
          </a:prstGeom>
          <a:noFill/>
        </p:spPr>
        <p:txBody>
          <a:bodyPr wrap="square" lIns="0" rIns="0" tIns="0" bIns="0" anchor="t">
            <a:spAutoFit/>
          </a:bodyPr>
          <a:lstStyle/>
          <a:p>
            <a:pPr algn="l">
              <a:lnSpc>
                <a:spcPct val="114000"/>
              </a:lnSpc>
              <a:spcBef>
                <a:spcPts val="0"/>
              </a:spcBef>
              <a:spcAft>
                <a:spcPts val="0"/>
              </a:spcAft>
            </a:pPr>
            <a:r>
              <a:rPr sz="800" b="1" i="0">
                <a:solidFill>
                  <a:srgbClr val="5B6B7F"/>
                </a:solidFill>
              </a:rPr>
              <a:t>ASSET</a:t>
            </a:r>
          </a:p>
        </p:txBody>
      </p:sp>
      <p:sp>
        <p:nvSpPr>
          <p:cNvPr id="34" name="Rounded Rectangle 33"/>
          <p:cNvSpPr/>
          <p:nvPr/>
        </p:nvSpPr>
        <p:spPr>
          <a:xfrm>
            <a:off x="502920" y="5770996"/>
            <a:ext cx="11185855" cy="501787"/>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5770996"/>
            <a:ext cx="45720" cy="501787"/>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4088" y="5857635"/>
            <a:ext cx="10820095" cy="363164"/>
          </a:xfrm>
          <a:prstGeom prst="rect">
            <a:avLst/>
          </a:prstGeom>
          <a:noFill/>
        </p:spPr>
        <p:txBody>
          <a:bodyPr wrap="square" lIns="0" rIns="0" tIns="0" bIns="0" anchor="t">
            <a:spAutoFit/>
          </a:bodyPr>
          <a:lstStyle/>
          <a:p>
            <a:pPr algn="l">
              <a:lnSpc>
                <a:spcPct val="122000"/>
              </a:lnSpc>
              <a:spcBef>
                <a:spcPts val="0"/>
              </a:spcBef>
              <a:spcAft>
                <a:spcPts val="0"/>
              </a:spcAft>
            </a:pPr>
            <a:r>
              <a:rPr sz="1030" b="0" i="0">
                <a:solidFill>
                  <a:srgbClr val="1E293B"/>
                </a:solidFill>
                <a:latin typeface="Arial"/>
              </a:rPr>
              <a:t>Note the last row. In deployed wallet systems the most successful attacks are </a:t>
            </a:r>
            <a:r>
              <a:rPr sz="1030" b="1" i="0">
                <a:solidFill>
                  <a:srgbClr val="B45309"/>
                </a:solidFill>
                <a:latin typeface="Arial"/>
              </a:rPr>
              <a:t>not cryptographic</a:t>
            </a:r>
            <a:r>
              <a:rPr sz="1030" b="0" i="0">
                <a:solidFill>
                  <a:srgbClr val="1E293B"/>
                </a:solidFill>
                <a:latin typeface="Arial"/>
              </a:rPr>
              <a:t>. They are a convincing QR code in a public place and a consent screen the user does not read. Design the consent screen as a security control, because it is one.</a:t>
            </a:r>
          </a:p>
        </p:txBody>
      </p:sp>
      <p:sp>
        <p:nvSpPr>
          <p:cNvPr id="37" name="TextBox 3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Security architecture and key resolution</a:t>
            </a:r>
          </a:p>
        </p:txBody>
      </p:sp>
      <p:sp>
        <p:nvSpPr>
          <p:cNvPr id="38" name="TextBox 3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CONCRETE SCENARIOS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Attacks and mitigations</a:t>
            </a:r>
          </a:p>
        </p:txBody>
      </p:sp>
      <p:sp>
        <p:nvSpPr>
          <p:cNvPr id="4" name="TextBox 3"/>
          <p:cNvSpPr txBox="1"/>
          <p:nvPr/>
        </p:nvSpPr>
        <p:spPr>
          <a:xfrm>
            <a:off x="502920" y="1078992"/>
            <a:ext cx="11185855" cy="296546"/>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5B6B7F"/>
                </a:solidFill>
                <a:latin typeface="Arial"/>
              </a:rPr>
              <a:t>Each row is something that has happened, somewhere, to somebody. The middle column is what goes wrong; the right column is what you do about it.</a:t>
            </a:r>
          </a:p>
        </p:txBody>
      </p:sp>
      <p:cxnSp>
        <p:nvCxnSpPr>
          <p:cNvPr id="5" name="Connector 4"/>
          <p:cNvCxnSpPr/>
          <p:nvPr/>
        </p:nvCxnSpPr>
        <p:spPr>
          <a:xfrm>
            <a:off x="502920" y="146697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58862"/>
          <a:ext cx="11185854" cy="4613918"/>
        </p:xfrm>
        <a:graphic>
          <a:graphicData uri="http://schemas.openxmlformats.org/drawingml/2006/table">
            <a:tbl>
              <a:tblPr firstRow="1">
                <a:tableStyleId>{2D5ABB26-0587-4C30-8999-92F81FD0307C}</a:tableStyleId>
              </a:tblPr>
              <a:tblGrid>
                <a:gridCol w="2017121"/>
                <a:gridCol w="4217617"/>
                <a:gridCol w="4951116"/>
              </a:tblGrid>
              <a:tr h="296546">
                <a:tc>
                  <a:txBody>
                    <a:bodyPr wrap="square"/>
                    <a:lstStyle/>
                    <a:p>
                      <a:pPr algn="l"/>
                      <a:r>
                        <a:rPr sz="930" b="1">
                          <a:solidFill>
                            <a:srgbClr val="FFFFFF"/>
                          </a:solidFill>
                          <a:latin typeface="Arial"/>
                        </a:rPr>
                        <a:t>Attack</a:t>
                      </a:r>
                    </a:p>
                  </a:txBody>
                  <a:tcPr marL="64008" marR="54864" marT="27432" marB="27432" anchor="ctr">
                    <a:solidFill>
                      <a:srgbClr val="1D4E89"/>
                    </a:solidFill>
                  </a:tcPr>
                </a:tc>
                <a:tc>
                  <a:txBody>
                    <a:bodyPr wrap="square"/>
                    <a:lstStyle/>
                    <a:p>
                      <a:pPr algn="l"/>
                      <a:r>
                        <a:rPr sz="930" b="1">
                          <a:solidFill>
                            <a:srgbClr val="FFFFFF"/>
                          </a:solidFill>
                          <a:latin typeface="Arial"/>
                        </a:rPr>
                        <a:t>What goes wrong</a:t>
                      </a:r>
                    </a:p>
                  </a:txBody>
                  <a:tcPr marL="64008" marR="54864" marT="27432" marB="27432" anchor="ctr">
                    <a:solidFill>
                      <a:srgbClr val="1D4E89"/>
                    </a:solidFill>
                  </a:tcPr>
                </a:tc>
                <a:tc>
                  <a:txBody>
                    <a:bodyPr wrap="square"/>
                    <a:lstStyle/>
                    <a:p>
                      <a:pPr algn="l"/>
                      <a:r>
                        <a:rPr sz="930" b="1">
                          <a:solidFill>
                            <a:srgbClr val="FFFFFF"/>
                          </a:solidFill>
                          <a:latin typeface="Arial"/>
                        </a:rPr>
                        <a:t>Mitigation</a:t>
                      </a:r>
                    </a:p>
                  </a:txBody>
                  <a:tcPr marL="64008" marR="54864" marT="27432" marB="27432" anchor="ctr">
                    <a:solidFill>
                      <a:srgbClr val="1D4E89"/>
                    </a:solidFill>
                  </a:tcPr>
                </a:tc>
              </a:tr>
              <a:tr h="479708">
                <a:tc>
                  <a:txBody>
                    <a:bodyPr wrap="square"/>
                    <a:lstStyle/>
                    <a:p>
                      <a:pPr algn="l">
                        <a:lnSpc>
                          <a:spcPct val="105000"/>
                        </a:lnSpc>
                      </a:pPr>
                      <a:r>
                        <a:rPr sz="900" b="1">
                          <a:solidFill>
                            <a:srgbClr val="0F172A"/>
                          </a:solidFill>
                          <a:latin typeface="Arial"/>
                        </a:rPr>
                        <a:t>Malicious QR code</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 poster in a bus station encodes a verifier request from an attacker, asking for everything.</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Trusted-verifier list with </a:t>
                      </a:r>
                      <a:r>
                        <a:rPr sz="900" b="0">
                          <a:solidFill>
                            <a:srgbClr val="1D4E89"/>
                          </a:solidFill>
                          <a:latin typeface="Consolas"/>
                        </a:rPr>
                        <a:t>shouldValidateClient = true</a:t>
                      </a:r>
                      <a:r>
                        <a:rPr sz="900" b="0">
                          <a:solidFill>
                            <a:srgbClr val="1E293B"/>
                          </a:solidFill>
                          <a:latin typeface="Arial"/>
                        </a:rPr>
                        <a:t>; show verifier identity on the consent screen; never auto-submit a scan.</a:t>
                      </a:r>
                    </a:p>
                  </a:txBody>
                  <a:tcPr marL="64008" marR="54864" marT="18288" marB="18288" anchor="ctr">
                    <a:solidFill>
                      <a:srgbClr val="FFFFFF"/>
                    </a:solidFill>
                  </a:tcPr>
                </a:tc>
              </a:tr>
              <a:tr h="479708">
                <a:tc>
                  <a:txBody>
                    <a:bodyPr wrap="square"/>
                    <a:lstStyle/>
                    <a:p>
                      <a:pPr algn="l">
                        <a:lnSpc>
                          <a:spcPct val="105000"/>
                        </a:lnSpc>
                      </a:pPr>
                      <a:r>
                        <a:rPr sz="900" b="1">
                          <a:solidFill>
                            <a:srgbClr val="0F172A"/>
                          </a:solidFill>
                          <a:latin typeface="Arial"/>
                        </a:rPr>
                        <a:t>Deep-link hijack</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A malicious app registers </a:t>
                      </a:r>
                      <a:r>
                        <a:rPr sz="900" b="0">
                          <a:solidFill>
                            <a:srgbClr val="1D4E89"/>
                          </a:solidFill>
                          <a:latin typeface="Consolas"/>
                        </a:rPr>
                        <a:t>openid4vp://</a:t>
                      </a:r>
                      <a:r>
                        <a:rPr sz="900" b="0">
                          <a:solidFill>
                            <a:srgbClr val="1E293B"/>
                          </a:solidFill>
                          <a:latin typeface="Arial"/>
                        </a:rPr>
                        <a:t> or the OAuth redirect scheme and intercepts the callback.</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PKCE makes a stolen authorization code useless. Prefer App Links / Universal Links, which are domain-verified.</a:t>
                      </a:r>
                    </a:p>
                  </a:txBody>
                  <a:tcPr marL="64008" marR="54864" marT="18288" marB="18288" anchor="ctr">
                    <a:solidFill>
                      <a:srgbClr val="F3F6F9"/>
                    </a:solidFill>
                  </a:tcPr>
                </a:tc>
              </a:tr>
              <a:tr h="479708">
                <a:tc>
                  <a:txBody>
                    <a:bodyPr wrap="square"/>
                    <a:lstStyle/>
                    <a:p>
                      <a:pPr algn="l">
                        <a:lnSpc>
                          <a:spcPct val="105000"/>
                        </a:lnSpc>
                      </a:pPr>
                      <a:r>
                        <a:rPr sz="900" b="1">
                          <a:solidFill>
                            <a:srgbClr val="0F172A"/>
                          </a:solidFill>
                          <a:latin typeface="Arial"/>
                        </a:rPr>
                        <a:t>Token theft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An access token is captured at a TLS-terminating proxy and replayed to the credential endpoint.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Short token lifetimes, TLS everywhere, minimise hops. DPoP is the structural fix — raise it as a requirement.</a:t>
                      </a:r>
                    </a:p>
                  </a:txBody>
                  <a:tcPr marL="64008" marR="54864" marT="18288" marB="18288" anchor="ctr">
                    <a:solidFill>
                      <a:srgbClr val="FFFFFF"/>
                    </a:solidFill>
                  </a:tcPr>
                </a:tc>
              </a:tr>
              <a:tr h="479708">
                <a:tc>
                  <a:txBody>
                    <a:bodyPr wrap="square"/>
                    <a:lstStyle/>
                    <a:p>
                      <a:pPr algn="l">
                        <a:lnSpc>
                          <a:spcPct val="105000"/>
                        </a:lnSpc>
                      </a:pPr>
                      <a:r>
                        <a:rPr sz="900" b="1">
                          <a:solidFill>
                            <a:srgbClr val="0F172A"/>
                          </a:solidFill>
                          <a:latin typeface="Arial"/>
                        </a:rPr>
                        <a:t>Presentation replay</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A </a:t>
                      </a:r>
                      <a:r>
                        <a:rPr sz="900" b="0">
                          <a:solidFill>
                            <a:srgbClr val="1D4E89"/>
                          </a:solidFill>
                          <a:latin typeface="Consolas"/>
                        </a:rPr>
                        <a:t>vp_token</a:t>
                      </a:r>
                      <a:r>
                        <a:rPr sz="900" b="0">
                          <a:solidFill>
                            <a:srgbClr val="1E293B"/>
                          </a:solidFill>
                          <a:latin typeface="Arial"/>
                        </a:rPr>
                        <a:t> captured at verifier A is replayed at verifier B.</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The holder signs over the verifier's </a:t>
                      </a:r>
                      <a:r>
                        <a:rPr sz="900" b="0">
                          <a:solidFill>
                            <a:srgbClr val="1D4E89"/>
                          </a:solidFill>
                          <a:latin typeface="Consolas"/>
                        </a:rPr>
                        <a:t>nonce</a:t>
                      </a:r>
                      <a:r>
                        <a:rPr sz="900" b="0">
                          <a:solidFill>
                            <a:srgbClr val="1E293B"/>
                          </a:solidFill>
                          <a:latin typeface="Arial"/>
                        </a:rPr>
                        <a:t> and </a:t>
                      </a:r>
                      <a:r>
                        <a:rPr sz="900" b="0">
                          <a:solidFill>
                            <a:srgbClr val="1D4E89"/>
                          </a:solidFill>
                          <a:latin typeface="Consolas"/>
                        </a:rPr>
                        <a:t>aud</a:t>
                      </a:r>
                      <a:r>
                        <a:rPr sz="900" b="0">
                          <a:solidFill>
                            <a:srgbClr val="1E293B"/>
                          </a:solidFill>
                          <a:latin typeface="Arial"/>
                        </a:rPr>
                        <a:t>. Verifiers MUST check both — a verifier that skips this defeats the design.</a:t>
                      </a:r>
                    </a:p>
                  </a:txBody>
                  <a:tcPr marL="64008" marR="54864" marT="18288" marB="18288" anchor="ctr">
                    <a:solidFill>
                      <a:srgbClr val="F3F6F9"/>
                    </a:solidFill>
                  </a:tcPr>
                </a:tc>
              </a:tr>
              <a:tr h="479708">
                <a:tc>
                  <a:txBody>
                    <a:bodyPr wrap="square"/>
                    <a:lstStyle/>
                    <a:p>
                      <a:pPr algn="l">
                        <a:lnSpc>
                          <a:spcPct val="105000"/>
                        </a:lnSpc>
                      </a:pPr>
                      <a:r>
                        <a:rPr sz="900" b="1">
                          <a:solidFill>
                            <a:srgbClr val="0F172A"/>
                          </a:solidFill>
                          <a:latin typeface="Arial"/>
                        </a:rPr>
                        <a:t>Compromised verifier</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 legitimate verifier is breached and starts over-asking for claims.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Selective disclosure limits the blast radius; consent screens expose over-asking; audit which verifiers ask for what.</a:t>
                      </a:r>
                    </a:p>
                  </a:txBody>
                  <a:tcPr marL="64008" marR="54864" marT="18288" marB="18288" anchor="ctr">
                    <a:solidFill>
                      <a:srgbClr val="FFFFFF"/>
                    </a:solidFill>
                  </a:tcPr>
                </a:tc>
              </a:tr>
              <a:tr h="479708">
                <a:tc>
                  <a:txBody>
                    <a:bodyPr wrap="square"/>
                    <a:lstStyle/>
                    <a:p>
                      <a:pPr algn="l">
                        <a:lnSpc>
                          <a:spcPct val="105000"/>
                        </a:lnSpc>
                      </a:pPr>
                      <a:r>
                        <a:rPr sz="900" b="1">
                          <a:solidFill>
                            <a:srgbClr val="0F172A"/>
                          </a:solidFill>
                          <a:latin typeface="Arial"/>
                        </a:rPr>
                        <a:t>Rogue issuer endpoint</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DNS is poisoned and issuer metadata is served by an attacker.</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The credential must still carry a valid signature from a key you trust. Metadata over TLS; pin roots; monitor key endpoints.</a:t>
                      </a:r>
                    </a:p>
                  </a:txBody>
                  <a:tcPr marL="64008" marR="54864" marT="18288" marB="18288" anchor="ctr">
                    <a:solidFill>
                      <a:srgbClr val="F3F6F9"/>
                    </a:solidFill>
                  </a:tcPr>
                </a:tc>
              </a:tr>
              <a:tr h="479708">
                <a:tc>
                  <a:txBody>
                    <a:bodyPr wrap="square"/>
                    <a:lstStyle/>
                    <a:p>
                      <a:pPr algn="l">
                        <a:lnSpc>
                          <a:spcPct val="105000"/>
                        </a:lnSpc>
                      </a:pPr>
                      <a:r>
                        <a:rPr sz="900" b="1">
                          <a:solidFill>
                            <a:srgbClr val="0F172A"/>
                          </a:solidFill>
                          <a:latin typeface="Arial"/>
                        </a:rPr>
                        <a:t>Stolen or lost device</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The handset is taken with credentials on it.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Device authentication gates key use; credentials encrypted at rest; plan a revoke-and-reissue path.</a:t>
                      </a:r>
                    </a:p>
                  </a:txBody>
                  <a:tcPr marL="64008" marR="54864" marT="18288" marB="18288" anchor="ctr">
                    <a:solidFill>
                      <a:srgbClr val="FFFFFF"/>
                    </a:solidFill>
                  </a:tcPr>
                </a:tc>
              </a:tr>
              <a:tr h="479708">
                <a:tc>
                  <a:txBody>
                    <a:bodyPr wrap="square"/>
                    <a:lstStyle/>
                    <a:p>
                      <a:pPr algn="l">
                        <a:lnSpc>
                          <a:spcPct val="105000"/>
                        </a:lnSpc>
                      </a:pPr>
                      <a:r>
                        <a:rPr sz="900" b="1">
                          <a:solidFill>
                            <a:srgbClr val="0F172A"/>
                          </a:solidFill>
                          <a:latin typeface="Arial"/>
                        </a:rPr>
                        <a:t>Metadata / key endpoint outage</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JWKS is down, so verification fails and users cannot download or present.</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Cache keys aggressively; publish through resilient infrastructure; monitor as a production dependency, not a static file.</a:t>
                      </a:r>
                    </a:p>
                  </a:txBody>
                  <a:tcPr marL="64008" marR="54864" marT="18288" marB="18288" anchor="ctr">
                    <a:solidFill>
                      <a:srgbClr val="F3F6F9"/>
                    </a:solidFill>
                  </a:tcPr>
                </a:tc>
              </a:tr>
              <a:tr h="479708">
                <a:tc>
                  <a:txBody>
                    <a:bodyPr wrap="square"/>
                    <a:lstStyle/>
                    <a:p>
                      <a:pPr algn="l">
                        <a:lnSpc>
                          <a:spcPct val="105000"/>
                        </a:lnSpc>
                      </a:pPr>
                      <a:r>
                        <a:rPr sz="900" b="1">
                          <a:solidFill>
                            <a:srgbClr val="0F172A"/>
                          </a:solidFill>
                          <a:latin typeface="Arial"/>
                        </a:rPr>
                        <a:t>Over-collection by design</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 </a:t>
                      </a:r>
                      <a:r>
                        <a:rPr sz="900" b="0">
                          <a:solidFill>
                            <a:srgbClr val="1D4E89"/>
                          </a:solidFill>
                          <a:latin typeface="Consolas"/>
                        </a:rPr>
                        <a:t>presentation_definition</a:t>
                      </a:r>
                      <a:r>
                        <a:rPr sz="900" b="0">
                          <a:solidFill>
                            <a:srgbClr val="1E293B"/>
                          </a:solidFill>
                          <a:latin typeface="Arial"/>
                        </a:rPr>
                        <a:t> asks for the full credential when one claim would do.</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Governance, not code: review verifier requests. Format choice matters — only SD-JWT VC and mDoc can actually withhold.</a:t>
                      </a:r>
                    </a:p>
                  </a:txBody>
                  <a:tcPr marL="64008" marR="54864" marT="18288" marB="18288" anchor="ctr">
                    <a:solidFill>
                      <a:srgbClr val="FFFFFF"/>
                    </a:solidFill>
                  </a:tcPr>
                </a:tc>
              </a:tr>
            </a:tbl>
          </a:graphicData>
        </a:graphic>
      </p:graphicFrame>
      <p:sp>
        <p:nvSpPr>
          <p:cNvPr id="7" name="TextBox 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Security architecture and key resolution</a:t>
            </a:r>
          </a:p>
        </p:txBody>
      </p:sp>
      <p:sp>
        <p:nvSpPr>
          <p:cNvPr id="8" name="TextBox 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KID, JWKS, DID, METADATA</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Issuer key resolution — the integration time-sink</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A perfectly valid credential whose key cannot be found is indistinguishable from a forgery. Plan key publication like a product.</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682496"/>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860" b="1" i="0">
                <a:solidFill>
                  <a:srgbClr val="5B6B7F"/>
                </a:solidFill>
              </a:rPr>
              <a:t>THE CREDENTIAL ARRIVES  →  vc-verifier PICKS A RESOLVER FROM THE HEADER  →  KEY  →  SIGNATURE CHECK</a:t>
            </a:r>
          </a:p>
        </p:txBody>
      </p:sp>
      <p:sp>
        <p:nvSpPr>
          <p:cNvPr id="7" name="Rounded Rectangle 6"/>
          <p:cNvSpPr/>
          <p:nvPr/>
        </p:nvSpPr>
        <p:spPr>
          <a:xfrm>
            <a:off x="502920" y="1993392"/>
            <a:ext cx="2673019" cy="1207008"/>
          </a:xfrm>
          <a:prstGeom prst="roundRect">
            <a:avLst>
              <a:gd name="adj" fmla="val 7000"/>
            </a:avLst>
          </a:prstGeom>
          <a:solidFill>
            <a:srgbClr val="F3F6F9"/>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121408"/>
            <a:ext cx="2343835" cy="256032"/>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1D4E89"/>
                </a:solidFill>
                <a:latin typeface="Consolas"/>
              </a:rPr>
              <a:t>did:web</a:t>
            </a:r>
          </a:p>
        </p:txBody>
      </p:sp>
      <p:sp>
        <p:nvSpPr>
          <p:cNvPr id="9" name="TextBox 8"/>
          <p:cNvSpPr txBox="1"/>
          <p:nvPr/>
        </p:nvSpPr>
        <p:spPr>
          <a:xfrm>
            <a:off x="667512" y="2414016"/>
            <a:ext cx="2343835" cy="731520"/>
          </a:xfrm>
          <a:prstGeom prst="rect">
            <a:avLst/>
          </a:prstGeom>
          <a:noFill/>
        </p:spPr>
        <p:txBody>
          <a:bodyPr wrap="square" lIns="0" rIns="0" tIns="0" bIns="0" anchor="t">
            <a:spAutoFit/>
          </a:bodyPr>
          <a:lstStyle/>
          <a:p>
            <a:pPr algn="l">
              <a:lnSpc>
                <a:spcPct val="125000"/>
              </a:lnSpc>
              <a:spcBef>
                <a:spcPts val="0"/>
              </a:spcBef>
              <a:spcAft>
                <a:spcPts val="0"/>
              </a:spcAft>
            </a:pPr>
            <a:r>
              <a:rPr sz="919" b="0" i="0">
                <a:solidFill>
                  <a:srgbClr val="5B6B7F"/>
                </a:solidFill>
                <a:latin typeface="Arial"/>
              </a:rPr>
              <a:t>Derive an HTTPS URL from the DID, fetch the DID document, pick the method named by </a:t>
            </a:r>
            <a:r>
              <a:rPr sz="919" b="0" i="0">
                <a:solidFill>
                  <a:srgbClr val="1D4E89"/>
                </a:solidFill>
                <a:latin typeface="Consolas"/>
              </a:rPr>
              <a:t>kid</a:t>
            </a:r>
            <a:r>
              <a:rPr sz="919" b="0" i="0">
                <a:solidFill>
                  <a:srgbClr val="5B6B7F"/>
                </a:solidFill>
                <a:latin typeface="Arial"/>
              </a:rPr>
              <a:t>.</a:t>
            </a:r>
          </a:p>
        </p:txBody>
      </p:sp>
      <p:sp>
        <p:nvSpPr>
          <p:cNvPr id="10" name="Rounded Rectangle 9"/>
          <p:cNvSpPr/>
          <p:nvPr/>
        </p:nvSpPr>
        <p:spPr>
          <a:xfrm>
            <a:off x="3340531" y="1993392"/>
            <a:ext cx="2673019" cy="1207008"/>
          </a:xfrm>
          <a:prstGeom prst="roundRect">
            <a:avLst>
              <a:gd name="adj" fmla="val 7000"/>
            </a:avLst>
          </a:prstGeom>
          <a:solidFill>
            <a:srgbClr val="F3F6F9"/>
          </a:solidFill>
          <a:ln w="1524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5123" y="2121408"/>
            <a:ext cx="2343835" cy="256032"/>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latin typeface="Consolas"/>
              </a:rPr>
              <a:t>did:key / did:jwk</a:t>
            </a:r>
          </a:p>
        </p:txBody>
      </p:sp>
      <p:sp>
        <p:nvSpPr>
          <p:cNvPr id="12" name="TextBox 11"/>
          <p:cNvSpPr txBox="1"/>
          <p:nvPr/>
        </p:nvSpPr>
        <p:spPr>
          <a:xfrm>
            <a:off x="3505123" y="2414016"/>
            <a:ext cx="2343835" cy="731520"/>
          </a:xfrm>
          <a:prstGeom prst="rect">
            <a:avLst/>
          </a:prstGeom>
          <a:noFill/>
        </p:spPr>
        <p:txBody>
          <a:bodyPr wrap="square" lIns="0" rIns="0" tIns="0" bIns="0" anchor="t">
            <a:spAutoFit/>
          </a:bodyPr>
          <a:lstStyle/>
          <a:p>
            <a:pPr algn="l">
              <a:lnSpc>
                <a:spcPct val="125000"/>
              </a:lnSpc>
              <a:spcBef>
                <a:spcPts val="0"/>
              </a:spcBef>
              <a:spcAft>
                <a:spcPts val="0"/>
              </a:spcAft>
            </a:pPr>
            <a:r>
              <a:rPr sz="919" b="0" i="0">
                <a:solidFill>
                  <a:srgbClr val="5B6B7F"/>
                </a:solidFill>
                <a:latin typeface="Arial"/>
              </a:rPr>
              <a:t>The key is encoded </a:t>
            </a:r>
            <a:r>
              <a:rPr sz="919" b="1" i="0">
                <a:solidFill>
                  <a:srgbClr val="0F172A"/>
                </a:solidFill>
                <a:latin typeface="Arial"/>
              </a:rPr>
              <a:t>inside</a:t>
            </a:r>
            <a:r>
              <a:rPr sz="919" b="0" i="0">
                <a:solidFill>
                  <a:srgbClr val="5B6B7F"/>
                </a:solidFill>
                <a:latin typeface="Arial"/>
              </a:rPr>
              <a:t> the identifier. No network call, no outage risk.</a:t>
            </a:r>
          </a:p>
        </p:txBody>
      </p:sp>
      <p:sp>
        <p:nvSpPr>
          <p:cNvPr id="13" name="Rounded Rectangle 12"/>
          <p:cNvSpPr/>
          <p:nvPr/>
        </p:nvSpPr>
        <p:spPr>
          <a:xfrm>
            <a:off x="6178143" y="1993392"/>
            <a:ext cx="2673019" cy="1207008"/>
          </a:xfrm>
          <a:prstGeom prst="roundRect">
            <a:avLst>
              <a:gd name="adj" fmla="val 7000"/>
            </a:avLst>
          </a:prstGeom>
          <a:solidFill>
            <a:srgbClr val="F3F6F9"/>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2121408"/>
            <a:ext cx="2343835" cy="256032"/>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6D28D9"/>
                </a:solidFill>
                <a:latin typeface="Consolas"/>
              </a:rPr>
              <a:t>HTTPS / JWKS</a:t>
            </a:r>
          </a:p>
        </p:txBody>
      </p:sp>
      <p:sp>
        <p:nvSpPr>
          <p:cNvPr id="15" name="TextBox 14"/>
          <p:cNvSpPr txBox="1"/>
          <p:nvPr/>
        </p:nvSpPr>
        <p:spPr>
          <a:xfrm>
            <a:off x="6342735" y="2414016"/>
            <a:ext cx="2343835" cy="731520"/>
          </a:xfrm>
          <a:prstGeom prst="rect">
            <a:avLst/>
          </a:prstGeom>
          <a:noFill/>
        </p:spPr>
        <p:txBody>
          <a:bodyPr wrap="square" lIns="0" rIns="0" tIns="0" bIns="0" anchor="t">
            <a:spAutoFit/>
          </a:bodyPr>
          <a:lstStyle/>
          <a:p>
            <a:pPr algn="l">
              <a:lnSpc>
                <a:spcPct val="125000"/>
              </a:lnSpc>
              <a:spcBef>
                <a:spcPts val="0"/>
              </a:spcBef>
              <a:spcAft>
                <a:spcPts val="0"/>
              </a:spcAft>
            </a:pPr>
            <a:r>
              <a:rPr sz="919" b="0" i="0">
                <a:solidFill>
                  <a:srgbClr val="5B6B7F"/>
                </a:solidFill>
                <a:latin typeface="Arial"/>
              </a:rPr>
              <a:t>Fetch the verification-method URL or a JWKS document and select by </a:t>
            </a:r>
            <a:r>
              <a:rPr sz="919" b="0" i="0">
                <a:solidFill>
                  <a:srgbClr val="6D28D9"/>
                </a:solidFill>
                <a:latin typeface="Consolas"/>
              </a:rPr>
              <a:t>kid</a:t>
            </a:r>
            <a:r>
              <a:rPr sz="919" b="0" i="0">
                <a:solidFill>
                  <a:srgbClr val="5B6B7F"/>
                </a:solidFill>
                <a:latin typeface="Arial"/>
              </a:rPr>
              <a:t>.</a:t>
            </a:r>
          </a:p>
        </p:txBody>
      </p:sp>
      <p:sp>
        <p:nvSpPr>
          <p:cNvPr id="16" name="Rounded Rectangle 15"/>
          <p:cNvSpPr/>
          <p:nvPr/>
        </p:nvSpPr>
        <p:spPr>
          <a:xfrm>
            <a:off x="9015755" y="1993392"/>
            <a:ext cx="2673019" cy="1207008"/>
          </a:xfrm>
          <a:prstGeom prst="roundRect">
            <a:avLst>
              <a:gd name="adj" fmla="val 7000"/>
            </a:avLst>
          </a:prstGeom>
          <a:solidFill>
            <a:srgbClr val="F3F6F9"/>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0347" y="2121408"/>
            <a:ext cx="2343835" cy="256032"/>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15703D"/>
                </a:solidFill>
                <a:latin typeface="Consolas"/>
              </a:rPr>
              <a:t>x5c (X.509)</a:t>
            </a:r>
          </a:p>
        </p:txBody>
      </p:sp>
      <p:sp>
        <p:nvSpPr>
          <p:cNvPr id="18" name="TextBox 17"/>
          <p:cNvSpPr txBox="1"/>
          <p:nvPr/>
        </p:nvSpPr>
        <p:spPr>
          <a:xfrm>
            <a:off x="9180347" y="2414016"/>
            <a:ext cx="2343835" cy="731520"/>
          </a:xfrm>
          <a:prstGeom prst="rect">
            <a:avLst/>
          </a:prstGeom>
          <a:noFill/>
        </p:spPr>
        <p:txBody>
          <a:bodyPr wrap="square" lIns="0" rIns="0" tIns="0" bIns="0" anchor="t">
            <a:spAutoFit/>
          </a:bodyPr>
          <a:lstStyle/>
          <a:p>
            <a:pPr algn="l">
              <a:lnSpc>
                <a:spcPct val="125000"/>
              </a:lnSpc>
              <a:spcBef>
                <a:spcPts val="0"/>
              </a:spcBef>
              <a:spcAft>
                <a:spcPts val="0"/>
              </a:spcAft>
            </a:pPr>
            <a:r>
              <a:rPr sz="919" b="0" i="0">
                <a:solidFill>
                  <a:srgbClr val="5B6B7F"/>
                </a:solidFill>
                <a:latin typeface="Arial"/>
              </a:rPr>
              <a:t>Validate the certificate chain in the JWS header up to a trusted root. </a:t>
            </a:r>
            <a:r>
              <a:rPr sz="919" b="1" i="0">
                <a:solidFill>
                  <a:srgbClr val="0F172A"/>
                </a:solidFill>
                <a:latin typeface="Arial"/>
              </a:rPr>
              <a:t>Inji's path for SD-JWT VC today.</a:t>
            </a:r>
          </a:p>
        </p:txBody>
      </p:sp>
      <p:graphicFrame>
        <p:nvGraphicFramePr>
          <p:cNvPr id="19" name="Table 18"/>
          <p:cNvGraphicFramePr>
            <a:graphicFrameLocks noGrp="1"/>
          </p:cNvGraphicFramePr>
          <p:nvPr/>
        </p:nvGraphicFramePr>
        <p:xfrm>
          <a:off x="502920" y="3511296"/>
          <a:ext cx="11185853" cy="2758821"/>
        </p:xfrm>
        <a:graphic>
          <a:graphicData uri="http://schemas.openxmlformats.org/drawingml/2006/table">
            <a:tbl>
              <a:tblPr firstRow="1">
                <a:tableStyleId>{2D5ABB26-0587-4C30-8999-92F81FD0307C}</a:tableStyleId>
              </a:tblPr>
              <a:tblGrid>
                <a:gridCol w="2383870"/>
                <a:gridCol w="3667493"/>
                <a:gridCol w="2567245"/>
                <a:gridCol w="2567245"/>
              </a:tblGrid>
              <a:tr h="292608">
                <a:tc>
                  <a:txBody>
                    <a:bodyPr wrap="square"/>
                    <a:lstStyle/>
                    <a:p>
                      <a:pPr algn="l"/>
                      <a:r>
                        <a:rPr sz="950" b="1">
                          <a:solidFill>
                            <a:srgbClr val="FFFFFF"/>
                          </a:solidFill>
                          <a:latin typeface="Arial"/>
                        </a:rPr>
                        <a:t>Failure</a:t>
                      </a:r>
                    </a:p>
                  </a:txBody>
                  <a:tcPr marL="64008" marR="54864" marT="27432" marB="27432" anchor="ctr">
                    <a:solidFill>
                      <a:srgbClr val="1D4E89"/>
                    </a:solidFill>
                  </a:tcPr>
                </a:tc>
                <a:tc>
                  <a:txBody>
                    <a:bodyPr wrap="square"/>
                    <a:lstStyle/>
                    <a:p>
                      <a:pPr algn="l"/>
                      <a:r>
                        <a:rPr sz="950" b="1">
                          <a:solidFill>
                            <a:srgbClr val="FFFFFF"/>
                          </a:solidFill>
                          <a:latin typeface="Arial"/>
                        </a:rPr>
                        <a:t>Root cause</a:t>
                      </a:r>
                    </a:p>
                  </a:txBody>
                  <a:tcPr marL="64008" marR="54864" marT="27432" marB="27432" anchor="ctr">
                    <a:solidFill>
                      <a:srgbClr val="1D4E89"/>
                    </a:solidFill>
                  </a:tcPr>
                </a:tc>
                <a:tc>
                  <a:txBody>
                    <a:bodyPr wrap="square"/>
                    <a:lstStyle/>
                    <a:p>
                      <a:pPr algn="l"/>
                      <a:r>
                        <a:rPr sz="950" b="1">
                          <a:solidFill>
                            <a:srgbClr val="FFFFFF"/>
                          </a:solidFill>
                          <a:latin typeface="Arial"/>
                        </a:rPr>
                        <a:t>What you see</a:t>
                      </a:r>
                    </a:p>
                  </a:txBody>
                  <a:tcPr marL="64008" marR="54864" marT="27432" marB="27432" anchor="ctr">
                    <a:solidFill>
                      <a:srgbClr val="1D4E89"/>
                    </a:solidFill>
                  </a:tcPr>
                </a:tc>
                <a:tc>
                  <a:txBody>
                    <a:bodyPr wrap="square"/>
                    <a:lstStyle/>
                    <a:p>
                      <a:pPr algn="l"/>
                      <a:r>
                        <a:rPr sz="950" b="1">
                          <a:solidFill>
                            <a:srgbClr val="FFFFFF"/>
                          </a:solidFill>
                          <a:latin typeface="Arial"/>
                        </a:rPr>
                        <a:t>What to do</a:t>
                      </a:r>
                    </a:p>
                  </a:txBody>
                  <a:tcPr marL="64008" marR="54864" marT="27432" marB="27432" anchor="ctr">
                    <a:solidFill>
                      <a:srgbClr val="1D4E89"/>
                    </a:solidFill>
                  </a:tcPr>
                </a:tc>
              </a:tr>
              <a:tr h="393192">
                <a:tc>
                  <a:txBody>
                    <a:bodyPr wrap="square"/>
                    <a:lstStyle/>
                    <a:p>
                      <a:pPr algn="l">
                        <a:lnSpc>
                          <a:spcPct val="105000"/>
                        </a:lnSpc>
                      </a:pPr>
                      <a:r>
                        <a:rPr sz="890" b="0">
                          <a:solidFill>
                            <a:srgbClr val="1E293B"/>
                          </a:solidFill>
                          <a:latin typeface="Arial"/>
                        </a:rPr>
                        <a:t>No </a:t>
                      </a:r>
                      <a:r>
                        <a:rPr sz="890" b="0">
                          <a:solidFill>
                            <a:srgbClr val="1D4E89"/>
                          </a:solidFill>
                          <a:latin typeface="Consolas"/>
                        </a:rPr>
                        <a:t>kid</a:t>
                      </a:r>
                      <a:r>
                        <a:rPr sz="890" b="0">
                          <a:solidFill>
                            <a:srgbClr val="1E293B"/>
                          </a:solidFill>
                          <a:latin typeface="Arial"/>
                        </a:rPr>
                        <a:t> in the header</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The resolver cannot choose among several published keys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Verification fails or picks wrong</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Always publish and always send </a:t>
                      </a:r>
                      <a:r>
                        <a:rPr sz="890" b="0">
                          <a:solidFill>
                            <a:srgbClr val="1D4E89"/>
                          </a:solidFill>
                          <a:latin typeface="Consolas"/>
                        </a:rPr>
                        <a:t>kid</a:t>
                      </a:r>
                    </a:p>
                  </a:txBody>
                  <a:tcPr marL="64008" marR="54864" marT="18288" marB="18288" anchor="ctr">
                    <a:solidFill>
                      <a:srgbClr val="FFFFFF"/>
                    </a:solidFill>
                  </a:tcPr>
                </a:tc>
              </a:tr>
              <a:tr h="393192">
                <a:tc>
                  <a:txBody>
                    <a:bodyPr wrap="square"/>
                    <a:lstStyle/>
                    <a:p>
                      <a:pPr algn="l">
                        <a:lnSpc>
                          <a:spcPct val="105000"/>
                        </a:lnSpc>
                      </a:pPr>
                      <a:r>
                        <a:rPr sz="890" b="0">
                          <a:solidFill>
                            <a:srgbClr val="1D4E89"/>
                          </a:solidFill>
                          <a:latin typeface="Consolas"/>
                        </a:rPr>
                        <a:t>kid</a:t>
                      </a:r>
                      <a:r>
                        <a:rPr sz="890" b="0">
                          <a:solidFill>
                            <a:srgbClr val="1E293B"/>
                          </a:solidFill>
                          <a:latin typeface="Arial"/>
                        </a:rPr>
                        <a:t> not found at the source</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Key rotated and the old one was removed</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Every credential signed before rotation breaks</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Keep retired keys published for at least one credential lifetime</a:t>
                      </a:r>
                    </a:p>
                  </a:txBody>
                  <a:tcPr marL="64008" marR="54864" marT="18288" marB="18288" anchor="ctr">
                    <a:solidFill>
                      <a:srgbClr val="F3F6F9"/>
                    </a:solidFill>
                  </a:tcPr>
                </a:tc>
              </a:tr>
              <a:tr h="393192">
                <a:tc>
                  <a:txBody>
                    <a:bodyPr wrap="square"/>
                    <a:lstStyle/>
                    <a:p>
                      <a:pPr algn="l">
                        <a:lnSpc>
                          <a:spcPct val="105000"/>
                        </a:lnSpc>
                      </a:pPr>
                      <a:r>
                        <a:rPr sz="890" b="0">
                          <a:solidFill>
                            <a:srgbClr val="1E293B"/>
                          </a:solidFill>
                          <a:latin typeface="Arial"/>
                        </a:rPr>
                        <a:t>DID document unreachable</a:t>
                      </a:r>
                    </a:p>
                  </a:txBody>
                  <a:tcPr marL="64008" marR="54864" marT="18288" marB="18288" anchor="ctr">
                    <a:solidFill>
                      <a:srgbClr val="FFFFFF"/>
                    </a:solidFill>
                  </a:tcPr>
                </a:tc>
                <a:tc>
                  <a:txBody>
                    <a:bodyPr wrap="square"/>
                    <a:lstStyle/>
                    <a:p>
                      <a:pPr algn="l">
                        <a:lnSpc>
                          <a:spcPct val="105000"/>
                        </a:lnSpc>
                      </a:pPr>
                      <a:r>
                        <a:rPr sz="890" b="0">
                          <a:solidFill>
                            <a:srgbClr val="1D4E89"/>
                          </a:solidFill>
                          <a:latin typeface="Consolas"/>
                        </a:rPr>
                        <a:t>did:web</a:t>
                      </a:r>
                      <a:r>
                        <a:rPr sz="890" b="0">
                          <a:solidFill>
                            <a:srgbClr val="1E293B"/>
                          </a:solidFill>
                          <a:latin typeface="Arial"/>
                        </a:rPr>
                        <a:t> host down, DNS, or a redirect the resolver will not follow</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Intermittent, environment-specific failures</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Treat the DID document as a production endpoint with SLA and monitoring</a:t>
                      </a:r>
                    </a:p>
                  </a:txBody>
                  <a:tcPr marL="64008" marR="54864" marT="18288" marB="18288" anchor="ctr">
                    <a:solidFill>
                      <a:srgbClr val="FFFFFF"/>
                    </a:solidFill>
                  </a:tcPr>
                </a:tc>
              </a:tr>
              <a:tr h="393192">
                <a:tc>
                  <a:txBody>
                    <a:bodyPr wrap="square"/>
                    <a:lstStyle/>
                    <a:p>
                      <a:pPr algn="l">
                        <a:lnSpc>
                          <a:spcPct val="105000"/>
                        </a:lnSpc>
                      </a:pPr>
                      <a:r>
                        <a:rPr sz="890" b="0">
                          <a:solidFill>
                            <a:srgbClr val="1E293B"/>
                          </a:solidFill>
                          <a:latin typeface="Arial"/>
                        </a:rPr>
                        <a:t>JWKS behind a redirect or WAF</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Resolver gets HTML or a 403 instead of JSON</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Confusing parse errors</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Serve key material from a path with no redirects and no bot protection</a:t>
                      </a:r>
                    </a:p>
                  </a:txBody>
                  <a:tcPr marL="64008" marR="54864" marT="18288" marB="18288" anchor="ctr">
                    <a:solidFill>
                      <a:srgbClr val="F3F6F9"/>
                    </a:solidFill>
                  </a:tcPr>
                </a:tc>
              </a:tr>
              <a:tr h="393192">
                <a:tc>
                  <a:txBody>
                    <a:bodyPr wrap="square"/>
                    <a:lstStyle/>
                    <a:p>
                      <a:pPr algn="l">
                        <a:lnSpc>
                          <a:spcPct val="105000"/>
                        </a:lnSpc>
                      </a:pPr>
                      <a:r>
                        <a:rPr sz="890" b="0">
                          <a:solidFill>
                            <a:srgbClr val="1D4E89"/>
                          </a:solidFill>
                          <a:latin typeface="Consolas"/>
                        </a:rPr>
                        <a:t>alg</a:t>
                      </a:r>
                      <a:r>
                        <a:rPr sz="890" b="0">
                          <a:solidFill>
                            <a:srgbClr val="1E293B"/>
                          </a:solidFill>
                          <a:latin typeface="Arial"/>
                        </a:rPr>
                        <a:t> mismatch</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Issuer signs with an algorithm the verifier does not accept</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Rejected before any network call</a:t>
                      </a:r>
                    </a:p>
                  </a:txBody>
                  <a:tcPr marL="64008" marR="54864" marT="18288" marB="18288" anchor="ctr">
                    <a:solidFill>
                      <a:srgbClr val="FFFFFF"/>
                    </a:solidFill>
                  </a:tcPr>
                </a:tc>
                <a:tc>
                  <a:txBody>
                    <a:bodyPr wrap="square"/>
                    <a:lstStyle/>
                    <a:p>
                      <a:pPr algn="l">
                        <a:lnSpc>
                          <a:spcPct val="105000"/>
                        </a:lnSpc>
                      </a:pPr>
                      <a:r>
                        <a:rPr sz="890" b="0">
                          <a:solidFill>
                            <a:srgbClr val="1E293B"/>
                          </a:solidFill>
                          <a:latin typeface="Arial"/>
                        </a:rPr>
                        <a:t>Agree the algorithm set in the interface contract, in writing</a:t>
                      </a:r>
                    </a:p>
                  </a:txBody>
                  <a:tcPr marL="64008" marR="54864" marT="18288" marB="18288" anchor="ctr">
                    <a:solidFill>
                      <a:srgbClr val="FFFFFF"/>
                    </a:solidFill>
                  </a:tcPr>
                </a:tc>
              </a:tr>
              <a:tr h="500253">
                <a:tc>
                  <a:txBody>
                    <a:bodyPr wrap="square"/>
                    <a:lstStyle/>
                    <a:p>
                      <a:pPr algn="l">
                        <a:lnSpc>
                          <a:spcPct val="105000"/>
                        </a:lnSpc>
                      </a:pPr>
                      <a:r>
                        <a:rPr sz="890" b="0">
                          <a:solidFill>
                            <a:srgbClr val="1E293B"/>
                          </a:solidFill>
                          <a:latin typeface="Arial"/>
                        </a:rPr>
                        <a:t>SD-JWT with no </a:t>
                      </a:r>
                      <a:r>
                        <a:rPr sz="890" b="0">
                          <a:solidFill>
                            <a:srgbClr val="1D4E89"/>
                          </a:solidFill>
                          <a:latin typeface="Consolas"/>
                        </a:rPr>
                        <a:t>x5c</a:t>
                      </a:r>
                      <a:r>
                        <a:rPr sz="890" b="0">
                          <a:solidFill>
                            <a:srgbClr val="1E293B"/>
                          </a:solidFill>
                          <a:latin typeface="Arial"/>
                        </a:rPr>
                        <a:t> and no supported metadata path</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Inji's </a:t>
                      </a:r>
                      <a:r>
                        <a:rPr sz="890" b="0">
                          <a:solidFill>
                            <a:srgbClr val="1D4E89"/>
                          </a:solidFill>
                          <a:latin typeface="Consolas"/>
                        </a:rPr>
                        <a:t>vc-verifier</a:t>
                      </a:r>
                      <a:r>
                        <a:rPr sz="890" b="0">
                          <a:solidFill>
                            <a:srgbClr val="1E293B"/>
                          </a:solidFill>
                          <a:latin typeface="Arial"/>
                        </a:rPr>
                        <a:t> resolves </a:t>
                      </a:r>
                      <a:r>
                        <a:rPr sz="890" b="0">
                          <a:solidFill>
                            <a:srgbClr val="1D4E89"/>
                          </a:solidFill>
                          <a:latin typeface="Consolas"/>
                        </a:rPr>
                        <a:t>vc+sd-jwt</a:t>
                      </a:r>
                      <a:r>
                        <a:rPr sz="890" b="0">
                          <a:solidFill>
                            <a:srgbClr val="1E293B"/>
                          </a:solidFill>
                          <a:latin typeface="Arial"/>
                        </a:rPr>
                        <a:t> issuer keys from X.509 today; JWT VC Issuer Metadata is not yet supported</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Cannot verify at all</a:t>
                      </a:r>
                    </a:p>
                  </a:txBody>
                  <a:tcPr marL="64008" marR="54864" marT="18288" marB="18288" anchor="ctr">
                    <a:solidFill>
                      <a:srgbClr val="F3F6F9"/>
                    </a:solidFill>
                  </a:tcPr>
                </a:tc>
                <a:tc>
                  <a:txBody>
                    <a:bodyPr wrap="square"/>
                    <a:lstStyle/>
                    <a:p>
                      <a:pPr algn="l">
                        <a:lnSpc>
                          <a:spcPct val="105000"/>
                        </a:lnSpc>
                      </a:pPr>
                      <a:r>
                        <a:rPr sz="890" b="0">
                          <a:solidFill>
                            <a:srgbClr val="1E293B"/>
                          </a:solidFill>
                          <a:latin typeface="Arial"/>
                        </a:rPr>
                        <a:t>Publish an X.509 chain for SD-JWT VC, and publish the well-known document too for other wallets</a:t>
                      </a:r>
                    </a:p>
                  </a:txBody>
                  <a:tcPr marL="64008" marR="54864" marT="18288" marB="18288" anchor="ctr">
                    <a:solidFill>
                      <a:srgbClr val="F3F6F9"/>
                    </a:solidFill>
                  </a:tcPr>
                </a:tc>
              </a:tr>
            </a:tbl>
          </a:graphicData>
        </a:graphic>
      </p:graphicFrame>
      <p:sp>
        <p:nvSpPr>
          <p:cNvPr id="20" name="TextBox 1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Security architecture and key resolution</a:t>
            </a:r>
          </a:p>
        </p:txBody>
      </p:sp>
      <p:sp>
        <p:nvSpPr>
          <p:cNvPr id="21" name="TextBox 2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11</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Configuration, deployment and the code</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Everything between a working demo and a running service: what to configure, how to deploy it, and how to find your way around the repositories.</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30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Configuration versus customisation</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The configuration surface, component by component</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Localisation, branding, pt-BR</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Deployment topology and build pipelines</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Repository walkthrough</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Tracing a request through the code</a:t>
            </a:r>
          </a:p>
        </p:txBody>
      </p:sp>
      <p:sp>
        <p:nvSpPr>
          <p:cNvPr id="23" name="Rounded Rectangle 22"/>
          <p:cNvSpPr/>
          <p:nvPr/>
        </p:nvSpPr>
        <p:spPr>
          <a:xfrm>
            <a:off x="50292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Configuration, deployment and the code</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WHAT YOU SET, AND WHERE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configuration surface</a:t>
            </a:r>
          </a:p>
        </p:txBody>
      </p:sp>
      <p:sp>
        <p:nvSpPr>
          <p:cNvPr id="4" name="TextBox 3"/>
          <p:cNvSpPr txBox="1"/>
          <p:nvPr/>
        </p:nvSpPr>
        <p:spPr>
          <a:xfrm>
            <a:off x="502920" y="1078992"/>
            <a:ext cx="11185855" cy="300181"/>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5B6B7F"/>
                </a:solidFill>
                <a:latin typeface="Arial"/>
              </a:rPr>
              <a:t>If you can change it here, you do not need a code change — and you do not need an app store release.</a:t>
            </a:r>
          </a:p>
        </p:txBody>
      </p:sp>
      <p:cxnSp>
        <p:nvCxnSpPr>
          <p:cNvPr id="5" name="Connector 4"/>
          <p:cNvCxnSpPr/>
          <p:nvPr/>
        </p:nvCxnSpPr>
        <p:spPr>
          <a:xfrm>
            <a:off x="502920" y="1470613"/>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64848"/>
          <a:ext cx="11185853" cy="3958515"/>
        </p:xfrm>
        <a:graphic>
          <a:graphicData uri="http://schemas.openxmlformats.org/drawingml/2006/table">
            <a:tbl>
              <a:tblPr firstRow="1">
                <a:tableStyleId>{2D5ABB26-0587-4C30-8999-92F81FD0307C}</a:tableStyleId>
              </a:tblPr>
              <a:tblGrid>
                <a:gridCol w="1548810"/>
                <a:gridCol w="2925531"/>
                <a:gridCol w="4646432"/>
                <a:gridCol w="2065080"/>
              </a:tblGrid>
              <a:tr h="300181">
                <a:tc>
                  <a:txBody>
                    <a:bodyPr wrap="square"/>
                    <a:lstStyle/>
                    <a:p>
                      <a:pPr algn="l"/>
                      <a:r>
                        <a:rPr sz="940" b="1">
                          <a:solidFill>
                            <a:srgbClr val="FFFFFF"/>
                          </a:solidFill>
                          <a:latin typeface="Arial"/>
                        </a:rPr>
                        <a:t>Component</a:t>
                      </a:r>
                    </a:p>
                  </a:txBody>
                  <a:tcPr marL="64008" marR="54864" marT="27432" marB="27432" anchor="ctr">
                    <a:solidFill>
                      <a:srgbClr val="1D4E89"/>
                    </a:solidFill>
                  </a:tcPr>
                </a:tc>
                <a:tc>
                  <a:txBody>
                    <a:bodyPr wrap="square"/>
                    <a:lstStyle/>
                    <a:p>
                      <a:pPr algn="l"/>
                      <a:r>
                        <a:rPr sz="940" b="1">
                          <a:solidFill>
                            <a:srgbClr val="FFFFFF"/>
                          </a:solidFill>
                          <a:latin typeface="Arial"/>
                        </a:rPr>
                        <a:t>Where</a:t>
                      </a:r>
                    </a:p>
                  </a:txBody>
                  <a:tcPr marL="64008" marR="54864" marT="27432" marB="27432" anchor="ctr">
                    <a:solidFill>
                      <a:srgbClr val="1D4E89"/>
                    </a:solidFill>
                  </a:tcPr>
                </a:tc>
                <a:tc>
                  <a:txBody>
                    <a:bodyPr wrap="square"/>
                    <a:lstStyle/>
                    <a:p>
                      <a:pPr algn="l"/>
                      <a:r>
                        <a:rPr sz="940" b="1">
                          <a:solidFill>
                            <a:srgbClr val="FFFFFF"/>
                          </a:solidFill>
                          <a:latin typeface="Arial"/>
                        </a:rPr>
                        <a:t>What you control</a:t>
                      </a:r>
                    </a:p>
                  </a:txBody>
                  <a:tcPr marL="64008" marR="54864" marT="27432" marB="27432" anchor="ctr">
                    <a:solidFill>
                      <a:srgbClr val="1D4E89"/>
                    </a:solidFill>
                  </a:tcPr>
                </a:tc>
                <a:tc>
                  <a:txBody>
                    <a:bodyPr wrap="square"/>
                    <a:lstStyle/>
                    <a:p>
                      <a:pPr algn="l"/>
                      <a:r>
                        <a:rPr sz="940" b="1">
                          <a:solidFill>
                            <a:srgbClr val="FFFFFF"/>
                          </a:solidFill>
                          <a:latin typeface="Arial"/>
                        </a:rPr>
                        <a:t>Takes effect</a:t>
                      </a:r>
                    </a:p>
                  </a:txBody>
                  <a:tcPr marL="64008" marR="54864" marT="27432" marB="27432" anchor="ctr">
                    <a:solidFill>
                      <a:srgbClr val="1D4E89"/>
                    </a:solidFill>
                  </a:tcPr>
                </a:tc>
              </a:tr>
              <a:tr h="331082">
                <a:tc>
                  <a:txBody>
                    <a:bodyPr wrap="square"/>
                    <a:lstStyle/>
                    <a:p>
                      <a:pPr algn="l">
                        <a:lnSpc>
                          <a:spcPct val="105000"/>
                        </a:lnSpc>
                      </a:pPr>
                      <a:r>
                        <a:rPr sz="900" b="1">
                          <a:solidFill>
                            <a:srgbClr val="0F172A"/>
                          </a:solidFill>
                          <a:latin typeface="Arial"/>
                        </a:rPr>
                        <a:t>Inji Wallet</a:t>
                      </a:r>
                    </a:p>
                  </a:txBody>
                  <a:tcPr marL="64008" marR="54864" marT="18288" marB="18288" anchor="ctr">
                    <a:solidFill>
                      <a:srgbClr val="FFFFFF"/>
                    </a:solidFill>
                  </a:tcPr>
                </a:tc>
                <a:tc>
                  <a:txBody>
                    <a:bodyPr wrap="square"/>
                    <a:lstStyle/>
                    <a:p>
                      <a:pPr algn="l">
                        <a:lnSpc>
                          <a:spcPct val="105000"/>
                        </a:lnSpc>
                      </a:pPr>
                      <a:r>
                        <a:rPr sz="900" b="0">
                          <a:solidFill>
                            <a:srgbClr val="1D4E89"/>
                          </a:solidFill>
                          <a:latin typeface="Consolas"/>
                        </a:rPr>
                        <a:t>.env</a:t>
                      </a:r>
                      <a:r>
                        <a:rPr sz="900" b="0">
                          <a:solidFill>
                            <a:srgbClr val="1E293B"/>
                          </a:solidFill>
                          <a:latin typeface="Arial"/>
                        </a:rPr>
                        <a:t> / </a:t>
                      </a:r>
                      <a:r>
                        <a:rPr sz="900" b="0">
                          <a:solidFill>
                            <a:srgbClr val="1D4E89"/>
                          </a:solidFill>
                          <a:latin typeface="Consolas"/>
                        </a:rPr>
                        <a:t>.env.local</a:t>
                      </a:r>
                    </a:p>
                  </a:txBody>
                  <a:tcPr marL="64008" marR="54864" marT="18288" marB="18288" anchor="ctr">
                    <a:solidFill>
                      <a:srgbClr val="FFFFFF"/>
                    </a:solidFill>
                  </a:tcPr>
                </a:tc>
                <a:tc>
                  <a:txBody>
                    <a:bodyPr wrap="square"/>
                    <a:lstStyle/>
                    <a:p>
                      <a:pPr algn="l">
                        <a:lnSpc>
                          <a:spcPct val="105000"/>
                        </a:lnSpc>
                      </a:pPr>
                      <a:r>
                        <a:rPr sz="900" b="0">
                          <a:solidFill>
                            <a:srgbClr val="1D4E89"/>
                          </a:solidFill>
                          <a:latin typeface="Consolas"/>
                        </a:rPr>
                        <a:t>MIMOTO_HOST</a:t>
                      </a:r>
                      <a:r>
                        <a:rPr sz="900" b="0">
                          <a:solidFill>
                            <a:srgbClr val="1E293B"/>
                          </a:solidFill>
                          <a:latin typeface="Arial"/>
                        </a:rPr>
                        <a:t>, </a:t>
                      </a:r>
                      <a:r>
                        <a:rPr sz="900" b="0">
                          <a:solidFill>
                            <a:srgbClr val="1D4E89"/>
                          </a:solidFill>
                          <a:latin typeface="Consolas"/>
                        </a:rPr>
                        <a:t>ESIGNET_HOST</a:t>
                      </a:r>
                      <a:r>
                        <a:rPr sz="900" b="0">
                          <a:solidFill>
                            <a:srgbClr val="1E293B"/>
                          </a:solidFill>
                          <a:latin typeface="Arial"/>
                        </a:rPr>
                        <a:t>, </a:t>
                      </a:r>
                      <a:r>
                        <a:rPr sz="900" b="0">
                          <a:solidFill>
                            <a:srgbClr val="1D4E89"/>
                          </a:solidFill>
                          <a:latin typeface="Consolas"/>
                        </a:rPr>
                        <a:t>OBSRV_HOST</a:t>
                      </a:r>
                      <a:r>
                        <a:rPr sz="900" b="0">
                          <a:solidFill>
                            <a:srgbClr val="1E293B"/>
                          </a:solidFill>
                          <a:latin typeface="Arial"/>
                        </a:rPr>
                        <a:t>, </a:t>
                      </a:r>
                      <a:r>
                        <a:rPr sz="900" b="0">
                          <a:solidFill>
                            <a:srgbClr val="1D4E89"/>
                          </a:solidFill>
                          <a:latin typeface="Consolas"/>
                        </a:rPr>
                        <a:t>APPLICATION_THEME</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Rebuild required</a:t>
                      </a:r>
                    </a:p>
                  </a:txBody>
                  <a:tcPr marL="64008" marR="54864" marT="18288" marB="18288" anchor="ctr">
                    <a:solidFill>
                      <a:srgbClr val="FFFFFF"/>
                    </a:solidFill>
                  </a:tcPr>
                </a:tc>
              </a:tr>
              <a:tr h="331082">
                <a:tc>
                  <a:txBody>
                    <a:bodyPr wrap="square"/>
                    <a:lstStyle/>
                    <a:p>
                      <a:pPr algn="l">
                        <a:lnSpc>
                          <a:spcPct val="105000"/>
                        </a:lnSpc>
                      </a:pPr>
                    </a:p>
                  </a:txBody>
                  <a:tcPr marL="64008" marR="54864" marT="18288" marB="18288" anchor="ctr">
                    <a:solidFill>
                      <a:srgbClr val="F3F6F9"/>
                    </a:solidFill>
                  </a:tcPr>
                </a:tc>
                <a:tc>
                  <a:txBody>
                    <a:bodyPr wrap="square"/>
                    <a:lstStyle/>
                    <a:p>
                      <a:pPr algn="l">
                        <a:lnSpc>
                          <a:spcPct val="105000"/>
                        </a:lnSpc>
                      </a:pPr>
                      <a:r>
                        <a:rPr sz="900" b="0">
                          <a:solidFill>
                            <a:srgbClr val="1D4E89"/>
                          </a:solidFill>
                          <a:latin typeface="Consolas"/>
                        </a:rPr>
                        <a:t>android/app/build.gradle</a:t>
                      </a:r>
                      <a:r>
                        <a:rPr sz="900" b="0">
                          <a:solidFill>
                            <a:srgbClr val="1E293B"/>
                          </a:solidFill>
                          <a:latin typeface="Arial"/>
                        </a:rPr>
                        <a:t> flavours</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Application id, app name, icons, redirect scheme</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Rebuild required</a:t>
                      </a:r>
                    </a:p>
                  </a:txBody>
                  <a:tcPr marL="64008" marR="54864" marT="18288" marB="18288" anchor="ctr">
                    <a:solidFill>
                      <a:srgbClr val="F3F6F9"/>
                    </a:solidFill>
                  </a:tcPr>
                </a:tc>
              </a:tr>
              <a:tr h="331082">
                <a:tc>
                  <a:txBody>
                    <a:bodyPr wrap="square"/>
                    <a:lstStyle/>
                    <a:p>
                      <a:pPr algn="l">
                        <a:lnSpc>
                          <a:spcPct val="105000"/>
                        </a:lnSpc>
                      </a:pPr>
                    </a:p>
                  </a:txBody>
                  <a:tcPr marL="64008" marR="54864" marT="18288" marB="18288" anchor="ctr">
                    <a:solidFill>
                      <a:srgbClr val="FFFFFF"/>
                    </a:solidFill>
                  </a:tcPr>
                </a:tc>
                <a:tc>
                  <a:txBody>
                    <a:bodyPr wrap="square"/>
                    <a:lstStyle/>
                    <a:p>
                      <a:pPr algn="l">
                        <a:lnSpc>
                          <a:spcPct val="105000"/>
                        </a:lnSpc>
                      </a:pPr>
                      <a:r>
                        <a:rPr sz="900" b="0">
                          <a:solidFill>
                            <a:srgbClr val="1D4E89"/>
                          </a:solidFill>
                          <a:latin typeface="Consolas"/>
                        </a:rPr>
                        <a:t>AndroidManifest.xml</a:t>
                      </a:r>
                      <a:r>
                        <a:rPr sz="900" b="0">
                          <a:solidFill>
                            <a:srgbClr val="1E293B"/>
                          </a:solidFill>
                          <a:latin typeface="Arial"/>
                        </a:rPr>
                        <a:t> / </a:t>
                      </a:r>
                      <a:r>
                        <a:rPr sz="900" b="0">
                          <a:solidFill>
                            <a:srgbClr val="1D4E89"/>
                          </a:solidFill>
                          <a:latin typeface="Consolas"/>
                        </a:rPr>
                        <a:t>Info.plist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Intent filters, URL schemes, permissions, associated domains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Rebuild required</a:t>
                      </a:r>
                    </a:p>
                  </a:txBody>
                  <a:tcPr marL="64008" marR="54864" marT="18288" marB="18288" anchor="ctr">
                    <a:solidFill>
                      <a:srgbClr val="FFFFFF"/>
                    </a:solidFill>
                  </a:tcPr>
                </a:tc>
              </a:tr>
              <a:tr h="331082">
                <a:tc>
                  <a:txBody>
                    <a:bodyPr wrap="square"/>
                    <a:lstStyle/>
                    <a:p>
                      <a:pPr algn="l">
                        <a:lnSpc>
                          <a:spcPct val="105000"/>
                        </a:lnSpc>
                      </a:pPr>
                    </a:p>
                  </a:txBody>
                  <a:tcPr marL="64008" marR="54864" marT="18288" marB="18288" anchor="ctr">
                    <a:solidFill>
                      <a:srgbClr val="F3F6F9"/>
                    </a:solidFill>
                  </a:tcPr>
                </a:tc>
                <a:tc>
                  <a:txBody>
                    <a:bodyPr wrap="square"/>
                    <a:lstStyle/>
                    <a:p>
                      <a:pPr algn="l">
                        <a:lnSpc>
                          <a:spcPct val="105000"/>
                        </a:lnSpc>
                      </a:pPr>
                      <a:r>
                        <a:rPr sz="900" b="0">
                          <a:solidFill>
                            <a:srgbClr val="1D4E89"/>
                          </a:solidFill>
                          <a:latin typeface="Consolas"/>
                        </a:rPr>
                        <a:t>locales/*.json</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UI language strings — add </a:t>
                      </a:r>
                      <a:r>
                        <a:rPr sz="900" b="0">
                          <a:solidFill>
                            <a:srgbClr val="1D4E89"/>
                          </a:solidFill>
                          <a:latin typeface="Consolas"/>
                        </a:rPr>
                        <a:t>pt-BR</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Rebuild required</a:t>
                      </a:r>
                    </a:p>
                  </a:txBody>
                  <a:tcPr marL="64008" marR="54864" marT="18288" marB="18288" anchor="ctr">
                    <a:solidFill>
                      <a:srgbClr val="F3F6F9"/>
                    </a:solidFill>
                  </a:tcPr>
                </a:tc>
              </a:tr>
              <a:tr h="347514">
                <a:tc>
                  <a:txBody>
                    <a:bodyPr wrap="square"/>
                    <a:lstStyle/>
                    <a:p>
                      <a:pPr algn="l">
                        <a:lnSpc>
                          <a:spcPct val="105000"/>
                        </a:lnSpc>
                      </a:pPr>
                      <a:r>
                        <a:rPr sz="900" b="1">
                          <a:solidFill>
                            <a:srgbClr val="0F172A"/>
                          </a:solidFill>
                          <a:latin typeface="Arial"/>
                        </a:rPr>
                        <a:t>Inji Web</a:t>
                      </a:r>
                    </a:p>
                  </a:txBody>
                  <a:tcPr marL="64008" marR="54864" marT="18288" marB="18288" anchor="ctr">
                    <a:solidFill>
                      <a:srgbClr val="FFFFFF"/>
                    </a:solidFill>
                  </a:tcPr>
                </a:tc>
                <a:tc>
                  <a:txBody>
                    <a:bodyPr wrap="square"/>
                    <a:lstStyle/>
                    <a:p>
                      <a:pPr algn="l">
                        <a:lnSpc>
                          <a:spcPct val="105000"/>
                        </a:lnSpc>
                      </a:pPr>
                      <a:r>
                        <a:rPr sz="900" b="0">
                          <a:solidFill>
                            <a:srgbClr val="1D4E89"/>
                          </a:solidFill>
                          <a:latin typeface="Consolas"/>
                        </a:rPr>
                        <a:t>public/env.config.js</a:t>
                      </a:r>
                    </a:p>
                  </a:txBody>
                  <a:tcPr marL="64008" marR="54864" marT="18288" marB="18288" anchor="ctr">
                    <a:solidFill>
                      <a:srgbClr val="FFFFFF"/>
                    </a:solidFill>
                  </a:tcPr>
                </a:tc>
                <a:tc>
                  <a:txBody>
                    <a:bodyPr wrap="square"/>
                    <a:lstStyle/>
                    <a:p>
                      <a:pPr algn="l">
                        <a:lnSpc>
                          <a:spcPct val="105000"/>
                        </a:lnSpc>
                      </a:pPr>
                      <a:r>
                        <a:rPr sz="900" b="0">
                          <a:solidFill>
                            <a:srgbClr val="1D4E89"/>
                          </a:solidFill>
                          <a:latin typeface="Consolas"/>
                        </a:rPr>
                        <a:t>MIMOTO_URL</a:t>
                      </a:r>
                      <a:r>
                        <a:rPr sz="900" b="0">
                          <a:solidFill>
                            <a:srgbClr val="1E293B"/>
                          </a:solidFill>
                          <a:latin typeface="Arial"/>
                        </a:rPr>
                        <a:t>, </a:t>
                      </a:r>
                      <a:r>
                        <a:rPr sz="900" b="0">
                          <a:solidFill>
                            <a:srgbClr val="1D4E89"/>
                          </a:solidFill>
                          <a:latin typeface="Consolas"/>
                        </a:rPr>
                        <a:t>DEFAULT_LANG</a:t>
                      </a:r>
                      <a:r>
                        <a:rPr sz="900" b="0">
                          <a:solidFill>
                            <a:srgbClr val="1E293B"/>
                          </a:solidFill>
                          <a:latin typeface="Arial"/>
                        </a:rPr>
                        <a:t>, </a:t>
                      </a:r>
                      <a:r>
                        <a:rPr sz="900" b="0">
                          <a:solidFill>
                            <a:srgbClr val="1D4E89"/>
                          </a:solidFill>
                          <a:latin typeface="Consolas"/>
                        </a:rPr>
                        <a:t>DEFAULT_THEME</a:t>
                      </a:r>
                      <a:r>
                        <a:rPr sz="900" b="0">
                          <a:solidFill>
                            <a:srgbClr val="1E293B"/>
                          </a:solidFill>
                          <a:latin typeface="Arial"/>
                        </a:rPr>
                        <a:t>, </a:t>
                      </a:r>
                      <a:r>
                        <a:rPr sz="900" b="0">
                          <a:solidFill>
                            <a:srgbClr val="1D4E89"/>
                          </a:solidFill>
                          <a:latin typeface="Consolas"/>
                        </a:rPr>
                        <a:t>DEFAULT_TITLE</a:t>
                      </a:r>
                      <a:r>
                        <a:rPr sz="900" b="0">
                          <a:solidFill>
                            <a:srgbClr val="1E293B"/>
                          </a:solidFill>
                          <a:latin typeface="Arial"/>
                        </a:rPr>
                        <a:t>, </a:t>
                      </a:r>
                      <a:r>
                        <a:rPr sz="900" b="0">
                          <a:solidFill>
                            <a:srgbClr val="1D4E89"/>
                          </a:solidFill>
                          <a:latin typeface="Consolas"/>
                        </a:rPr>
                        <a:t>IGNORED_ISSUER_IDS</a:t>
                      </a:r>
                    </a:p>
                  </a:txBody>
                  <a:tcPr marL="64008" marR="54864" marT="18288" marB="18288" anchor="ctr">
                    <a:solidFill>
                      <a:srgbClr val="FFFFFF"/>
                    </a:solidFill>
                  </a:tcPr>
                </a:tc>
                <a:tc>
                  <a:txBody>
                    <a:bodyPr wrap="square"/>
                    <a:lstStyle/>
                    <a:p>
                      <a:pPr algn="l">
                        <a:lnSpc>
                          <a:spcPct val="105000"/>
                        </a:lnSpc>
                      </a:pPr>
                      <a:r>
                        <a:rPr sz="900" b="1">
                          <a:solidFill>
                            <a:srgbClr val="15703D"/>
                          </a:solidFill>
                          <a:latin typeface="Arial"/>
                        </a:rPr>
                        <a:t>Runtime — no rebuild</a:t>
                      </a:r>
                    </a:p>
                  </a:txBody>
                  <a:tcPr marL="64008" marR="54864" marT="18288" marB="18288" anchor="ctr">
                    <a:solidFill>
                      <a:srgbClr val="FFFFFF"/>
                    </a:solidFill>
                  </a:tcPr>
                </a:tc>
              </a:tr>
              <a:tr h="331082">
                <a:tc>
                  <a:txBody>
                    <a:bodyPr wrap="square"/>
                    <a:lstStyle/>
                    <a:p>
                      <a:pPr algn="l">
                        <a:lnSpc>
                          <a:spcPct val="105000"/>
                        </a:lnSpc>
                      </a:pPr>
                    </a:p>
                  </a:txBody>
                  <a:tcPr marL="64008" marR="54864" marT="18288" marB="18288" anchor="ctr">
                    <a:solidFill>
                      <a:srgbClr val="F3F6F9"/>
                    </a:solidFill>
                  </a:tcPr>
                </a:tc>
                <a:tc>
                  <a:txBody>
                    <a:bodyPr wrap="square"/>
                    <a:lstStyle/>
                    <a:p>
                      <a:pPr algn="l">
                        <a:lnSpc>
                          <a:spcPct val="105000"/>
                        </a:lnSpc>
                      </a:pPr>
                      <a:r>
                        <a:rPr sz="900" b="0">
                          <a:solidFill>
                            <a:srgbClr val="1D4E89"/>
                          </a:solidFill>
                          <a:latin typeface="Consolas"/>
                        </a:rPr>
                        <a:t>src/locales/*.json</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UI strings; </a:t>
                      </a:r>
                      <a:r>
                        <a:rPr sz="900" b="0">
                          <a:solidFill>
                            <a:srgbClr val="1D4E89"/>
                          </a:solidFill>
                          <a:latin typeface="Consolas"/>
                        </a:rPr>
                        <a:t>pt.json</a:t>
                      </a:r>
                      <a:r>
                        <a:rPr sz="900" b="0">
                          <a:solidFill>
                            <a:srgbClr val="1E293B"/>
                          </a:solidFill>
                          <a:latin typeface="Arial"/>
                        </a:rPr>
                        <a:t> already ships in the repository</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Rebuild required</a:t>
                      </a:r>
                    </a:p>
                  </a:txBody>
                  <a:tcPr marL="64008" marR="54864" marT="18288" marB="18288" anchor="ctr">
                    <a:solidFill>
                      <a:srgbClr val="F3F6F9"/>
                    </a:solidFill>
                  </a:tcPr>
                </a:tc>
              </a:tr>
              <a:tr h="331082">
                <a:tc>
                  <a:txBody>
                    <a:bodyPr wrap="square"/>
                    <a:lstStyle/>
                    <a:p>
                      <a:pPr algn="l">
                        <a:lnSpc>
                          <a:spcPct val="105000"/>
                        </a:lnSpc>
                      </a:pP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Tailwind theme + assets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Colours, fonts, logos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Rebuild required</a:t>
                      </a:r>
                    </a:p>
                  </a:txBody>
                  <a:tcPr marL="64008" marR="54864" marT="18288" marB="18288" anchor="ctr">
                    <a:solidFill>
                      <a:srgbClr val="FFFFFF"/>
                    </a:solidFill>
                  </a:tcPr>
                </a:tc>
              </a:tr>
              <a:tr h="331082">
                <a:tc>
                  <a:txBody>
                    <a:bodyPr wrap="square"/>
                    <a:lstStyle/>
                    <a:p>
                      <a:pPr algn="l">
                        <a:lnSpc>
                          <a:spcPct val="105000"/>
                        </a:lnSpc>
                      </a:pPr>
                      <a:r>
                        <a:rPr sz="900" b="1">
                          <a:solidFill>
                            <a:srgbClr val="0F172A"/>
                          </a:solidFill>
                          <a:latin typeface="Arial"/>
                        </a:rPr>
                        <a:t>Mimoto</a:t>
                      </a:r>
                    </a:p>
                  </a:txBody>
                  <a:tcPr marL="64008" marR="54864" marT="18288" marB="18288" anchor="ctr">
                    <a:solidFill>
                      <a:srgbClr val="F3F6F9"/>
                    </a:solidFill>
                  </a:tcPr>
                </a:tc>
                <a:tc>
                  <a:txBody>
                    <a:bodyPr wrap="square"/>
                    <a:lstStyle/>
                    <a:p>
                      <a:pPr algn="l">
                        <a:lnSpc>
                          <a:spcPct val="105000"/>
                        </a:lnSpc>
                      </a:pPr>
                      <a:r>
                        <a:rPr sz="900" b="0">
                          <a:solidFill>
                            <a:srgbClr val="1D4E89"/>
                          </a:solidFill>
                          <a:latin typeface="Consolas"/>
                        </a:rPr>
                        <a:t>mimoto-issuers-config.json</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Which issuers exist, their hosts, client ids, redirect URIs, display</a:t>
                      </a:r>
                    </a:p>
                  </a:txBody>
                  <a:tcPr marL="64008" marR="54864" marT="18288" marB="18288" anchor="ctr">
                    <a:solidFill>
                      <a:srgbClr val="F3F6F9"/>
                    </a:solidFill>
                  </a:tcPr>
                </a:tc>
                <a:tc>
                  <a:txBody>
                    <a:bodyPr wrap="square"/>
                    <a:lstStyle/>
                    <a:p>
                      <a:pPr algn="l">
                        <a:lnSpc>
                          <a:spcPct val="105000"/>
                        </a:lnSpc>
                      </a:pPr>
                      <a:r>
                        <a:rPr sz="900" b="1">
                          <a:solidFill>
                            <a:srgbClr val="15703D"/>
                          </a:solidFill>
                          <a:latin typeface="Arial"/>
                        </a:rPr>
                        <a:t>Restart or cache TTL</a:t>
                      </a:r>
                    </a:p>
                  </a:txBody>
                  <a:tcPr marL="64008" marR="54864" marT="18288" marB="18288" anchor="ctr">
                    <a:solidFill>
                      <a:srgbClr val="F3F6F9"/>
                    </a:solidFill>
                  </a:tcPr>
                </a:tc>
              </a:tr>
              <a:tr h="331082">
                <a:tc>
                  <a:txBody>
                    <a:bodyPr wrap="square"/>
                    <a:lstStyle/>
                    <a:p>
                      <a:pPr algn="l">
                        <a:lnSpc>
                          <a:spcPct val="105000"/>
                        </a:lnSpc>
                      </a:pPr>
                    </a:p>
                  </a:txBody>
                  <a:tcPr marL="64008" marR="54864" marT="18288" marB="18288" anchor="ctr">
                    <a:solidFill>
                      <a:srgbClr val="FFFFFF"/>
                    </a:solidFill>
                  </a:tcPr>
                </a:tc>
                <a:tc>
                  <a:txBody>
                    <a:bodyPr wrap="square"/>
                    <a:lstStyle/>
                    <a:p>
                      <a:pPr algn="l">
                        <a:lnSpc>
                          <a:spcPct val="105000"/>
                        </a:lnSpc>
                      </a:pPr>
                      <a:r>
                        <a:rPr sz="900" b="0">
                          <a:solidFill>
                            <a:srgbClr val="1D4E89"/>
                          </a:solidFill>
                          <a:latin typeface="Consolas"/>
                        </a:rPr>
                        <a:t>mimoto-trusted-verifiers.json</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Which verifiers the wallet will talk to, their JWKS and response URIs</a:t>
                      </a:r>
                    </a:p>
                  </a:txBody>
                  <a:tcPr marL="64008" marR="54864" marT="18288" marB="18288" anchor="ctr">
                    <a:solidFill>
                      <a:srgbClr val="FFFFFF"/>
                    </a:solidFill>
                  </a:tcPr>
                </a:tc>
                <a:tc>
                  <a:txBody>
                    <a:bodyPr wrap="square"/>
                    <a:lstStyle/>
                    <a:p>
                      <a:pPr algn="l">
                        <a:lnSpc>
                          <a:spcPct val="105000"/>
                        </a:lnSpc>
                      </a:pPr>
                      <a:r>
                        <a:rPr sz="900" b="1">
                          <a:solidFill>
                            <a:srgbClr val="15703D"/>
                          </a:solidFill>
                          <a:latin typeface="Arial"/>
                        </a:rPr>
                        <a:t>Restart or cache TTL</a:t>
                      </a:r>
                    </a:p>
                  </a:txBody>
                  <a:tcPr marL="64008" marR="54864" marT="18288" marB="18288" anchor="ctr">
                    <a:solidFill>
                      <a:srgbClr val="FFFFFF"/>
                    </a:solidFill>
                  </a:tcPr>
                </a:tc>
              </a:tr>
              <a:tr h="331082">
                <a:tc>
                  <a:txBody>
                    <a:bodyPr wrap="square"/>
                    <a:lstStyle/>
                    <a:p>
                      <a:pPr algn="l">
                        <a:lnSpc>
                          <a:spcPct val="105000"/>
                        </a:lnSpc>
                      </a:pPr>
                    </a:p>
                  </a:txBody>
                  <a:tcPr marL="64008" marR="54864" marT="18288" marB="18288" anchor="ctr">
                    <a:solidFill>
                      <a:srgbClr val="F3F6F9"/>
                    </a:solidFill>
                  </a:tcPr>
                </a:tc>
                <a:tc>
                  <a:txBody>
                    <a:bodyPr wrap="square"/>
                    <a:lstStyle/>
                    <a:p>
                      <a:pPr algn="l">
                        <a:lnSpc>
                          <a:spcPct val="105000"/>
                        </a:lnSpc>
                      </a:pPr>
                      <a:r>
                        <a:rPr sz="900" b="0">
                          <a:solidFill>
                            <a:srgbClr val="1D4E89"/>
                          </a:solidFill>
                          <a:latin typeface="Consolas"/>
                        </a:rPr>
                        <a:t>mimoto-default.properties</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Datasource, cache TTLs, session timeout, download timeouts, partner keys</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Restart</a:t>
                      </a:r>
                    </a:p>
                  </a:txBody>
                  <a:tcPr marL="64008" marR="54864" marT="18288" marB="18288" anchor="ctr">
                    <a:solidFill>
                      <a:srgbClr val="F3F6F9"/>
                    </a:solidFill>
                  </a:tcPr>
                </a:tc>
              </a:tr>
              <a:tr h="331082">
                <a:tc>
                  <a:txBody>
                    <a:bodyPr wrap="square"/>
                    <a:lstStyle/>
                    <a:p>
                      <a:pPr algn="l">
                        <a:lnSpc>
                          <a:spcPct val="105000"/>
                        </a:lnSpc>
                      </a:pPr>
                      <a:r>
                        <a:rPr sz="900" b="1">
                          <a:solidFill>
                            <a:srgbClr val="0F172A"/>
                          </a:solidFill>
                          <a:latin typeface="Arial"/>
                        </a:rPr>
                        <a:t>Issuer</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Credential issuer metadata</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Formats, claims, </a:t>
                      </a:r>
                      <a:r>
                        <a:rPr sz="900" b="1">
                          <a:solidFill>
                            <a:srgbClr val="0F172A"/>
                          </a:solidFill>
                          <a:latin typeface="Arial"/>
                        </a:rPr>
                        <a:t>display labels and field order, per locale</a:t>
                      </a:r>
                    </a:p>
                  </a:txBody>
                  <a:tcPr marL="64008" marR="54864" marT="18288" marB="18288" anchor="ctr">
                    <a:solidFill>
                      <a:srgbClr val="FFFFFF"/>
                    </a:solidFill>
                  </a:tcPr>
                </a:tc>
                <a:tc>
                  <a:txBody>
                    <a:bodyPr wrap="square"/>
                    <a:lstStyle/>
                    <a:p>
                      <a:pPr algn="l">
                        <a:lnSpc>
                          <a:spcPct val="105000"/>
                        </a:lnSpc>
                      </a:pPr>
                      <a:r>
                        <a:rPr sz="900" b="1">
                          <a:solidFill>
                            <a:srgbClr val="15703D"/>
                          </a:solidFill>
                          <a:latin typeface="Arial"/>
                        </a:rPr>
                        <a:t>Live, subject to Mimoto's cache</a:t>
                      </a:r>
                    </a:p>
                  </a:txBody>
                  <a:tcPr marL="64008" marR="54864" marT="18288" marB="18288" anchor="ctr">
                    <a:solidFill>
                      <a:srgbClr val="FFFFFF"/>
                    </a:solidFill>
                  </a:tcPr>
                </a:tc>
              </a:tr>
            </a:tbl>
          </a:graphicData>
        </a:graphic>
      </p:graphicFrame>
      <p:sp>
        <p:nvSpPr>
          <p:cNvPr id="7" name="Rounded Rectangle 6"/>
          <p:cNvSpPr/>
          <p:nvPr/>
        </p:nvSpPr>
        <p:spPr>
          <a:xfrm>
            <a:off x="502920" y="5764633"/>
            <a:ext cx="11185855" cy="508150"/>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764633"/>
            <a:ext cx="45720" cy="50815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852922"/>
            <a:ext cx="10820095" cy="366888"/>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E293B"/>
                </a:solidFill>
                <a:latin typeface="Arial"/>
              </a:rPr>
              <a:t>Read the right-hand column as a </a:t>
            </a:r>
            <a:r>
              <a:rPr sz="1019" b="1" i="0">
                <a:solidFill>
                  <a:srgbClr val="0E9488"/>
                </a:solidFill>
                <a:latin typeface="Arial"/>
              </a:rPr>
              <a:t>release-speed map</a:t>
            </a:r>
            <a:r>
              <a:rPr sz="1019" b="0" i="0">
                <a:solidFill>
                  <a:srgbClr val="1E293B"/>
                </a:solidFill>
                <a:latin typeface="Arial"/>
              </a:rPr>
              <a:t>. Anything that says 'rebuild required' for the Wallet means an app store cycle. Push as much as you can into issuer metadata, Mimoto configuration and </a:t>
            </a:r>
            <a:r>
              <a:rPr sz="1019" b="0" i="0">
                <a:solidFill>
                  <a:srgbClr val="1D4E89"/>
                </a:solidFill>
                <a:latin typeface="Consolas"/>
              </a:rPr>
              <a:t>env.config.js</a:t>
            </a:r>
            <a:r>
              <a:rPr sz="1019" b="0" i="0">
                <a:solidFill>
                  <a:srgbClr val="1E293B"/>
                </a:solidFill>
                <a:latin typeface="Arial"/>
              </a:rPr>
              <a:t> — those change in minutes, not weeks.</a:t>
            </a:r>
          </a:p>
        </p:txBody>
      </p:sp>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Configuration, deployment and the code</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PT-BR</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Localisation, branding and Portuguese</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Three separate localisation surfaces. Missing one of them produces a half-translated app.</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628034" cy="278892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3628034" cy="59436"/>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83664"/>
            <a:ext cx="326227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1 — Application chrome</a:t>
            </a:r>
          </a:p>
        </p:txBody>
      </p:sp>
      <p:sp>
        <p:nvSpPr>
          <p:cNvPr id="9" name="TextBox 8"/>
          <p:cNvSpPr txBox="1"/>
          <p:nvPr/>
        </p:nvSpPr>
        <p:spPr>
          <a:xfrm>
            <a:off x="685800" y="2194560"/>
            <a:ext cx="3262274" cy="274320"/>
          </a:xfrm>
          <a:prstGeom prst="rect">
            <a:avLst/>
          </a:prstGeom>
          <a:noFill/>
        </p:spPr>
        <p:txBody>
          <a:bodyPr wrap="square" lIns="0" rIns="0" tIns="0" bIns="0" anchor="t">
            <a:spAutoFit/>
          </a:bodyPr>
          <a:lstStyle/>
          <a:p>
            <a:pPr algn="l">
              <a:lnSpc>
                <a:spcPct val="114000"/>
              </a:lnSpc>
              <a:spcBef>
                <a:spcPts val="0"/>
              </a:spcBef>
              <a:spcAft>
                <a:spcPts val="0"/>
              </a:spcAft>
            </a:pPr>
            <a:r>
              <a:rPr sz="919" b="0" i="1">
                <a:solidFill>
                  <a:srgbClr val="5B6B7F"/>
                </a:solidFill>
              </a:rPr>
              <a:t>Buttons, menus, errors, onboarding.</a:t>
            </a:r>
          </a:p>
        </p:txBody>
      </p:sp>
      <p:sp>
        <p:nvSpPr>
          <p:cNvPr id="10" name="Oval 9"/>
          <p:cNvSpPr/>
          <p:nvPr/>
        </p:nvSpPr>
        <p:spPr>
          <a:xfrm>
            <a:off x="708660" y="2587802"/>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523744"/>
            <a:ext cx="3051962" cy="57538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Inji Web: </a:t>
            </a:r>
            <a:r>
              <a:rPr sz="969" b="0" i="0">
                <a:solidFill>
                  <a:srgbClr val="1D4E89"/>
                </a:solidFill>
                <a:latin typeface="Consolas"/>
              </a:rPr>
              <a:t>src/locales/pt.json</a:t>
            </a:r>
            <a:r>
              <a:rPr sz="969" b="0" i="0">
                <a:solidFill>
                  <a:srgbClr val="0F172A"/>
                </a:solidFill>
                <a:latin typeface="Arial"/>
              </a:rPr>
              <a:t> — </a:t>
            </a:r>
            <a:r>
              <a:rPr sz="969" b="1" i="0">
                <a:solidFill>
                  <a:srgbClr val="0F172A"/>
                </a:solidFill>
                <a:latin typeface="Arial"/>
              </a:rPr>
              <a:t>already present and complete</a:t>
            </a:r>
            <a:r>
              <a:rPr sz="969" b="0" i="0">
                <a:solidFill>
                  <a:srgbClr val="0F172A"/>
                </a:solidFill>
                <a:latin typeface="Arial"/>
              </a:rPr>
              <a:t> in the repository.</a:t>
            </a:r>
          </a:p>
        </p:txBody>
      </p:sp>
      <p:sp>
        <p:nvSpPr>
          <p:cNvPr id="12" name="Oval 11"/>
          <p:cNvSpPr/>
          <p:nvPr/>
        </p:nvSpPr>
        <p:spPr>
          <a:xfrm>
            <a:off x="708660" y="3135757"/>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071698"/>
            <a:ext cx="3051962" cy="57538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Inji Wallet: </a:t>
            </a:r>
            <a:r>
              <a:rPr sz="969" b="0" i="0">
                <a:solidFill>
                  <a:srgbClr val="1D4E89"/>
                </a:solidFill>
                <a:latin typeface="Consolas"/>
              </a:rPr>
              <a:t>locales/</a:t>
            </a:r>
            <a:r>
              <a:rPr sz="969" b="0" i="0">
                <a:solidFill>
                  <a:srgbClr val="0F172A"/>
                </a:solidFill>
                <a:latin typeface="Arial"/>
              </a:rPr>
              <a:t> plus </a:t>
            </a:r>
            <a:r>
              <a:rPr sz="969" b="0" i="0">
                <a:solidFill>
                  <a:srgbClr val="1D4E89"/>
                </a:solidFill>
                <a:latin typeface="Consolas"/>
              </a:rPr>
              <a:t>i18n.ts</a:t>
            </a:r>
            <a:r>
              <a:rPr sz="969" b="0" i="0">
                <a:solidFill>
                  <a:srgbClr val="0F172A"/>
                </a:solidFill>
                <a:latin typeface="Arial"/>
              </a:rPr>
              <a:t>; </a:t>
            </a:r>
            <a:r>
              <a:rPr sz="969" b="0" i="0">
                <a:solidFill>
                  <a:srgbClr val="1D4E89"/>
                </a:solidFill>
                <a:latin typeface="Consolas"/>
              </a:rPr>
              <a:t>expo-localization</a:t>
            </a:r>
            <a:r>
              <a:rPr sz="969" b="0" i="0">
                <a:solidFill>
                  <a:srgbClr val="0F172A"/>
                </a:solidFill>
                <a:latin typeface="Arial"/>
              </a:rPr>
              <a:t> picks the device language.</a:t>
            </a:r>
          </a:p>
        </p:txBody>
      </p:sp>
      <p:sp>
        <p:nvSpPr>
          <p:cNvPr id="14" name="Oval 13"/>
          <p:cNvSpPr/>
          <p:nvPr/>
        </p:nvSpPr>
        <p:spPr>
          <a:xfrm>
            <a:off x="708660" y="3683711"/>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619652"/>
            <a:ext cx="3051962" cy="264947"/>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Owned by: the Inji delivery team.</a:t>
            </a:r>
          </a:p>
        </p:txBody>
      </p:sp>
      <p:sp>
        <p:nvSpPr>
          <p:cNvPr id="16" name="Rounded Rectangle 15"/>
          <p:cNvSpPr/>
          <p:nvPr/>
        </p:nvSpPr>
        <p:spPr>
          <a:xfrm>
            <a:off x="4304690" y="1682496"/>
            <a:ext cx="3628034" cy="278892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04690" y="1682496"/>
            <a:ext cx="3628034" cy="59436"/>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7570" y="1883664"/>
            <a:ext cx="326227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2 — Credential content</a:t>
            </a:r>
          </a:p>
        </p:txBody>
      </p:sp>
      <p:sp>
        <p:nvSpPr>
          <p:cNvPr id="19" name="TextBox 18"/>
          <p:cNvSpPr txBox="1"/>
          <p:nvPr/>
        </p:nvSpPr>
        <p:spPr>
          <a:xfrm>
            <a:off x="4487570" y="2194560"/>
            <a:ext cx="3262274" cy="274320"/>
          </a:xfrm>
          <a:prstGeom prst="rect">
            <a:avLst/>
          </a:prstGeom>
          <a:noFill/>
        </p:spPr>
        <p:txBody>
          <a:bodyPr wrap="square" lIns="0" rIns="0" tIns="0" bIns="0" anchor="t">
            <a:spAutoFit/>
          </a:bodyPr>
          <a:lstStyle/>
          <a:p>
            <a:pPr algn="l">
              <a:lnSpc>
                <a:spcPct val="114000"/>
              </a:lnSpc>
              <a:spcBef>
                <a:spcPts val="0"/>
              </a:spcBef>
              <a:spcAft>
                <a:spcPts val="0"/>
              </a:spcAft>
            </a:pPr>
            <a:r>
              <a:rPr sz="919" b="0" i="1">
                <a:solidFill>
                  <a:srgbClr val="5B6B7F"/>
                </a:solidFill>
              </a:rPr>
              <a:t>Field labels, credential name, the order fields appear in.</a:t>
            </a:r>
          </a:p>
        </p:txBody>
      </p:sp>
      <p:sp>
        <p:nvSpPr>
          <p:cNvPr id="20" name="Oval 19"/>
          <p:cNvSpPr/>
          <p:nvPr/>
        </p:nvSpPr>
        <p:spPr>
          <a:xfrm>
            <a:off x="4510430" y="2587802"/>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97882" y="2523744"/>
            <a:ext cx="3051962" cy="57538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Comes from the </a:t>
            </a:r>
            <a:r>
              <a:rPr sz="969" b="1" i="0">
                <a:solidFill>
                  <a:srgbClr val="0F172A"/>
                </a:solidFill>
                <a:latin typeface="Arial"/>
              </a:rPr>
              <a:t>issuer's</a:t>
            </a:r>
            <a:r>
              <a:rPr sz="969" b="0" i="0">
                <a:solidFill>
                  <a:srgbClr val="0F172A"/>
                </a:solidFill>
                <a:latin typeface="Arial"/>
              </a:rPr>
              <a:t> metadata: </a:t>
            </a:r>
            <a:r>
              <a:rPr sz="969" b="0" i="0">
                <a:solidFill>
                  <a:srgbClr val="1D4E89"/>
                </a:solidFill>
                <a:latin typeface="Consolas"/>
              </a:rPr>
              <a:t>display[{name, locale}]</a:t>
            </a:r>
            <a:r>
              <a:rPr sz="969" b="0" i="0">
                <a:solidFill>
                  <a:srgbClr val="0F172A"/>
                </a:solidFill>
                <a:latin typeface="Arial"/>
              </a:rPr>
              <a:t> and the </a:t>
            </a:r>
            <a:r>
              <a:rPr sz="969" b="0" i="0">
                <a:solidFill>
                  <a:srgbClr val="1D4E89"/>
                </a:solidFill>
                <a:latin typeface="Consolas"/>
              </a:rPr>
              <a:t>order</a:t>
            </a:r>
            <a:r>
              <a:rPr sz="969" b="0" i="0">
                <a:solidFill>
                  <a:srgbClr val="0F172A"/>
                </a:solidFill>
                <a:latin typeface="Arial"/>
              </a:rPr>
              <a:t> property.</a:t>
            </a:r>
          </a:p>
        </p:txBody>
      </p:sp>
      <p:sp>
        <p:nvSpPr>
          <p:cNvPr id="22" name="Oval 21"/>
          <p:cNvSpPr/>
          <p:nvPr/>
        </p:nvSpPr>
        <p:spPr>
          <a:xfrm>
            <a:off x="4510430" y="3135757"/>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97882" y="3071698"/>
            <a:ext cx="3051962" cy="4201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Set </a:t>
            </a:r>
            <a:r>
              <a:rPr sz="969" b="0" i="0">
                <a:solidFill>
                  <a:srgbClr val="1D4E89"/>
                </a:solidFill>
                <a:latin typeface="Consolas"/>
              </a:rPr>
              <a:t>locale: "pt-BR"</a:t>
            </a:r>
            <a:r>
              <a:rPr sz="969" b="0" i="0">
                <a:solidFill>
                  <a:srgbClr val="0F172A"/>
                </a:solidFill>
                <a:latin typeface="Arial"/>
              </a:rPr>
              <a:t> entries alongside any others.</a:t>
            </a:r>
          </a:p>
        </p:txBody>
      </p:sp>
      <p:sp>
        <p:nvSpPr>
          <p:cNvPr id="24" name="Oval 23"/>
          <p:cNvSpPr/>
          <p:nvPr/>
        </p:nvSpPr>
        <p:spPr>
          <a:xfrm>
            <a:off x="4510430" y="3528491"/>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97882" y="3464433"/>
            <a:ext cx="3051962" cy="264947"/>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Owned by: whoever operates the issuer.</a:t>
            </a:r>
          </a:p>
        </p:txBody>
      </p:sp>
      <p:sp>
        <p:nvSpPr>
          <p:cNvPr id="26" name="Rounded Rectangle 25"/>
          <p:cNvSpPr/>
          <p:nvPr/>
        </p:nvSpPr>
        <p:spPr>
          <a:xfrm>
            <a:off x="8106460" y="1682496"/>
            <a:ext cx="3628034" cy="278892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6460" y="1682496"/>
            <a:ext cx="3628034" cy="5943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89340" y="1883664"/>
            <a:ext cx="326227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3 — Brand and theme</a:t>
            </a:r>
          </a:p>
        </p:txBody>
      </p:sp>
      <p:sp>
        <p:nvSpPr>
          <p:cNvPr id="29" name="TextBox 28"/>
          <p:cNvSpPr txBox="1"/>
          <p:nvPr/>
        </p:nvSpPr>
        <p:spPr>
          <a:xfrm>
            <a:off x="8289340" y="2194560"/>
            <a:ext cx="3262274" cy="274320"/>
          </a:xfrm>
          <a:prstGeom prst="rect">
            <a:avLst/>
          </a:prstGeom>
          <a:noFill/>
        </p:spPr>
        <p:txBody>
          <a:bodyPr wrap="square" lIns="0" rIns="0" tIns="0" bIns="0" anchor="t">
            <a:spAutoFit/>
          </a:bodyPr>
          <a:lstStyle/>
          <a:p>
            <a:pPr algn="l">
              <a:lnSpc>
                <a:spcPct val="114000"/>
              </a:lnSpc>
              <a:spcBef>
                <a:spcPts val="0"/>
              </a:spcBef>
              <a:spcAft>
                <a:spcPts val="0"/>
              </a:spcAft>
            </a:pPr>
            <a:r>
              <a:rPr sz="919" b="0" i="1">
                <a:solidFill>
                  <a:srgbClr val="5B6B7F"/>
                </a:solidFill>
              </a:rPr>
              <a:t>Colours, logos, fonts, app name, icons.</a:t>
            </a:r>
          </a:p>
        </p:txBody>
      </p:sp>
      <p:sp>
        <p:nvSpPr>
          <p:cNvPr id="30" name="Oval 29"/>
          <p:cNvSpPr/>
          <p:nvPr/>
        </p:nvSpPr>
        <p:spPr>
          <a:xfrm>
            <a:off x="8312200" y="2587802"/>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99652" y="2523744"/>
            <a:ext cx="3051962" cy="4201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Wallet: </a:t>
            </a:r>
            <a:r>
              <a:rPr sz="969" b="0" i="0">
                <a:solidFill>
                  <a:srgbClr val="1D4E89"/>
                </a:solidFill>
                <a:latin typeface="Consolas"/>
              </a:rPr>
              <a:t>APPLICATION_THEME</a:t>
            </a:r>
            <a:r>
              <a:rPr sz="969" b="0" i="0">
                <a:solidFill>
                  <a:srgbClr val="0F172A"/>
                </a:solidFill>
                <a:latin typeface="Arial"/>
              </a:rPr>
              <a:t>, product flavours in Gradle, asset replacement.</a:t>
            </a:r>
          </a:p>
        </p:txBody>
      </p:sp>
      <p:sp>
        <p:nvSpPr>
          <p:cNvPr id="32" name="Oval 31"/>
          <p:cNvSpPr/>
          <p:nvPr/>
        </p:nvSpPr>
        <p:spPr>
          <a:xfrm>
            <a:off x="8312200" y="2980537"/>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9652" y="2916478"/>
            <a:ext cx="3051962" cy="420166"/>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Web: Tailwind theme, </a:t>
            </a:r>
            <a:r>
              <a:rPr sz="969" b="0" i="0">
                <a:solidFill>
                  <a:srgbClr val="1D4E89"/>
                </a:solidFill>
                <a:latin typeface="Consolas"/>
              </a:rPr>
              <a:t>DEFAULT_TITLE</a:t>
            </a:r>
            <a:r>
              <a:rPr sz="969" b="0" i="0">
                <a:solidFill>
                  <a:srgbClr val="0F172A"/>
                </a:solidFill>
                <a:latin typeface="Arial"/>
              </a:rPr>
              <a:t>, </a:t>
            </a:r>
            <a:r>
              <a:rPr sz="969" b="0" i="0">
                <a:solidFill>
                  <a:srgbClr val="1D4E89"/>
                </a:solidFill>
                <a:latin typeface="Consolas"/>
              </a:rPr>
              <a:t>DEFAULT_FAVICON</a:t>
            </a:r>
            <a:r>
              <a:rPr sz="969" b="0" i="0">
                <a:solidFill>
                  <a:srgbClr val="0F172A"/>
                </a:solidFill>
                <a:latin typeface="Arial"/>
              </a:rPr>
              <a:t>, </a:t>
            </a:r>
            <a:r>
              <a:rPr sz="969" b="0" i="0">
                <a:solidFill>
                  <a:srgbClr val="1D4E89"/>
                </a:solidFill>
                <a:latin typeface="Consolas"/>
              </a:rPr>
              <a:t>DEFAULT_FONT_URL</a:t>
            </a:r>
            <a:r>
              <a:rPr sz="969" b="0" i="0">
                <a:solidFill>
                  <a:srgbClr val="0F172A"/>
                </a:solidFill>
                <a:latin typeface="Arial"/>
              </a:rPr>
              <a:t>.</a:t>
            </a:r>
          </a:p>
        </p:txBody>
      </p:sp>
      <p:sp>
        <p:nvSpPr>
          <p:cNvPr id="34" name="Oval 33"/>
          <p:cNvSpPr/>
          <p:nvPr/>
        </p:nvSpPr>
        <p:spPr>
          <a:xfrm>
            <a:off x="8312200" y="3373272"/>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99652" y="3309213"/>
            <a:ext cx="3051962" cy="264947"/>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Owned by: the programme's design authority.</a:t>
            </a:r>
          </a:p>
        </p:txBody>
      </p:sp>
      <p:sp>
        <p:nvSpPr>
          <p:cNvPr id="36" name="Rounded Rectangle 35"/>
          <p:cNvSpPr/>
          <p:nvPr/>
        </p:nvSpPr>
        <p:spPr>
          <a:xfrm>
            <a:off x="502920" y="4700016"/>
            <a:ext cx="5440680" cy="522986"/>
          </a:xfrm>
          <a:prstGeom prst="roundRect">
            <a:avLst>
              <a:gd name="adj" fmla="val 9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4700016"/>
            <a:ext cx="45720" cy="522986"/>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4088" y="4791455"/>
            <a:ext cx="5074920" cy="376682"/>
          </a:xfrm>
          <a:prstGeom prst="rect">
            <a:avLst/>
          </a:prstGeom>
          <a:noFill/>
        </p:spPr>
        <p:txBody>
          <a:bodyPr wrap="square" lIns="0" rIns="0" tIns="0" bIns="0" anchor="t">
            <a:spAutoFit/>
          </a:bodyPr>
          <a:lstStyle/>
          <a:p>
            <a:pPr algn="l">
              <a:lnSpc>
                <a:spcPct val="122000"/>
              </a:lnSpc>
              <a:spcBef>
                <a:spcPts val="0"/>
              </a:spcBef>
              <a:spcAft>
                <a:spcPts val="0"/>
              </a:spcAft>
            </a:pPr>
            <a:r>
              <a:rPr sz="1030" b="0" i="0">
                <a:solidFill>
                  <a:srgbClr val="1E293B"/>
                </a:solidFill>
                <a:latin typeface="Arial"/>
              </a:rPr>
              <a:t>Other languages already in </a:t>
            </a:r>
            <a:r>
              <a:rPr sz="1030" b="0" i="0">
                <a:solidFill>
                  <a:srgbClr val="1D4E89"/>
                </a:solidFill>
                <a:latin typeface="Consolas"/>
              </a:rPr>
              <a:t>inji-web</a:t>
            </a:r>
            <a:r>
              <a:rPr sz="1030" b="0" i="0">
                <a:solidFill>
                  <a:srgbClr val="1E293B"/>
                </a:solidFill>
                <a:latin typeface="Arial"/>
              </a:rPr>
              <a:t>: </a:t>
            </a:r>
            <a:r>
              <a:rPr sz="1030" b="0" i="0">
                <a:solidFill>
                  <a:srgbClr val="1D4E89"/>
                </a:solidFill>
                <a:latin typeface="Consolas"/>
              </a:rPr>
              <a:t>en</a:t>
            </a:r>
            <a:r>
              <a:rPr sz="1030" b="0" i="0">
                <a:solidFill>
                  <a:srgbClr val="1E293B"/>
                </a:solidFill>
                <a:latin typeface="Arial"/>
              </a:rPr>
              <a:t>, </a:t>
            </a:r>
            <a:r>
              <a:rPr sz="1030" b="0" i="0">
                <a:solidFill>
                  <a:srgbClr val="1D4E89"/>
                </a:solidFill>
                <a:latin typeface="Consolas"/>
              </a:rPr>
              <a:t>pt</a:t>
            </a:r>
            <a:r>
              <a:rPr sz="1030" b="0" i="0">
                <a:solidFill>
                  <a:srgbClr val="1E293B"/>
                </a:solidFill>
                <a:latin typeface="Arial"/>
              </a:rPr>
              <a:t>, </a:t>
            </a:r>
            <a:r>
              <a:rPr sz="1030" b="0" i="0">
                <a:solidFill>
                  <a:srgbClr val="1D4E89"/>
                </a:solidFill>
                <a:latin typeface="Consolas"/>
              </a:rPr>
              <a:t>fr</a:t>
            </a:r>
            <a:r>
              <a:rPr sz="1030" b="0" i="0">
                <a:solidFill>
                  <a:srgbClr val="1E293B"/>
                </a:solidFill>
                <a:latin typeface="Arial"/>
              </a:rPr>
              <a:t>, </a:t>
            </a:r>
            <a:r>
              <a:rPr sz="1030" b="0" i="0">
                <a:solidFill>
                  <a:srgbClr val="1D4E89"/>
                </a:solidFill>
                <a:latin typeface="Consolas"/>
              </a:rPr>
              <a:t>ar</a:t>
            </a:r>
            <a:r>
              <a:rPr sz="1030" b="0" i="0">
                <a:solidFill>
                  <a:srgbClr val="1E293B"/>
                </a:solidFill>
                <a:latin typeface="Arial"/>
              </a:rPr>
              <a:t>, </a:t>
            </a:r>
            <a:r>
              <a:rPr sz="1030" b="0" i="0">
                <a:solidFill>
                  <a:srgbClr val="1D4E89"/>
                </a:solidFill>
                <a:latin typeface="Consolas"/>
              </a:rPr>
              <a:t>hi</a:t>
            </a:r>
            <a:r>
              <a:rPr sz="1030" b="0" i="0">
                <a:solidFill>
                  <a:srgbClr val="1E293B"/>
                </a:solidFill>
                <a:latin typeface="Arial"/>
              </a:rPr>
              <a:t>, </a:t>
            </a:r>
            <a:r>
              <a:rPr sz="1030" b="0" i="0">
                <a:solidFill>
                  <a:srgbClr val="1D4E89"/>
                </a:solidFill>
                <a:latin typeface="Consolas"/>
              </a:rPr>
              <a:t>kn</a:t>
            </a:r>
            <a:r>
              <a:rPr sz="1030" b="0" i="0">
                <a:solidFill>
                  <a:srgbClr val="1E293B"/>
                </a:solidFill>
                <a:latin typeface="Arial"/>
              </a:rPr>
              <a:t>, </a:t>
            </a:r>
            <a:r>
              <a:rPr sz="1030" b="0" i="0">
                <a:solidFill>
                  <a:srgbClr val="1D4E89"/>
                </a:solidFill>
                <a:latin typeface="Consolas"/>
              </a:rPr>
              <a:t>ta</a:t>
            </a:r>
            <a:r>
              <a:rPr sz="1030" b="0" i="0">
                <a:solidFill>
                  <a:srgbClr val="1E293B"/>
                </a:solidFill>
                <a:latin typeface="Arial"/>
              </a:rPr>
              <a:t>. Portuguese is not a port — it is a starting point you refine.</a:t>
            </a:r>
          </a:p>
        </p:txBody>
      </p:sp>
      <p:sp>
        <p:nvSpPr>
          <p:cNvPr id="39" name="Rounded Rectangle 38"/>
          <p:cNvSpPr/>
          <p:nvPr/>
        </p:nvSpPr>
        <p:spPr>
          <a:xfrm>
            <a:off x="6245352" y="4700016"/>
            <a:ext cx="5440680" cy="522986"/>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45352" y="4700016"/>
            <a:ext cx="45720" cy="52298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6520" y="4791455"/>
            <a:ext cx="5074920" cy="376682"/>
          </a:xfrm>
          <a:prstGeom prst="rect">
            <a:avLst/>
          </a:prstGeom>
          <a:noFill/>
        </p:spPr>
        <p:txBody>
          <a:bodyPr wrap="square" lIns="0" rIns="0" tIns="0" bIns="0" anchor="t">
            <a:spAutoFit/>
          </a:bodyPr>
          <a:lstStyle/>
          <a:p>
            <a:pPr algn="l">
              <a:lnSpc>
                <a:spcPct val="122000"/>
              </a:lnSpc>
              <a:spcBef>
                <a:spcPts val="0"/>
              </a:spcBef>
              <a:spcAft>
                <a:spcPts val="0"/>
              </a:spcAft>
            </a:pPr>
            <a:r>
              <a:rPr sz="1030" b="0" i="0">
                <a:solidFill>
                  <a:srgbClr val="1E293B"/>
                </a:solidFill>
                <a:latin typeface="Arial"/>
              </a:rPr>
              <a:t>The half-translated trap: app chrome in Portuguese, credential fields in English, because nobody told the issuer team about surface 2.</a:t>
            </a:r>
          </a:p>
        </p:txBody>
      </p:sp>
      <p:sp>
        <p:nvSpPr>
          <p:cNvPr id="42" name="TextBox 4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Configuration, deployment and the code</a:t>
            </a:r>
          </a:p>
        </p:txBody>
      </p:sp>
      <p:sp>
        <p:nvSpPr>
          <p:cNvPr id="43" name="TextBox 4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RUNNING IT FOR REAL</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Deployment topology and build pipelines</a:t>
            </a:r>
          </a:p>
        </p:txBody>
      </p:sp>
      <p:sp>
        <p:nvSpPr>
          <p:cNvPr id="4" name="TextBox 3"/>
          <p:cNvSpPr txBox="1"/>
          <p:nvPr/>
        </p:nvSpPr>
        <p:spPr>
          <a:xfrm>
            <a:off x="502920" y="1078992"/>
            <a:ext cx="11185855" cy="284393"/>
          </a:xfrm>
          <a:prstGeom prst="rect">
            <a:avLst/>
          </a:prstGeom>
          <a:noFill/>
        </p:spPr>
        <p:txBody>
          <a:bodyPr wrap="square" lIns="0" rIns="0" tIns="0" bIns="0" anchor="t">
            <a:spAutoFit/>
          </a:bodyPr>
          <a:lstStyle/>
          <a:p>
            <a:pPr algn="l">
              <a:lnSpc>
                <a:spcPct val="114000"/>
              </a:lnSpc>
              <a:spcBef>
                <a:spcPts val="0"/>
              </a:spcBef>
              <a:spcAft>
                <a:spcPts val="0"/>
              </a:spcAft>
            </a:pPr>
            <a:r>
              <a:rPr sz="1110" b="0" i="0">
                <a:solidFill>
                  <a:srgbClr val="5B6B7F"/>
                </a:solidFill>
                <a:latin typeface="Arial"/>
              </a:rPr>
              <a:t>Four deliverables with four very different release cadences. Plan around the slowest one.</a:t>
            </a:r>
          </a:p>
        </p:txBody>
      </p:sp>
      <p:cxnSp>
        <p:nvCxnSpPr>
          <p:cNvPr id="5" name="Connector 4"/>
          <p:cNvCxnSpPr/>
          <p:nvPr/>
        </p:nvCxnSpPr>
        <p:spPr>
          <a:xfrm>
            <a:off x="502920" y="1454825"/>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38844"/>
          <a:ext cx="11185854" cy="2358789"/>
        </p:xfrm>
        <a:graphic>
          <a:graphicData uri="http://schemas.openxmlformats.org/drawingml/2006/table">
            <a:tbl>
              <a:tblPr firstRow="1">
                <a:tableStyleId>{2D5ABB26-0587-4C30-8999-92F81FD0307C}</a:tableStyleId>
              </a:tblPr>
              <a:tblGrid>
                <a:gridCol w="2017121"/>
                <a:gridCol w="4217617"/>
                <a:gridCol w="1650372"/>
                <a:gridCol w="3300744"/>
              </a:tblGrid>
              <a:tr h="284393">
                <a:tc>
                  <a:txBody>
                    <a:bodyPr wrap="square"/>
                    <a:lstStyle/>
                    <a:p>
                      <a:pPr algn="l"/>
                      <a:r>
                        <a:rPr sz="910" b="1">
                          <a:solidFill>
                            <a:srgbClr val="FFFFFF"/>
                          </a:solidFill>
                          <a:latin typeface="Arial"/>
                        </a:rPr>
                        <a:t>Deliverable</a:t>
                      </a:r>
                    </a:p>
                  </a:txBody>
                  <a:tcPr marL="64008" marR="54864" marT="27432" marB="27432" anchor="ctr">
                    <a:solidFill>
                      <a:srgbClr val="1D4E89"/>
                    </a:solidFill>
                  </a:tcPr>
                </a:tc>
                <a:tc>
                  <a:txBody>
                    <a:bodyPr wrap="square"/>
                    <a:lstStyle/>
                    <a:p>
                      <a:pPr algn="l"/>
                      <a:r>
                        <a:rPr sz="910" b="1">
                          <a:solidFill>
                            <a:srgbClr val="FFFFFF"/>
                          </a:solidFill>
                          <a:latin typeface="Arial"/>
                        </a:rPr>
                        <a:t>Build</a:t>
                      </a:r>
                    </a:p>
                  </a:txBody>
                  <a:tcPr marL="64008" marR="54864" marT="27432" marB="27432" anchor="ctr">
                    <a:solidFill>
                      <a:srgbClr val="1D4E89"/>
                    </a:solidFill>
                  </a:tcPr>
                </a:tc>
                <a:tc>
                  <a:txBody>
                    <a:bodyPr wrap="square"/>
                    <a:lstStyle/>
                    <a:p>
                      <a:pPr algn="l"/>
                      <a:r>
                        <a:rPr sz="910" b="1">
                          <a:solidFill>
                            <a:srgbClr val="FFFFFF"/>
                          </a:solidFill>
                          <a:latin typeface="Arial"/>
                        </a:rPr>
                        <a:t>Release latency</a:t>
                      </a:r>
                    </a:p>
                  </a:txBody>
                  <a:tcPr marL="64008" marR="54864" marT="27432" marB="27432" anchor="ctr">
                    <a:solidFill>
                      <a:srgbClr val="1D4E89"/>
                    </a:solidFill>
                  </a:tcPr>
                </a:tc>
                <a:tc>
                  <a:txBody>
                    <a:bodyPr wrap="square"/>
                    <a:lstStyle/>
                    <a:p>
                      <a:pPr algn="l"/>
                      <a:r>
                        <a:rPr sz="910" b="1">
                          <a:solidFill>
                            <a:srgbClr val="FFFFFF"/>
                          </a:solidFill>
                          <a:latin typeface="Arial"/>
                        </a:rPr>
                        <a:t>What to get right</a:t>
                      </a:r>
                    </a:p>
                  </a:txBody>
                  <a:tcPr marL="64008" marR="54864" marT="27432" marB="27432" anchor="ctr">
                    <a:solidFill>
                      <a:srgbClr val="1D4E89"/>
                    </a:solidFill>
                  </a:tcPr>
                </a:tc>
              </a:tr>
              <a:tr h="518599">
                <a:tc>
                  <a:txBody>
                    <a:bodyPr wrap="square"/>
                    <a:lstStyle/>
                    <a:p>
                      <a:pPr algn="l">
                        <a:lnSpc>
                          <a:spcPct val="105000"/>
                        </a:lnSpc>
                      </a:pPr>
                      <a:r>
                        <a:rPr sz="880" b="1">
                          <a:solidFill>
                            <a:srgbClr val="0F172A"/>
                          </a:solidFill>
                          <a:latin typeface="Arial"/>
                        </a:rPr>
                        <a:t>Inji Wallet — Android</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Gradle, Java 17, min SDK 24, target SDK 35; product flavours give you distinct app ids</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Play Store review</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Signing keys in a controlled pipeline; flavour per environment; never ship a debug build</a:t>
                      </a:r>
                    </a:p>
                  </a:txBody>
                  <a:tcPr marL="64008" marR="54864" marT="18288" marB="18288" anchor="ctr">
                    <a:solidFill>
                      <a:srgbClr val="FFFFFF"/>
                    </a:solidFill>
                  </a:tcPr>
                </a:tc>
              </a:tr>
              <a:tr h="518599">
                <a:tc>
                  <a:txBody>
                    <a:bodyPr wrap="square"/>
                    <a:lstStyle/>
                    <a:p>
                      <a:pPr algn="l">
                        <a:lnSpc>
                          <a:spcPct val="105000"/>
                        </a:lnSpc>
                      </a:pPr>
                      <a:r>
                        <a:rPr sz="880" b="1">
                          <a:solidFill>
                            <a:srgbClr val="0F172A"/>
                          </a:solidFill>
                          <a:latin typeface="Arial"/>
                        </a:rPr>
                        <a:t>Inji Wallet — iOS</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Xcode 15+, deployment target 14.0, CocoaPods</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App Store review</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Provisioning profiles, associated domains if you use Universal Links</a:t>
                      </a:r>
                    </a:p>
                  </a:txBody>
                  <a:tcPr marL="64008" marR="54864" marT="18288" marB="18288" anchor="ctr">
                    <a:solidFill>
                      <a:srgbClr val="F3F6F9"/>
                    </a:solidFill>
                  </a:tcPr>
                </a:tc>
              </a:tr>
              <a:tr h="518599">
                <a:tc>
                  <a:txBody>
                    <a:bodyPr wrap="square"/>
                    <a:lstStyle/>
                    <a:p>
                      <a:pPr algn="l">
                        <a:lnSpc>
                          <a:spcPct val="105000"/>
                        </a:lnSpc>
                      </a:pPr>
                      <a:r>
                        <a:rPr sz="880" b="1">
                          <a:solidFill>
                            <a:srgbClr val="0F172A"/>
                          </a:solidFill>
                          <a:latin typeface="Arial"/>
                        </a:rPr>
                        <a:t>Inji Web</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Node 18, React build, Docker image; </a:t>
                      </a:r>
                      <a:r>
                        <a:rPr sz="880" b="0">
                          <a:solidFill>
                            <a:srgbClr val="1D4E89"/>
                          </a:solidFill>
                          <a:latin typeface="Consolas"/>
                        </a:rPr>
                        <a:t>env.config.js</a:t>
                      </a:r>
                      <a:r>
                        <a:rPr sz="880" b="0">
                          <a:solidFill>
                            <a:srgbClr val="1E293B"/>
                          </a:solidFill>
                          <a:latin typeface="Arial"/>
                        </a:rPr>
                        <a:t> read at runtime</a:t>
                      </a:r>
                    </a:p>
                  </a:txBody>
                  <a:tcPr marL="64008" marR="54864" marT="18288" marB="18288" anchor="ctr">
                    <a:solidFill>
                      <a:srgbClr val="FFFFFF"/>
                    </a:solidFill>
                  </a:tcPr>
                </a:tc>
                <a:tc>
                  <a:txBody>
                    <a:bodyPr wrap="square"/>
                    <a:lstStyle/>
                    <a:p>
                      <a:pPr algn="l">
                        <a:lnSpc>
                          <a:spcPct val="105000"/>
                        </a:lnSpc>
                      </a:pPr>
                      <a:r>
                        <a:rPr sz="880" b="1">
                          <a:solidFill>
                            <a:srgbClr val="15703D"/>
                          </a:solidFill>
                          <a:latin typeface="Arial"/>
                        </a:rPr>
                        <a:t>Minutes</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One image, many environments; Helm chart in the repo</a:t>
                      </a:r>
                    </a:p>
                  </a:txBody>
                  <a:tcPr marL="64008" marR="54864" marT="18288" marB="18288" anchor="ctr">
                    <a:solidFill>
                      <a:srgbClr val="FFFFFF"/>
                    </a:solidFill>
                  </a:tcPr>
                </a:tc>
              </a:tr>
              <a:tr h="518599">
                <a:tc>
                  <a:txBody>
                    <a:bodyPr wrap="square"/>
                    <a:lstStyle/>
                    <a:p>
                      <a:pPr algn="l">
                        <a:lnSpc>
                          <a:spcPct val="105000"/>
                        </a:lnSpc>
                      </a:pPr>
                      <a:r>
                        <a:rPr sz="880" b="1">
                          <a:solidFill>
                            <a:srgbClr val="0F172A"/>
                          </a:solidFill>
                          <a:latin typeface="Arial"/>
                        </a:rPr>
                        <a:t>Mimoto</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Java 21, Spring Boot, Docker; Postgres + Redis; Helm chart in the repo</a:t>
                      </a:r>
                    </a:p>
                  </a:txBody>
                  <a:tcPr marL="64008" marR="54864" marT="18288" marB="18288" anchor="ctr">
                    <a:solidFill>
                      <a:srgbClr val="F3F6F9"/>
                    </a:solidFill>
                  </a:tcPr>
                </a:tc>
                <a:tc>
                  <a:txBody>
                    <a:bodyPr wrap="square"/>
                    <a:lstStyle/>
                    <a:p>
                      <a:pPr algn="l">
                        <a:lnSpc>
                          <a:spcPct val="105000"/>
                        </a:lnSpc>
                      </a:pPr>
                      <a:r>
                        <a:rPr sz="880" b="1">
                          <a:solidFill>
                            <a:srgbClr val="15703D"/>
                          </a:solidFill>
                          <a:latin typeface="Arial"/>
                        </a:rPr>
                        <a:t>Minutes</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Redis is required for more than one replica; DB migration scripts in </a:t>
                      </a:r>
                      <a:r>
                        <a:rPr sz="880" b="0">
                          <a:solidFill>
                            <a:srgbClr val="1D4E89"/>
                          </a:solidFill>
                          <a:latin typeface="Consolas"/>
                        </a:rPr>
                        <a:t>db_scripts/</a:t>
                      </a:r>
                    </a:p>
                  </a:txBody>
                  <a:tcPr marL="64008" marR="54864" marT="18288" marB="18288" anchor="ctr">
                    <a:solidFill>
                      <a:srgbClr val="F3F6F9"/>
                    </a:solidFill>
                  </a:tcPr>
                </a:tc>
              </a:tr>
            </a:tbl>
          </a:graphicData>
        </a:graphic>
      </p:graphicFrame>
      <p:sp>
        <p:nvSpPr>
          <p:cNvPr id="7" name="Rounded Rectangle 6"/>
          <p:cNvSpPr/>
          <p:nvPr/>
        </p:nvSpPr>
        <p:spPr>
          <a:xfrm>
            <a:off x="502920" y="4181656"/>
            <a:ext cx="3566160" cy="2049305"/>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4181656"/>
            <a:ext cx="50292" cy="2049305"/>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4315488"/>
            <a:ext cx="3182112" cy="250935"/>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1D4E89"/>
                </a:solidFill>
              </a:rPr>
              <a:t>Environment separation</a:t>
            </a:r>
          </a:p>
        </p:txBody>
      </p:sp>
      <p:sp>
        <p:nvSpPr>
          <p:cNvPr id="10" name="Oval 9"/>
          <p:cNvSpPr/>
          <p:nvPr/>
        </p:nvSpPr>
        <p:spPr>
          <a:xfrm>
            <a:off x="745236" y="4583803"/>
            <a:ext cx="77724" cy="7109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524601"/>
            <a:ext cx="2953512" cy="530727"/>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One Mimoto, one Postgres, one Redis </a:t>
            </a:r>
            <a:r>
              <a:rPr sz="940" b="1" i="0">
                <a:solidFill>
                  <a:srgbClr val="0F172A"/>
                </a:solidFill>
                <a:latin typeface="Arial"/>
              </a:rPr>
              <a:t>per environment</a:t>
            </a:r>
            <a:r>
              <a:rPr sz="940" b="0" i="0">
                <a:solidFill>
                  <a:srgbClr val="0F172A"/>
                </a:solidFill>
                <a:latin typeface="Arial"/>
              </a:rPr>
              <a:t>. Configuration is deployment-wide.</a:t>
            </a:r>
          </a:p>
        </p:txBody>
      </p:sp>
      <p:sp>
        <p:nvSpPr>
          <p:cNvPr id="12" name="Oval 11"/>
          <p:cNvSpPr/>
          <p:nvPr/>
        </p:nvSpPr>
        <p:spPr>
          <a:xfrm>
            <a:off x="745236" y="5085256"/>
            <a:ext cx="77724" cy="7109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5026053"/>
            <a:ext cx="2953512" cy="387276"/>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Wallet flavours give you a dev, QA and production app side by side on one device.</a:t>
            </a:r>
          </a:p>
        </p:txBody>
      </p:sp>
      <p:sp>
        <p:nvSpPr>
          <p:cNvPr id="14" name="Oval 13"/>
          <p:cNvSpPr/>
          <p:nvPr/>
        </p:nvSpPr>
        <p:spPr>
          <a:xfrm>
            <a:off x="745236" y="5443257"/>
            <a:ext cx="77724" cy="7109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384055"/>
            <a:ext cx="2953512" cy="387276"/>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Issuer and verifier catalogues differ per environment — keep them in version control.</a:t>
            </a:r>
          </a:p>
        </p:txBody>
      </p:sp>
      <p:sp>
        <p:nvSpPr>
          <p:cNvPr id="16" name="Rounded Rectangle 15"/>
          <p:cNvSpPr/>
          <p:nvPr/>
        </p:nvSpPr>
        <p:spPr>
          <a:xfrm>
            <a:off x="4297680" y="4181656"/>
            <a:ext cx="3566160" cy="2049305"/>
          </a:xfrm>
          <a:prstGeom prst="roundRect">
            <a:avLst>
              <a:gd name="adj" fmla="val 45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4181656"/>
            <a:ext cx="50292" cy="2049305"/>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4315488"/>
            <a:ext cx="3182112" cy="250935"/>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B45309"/>
                </a:solidFill>
              </a:rPr>
              <a:t>Network, certificates, domains</a:t>
            </a:r>
          </a:p>
        </p:txBody>
      </p:sp>
      <p:sp>
        <p:nvSpPr>
          <p:cNvPr id="19" name="Oval 18"/>
          <p:cNvSpPr/>
          <p:nvPr/>
        </p:nvSpPr>
        <p:spPr>
          <a:xfrm>
            <a:off x="4539996" y="4583803"/>
            <a:ext cx="77724" cy="7109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27448" y="4524601"/>
            <a:ext cx="2953512" cy="530727"/>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Egress from Mimoto to: issuer well-known, token endpoint, credential endpoint, verifier </a:t>
            </a:r>
            <a:r>
              <a:rPr sz="940" b="0" i="0">
                <a:solidFill>
                  <a:srgbClr val="1D4E89"/>
                </a:solidFill>
                <a:latin typeface="Consolas"/>
              </a:rPr>
              <a:t>response_uri</a:t>
            </a:r>
            <a:r>
              <a:rPr sz="940" b="0" i="0">
                <a:solidFill>
                  <a:srgbClr val="0F172A"/>
                </a:solidFill>
                <a:latin typeface="Arial"/>
              </a:rPr>
              <a:t>.</a:t>
            </a:r>
          </a:p>
        </p:txBody>
      </p:sp>
      <p:sp>
        <p:nvSpPr>
          <p:cNvPr id="21" name="Oval 20"/>
          <p:cNvSpPr/>
          <p:nvPr/>
        </p:nvSpPr>
        <p:spPr>
          <a:xfrm>
            <a:off x="4539996" y="5085256"/>
            <a:ext cx="77724" cy="7109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27448" y="5026053"/>
            <a:ext cx="2953512" cy="387276"/>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The </a:t>
            </a:r>
            <a:r>
              <a:rPr sz="940" b="1" i="0">
                <a:solidFill>
                  <a:srgbClr val="0F172A"/>
                </a:solidFill>
                <a:latin typeface="Arial"/>
              </a:rPr>
              <a:t>phone</a:t>
            </a:r>
            <a:r>
              <a:rPr sz="940" b="0" i="0">
                <a:solidFill>
                  <a:srgbClr val="0F172A"/>
                </a:solidFill>
                <a:latin typeface="Arial"/>
              </a:rPr>
              <a:t> must also reach the issuer directly — not just your cluster.</a:t>
            </a:r>
          </a:p>
        </p:txBody>
      </p:sp>
      <p:sp>
        <p:nvSpPr>
          <p:cNvPr id="23" name="Oval 22"/>
          <p:cNvSpPr/>
          <p:nvPr/>
        </p:nvSpPr>
        <p:spPr>
          <a:xfrm>
            <a:off x="4539996" y="5443257"/>
            <a:ext cx="77724" cy="7109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27448" y="5384055"/>
            <a:ext cx="2953512" cy="387276"/>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Public TLS everywhere; no self-signed certificates on anything a phone touches.</a:t>
            </a:r>
          </a:p>
        </p:txBody>
      </p:sp>
      <p:sp>
        <p:nvSpPr>
          <p:cNvPr id="25" name="Oval 24"/>
          <p:cNvSpPr/>
          <p:nvPr/>
        </p:nvSpPr>
        <p:spPr>
          <a:xfrm>
            <a:off x="4539996" y="5801258"/>
            <a:ext cx="77724" cy="7109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27448" y="5742056"/>
            <a:ext cx="2953512" cy="387276"/>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Stable domains for issuer metadata and key endpoints. Changing them invalidates trust.</a:t>
            </a:r>
          </a:p>
        </p:txBody>
      </p:sp>
      <p:sp>
        <p:nvSpPr>
          <p:cNvPr id="27" name="Rounded Rectangle 26"/>
          <p:cNvSpPr/>
          <p:nvPr/>
        </p:nvSpPr>
        <p:spPr>
          <a:xfrm>
            <a:off x="8110728" y="4181656"/>
            <a:ext cx="3575304" cy="2049305"/>
          </a:xfrm>
          <a:prstGeom prst="roundRect">
            <a:avLst>
              <a:gd name="adj" fmla="val 45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10728" y="4181656"/>
            <a:ext cx="50292" cy="2049305"/>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8472" y="4315488"/>
            <a:ext cx="3191256" cy="250935"/>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15703D"/>
                </a:solidFill>
              </a:rPr>
              <a:t>Observability</a:t>
            </a:r>
          </a:p>
        </p:txBody>
      </p:sp>
      <p:sp>
        <p:nvSpPr>
          <p:cNvPr id="30" name="Oval 29"/>
          <p:cNvSpPr/>
          <p:nvPr/>
        </p:nvSpPr>
        <p:spPr>
          <a:xfrm>
            <a:off x="8353044" y="4583803"/>
            <a:ext cx="77724" cy="7109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0496" y="4524601"/>
            <a:ext cx="2962656" cy="530727"/>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Correlate with the </a:t>
            </a:r>
            <a:r>
              <a:rPr sz="940" b="0" i="0">
                <a:solidFill>
                  <a:srgbClr val="1D4E89"/>
                </a:solidFill>
                <a:latin typeface="Consolas"/>
              </a:rPr>
              <a:t>traceabilityId</a:t>
            </a:r>
            <a:r>
              <a:rPr sz="940" b="0" i="0">
                <a:solidFill>
                  <a:srgbClr val="0F172A"/>
                </a:solidFill>
                <a:latin typeface="Arial"/>
              </a:rPr>
              <a:t> that </a:t>
            </a:r>
            <a:r>
              <a:rPr sz="940" b="0" i="0">
                <a:solidFill>
                  <a:srgbClr val="1D4E89"/>
                </a:solidFill>
                <a:latin typeface="Consolas"/>
              </a:rPr>
              <a:t>inji-vci-client</a:t>
            </a:r>
            <a:r>
              <a:rPr sz="940" b="0" i="0">
                <a:solidFill>
                  <a:srgbClr val="0F172A"/>
                </a:solidFill>
                <a:latin typeface="Arial"/>
              </a:rPr>
              <a:t> and </a:t>
            </a:r>
            <a:r>
              <a:rPr sz="940" b="0" i="0">
                <a:solidFill>
                  <a:srgbClr val="1D4E89"/>
                </a:solidFill>
                <a:latin typeface="Consolas"/>
              </a:rPr>
              <a:t>inji-openid4vp</a:t>
            </a:r>
            <a:r>
              <a:rPr sz="940" b="0" i="0">
                <a:solidFill>
                  <a:srgbClr val="0F172A"/>
                </a:solidFill>
                <a:latin typeface="Arial"/>
              </a:rPr>
              <a:t> are constructed with.</a:t>
            </a:r>
          </a:p>
        </p:txBody>
      </p:sp>
      <p:sp>
        <p:nvSpPr>
          <p:cNvPr id="32" name="Oval 31"/>
          <p:cNvSpPr/>
          <p:nvPr/>
        </p:nvSpPr>
        <p:spPr>
          <a:xfrm>
            <a:off x="8353044" y="5085256"/>
            <a:ext cx="77724" cy="7109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40496" y="5026053"/>
            <a:ext cx="2962656" cy="387276"/>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Log the structured error codes (</a:t>
            </a:r>
            <a:r>
              <a:rPr sz="940" b="0" i="0">
                <a:solidFill>
                  <a:srgbClr val="1D4E89"/>
                </a:solidFill>
                <a:latin typeface="Consolas"/>
              </a:rPr>
              <a:t>VCI-00x</a:t>
            </a:r>
            <a:r>
              <a:rPr sz="940" b="0" i="0">
                <a:solidFill>
                  <a:srgbClr val="0F172A"/>
                </a:solidFill>
                <a:latin typeface="Arial"/>
              </a:rPr>
              <a:t>), never the credential contents.</a:t>
            </a:r>
          </a:p>
        </p:txBody>
      </p:sp>
      <p:sp>
        <p:nvSpPr>
          <p:cNvPr id="34" name="Oval 33"/>
          <p:cNvSpPr/>
          <p:nvPr/>
        </p:nvSpPr>
        <p:spPr>
          <a:xfrm>
            <a:off x="8353044" y="5443257"/>
            <a:ext cx="77724" cy="7109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0496" y="5384055"/>
            <a:ext cx="2962656" cy="387276"/>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Telemetry from the Wallet goes to the configured Obsrv endpoint.</a:t>
            </a:r>
          </a:p>
        </p:txBody>
      </p:sp>
      <p:sp>
        <p:nvSpPr>
          <p:cNvPr id="36" name="Oval 35"/>
          <p:cNvSpPr/>
          <p:nvPr/>
        </p:nvSpPr>
        <p:spPr>
          <a:xfrm>
            <a:off x="8353044" y="5801258"/>
            <a:ext cx="77724" cy="7109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40496" y="5742056"/>
            <a:ext cx="2962656" cy="530727"/>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0F172A"/>
                </a:solidFill>
                <a:latin typeface="Arial"/>
              </a:rPr>
              <a:t>Alert on: issuer well-known availability, key endpoint availability, token endpoint latency.</a:t>
            </a:r>
          </a:p>
        </p:txBody>
      </p:sp>
      <p:sp>
        <p:nvSpPr>
          <p:cNvPr id="38" name="TextBox 3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Configuration, deployment and the code</a:t>
            </a:r>
          </a:p>
        </p:txBody>
      </p:sp>
      <p:sp>
        <p:nvSpPr>
          <p:cNvPr id="39" name="TextBox 3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HANDS ON THE CODE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Developer walkthrough: getting it running</a:t>
            </a:r>
          </a:p>
        </p:txBody>
      </p:sp>
      <p:sp>
        <p:nvSpPr>
          <p:cNvPr id="4" name="TextBox 3"/>
          <p:cNvSpPr txBox="1"/>
          <p:nvPr/>
        </p:nvSpPr>
        <p:spPr>
          <a:xfrm>
            <a:off x="502920" y="1078992"/>
            <a:ext cx="11185855" cy="276241"/>
          </a:xfrm>
          <a:prstGeom prst="rect">
            <a:avLst/>
          </a:prstGeom>
          <a:noFill/>
        </p:spPr>
        <p:txBody>
          <a:bodyPr wrap="square" lIns="0" rIns="0" tIns="0" bIns="0" anchor="t">
            <a:spAutoFit/>
          </a:bodyPr>
          <a:lstStyle/>
          <a:p>
            <a:pPr algn="l">
              <a:lnSpc>
                <a:spcPct val="114000"/>
              </a:lnSpc>
              <a:spcBef>
                <a:spcPts val="0"/>
              </a:spcBef>
              <a:spcAft>
                <a:spcPts val="0"/>
              </a:spcAft>
            </a:pPr>
            <a:r>
              <a:rPr sz="1090" b="0" i="0">
                <a:solidFill>
                  <a:srgbClr val="5B6B7F"/>
                </a:solidFill>
                <a:latin typeface="Arial"/>
              </a:rPr>
              <a:t>The fastest path from a clean laptop to a working stack, plus where to put a breakpoint.</a:t>
            </a:r>
          </a:p>
        </p:txBody>
      </p:sp>
      <p:cxnSp>
        <p:nvCxnSpPr>
          <p:cNvPr id="5" name="Connector 4"/>
          <p:cNvCxnSpPr/>
          <p:nvPr/>
        </p:nvCxnSpPr>
        <p:spPr>
          <a:xfrm>
            <a:off x="502920" y="1446673"/>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30424"/>
            <a:ext cx="3611880" cy="178744"/>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5B6B7F"/>
                </a:solidFill>
              </a:rPr>
              <a:t>RUN THE BACKEND AND WEB</a:t>
            </a:r>
          </a:p>
        </p:txBody>
      </p:sp>
      <p:sp>
        <p:nvSpPr>
          <p:cNvPr id="7" name="Rounded Rectangle 6"/>
          <p:cNvSpPr/>
          <p:nvPr/>
        </p:nvSpPr>
        <p:spPr>
          <a:xfrm>
            <a:off x="502920" y="1625418"/>
            <a:ext cx="3611880" cy="211243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731040"/>
            <a:ext cx="3319272" cy="1901194"/>
          </a:xfrm>
          <a:prstGeom prst="rect">
            <a:avLst/>
          </a:prstGeom>
          <a:noFill/>
        </p:spPr>
        <p:txBody>
          <a:bodyPr wrap="square" lIns="0" rIns="0" tIns="0" bIns="0" anchor="t">
            <a:spAutoFit/>
          </a:bodyPr>
          <a:lstStyle/>
          <a:p>
            <a:pPr>
              <a:lnSpc>
                <a:spcPct val="116000"/>
              </a:lnSpc>
              <a:spcBef>
                <a:spcPts val="0"/>
              </a:spcBef>
              <a:spcAft>
                <a:spcPts val="0"/>
              </a:spcAft>
            </a:pPr>
            <a:r>
              <a:rPr sz="819">
                <a:solidFill>
                  <a:srgbClr val="7E93A8"/>
                </a:solidFill>
                <a:latin typeface="Consolas"/>
              </a:rPr>
              <a:t># Mimoto + Postgres + Redis + Web</a:t>
            </a:r>
          </a:p>
          <a:p>
            <a:pPr>
              <a:lnSpc>
                <a:spcPct val="116000"/>
              </a:lnSpc>
              <a:spcBef>
                <a:spcPts val="0"/>
              </a:spcBef>
              <a:spcAft>
                <a:spcPts val="0"/>
              </a:spcAft>
            </a:pPr>
            <a:r>
              <a:rPr sz="819">
                <a:solidFill>
                  <a:srgbClr val="CBD9E8"/>
                </a:solidFill>
                <a:latin typeface="Consolas"/>
              </a:rPr>
              <a:t>git clone \</a:t>
            </a:r>
          </a:p>
          <a:p>
            <a:pPr>
              <a:lnSpc>
                <a:spcPct val="116000"/>
              </a:lnSpc>
              <a:spcBef>
                <a:spcPts val="0"/>
              </a:spcBef>
              <a:spcAft>
                <a:spcPts val="0"/>
              </a:spcAft>
            </a:pPr>
            <a:r>
              <a:rPr sz="819">
                <a:solidFill>
                  <a:srgbClr val="CBD9E8"/>
                </a:solidFill>
                <a:latin typeface="Consolas"/>
              </a:rPr>
              <a:t>  github.com/mosip/inji-web</a:t>
            </a:r>
          </a:p>
          <a:p>
            <a:pPr>
              <a:lnSpc>
                <a:spcPct val="116000"/>
              </a:lnSpc>
              <a:spcBef>
                <a:spcPts val="0"/>
              </a:spcBef>
              <a:spcAft>
                <a:spcPts val="0"/>
              </a:spcAft>
            </a:pPr>
            <a:r>
              <a:rPr sz="819">
                <a:solidFill>
                  <a:srgbClr val="CBD9E8"/>
                </a:solidFill>
                <a:latin typeface="Consolas"/>
              </a:rPr>
              <a:t>cd inji-web/docker-compose</a:t>
            </a:r>
          </a:p>
          <a:p>
            <a:pPr>
              <a:lnSpc>
                <a:spcPct val="116000"/>
              </a:lnSpc>
              <a:spcBef>
                <a:spcPts val="0"/>
              </a:spcBef>
              <a:spcAft>
                <a:spcPts val="0"/>
              </a:spcAft>
            </a:pPr>
            <a:r>
              <a:rPr sz="819">
                <a:solidFill>
                  <a:srgbClr val="CBD9E8"/>
                </a:solidFill>
                <a:latin typeface="Consolas"/>
              </a:rPr>
              <a:t>docker-compose up</a:t>
            </a:r>
          </a:p>
          <a:p>
            <a:pPr>
              <a:lnSpc>
                <a:spcPct val="116000"/>
              </a:lnSpc>
              <a:spcBef>
                <a:spcPts val="0"/>
              </a:spcBef>
              <a:spcAft>
                <a:spcPts val="0"/>
              </a:spcAft>
            </a:pPr>
          </a:p>
          <a:p>
            <a:pPr>
              <a:lnSpc>
                <a:spcPct val="116000"/>
              </a:lnSpc>
              <a:spcBef>
                <a:spcPts val="0"/>
              </a:spcBef>
              <a:spcAft>
                <a:spcPts val="0"/>
              </a:spcAft>
            </a:pPr>
            <a:r>
              <a:rPr sz="819">
                <a:solidFill>
                  <a:srgbClr val="7E93A8"/>
                </a:solidFill>
                <a:latin typeface="Consolas"/>
              </a:rPr>
              <a:t># Inji Web alone (Node 18)</a:t>
            </a:r>
          </a:p>
          <a:p>
            <a:pPr>
              <a:lnSpc>
                <a:spcPct val="116000"/>
              </a:lnSpc>
              <a:spcBef>
                <a:spcPts val="0"/>
              </a:spcBef>
              <a:spcAft>
                <a:spcPts val="0"/>
              </a:spcAft>
            </a:pPr>
            <a:r>
              <a:rPr sz="819">
                <a:solidFill>
                  <a:srgbClr val="CBD9E8"/>
                </a:solidFill>
                <a:latin typeface="Consolas"/>
              </a:rPr>
              <a:t>cd inji-web/inji-web</a:t>
            </a:r>
          </a:p>
          <a:p>
            <a:pPr>
              <a:lnSpc>
                <a:spcPct val="116000"/>
              </a:lnSpc>
              <a:spcBef>
                <a:spcPts val="0"/>
              </a:spcBef>
              <a:spcAft>
                <a:spcPts val="0"/>
              </a:spcAft>
            </a:pPr>
            <a:r>
              <a:rPr sz="819">
                <a:solidFill>
                  <a:srgbClr val="CBD9E8"/>
                </a:solidFill>
                <a:latin typeface="Consolas"/>
              </a:rPr>
              <a:t>npm install &amp;&amp; npm start</a:t>
            </a:r>
          </a:p>
          <a:p>
            <a:pPr>
              <a:lnSpc>
                <a:spcPct val="116000"/>
              </a:lnSpc>
              <a:spcBef>
                <a:spcPts val="0"/>
              </a:spcBef>
              <a:spcAft>
                <a:spcPts val="0"/>
              </a:spcAft>
            </a:pPr>
            <a:r>
              <a:rPr sz="819">
                <a:solidFill>
                  <a:srgbClr val="7E93A8"/>
                </a:solidFill>
                <a:latin typeface="Consolas"/>
              </a:rPr>
              <a:t>#  -&gt; http://localhost:3004</a:t>
            </a:r>
          </a:p>
        </p:txBody>
      </p:sp>
      <p:sp>
        <p:nvSpPr>
          <p:cNvPr id="9" name="TextBox 8"/>
          <p:cNvSpPr txBox="1"/>
          <p:nvPr/>
        </p:nvSpPr>
        <p:spPr>
          <a:xfrm>
            <a:off x="4343400" y="1430424"/>
            <a:ext cx="3611880" cy="178744"/>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5B6B7F"/>
                </a:solidFill>
              </a:rPr>
              <a:t>RUN THE WALLET</a:t>
            </a:r>
          </a:p>
        </p:txBody>
      </p:sp>
      <p:sp>
        <p:nvSpPr>
          <p:cNvPr id="10" name="Rounded Rectangle 9"/>
          <p:cNvSpPr/>
          <p:nvPr/>
        </p:nvSpPr>
        <p:spPr>
          <a:xfrm>
            <a:off x="4343400" y="1625418"/>
            <a:ext cx="3611880" cy="211243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731040"/>
            <a:ext cx="3319272" cy="1901194"/>
          </a:xfrm>
          <a:prstGeom prst="rect">
            <a:avLst/>
          </a:prstGeom>
          <a:noFill/>
        </p:spPr>
        <p:txBody>
          <a:bodyPr wrap="square" lIns="0" rIns="0" tIns="0" bIns="0" anchor="t">
            <a:spAutoFit/>
          </a:bodyPr>
          <a:lstStyle/>
          <a:p>
            <a:pPr>
              <a:lnSpc>
                <a:spcPct val="116000"/>
              </a:lnSpc>
              <a:spcBef>
                <a:spcPts val="0"/>
              </a:spcBef>
              <a:spcAft>
                <a:spcPts val="0"/>
              </a:spcAft>
            </a:pPr>
            <a:r>
              <a:rPr sz="819">
                <a:solidFill>
                  <a:srgbClr val="7E93A8"/>
                </a:solidFill>
                <a:latin typeface="Consolas"/>
              </a:rPr>
              <a:t># Inji Wallet (Node 18, RN 0.74, Expo 51)</a:t>
            </a:r>
          </a:p>
          <a:p>
            <a:pPr>
              <a:lnSpc>
                <a:spcPct val="116000"/>
              </a:lnSpc>
              <a:spcBef>
                <a:spcPts val="0"/>
              </a:spcBef>
              <a:spcAft>
                <a:spcPts val="0"/>
              </a:spcAft>
            </a:pPr>
            <a:r>
              <a:rPr sz="819">
                <a:solidFill>
                  <a:srgbClr val="CBD9E8"/>
                </a:solidFill>
                <a:latin typeface="Consolas"/>
              </a:rPr>
              <a:t>git clone \</a:t>
            </a:r>
          </a:p>
          <a:p>
            <a:pPr>
              <a:lnSpc>
                <a:spcPct val="116000"/>
              </a:lnSpc>
              <a:spcBef>
                <a:spcPts val="0"/>
              </a:spcBef>
              <a:spcAft>
                <a:spcPts val="0"/>
              </a:spcAft>
            </a:pPr>
            <a:r>
              <a:rPr sz="819">
                <a:solidFill>
                  <a:srgbClr val="CBD9E8"/>
                </a:solidFill>
                <a:latin typeface="Consolas"/>
              </a:rPr>
              <a:t>  github.com/mosip/inji-wallet</a:t>
            </a:r>
          </a:p>
          <a:p>
            <a:pPr>
              <a:lnSpc>
                <a:spcPct val="116000"/>
              </a:lnSpc>
              <a:spcBef>
                <a:spcPts val="0"/>
              </a:spcBef>
              <a:spcAft>
                <a:spcPts val="0"/>
              </a:spcAft>
            </a:pPr>
            <a:r>
              <a:rPr sz="819">
                <a:solidFill>
                  <a:srgbClr val="CBD9E8"/>
                </a:solidFill>
                <a:latin typeface="Consolas"/>
              </a:rPr>
              <a:t>cd inji-wallet</a:t>
            </a:r>
          </a:p>
          <a:p>
            <a:pPr>
              <a:lnSpc>
                <a:spcPct val="116000"/>
              </a:lnSpc>
              <a:spcBef>
                <a:spcPts val="0"/>
              </a:spcBef>
              <a:spcAft>
                <a:spcPts val="0"/>
              </a:spcAft>
            </a:pPr>
            <a:r>
              <a:rPr sz="819">
                <a:solidFill>
                  <a:srgbClr val="CBD9E8"/>
                </a:solidFill>
                <a:latin typeface="Consolas"/>
              </a:rPr>
              <a:t>cp .env .env.local</a:t>
            </a:r>
            <a:r>
              <a:rPr sz="819">
                <a:solidFill>
                  <a:srgbClr val="7E93A8"/>
                </a:solidFill>
                <a:latin typeface="Consolas"/>
              </a:rPr>
              <a:t>   # set MIMOTO_HOST</a:t>
            </a:r>
          </a:p>
          <a:p>
            <a:pPr>
              <a:lnSpc>
                <a:spcPct val="116000"/>
              </a:lnSpc>
              <a:spcBef>
                <a:spcPts val="0"/>
              </a:spcBef>
              <a:spcAft>
                <a:spcPts val="0"/>
              </a:spcAft>
            </a:pPr>
            <a:r>
              <a:rPr sz="819">
                <a:solidFill>
                  <a:srgbClr val="CBD9E8"/>
                </a:solidFill>
                <a:latin typeface="Consolas"/>
              </a:rPr>
              <a:t>npm install</a:t>
            </a:r>
          </a:p>
          <a:p>
            <a:pPr>
              <a:lnSpc>
                <a:spcPct val="116000"/>
              </a:lnSpc>
              <a:spcBef>
                <a:spcPts val="0"/>
              </a:spcBef>
              <a:spcAft>
                <a:spcPts val="0"/>
              </a:spcAft>
            </a:pPr>
          </a:p>
          <a:p>
            <a:pPr>
              <a:lnSpc>
                <a:spcPct val="116000"/>
              </a:lnSpc>
              <a:spcBef>
                <a:spcPts val="0"/>
              </a:spcBef>
              <a:spcAft>
                <a:spcPts val="0"/>
              </a:spcAft>
            </a:pPr>
            <a:r>
              <a:rPr sz="819">
                <a:solidFill>
                  <a:srgbClr val="CBD9E8"/>
                </a:solidFill>
                <a:latin typeface="Consolas"/>
              </a:rPr>
              <a:t>npx react-native run-android</a:t>
            </a:r>
          </a:p>
          <a:p>
            <a:pPr>
              <a:lnSpc>
                <a:spcPct val="116000"/>
              </a:lnSpc>
              <a:spcBef>
                <a:spcPts val="0"/>
              </a:spcBef>
              <a:spcAft>
                <a:spcPts val="0"/>
              </a:spcAft>
            </a:pPr>
            <a:r>
              <a:rPr sz="819">
                <a:solidFill>
                  <a:srgbClr val="7E93A8"/>
                </a:solidFill>
                <a:latin typeface="Consolas"/>
              </a:rPr>
              <a:t>#  iOS: cd ios &amp;&amp; pod install, then run-ios</a:t>
            </a:r>
          </a:p>
        </p:txBody>
      </p:sp>
      <p:sp>
        <p:nvSpPr>
          <p:cNvPr id="12" name="TextBox 11"/>
          <p:cNvSpPr txBox="1"/>
          <p:nvPr/>
        </p:nvSpPr>
        <p:spPr>
          <a:xfrm>
            <a:off x="8183880" y="1430424"/>
            <a:ext cx="3502152" cy="178744"/>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5B6B7F"/>
                </a:solidFill>
              </a:rPr>
              <a:t>RUN MIMOTO</a:t>
            </a:r>
          </a:p>
        </p:txBody>
      </p:sp>
      <p:sp>
        <p:nvSpPr>
          <p:cNvPr id="13" name="Rounded Rectangle 12"/>
          <p:cNvSpPr/>
          <p:nvPr/>
        </p:nvSpPr>
        <p:spPr>
          <a:xfrm>
            <a:off x="8183880" y="1625418"/>
            <a:ext cx="3502152" cy="211243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1731040"/>
            <a:ext cx="3209544" cy="1901194"/>
          </a:xfrm>
          <a:prstGeom prst="rect">
            <a:avLst/>
          </a:prstGeom>
          <a:noFill/>
        </p:spPr>
        <p:txBody>
          <a:bodyPr wrap="square" lIns="0" rIns="0" tIns="0" bIns="0" anchor="t">
            <a:spAutoFit/>
          </a:bodyPr>
          <a:lstStyle/>
          <a:p>
            <a:pPr>
              <a:lnSpc>
                <a:spcPct val="116000"/>
              </a:lnSpc>
              <a:spcBef>
                <a:spcPts val="0"/>
              </a:spcBef>
              <a:spcAft>
                <a:spcPts val="0"/>
              </a:spcAft>
            </a:pPr>
            <a:r>
              <a:rPr sz="819">
                <a:solidFill>
                  <a:srgbClr val="7E93A8"/>
                </a:solidFill>
                <a:latin typeface="Consolas"/>
              </a:rPr>
              <a:t># Mimoto from source (JDK 21)</a:t>
            </a:r>
          </a:p>
          <a:p>
            <a:pPr>
              <a:lnSpc>
                <a:spcPct val="116000"/>
              </a:lnSpc>
              <a:spcBef>
                <a:spcPts val="0"/>
              </a:spcBef>
              <a:spcAft>
                <a:spcPts val="0"/>
              </a:spcAft>
            </a:pPr>
            <a:r>
              <a:rPr sz="819">
                <a:solidFill>
                  <a:srgbClr val="CBD9E8"/>
                </a:solidFill>
                <a:latin typeface="Consolas"/>
              </a:rPr>
              <a:t>git clone github.com/mosip/mimoto</a:t>
            </a:r>
          </a:p>
          <a:p>
            <a:pPr>
              <a:lnSpc>
                <a:spcPct val="116000"/>
              </a:lnSpc>
              <a:spcBef>
                <a:spcPts val="0"/>
              </a:spcBef>
              <a:spcAft>
                <a:spcPts val="0"/>
              </a:spcAft>
            </a:pPr>
            <a:r>
              <a:rPr sz="819">
                <a:solidFill>
                  <a:srgbClr val="CBD9E8"/>
                </a:solidFill>
                <a:latin typeface="Consolas"/>
              </a:rPr>
              <a:t>cd mimoto</a:t>
            </a:r>
          </a:p>
          <a:p>
            <a:pPr>
              <a:lnSpc>
                <a:spcPct val="116000"/>
              </a:lnSpc>
              <a:spcBef>
                <a:spcPts val="0"/>
              </a:spcBef>
              <a:spcAft>
                <a:spcPts val="0"/>
              </a:spcAft>
            </a:pPr>
            <a:r>
              <a:rPr sz="819">
                <a:solidFill>
                  <a:srgbClr val="CBD9E8"/>
                </a:solidFill>
                <a:latin typeface="Consolas"/>
              </a:rPr>
              <a:t>mvn clean install -DskipTests</a:t>
            </a:r>
          </a:p>
          <a:p>
            <a:pPr>
              <a:lnSpc>
                <a:spcPct val="116000"/>
              </a:lnSpc>
              <a:spcBef>
                <a:spcPts val="0"/>
              </a:spcBef>
              <a:spcAft>
                <a:spcPts val="0"/>
              </a:spcAft>
            </a:pPr>
          </a:p>
          <a:p>
            <a:pPr>
              <a:lnSpc>
                <a:spcPct val="116000"/>
              </a:lnSpc>
              <a:spcBef>
                <a:spcPts val="0"/>
              </a:spcBef>
              <a:spcAft>
                <a:spcPts val="0"/>
              </a:spcAft>
            </a:pPr>
            <a:r>
              <a:rPr sz="819">
                <a:solidFill>
                  <a:srgbClr val="7E93A8"/>
                </a:solidFill>
                <a:latin typeface="Consolas"/>
              </a:rPr>
              <a:t># then set, in application-local.properties:</a:t>
            </a:r>
          </a:p>
          <a:p>
            <a:pPr>
              <a:lnSpc>
                <a:spcPct val="116000"/>
              </a:lnSpc>
              <a:spcBef>
                <a:spcPts val="0"/>
              </a:spcBef>
              <a:spcAft>
                <a:spcPts val="0"/>
              </a:spcAft>
            </a:pPr>
            <a:r>
              <a:rPr sz="819">
                <a:solidFill>
                  <a:srgbClr val="7E93A8"/>
                </a:solidFill>
                <a:latin typeface="Consolas"/>
              </a:rPr>
              <a:t>#   spring.datasource.*</a:t>
            </a:r>
          </a:p>
          <a:p>
            <a:pPr>
              <a:lnSpc>
                <a:spcPct val="116000"/>
              </a:lnSpc>
              <a:spcBef>
                <a:spcPts val="0"/>
              </a:spcBef>
              <a:spcAft>
                <a:spcPts val="0"/>
              </a:spcAft>
            </a:pPr>
            <a:r>
              <a:rPr sz="819">
                <a:solidFill>
                  <a:srgbClr val="7E93A8"/>
                </a:solidFill>
                <a:latin typeface="Consolas"/>
              </a:rPr>
              <a:t>#   mimoto-issuers-config.json</a:t>
            </a:r>
          </a:p>
          <a:p>
            <a:pPr>
              <a:lnSpc>
                <a:spcPct val="116000"/>
              </a:lnSpc>
              <a:spcBef>
                <a:spcPts val="0"/>
              </a:spcBef>
              <a:spcAft>
                <a:spcPts val="0"/>
              </a:spcAft>
            </a:pPr>
            <a:r>
              <a:rPr sz="819">
                <a:solidFill>
                  <a:srgbClr val="7E93A8"/>
                </a:solidFill>
                <a:latin typeface="Consolas"/>
              </a:rPr>
              <a:t>#   mimoto-trusted-verifiers.json</a:t>
            </a:r>
          </a:p>
        </p:txBody>
      </p:sp>
      <p:graphicFrame>
        <p:nvGraphicFramePr>
          <p:cNvPr id="15" name="Table 14"/>
          <p:cNvGraphicFramePr>
            <a:graphicFrameLocks noGrp="1"/>
          </p:cNvGraphicFramePr>
          <p:nvPr/>
        </p:nvGraphicFramePr>
        <p:xfrm>
          <a:off x="502920" y="3981600"/>
          <a:ext cx="11185853" cy="2291182"/>
        </p:xfrm>
        <a:graphic>
          <a:graphicData uri="http://schemas.openxmlformats.org/drawingml/2006/table">
            <a:tbl>
              <a:tblPr firstRow="1">
                <a:tableStyleId>{2D5ABB26-0587-4C30-8999-92F81FD0307C}</a:tableStyleId>
              </a:tblPr>
              <a:tblGrid>
                <a:gridCol w="2255212"/>
                <a:gridCol w="5051676"/>
                <a:gridCol w="3878965"/>
              </a:tblGrid>
              <a:tr h="259992">
                <a:tc>
                  <a:txBody>
                    <a:bodyPr wrap="square"/>
                    <a:lstStyle/>
                    <a:p>
                      <a:pPr algn="l"/>
                      <a:r>
                        <a:rPr sz="900" b="1">
                          <a:solidFill>
                            <a:srgbClr val="FFFFFF"/>
                          </a:solidFill>
                          <a:latin typeface="Arial"/>
                        </a:rPr>
                        <a:t>Task</a:t>
                      </a:r>
                    </a:p>
                  </a:txBody>
                  <a:tcPr marL="64008" marR="54864" marT="27432" marB="27432" anchor="ctr">
                    <a:solidFill>
                      <a:srgbClr val="1D4E89"/>
                    </a:solidFill>
                  </a:tcPr>
                </a:tc>
                <a:tc>
                  <a:txBody>
                    <a:bodyPr wrap="square"/>
                    <a:lstStyle/>
                    <a:p>
                      <a:pPr algn="l"/>
                      <a:r>
                        <a:rPr sz="900" b="1">
                          <a:solidFill>
                            <a:srgbClr val="FFFFFF"/>
                          </a:solidFill>
                          <a:latin typeface="Arial"/>
                        </a:rPr>
                        <a:t>Path through the code</a:t>
                      </a:r>
                    </a:p>
                  </a:txBody>
                  <a:tcPr marL="64008" marR="54864" marT="27432" marB="27432" anchor="ctr">
                    <a:solidFill>
                      <a:srgbClr val="1D4E89"/>
                    </a:solidFill>
                  </a:tcPr>
                </a:tc>
                <a:tc>
                  <a:txBody>
                    <a:bodyPr wrap="square"/>
                    <a:lstStyle/>
                    <a:p>
                      <a:pPr algn="l"/>
                      <a:r>
                        <a:rPr sz="900" b="1">
                          <a:solidFill>
                            <a:srgbClr val="FFFFFF"/>
                          </a:solidFill>
                          <a:latin typeface="Arial"/>
                        </a:rPr>
                        <a:t>Where to put the breakpoint</a:t>
                      </a:r>
                    </a:p>
                  </a:txBody>
                  <a:tcPr marL="64008" marR="54864" marT="27432" marB="27432" anchor="ctr">
                    <a:solidFill>
                      <a:srgbClr val="1D4E89"/>
                    </a:solidFill>
                  </a:tcPr>
                </a:tc>
              </a:tr>
              <a:tr h="406238">
                <a:tc>
                  <a:txBody>
                    <a:bodyPr wrap="square"/>
                    <a:lstStyle/>
                    <a:p>
                      <a:pPr algn="l">
                        <a:lnSpc>
                          <a:spcPct val="105000"/>
                        </a:lnSpc>
                      </a:pPr>
                      <a:r>
                        <a:rPr sz="850" b="0">
                          <a:solidFill>
                            <a:srgbClr val="1E293B"/>
                          </a:solidFill>
                          <a:latin typeface="Arial"/>
                        </a:rPr>
                        <a:t>Trace an </a:t>
                      </a:r>
                      <a:r>
                        <a:rPr sz="850" b="1">
                          <a:solidFill>
                            <a:srgbClr val="0F172A"/>
                          </a:solidFill>
                          <a:latin typeface="Arial"/>
                        </a:rPr>
                        <a:t>issuance</a:t>
                      </a:r>
                      <a:r>
                        <a:rPr sz="850" b="0">
                          <a:solidFill>
                            <a:srgbClr val="1E293B"/>
                          </a:solidFill>
                          <a:latin typeface="Arial"/>
                        </a:rPr>
                        <a:t> request</a:t>
                      </a:r>
                    </a:p>
                  </a:txBody>
                  <a:tcPr marL="64008" marR="54864" marT="18288" marB="18288" anchor="ctr">
                    <a:solidFill>
                      <a:srgbClr val="FFFFFF"/>
                    </a:solidFill>
                  </a:tcPr>
                </a:tc>
                <a:tc>
                  <a:txBody>
                    <a:bodyPr wrap="square"/>
                    <a:lstStyle/>
                    <a:p>
                      <a:pPr algn="l">
                        <a:lnSpc>
                          <a:spcPct val="105000"/>
                        </a:lnSpc>
                      </a:pPr>
                      <a:r>
                        <a:rPr sz="850" b="0">
                          <a:solidFill>
                            <a:srgbClr val="1D4E89"/>
                          </a:solidFill>
                          <a:latin typeface="Consolas"/>
                        </a:rPr>
                        <a:t>machines/Issuers/</a:t>
                      </a:r>
                      <a:r>
                        <a:rPr sz="850" b="0">
                          <a:solidFill>
                            <a:srgbClr val="1E293B"/>
                          </a:solidFill>
                          <a:latin typeface="Arial"/>
                        </a:rPr>
                        <a:t> → </a:t>
                      </a:r>
                      <a:r>
                        <a:rPr sz="850" b="0">
                          <a:solidFill>
                            <a:srgbClr val="1D4E89"/>
                          </a:solidFill>
                          <a:latin typeface="Consolas"/>
                        </a:rPr>
                        <a:t>shared/vciClient/VciClient.ts</a:t>
                      </a:r>
                      <a:r>
                        <a:rPr sz="850" b="0">
                          <a:solidFill>
                            <a:srgbClr val="1E293B"/>
                          </a:solidFill>
                          <a:latin typeface="Arial"/>
                        </a:rPr>
                        <a:t> → </a:t>
                      </a:r>
                      <a:r>
                        <a:rPr sz="850" b="0">
                          <a:solidFill>
                            <a:srgbClr val="1D4E89"/>
                          </a:solidFill>
                          <a:latin typeface="Consolas"/>
                        </a:rPr>
                        <a:t>InjiVciClientModule</a:t>
                      </a:r>
                      <a:r>
                        <a:rPr sz="850" b="0">
                          <a:solidFill>
                            <a:srgbClr val="1E293B"/>
                          </a:solidFill>
                          <a:latin typeface="Arial"/>
                        </a:rPr>
                        <a:t> (native) → </a:t>
                      </a:r>
                      <a:r>
                        <a:rPr sz="850" b="0">
                          <a:solidFill>
                            <a:srgbClr val="1D4E89"/>
                          </a:solidFill>
                          <a:latin typeface="Consolas"/>
                        </a:rPr>
                        <a:t>inji-vci-client</a:t>
                      </a:r>
                    </a:p>
                  </a:txBody>
                  <a:tcPr marL="64008" marR="54864" marT="18288" marB="18288" anchor="ctr">
                    <a:solidFill>
                      <a:srgbClr val="FFFFFF"/>
                    </a:solidFill>
                  </a:tcPr>
                </a:tc>
                <a:tc>
                  <a:txBody>
                    <a:bodyPr wrap="square"/>
                    <a:lstStyle/>
                    <a:p>
                      <a:pPr algn="l">
                        <a:lnSpc>
                          <a:spcPct val="105000"/>
                        </a:lnSpc>
                      </a:pPr>
                      <a:r>
                        <a:rPr sz="850" b="0">
                          <a:solidFill>
                            <a:srgbClr val="1E293B"/>
                          </a:solidFill>
                          <a:latin typeface="Arial"/>
                        </a:rPr>
                        <a:t>Breakpoint on the </a:t>
                      </a:r>
                      <a:r>
                        <a:rPr sz="850" b="0">
                          <a:solidFill>
                            <a:srgbClr val="1D4E89"/>
                          </a:solidFill>
                          <a:latin typeface="Consolas"/>
                        </a:rPr>
                        <a:t>getProofJwt</a:t>
                      </a:r>
                      <a:r>
                        <a:rPr sz="850" b="0">
                          <a:solidFill>
                            <a:srgbClr val="1E293B"/>
                          </a:solidFill>
                          <a:latin typeface="Arial"/>
                        </a:rPr>
                        <a:t> callback: you see the </a:t>
                      </a:r>
                      <a:r>
                        <a:rPr sz="850" b="0">
                          <a:solidFill>
                            <a:srgbClr val="1D4E89"/>
                          </a:solidFill>
                          <a:latin typeface="Consolas"/>
                        </a:rPr>
                        <a:t>c_nonce</a:t>
                      </a:r>
                      <a:r>
                        <a:rPr sz="850" b="0">
                          <a:solidFill>
                            <a:srgbClr val="1E293B"/>
                          </a:solidFill>
                          <a:latin typeface="Arial"/>
                        </a:rPr>
                        <a:t> and the algorithms the issuer will accept</a:t>
                      </a:r>
                    </a:p>
                  </a:txBody>
                  <a:tcPr marL="64008" marR="54864" marT="18288" marB="18288" anchor="ctr">
                    <a:solidFill>
                      <a:srgbClr val="FFFFFF"/>
                    </a:solidFill>
                  </a:tcPr>
                </a:tc>
              </a:tr>
              <a:tr h="406238">
                <a:tc>
                  <a:txBody>
                    <a:bodyPr wrap="square"/>
                    <a:lstStyle/>
                    <a:p>
                      <a:pPr algn="l">
                        <a:lnSpc>
                          <a:spcPct val="105000"/>
                        </a:lnSpc>
                      </a:pPr>
                      <a:r>
                        <a:rPr sz="850" b="0">
                          <a:solidFill>
                            <a:srgbClr val="1E293B"/>
                          </a:solidFill>
                          <a:latin typeface="Arial"/>
                        </a:rPr>
                        <a:t>Trace a </a:t>
                      </a:r>
                      <a:r>
                        <a:rPr sz="850" b="1">
                          <a:solidFill>
                            <a:srgbClr val="0F172A"/>
                          </a:solidFill>
                          <a:latin typeface="Arial"/>
                        </a:rPr>
                        <a:t>presentation</a:t>
                      </a:r>
                      <a:r>
                        <a:rPr sz="850" b="0">
                          <a:solidFill>
                            <a:srgbClr val="1E293B"/>
                          </a:solidFill>
                          <a:latin typeface="Arial"/>
                        </a:rPr>
                        <a:t> request</a:t>
                      </a:r>
                    </a:p>
                  </a:txBody>
                  <a:tcPr marL="64008" marR="54864" marT="18288" marB="18288" anchor="ctr">
                    <a:solidFill>
                      <a:srgbClr val="F3F6F9"/>
                    </a:solidFill>
                  </a:tcPr>
                </a:tc>
                <a:tc>
                  <a:txBody>
                    <a:bodyPr wrap="square"/>
                    <a:lstStyle/>
                    <a:p>
                      <a:pPr algn="l">
                        <a:lnSpc>
                          <a:spcPct val="105000"/>
                        </a:lnSpc>
                      </a:pPr>
                      <a:r>
                        <a:rPr sz="850" b="0">
                          <a:solidFill>
                            <a:srgbClr val="1D4E89"/>
                          </a:solidFill>
                          <a:latin typeface="Consolas"/>
                        </a:rPr>
                        <a:t>machines/openID4VP/openID4VPServices.ts</a:t>
                      </a:r>
                      <a:r>
                        <a:rPr sz="850" b="0">
                          <a:solidFill>
                            <a:srgbClr val="1E293B"/>
                          </a:solidFill>
                          <a:latin typeface="Arial"/>
                        </a:rPr>
                        <a:t> → </a:t>
                      </a:r>
                      <a:r>
                        <a:rPr sz="850" b="0">
                          <a:solidFill>
                            <a:srgbClr val="1D4E89"/>
                          </a:solidFill>
                          <a:latin typeface="Consolas"/>
                        </a:rPr>
                        <a:t>shared/openID4VP/OpenID4VP.ts</a:t>
                      </a:r>
                      <a:r>
                        <a:rPr sz="850" b="0">
                          <a:solidFill>
                            <a:srgbClr val="1E293B"/>
                          </a:solidFill>
                          <a:latin typeface="Arial"/>
                        </a:rPr>
                        <a:t> → </a:t>
                      </a:r>
                      <a:r>
                        <a:rPr sz="850" b="0">
                          <a:solidFill>
                            <a:srgbClr val="1D4E89"/>
                          </a:solidFill>
                          <a:latin typeface="Consolas"/>
                        </a:rPr>
                        <a:t>InjiOpenID4VPModule</a:t>
                      </a:r>
                      <a:r>
                        <a:rPr sz="850" b="0">
                          <a:solidFill>
                            <a:srgbClr val="1E293B"/>
                          </a:solidFill>
                          <a:latin typeface="Arial"/>
                        </a:rPr>
                        <a:t> → </a:t>
                      </a:r>
                      <a:r>
                        <a:rPr sz="850" b="0">
                          <a:solidFill>
                            <a:srgbClr val="1D4E89"/>
                          </a:solidFill>
                          <a:latin typeface="Consolas"/>
                        </a:rPr>
                        <a:t>inji-openid4vp</a:t>
                      </a:r>
                    </a:p>
                  </a:txBody>
                  <a:tcPr marL="64008" marR="54864" marT="18288" marB="18288" anchor="ctr">
                    <a:solidFill>
                      <a:srgbClr val="F3F6F9"/>
                    </a:solidFill>
                  </a:tcPr>
                </a:tc>
                <a:tc>
                  <a:txBody>
                    <a:bodyPr wrap="square"/>
                    <a:lstStyle/>
                    <a:p>
                      <a:pPr algn="l">
                        <a:lnSpc>
                          <a:spcPct val="105000"/>
                        </a:lnSpc>
                      </a:pPr>
                      <a:r>
                        <a:rPr sz="850" b="0">
                          <a:solidFill>
                            <a:srgbClr val="1E293B"/>
                          </a:solidFill>
                          <a:latin typeface="Arial"/>
                        </a:rPr>
                        <a:t>Breakpoint on </a:t>
                      </a:r>
                      <a:r>
                        <a:rPr sz="850" b="0">
                          <a:solidFill>
                            <a:srgbClr val="1D4E89"/>
                          </a:solidFill>
                          <a:latin typeface="Consolas"/>
                        </a:rPr>
                        <a:t>constructUnsignedVPToken</a:t>
                      </a:r>
                      <a:r>
                        <a:rPr sz="850" b="0">
                          <a:solidFill>
                            <a:srgbClr val="1E293B"/>
                          </a:solidFill>
                          <a:latin typeface="Arial"/>
                        </a:rPr>
                        <a:t>: you see exactly what will be signed</a:t>
                      </a:r>
                    </a:p>
                  </a:txBody>
                  <a:tcPr marL="64008" marR="54864" marT="18288" marB="18288" anchor="ctr">
                    <a:solidFill>
                      <a:srgbClr val="F3F6F9"/>
                    </a:solidFill>
                  </a:tcPr>
                </a:tc>
              </a:tr>
              <a:tr h="406238">
                <a:tc>
                  <a:txBody>
                    <a:bodyPr wrap="square"/>
                    <a:lstStyle/>
                    <a:p>
                      <a:pPr algn="l">
                        <a:lnSpc>
                          <a:spcPct val="105000"/>
                        </a:lnSpc>
                      </a:pPr>
                      <a:r>
                        <a:rPr sz="850" b="0">
                          <a:solidFill>
                            <a:srgbClr val="1E293B"/>
                          </a:solidFill>
                          <a:latin typeface="Arial"/>
                        </a:rPr>
                        <a:t>Add or modify an </a:t>
                      </a:r>
                      <a:r>
                        <a:rPr sz="850" b="1">
                          <a:solidFill>
                            <a:srgbClr val="0F172A"/>
                          </a:solidFill>
                          <a:latin typeface="Arial"/>
                        </a:rPr>
                        <a:t>issuer</a:t>
                      </a:r>
                    </a:p>
                  </a:txBody>
                  <a:tcPr marL="64008" marR="54864" marT="18288" marB="18288" anchor="ctr">
                    <a:solidFill>
                      <a:srgbClr val="FFFFFF"/>
                    </a:solidFill>
                  </a:tcPr>
                </a:tc>
                <a:tc>
                  <a:txBody>
                    <a:bodyPr wrap="square"/>
                    <a:lstStyle/>
                    <a:p>
                      <a:pPr algn="l">
                        <a:lnSpc>
                          <a:spcPct val="105000"/>
                        </a:lnSpc>
                      </a:pPr>
                      <a:r>
                        <a:rPr sz="850" b="0">
                          <a:solidFill>
                            <a:srgbClr val="1D4E89"/>
                          </a:solidFill>
                          <a:latin typeface="Consolas"/>
                        </a:rPr>
                        <a:t>mimoto/src/main/resources/mimoto-issuers-config.json</a:t>
                      </a:r>
                      <a:r>
                        <a:rPr sz="850" b="0">
                          <a:solidFill>
                            <a:srgbClr val="1E293B"/>
                          </a:solidFill>
                          <a:latin typeface="Arial"/>
                        </a:rPr>
                        <a:t>, then restart or wait out the cache</a:t>
                      </a:r>
                    </a:p>
                  </a:txBody>
                  <a:tcPr marL="64008" marR="54864" marT="18288" marB="18288" anchor="ctr">
                    <a:solidFill>
                      <a:srgbClr val="FFFFFF"/>
                    </a:solidFill>
                  </a:tcPr>
                </a:tc>
                <a:tc>
                  <a:txBody>
                    <a:bodyPr wrap="square"/>
                    <a:lstStyle/>
                    <a:p>
                      <a:pPr algn="l">
                        <a:lnSpc>
                          <a:spcPct val="105000"/>
                        </a:lnSpc>
                      </a:pPr>
                      <a:r>
                        <a:rPr sz="850" b="0">
                          <a:solidFill>
                            <a:srgbClr val="1E293B"/>
                          </a:solidFill>
                          <a:latin typeface="Arial"/>
                        </a:rPr>
                        <a:t>Check </a:t>
                      </a:r>
                      <a:r>
                        <a:rPr sz="850" b="0">
                          <a:solidFill>
                            <a:srgbClr val="1D4E89"/>
                          </a:solidFill>
                          <a:latin typeface="Consolas"/>
                        </a:rPr>
                        <a:t>GET /v2/issuers</a:t>
                      </a:r>
                      <a:r>
                        <a:rPr sz="850" b="0">
                          <a:solidFill>
                            <a:srgbClr val="1E293B"/>
                          </a:solidFill>
                          <a:latin typeface="Arial"/>
                        </a:rPr>
                        <a:t> before blaming the app</a:t>
                      </a:r>
                    </a:p>
                  </a:txBody>
                  <a:tcPr marL="64008" marR="54864" marT="18288" marB="18288" anchor="ctr">
                    <a:solidFill>
                      <a:srgbClr val="FFFFFF"/>
                    </a:solidFill>
                  </a:tcPr>
                </a:tc>
              </a:tr>
              <a:tr h="406238">
                <a:tc>
                  <a:txBody>
                    <a:bodyPr wrap="square"/>
                    <a:lstStyle/>
                    <a:p>
                      <a:pPr algn="l">
                        <a:lnSpc>
                          <a:spcPct val="105000"/>
                        </a:lnSpc>
                      </a:pPr>
                      <a:r>
                        <a:rPr sz="850" b="0">
                          <a:solidFill>
                            <a:srgbClr val="1E293B"/>
                          </a:solidFill>
                          <a:latin typeface="Arial"/>
                        </a:rPr>
                        <a:t>Change one </a:t>
                      </a:r>
                      <a:r>
                        <a:rPr sz="850" b="1">
                          <a:solidFill>
                            <a:srgbClr val="0F172A"/>
                          </a:solidFill>
                          <a:latin typeface="Arial"/>
                        </a:rPr>
                        <a:t>configuration</a:t>
                      </a:r>
                      <a:r>
                        <a:rPr sz="850" b="0">
                          <a:solidFill>
                            <a:srgbClr val="1E293B"/>
                          </a:solidFill>
                          <a:latin typeface="Arial"/>
                        </a:rPr>
                        <a:t> item</a:t>
                      </a:r>
                    </a:p>
                  </a:txBody>
                  <a:tcPr marL="64008" marR="54864" marT="18288" marB="18288" anchor="ctr">
                    <a:solidFill>
                      <a:srgbClr val="F3F6F9"/>
                    </a:solidFill>
                  </a:tcPr>
                </a:tc>
                <a:tc>
                  <a:txBody>
                    <a:bodyPr wrap="square"/>
                    <a:lstStyle/>
                    <a:p>
                      <a:pPr algn="l">
                        <a:lnSpc>
                          <a:spcPct val="105000"/>
                        </a:lnSpc>
                      </a:pPr>
                      <a:r>
                        <a:rPr sz="850" b="0">
                          <a:solidFill>
                            <a:srgbClr val="1D4E89"/>
                          </a:solidFill>
                          <a:latin typeface="Consolas"/>
                        </a:rPr>
                        <a:t>inji-web/public/env.config.js</a:t>
                      </a:r>
                      <a:r>
                        <a:rPr sz="850" b="0">
                          <a:solidFill>
                            <a:srgbClr val="1E293B"/>
                          </a:solidFill>
                          <a:latin typeface="Arial"/>
                        </a:rPr>
                        <a:t> for Web; </a:t>
                      </a:r>
                      <a:r>
                        <a:rPr sz="850" b="0">
                          <a:solidFill>
                            <a:srgbClr val="1D4E89"/>
                          </a:solidFill>
                          <a:latin typeface="Consolas"/>
                        </a:rPr>
                        <a:t>.env.local</a:t>
                      </a:r>
                      <a:r>
                        <a:rPr sz="850" b="0">
                          <a:solidFill>
                            <a:srgbClr val="1E293B"/>
                          </a:solidFill>
                          <a:latin typeface="Arial"/>
                        </a:rPr>
                        <a:t> for Wallet; </a:t>
                      </a:r>
                      <a:r>
                        <a:rPr sz="850" b="0">
                          <a:solidFill>
                            <a:srgbClr val="1D4E89"/>
                          </a:solidFill>
                          <a:latin typeface="Consolas"/>
                        </a:rPr>
                        <a:t>mimoto-default.properties</a:t>
                      </a:r>
                      <a:r>
                        <a:rPr sz="850" b="0">
                          <a:solidFill>
                            <a:srgbClr val="1E293B"/>
                          </a:solidFill>
                          <a:latin typeface="Arial"/>
                        </a:rPr>
                        <a:t> for Mimoto</a:t>
                      </a:r>
                    </a:p>
                  </a:txBody>
                  <a:tcPr marL="64008" marR="54864" marT="18288" marB="18288" anchor="ctr">
                    <a:solidFill>
                      <a:srgbClr val="F3F6F9"/>
                    </a:solidFill>
                  </a:tcPr>
                </a:tc>
                <a:tc>
                  <a:txBody>
                    <a:bodyPr wrap="square"/>
                    <a:lstStyle/>
                    <a:p>
                      <a:pPr algn="l">
                        <a:lnSpc>
                          <a:spcPct val="105000"/>
                        </a:lnSpc>
                      </a:pPr>
                      <a:r>
                        <a:rPr sz="850" b="0">
                          <a:solidFill>
                            <a:srgbClr val="1E293B"/>
                          </a:solidFill>
                          <a:latin typeface="Arial"/>
                        </a:rPr>
                        <a:t>Web takes effect on reload; Wallet needs a rebuild</a:t>
                      </a:r>
                    </a:p>
                  </a:txBody>
                  <a:tcPr marL="64008" marR="54864" marT="18288" marB="18288" anchor="ctr">
                    <a:solidFill>
                      <a:srgbClr val="F3F6F9"/>
                    </a:solidFill>
                  </a:tcPr>
                </a:tc>
              </a:tr>
              <a:tr h="406238">
                <a:tc>
                  <a:txBody>
                    <a:bodyPr wrap="square"/>
                    <a:lstStyle/>
                    <a:p>
                      <a:pPr algn="l">
                        <a:lnSpc>
                          <a:spcPct val="105000"/>
                        </a:lnSpc>
                      </a:pPr>
                      <a:r>
                        <a:rPr sz="850" b="0">
                          <a:solidFill>
                            <a:srgbClr val="1E293B"/>
                          </a:solidFill>
                          <a:latin typeface="Arial"/>
                        </a:rPr>
                        <a:t>Debug a </a:t>
                      </a:r>
                      <a:r>
                        <a:rPr sz="850" b="1">
                          <a:solidFill>
                            <a:srgbClr val="0F172A"/>
                          </a:solidFill>
                          <a:latin typeface="Arial"/>
                        </a:rPr>
                        <a:t>failed</a:t>
                      </a:r>
                      <a:r>
                        <a:rPr sz="850" b="0">
                          <a:solidFill>
                            <a:srgbClr val="1E293B"/>
                          </a:solidFill>
                          <a:latin typeface="Arial"/>
                        </a:rPr>
                        <a:t> request</a:t>
                      </a:r>
                    </a:p>
                  </a:txBody>
                  <a:tcPr marL="64008" marR="54864" marT="18288" marB="18288" anchor="ctr">
                    <a:solidFill>
                      <a:srgbClr val="FFFFFF"/>
                    </a:solidFill>
                  </a:tcPr>
                </a:tc>
                <a:tc>
                  <a:txBody>
                    <a:bodyPr wrap="square"/>
                    <a:lstStyle/>
                    <a:p>
                      <a:pPr algn="l">
                        <a:lnSpc>
                          <a:spcPct val="105000"/>
                        </a:lnSpc>
                      </a:pPr>
                      <a:r>
                        <a:rPr sz="850" b="0">
                          <a:solidFill>
                            <a:srgbClr val="1E293B"/>
                          </a:solidFill>
                          <a:latin typeface="Arial"/>
                        </a:rPr>
                        <a:t>Wallet: logcat / Flipper. Mimoto: application log + the structured error. Issuer: its own log.</a:t>
                      </a:r>
                    </a:p>
                  </a:txBody>
                  <a:tcPr marL="64008" marR="54864" marT="18288" marB="18288" anchor="ctr">
                    <a:solidFill>
                      <a:srgbClr val="FFFFFF"/>
                    </a:solidFill>
                  </a:tcPr>
                </a:tc>
                <a:tc>
                  <a:txBody>
                    <a:bodyPr wrap="square"/>
                    <a:lstStyle/>
                    <a:p>
                      <a:pPr algn="l">
                        <a:lnSpc>
                          <a:spcPct val="105000"/>
                        </a:lnSpc>
                      </a:pPr>
                      <a:r>
                        <a:rPr sz="850" b="0">
                          <a:solidFill>
                            <a:srgbClr val="1E293B"/>
                          </a:solidFill>
                          <a:latin typeface="Arial"/>
                        </a:rPr>
                        <a:t>Start by deciding which of the three owns the failure — that is the triage tree on the next slide</a:t>
                      </a:r>
                    </a:p>
                  </a:txBody>
                  <a:tcPr marL="64008" marR="54864" marT="18288" marB="18288" anchor="ctr">
                    <a:solidFill>
                      <a:srgbClr val="FFFFFF"/>
                    </a:solidFill>
                  </a:tcPr>
                </a:tc>
              </a:tr>
            </a:tbl>
          </a:graphicData>
        </a:graphic>
      </p:graphicFrame>
      <p:sp>
        <p:nvSpPr>
          <p:cNvPr id="16" name="TextBox 1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Configuration, deployment and the code</a:t>
            </a:r>
          </a:p>
        </p:txBody>
      </p:sp>
      <p:sp>
        <p:nvSpPr>
          <p:cNvPr id="17" name="TextBox 1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12</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Troubleshooting and interoperability</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The failure catalogue, the triage tree, and what it takes to work with issuers and verifiers you did not build.</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30 min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Triage: which component owns this?</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Issuance failures</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Crypto and format failures</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Presentation and platform failures</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What to log and what to look at</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Interoperability and draft versions</a:t>
            </a:r>
          </a:p>
        </p:txBody>
      </p:sp>
      <p:sp>
        <p:nvSpPr>
          <p:cNvPr id="23" name="Rounded Rectangle 22"/>
          <p:cNvSpPr/>
          <p:nvPr/>
        </p:nvSpPr>
        <p:spPr>
          <a:xfrm>
            <a:off x="50292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Troubleshooting and interoperability</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DECISION TREE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Triage: who owns this failure?</a:t>
            </a:r>
          </a:p>
        </p:txBody>
      </p:sp>
      <p:sp>
        <p:nvSpPr>
          <p:cNvPr id="4" name="TextBox 3"/>
          <p:cNvSpPr txBox="1"/>
          <p:nvPr/>
        </p:nvSpPr>
        <p:spPr>
          <a:xfrm>
            <a:off x="502920" y="1078992"/>
            <a:ext cx="11185855" cy="289481"/>
          </a:xfrm>
          <a:prstGeom prst="rect">
            <a:avLst/>
          </a:prstGeom>
          <a:noFill/>
        </p:spPr>
        <p:txBody>
          <a:bodyPr wrap="square" lIns="0" rIns="0" tIns="0" bIns="0" anchor="t">
            <a:spAutoFit/>
          </a:bodyPr>
          <a:lstStyle/>
          <a:p>
            <a:pPr algn="l">
              <a:lnSpc>
                <a:spcPct val="114000"/>
              </a:lnSpc>
              <a:spcBef>
                <a:spcPts val="0"/>
              </a:spcBef>
              <a:spcAft>
                <a:spcPts val="0"/>
              </a:spcAft>
            </a:pPr>
            <a:r>
              <a:rPr sz="1110" b="0" i="0">
                <a:solidFill>
                  <a:srgbClr val="5B6B7F"/>
                </a:solidFill>
                <a:latin typeface="Arial"/>
              </a:rPr>
              <a:t>Four questions, asked in order. Most failures are localised within two minutes.</a:t>
            </a:r>
          </a:p>
        </p:txBody>
      </p:sp>
      <p:cxnSp>
        <p:nvCxnSpPr>
          <p:cNvPr id="5" name="Connector 4"/>
          <p:cNvCxnSpPr/>
          <p:nvPr/>
        </p:nvCxnSpPr>
        <p:spPr>
          <a:xfrm>
            <a:off x="502920" y="1459913"/>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502920" y="1647225"/>
            <a:ext cx="402336" cy="374623"/>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60" b="1">
                <a:solidFill>
                  <a:srgbClr val="FFFFFF"/>
                </a:solidFill>
                <a:latin typeface="Arial"/>
              </a:rPr>
              <a:t>1</a:t>
            </a:r>
          </a:p>
        </p:txBody>
      </p:sp>
      <p:sp>
        <p:nvSpPr>
          <p:cNvPr id="7" name="TextBox 6"/>
          <p:cNvSpPr txBox="1"/>
          <p:nvPr/>
        </p:nvSpPr>
        <p:spPr>
          <a:xfrm>
            <a:off x="1069848" y="1681282"/>
            <a:ext cx="3246120" cy="681133"/>
          </a:xfrm>
          <a:prstGeom prst="rect">
            <a:avLst/>
          </a:prstGeom>
          <a:noFill/>
        </p:spPr>
        <p:txBody>
          <a:bodyPr wrap="square" lIns="0" rIns="0" tIns="0" bIns="0" anchor="t">
            <a:spAutoFit/>
          </a:bodyPr>
          <a:lstStyle/>
          <a:p>
            <a:pPr algn="l">
              <a:lnSpc>
                <a:spcPct val="115000"/>
              </a:lnSpc>
              <a:spcBef>
                <a:spcPts val="0"/>
              </a:spcBef>
              <a:spcAft>
                <a:spcPts val="0"/>
              </a:spcAft>
            </a:pPr>
            <a:r>
              <a:rPr sz="1160" b="1" i="0">
                <a:solidFill>
                  <a:srgbClr val="0F172A"/>
                </a:solidFill>
              </a:rPr>
              <a:t>Did anything reach the network at all?</a:t>
            </a:r>
          </a:p>
        </p:txBody>
      </p:sp>
      <p:sp>
        <p:nvSpPr>
          <p:cNvPr id="8" name="Rounded Rectangle 7"/>
          <p:cNvSpPr/>
          <p:nvPr/>
        </p:nvSpPr>
        <p:spPr>
          <a:xfrm>
            <a:off x="4480559" y="1630197"/>
            <a:ext cx="3520440" cy="851416"/>
          </a:xfrm>
          <a:prstGeom prst="roundRect">
            <a:avLst>
              <a:gd name="adj" fmla="val 9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1" y="1715338"/>
            <a:ext cx="3200400" cy="723704"/>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1E293B"/>
                </a:solidFill>
                <a:latin typeface="Arial"/>
              </a:rPr>
              <a:t>No → the failure is </a:t>
            </a:r>
            <a:r>
              <a:rPr sz="900" b="1" i="0">
                <a:solidFill>
                  <a:srgbClr val="1D4E89"/>
                </a:solidFill>
                <a:latin typeface="Arial"/>
              </a:rPr>
              <a:t>inside the app</a:t>
            </a:r>
            <a:r>
              <a:rPr sz="900" b="0" i="0">
                <a:solidFill>
                  <a:srgbClr val="1E293B"/>
                </a:solidFill>
                <a:latin typeface="Arial"/>
              </a:rPr>
              <a:t>: deep link not registered, QR not parsed, permission denied, or a crash. Look at logcat / the browser console.</a:t>
            </a:r>
          </a:p>
        </p:txBody>
      </p:sp>
      <p:sp>
        <p:nvSpPr>
          <p:cNvPr id="10" name="Rounded Rectangle 9"/>
          <p:cNvSpPr/>
          <p:nvPr/>
        </p:nvSpPr>
        <p:spPr>
          <a:xfrm>
            <a:off x="8183879" y="1630197"/>
            <a:ext cx="3520440" cy="851416"/>
          </a:xfrm>
          <a:prstGeom prst="roundRect">
            <a:avLst>
              <a:gd name="adj" fmla="val 9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1" y="1715338"/>
            <a:ext cx="3200400" cy="723704"/>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1E293B"/>
                </a:solidFill>
                <a:latin typeface="Arial"/>
              </a:rPr>
              <a:t>Yes → go to question 2.</a:t>
            </a:r>
          </a:p>
        </p:txBody>
      </p:sp>
      <p:cxnSp>
        <p:nvCxnSpPr>
          <p:cNvPr id="12" name="Connector 11"/>
          <p:cNvCxnSpPr/>
          <p:nvPr/>
        </p:nvCxnSpPr>
        <p:spPr>
          <a:xfrm>
            <a:off x="704088" y="2038877"/>
            <a:ext cx="0" cy="595991"/>
          </a:xfrm>
          <a:prstGeom prst="line">
            <a:avLst/>
          </a:prstGeom>
          <a:ln w="1524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02920" y="2651897"/>
            <a:ext cx="402336" cy="374623"/>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60" b="1">
                <a:solidFill>
                  <a:srgbClr val="FFFFFF"/>
                </a:solidFill>
                <a:latin typeface="Arial"/>
              </a:rPr>
              <a:t>2</a:t>
            </a:r>
          </a:p>
        </p:txBody>
      </p:sp>
      <p:sp>
        <p:nvSpPr>
          <p:cNvPr id="14" name="TextBox 13"/>
          <p:cNvSpPr txBox="1"/>
          <p:nvPr/>
        </p:nvSpPr>
        <p:spPr>
          <a:xfrm>
            <a:off x="1069848" y="2685953"/>
            <a:ext cx="3246120" cy="681133"/>
          </a:xfrm>
          <a:prstGeom prst="rect">
            <a:avLst/>
          </a:prstGeom>
          <a:noFill/>
        </p:spPr>
        <p:txBody>
          <a:bodyPr wrap="square" lIns="0" rIns="0" tIns="0" bIns="0" anchor="t">
            <a:spAutoFit/>
          </a:bodyPr>
          <a:lstStyle/>
          <a:p>
            <a:pPr algn="l">
              <a:lnSpc>
                <a:spcPct val="115000"/>
              </a:lnSpc>
              <a:spcBef>
                <a:spcPts val="0"/>
              </a:spcBef>
              <a:spcAft>
                <a:spcPts val="0"/>
              </a:spcAft>
            </a:pPr>
            <a:r>
              <a:rPr sz="1160" b="1" i="0">
                <a:solidFill>
                  <a:srgbClr val="0F172A"/>
                </a:solidFill>
              </a:rPr>
              <a:t>Did the issuer or verifier answer?</a:t>
            </a:r>
          </a:p>
        </p:txBody>
      </p:sp>
      <p:sp>
        <p:nvSpPr>
          <p:cNvPr id="15" name="Rounded Rectangle 14"/>
          <p:cNvSpPr/>
          <p:nvPr/>
        </p:nvSpPr>
        <p:spPr>
          <a:xfrm>
            <a:off x="4480559" y="2634868"/>
            <a:ext cx="3520440" cy="851416"/>
          </a:xfrm>
          <a:prstGeom prst="roundRect">
            <a:avLst>
              <a:gd name="adj" fmla="val 9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1" y="2720010"/>
            <a:ext cx="3200400" cy="723704"/>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1E293B"/>
                </a:solidFill>
                <a:latin typeface="Arial"/>
              </a:rPr>
              <a:t>No → </a:t>
            </a:r>
            <a:r>
              <a:rPr sz="900" b="1" i="0">
                <a:solidFill>
                  <a:srgbClr val="0E9488"/>
                </a:solidFill>
                <a:latin typeface="Arial"/>
              </a:rPr>
              <a:t>connectivity or DNS</a:t>
            </a:r>
            <a:r>
              <a:rPr sz="900" b="0" i="0">
                <a:solidFill>
                  <a:srgbClr val="1E293B"/>
                </a:solidFill>
                <a:latin typeface="Arial"/>
              </a:rPr>
              <a:t>: the phone's network, egress rules, a certificate the device does not trust, or a host that only resolves inside your cluster.</a:t>
            </a:r>
          </a:p>
        </p:txBody>
      </p:sp>
      <p:sp>
        <p:nvSpPr>
          <p:cNvPr id="17" name="Rounded Rectangle 16"/>
          <p:cNvSpPr/>
          <p:nvPr/>
        </p:nvSpPr>
        <p:spPr>
          <a:xfrm>
            <a:off x="8183879" y="2634868"/>
            <a:ext cx="3520440" cy="851416"/>
          </a:xfrm>
          <a:prstGeom prst="roundRect">
            <a:avLst>
              <a:gd name="adj" fmla="val 9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8471" y="2720010"/>
            <a:ext cx="3200400" cy="723704"/>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1E293B"/>
                </a:solidFill>
                <a:latin typeface="Arial"/>
              </a:rPr>
              <a:t>Yes, with an HTTP error → read the body; the error usually names the party at fault. Go to question 3.</a:t>
            </a:r>
          </a:p>
        </p:txBody>
      </p:sp>
      <p:cxnSp>
        <p:nvCxnSpPr>
          <p:cNvPr id="19" name="Connector 18"/>
          <p:cNvCxnSpPr/>
          <p:nvPr/>
        </p:nvCxnSpPr>
        <p:spPr>
          <a:xfrm>
            <a:off x="704088" y="3043549"/>
            <a:ext cx="0" cy="595990"/>
          </a:xfrm>
          <a:prstGeom prst="line">
            <a:avLst/>
          </a:prstGeom>
          <a:ln w="1524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02920" y="3656569"/>
            <a:ext cx="402336" cy="374623"/>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60" b="1">
                <a:solidFill>
                  <a:srgbClr val="FFFFFF"/>
                </a:solidFill>
                <a:latin typeface="Arial"/>
              </a:rPr>
              <a:t>3</a:t>
            </a:r>
          </a:p>
        </p:txBody>
      </p:sp>
      <p:sp>
        <p:nvSpPr>
          <p:cNvPr id="21" name="TextBox 20"/>
          <p:cNvSpPr txBox="1"/>
          <p:nvPr/>
        </p:nvSpPr>
        <p:spPr>
          <a:xfrm>
            <a:off x="1069848" y="3690625"/>
            <a:ext cx="3246120" cy="681133"/>
          </a:xfrm>
          <a:prstGeom prst="rect">
            <a:avLst/>
          </a:prstGeom>
          <a:noFill/>
        </p:spPr>
        <p:txBody>
          <a:bodyPr wrap="square" lIns="0" rIns="0" tIns="0" bIns="0" anchor="t">
            <a:spAutoFit/>
          </a:bodyPr>
          <a:lstStyle/>
          <a:p>
            <a:pPr algn="l">
              <a:lnSpc>
                <a:spcPct val="115000"/>
              </a:lnSpc>
              <a:spcBef>
                <a:spcPts val="0"/>
              </a:spcBef>
              <a:spcAft>
                <a:spcPts val="0"/>
              </a:spcAft>
            </a:pPr>
            <a:r>
              <a:rPr sz="1160" b="1" i="0">
                <a:solidFill>
                  <a:srgbClr val="0F172A"/>
                </a:solidFill>
              </a:rPr>
              <a:t>Is the message well formed for the version in use?</a:t>
            </a:r>
          </a:p>
        </p:txBody>
      </p:sp>
      <p:sp>
        <p:nvSpPr>
          <p:cNvPr id="22" name="Rounded Rectangle 21"/>
          <p:cNvSpPr/>
          <p:nvPr/>
        </p:nvSpPr>
        <p:spPr>
          <a:xfrm>
            <a:off x="4480559" y="3639540"/>
            <a:ext cx="3520440" cy="851416"/>
          </a:xfrm>
          <a:prstGeom prst="roundRect">
            <a:avLst>
              <a:gd name="adj" fmla="val 9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1" y="3724682"/>
            <a:ext cx="3200400" cy="723704"/>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1E293B"/>
                </a:solidFill>
                <a:latin typeface="Arial"/>
              </a:rPr>
              <a:t>No → </a:t>
            </a:r>
            <a:r>
              <a:rPr sz="900" b="1" i="0">
                <a:solidFill>
                  <a:srgbClr val="6D28D9"/>
                </a:solidFill>
                <a:latin typeface="Arial"/>
              </a:rPr>
              <a:t>contract mismatch</a:t>
            </a:r>
            <a:r>
              <a:rPr sz="900" b="0" i="0">
                <a:solidFill>
                  <a:srgbClr val="1E293B"/>
                </a:solidFill>
                <a:latin typeface="Arial"/>
              </a:rPr>
              <a:t>: draft 11 versus 13, draft 21 versus 23, </a:t>
            </a:r>
            <a:r>
              <a:rPr sz="900" b="0" i="0">
                <a:solidFill>
                  <a:srgbClr val="1D4E89"/>
                </a:solidFill>
                <a:latin typeface="Consolas"/>
              </a:rPr>
              <a:t>vc+sd-jwt</a:t>
            </a:r>
            <a:r>
              <a:rPr sz="900" b="0" i="0">
                <a:solidFill>
                  <a:srgbClr val="1E293B"/>
                </a:solidFill>
                <a:latin typeface="Arial"/>
              </a:rPr>
              <a:t> versus </a:t>
            </a:r>
            <a:r>
              <a:rPr sz="900" b="0" i="0">
                <a:solidFill>
                  <a:srgbClr val="1D4E89"/>
                </a:solidFill>
                <a:latin typeface="Consolas"/>
              </a:rPr>
              <a:t>dc+sd-jwt</a:t>
            </a:r>
            <a:r>
              <a:rPr sz="900" b="0" i="0">
                <a:solidFill>
                  <a:srgbClr val="1E293B"/>
                </a:solidFill>
                <a:latin typeface="Arial"/>
              </a:rPr>
              <a:t>, a missing </a:t>
            </a:r>
            <a:r>
              <a:rPr sz="900" b="0" i="0">
                <a:solidFill>
                  <a:srgbClr val="1D4E89"/>
                </a:solidFill>
                <a:latin typeface="Consolas"/>
              </a:rPr>
              <a:t>kid</a:t>
            </a:r>
            <a:r>
              <a:rPr sz="900" b="0" i="0">
                <a:solidFill>
                  <a:srgbClr val="1E293B"/>
                </a:solidFill>
                <a:latin typeface="Arial"/>
              </a:rPr>
              <a:t>, an unexpected </a:t>
            </a:r>
            <a:r>
              <a:rPr sz="900" b="0" i="0">
                <a:solidFill>
                  <a:srgbClr val="1D4E89"/>
                </a:solidFill>
                <a:latin typeface="Consolas"/>
              </a:rPr>
              <a:t>alg</a:t>
            </a:r>
            <a:r>
              <a:rPr sz="900" b="0" i="0">
                <a:solidFill>
                  <a:srgbClr val="1E293B"/>
                </a:solidFill>
                <a:latin typeface="Arial"/>
              </a:rPr>
              <a:t>.</a:t>
            </a:r>
          </a:p>
        </p:txBody>
      </p:sp>
      <p:sp>
        <p:nvSpPr>
          <p:cNvPr id="24" name="Rounded Rectangle 23"/>
          <p:cNvSpPr/>
          <p:nvPr/>
        </p:nvSpPr>
        <p:spPr>
          <a:xfrm>
            <a:off x="8183879" y="3639540"/>
            <a:ext cx="3520440" cy="851416"/>
          </a:xfrm>
          <a:prstGeom prst="roundRect">
            <a:avLst>
              <a:gd name="adj" fmla="val 9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8471" y="3724682"/>
            <a:ext cx="3200400" cy="723704"/>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1E293B"/>
                </a:solidFill>
                <a:latin typeface="Arial"/>
              </a:rPr>
              <a:t>Yes → go to question 4.</a:t>
            </a:r>
          </a:p>
        </p:txBody>
      </p:sp>
      <p:cxnSp>
        <p:nvCxnSpPr>
          <p:cNvPr id="26" name="Connector 25"/>
          <p:cNvCxnSpPr/>
          <p:nvPr/>
        </p:nvCxnSpPr>
        <p:spPr>
          <a:xfrm>
            <a:off x="704088" y="4048220"/>
            <a:ext cx="0" cy="595991"/>
          </a:xfrm>
          <a:prstGeom prst="line">
            <a:avLst/>
          </a:prstGeom>
          <a:ln w="1524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02920" y="4661241"/>
            <a:ext cx="402336" cy="374623"/>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60" b="1">
                <a:solidFill>
                  <a:srgbClr val="FFFFFF"/>
                </a:solidFill>
                <a:latin typeface="Arial"/>
              </a:rPr>
              <a:t>4</a:t>
            </a:r>
          </a:p>
        </p:txBody>
      </p:sp>
      <p:sp>
        <p:nvSpPr>
          <p:cNvPr id="28" name="TextBox 27"/>
          <p:cNvSpPr txBox="1"/>
          <p:nvPr/>
        </p:nvSpPr>
        <p:spPr>
          <a:xfrm>
            <a:off x="1069848" y="4695297"/>
            <a:ext cx="3246120" cy="681133"/>
          </a:xfrm>
          <a:prstGeom prst="rect">
            <a:avLst/>
          </a:prstGeom>
          <a:noFill/>
        </p:spPr>
        <p:txBody>
          <a:bodyPr wrap="square" lIns="0" rIns="0" tIns="0" bIns="0" anchor="t">
            <a:spAutoFit/>
          </a:bodyPr>
          <a:lstStyle/>
          <a:p>
            <a:pPr algn="l">
              <a:lnSpc>
                <a:spcPct val="115000"/>
              </a:lnSpc>
              <a:spcBef>
                <a:spcPts val="0"/>
              </a:spcBef>
              <a:spcAft>
                <a:spcPts val="0"/>
              </a:spcAft>
            </a:pPr>
            <a:r>
              <a:rPr sz="1160" b="1" i="0">
                <a:solidFill>
                  <a:srgbClr val="0F172A"/>
                </a:solidFill>
              </a:rPr>
              <a:t>Does the cryptography check out?</a:t>
            </a:r>
          </a:p>
        </p:txBody>
      </p:sp>
      <p:sp>
        <p:nvSpPr>
          <p:cNvPr id="29" name="Rounded Rectangle 28"/>
          <p:cNvSpPr/>
          <p:nvPr/>
        </p:nvSpPr>
        <p:spPr>
          <a:xfrm>
            <a:off x="4480559" y="4644212"/>
            <a:ext cx="3520440" cy="851416"/>
          </a:xfrm>
          <a:prstGeom prst="roundRect">
            <a:avLst>
              <a:gd name="adj" fmla="val 9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5151" y="4729354"/>
            <a:ext cx="3200400" cy="723704"/>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1E293B"/>
                </a:solidFill>
                <a:latin typeface="Arial"/>
              </a:rPr>
              <a:t>No → </a:t>
            </a:r>
            <a:r>
              <a:rPr sz="900" b="1" i="0">
                <a:solidFill>
                  <a:srgbClr val="B45309"/>
                </a:solidFill>
                <a:latin typeface="Arial"/>
              </a:rPr>
              <a:t>key resolution or signature</a:t>
            </a:r>
            <a:r>
              <a:rPr sz="900" b="0" i="0">
                <a:solidFill>
                  <a:srgbClr val="1E293B"/>
                </a:solidFill>
                <a:latin typeface="Arial"/>
              </a:rPr>
              <a:t>: key not found, wrong </a:t>
            </a:r>
            <a:r>
              <a:rPr sz="900" b="0" i="0">
                <a:solidFill>
                  <a:srgbClr val="1D4E89"/>
                </a:solidFill>
                <a:latin typeface="Consolas"/>
              </a:rPr>
              <a:t>kid</a:t>
            </a:r>
            <a:r>
              <a:rPr sz="900" b="0" i="0">
                <a:solidFill>
                  <a:srgbClr val="1E293B"/>
                </a:solidFill>
                <a:latin typeface="Arial"/>
              </a:rPr>
              <a:t>, rotated key removed, chain not trusted, digest mismatch.</a:t>
            </a:r>
          </a:p>
        </p:txBody>
      </p:sp>
      <p:sp>
        <p:nvSpPr>
          <p:cNvPr id="31" name="Rounded Rectangle 30"/>
          <p:cNvSpPr/>
          <p:nvPr/>
        </p:nvSpPr>
        <p:spPr>
          <a:xfrm>
            <a:off x="8183879" y="4644212"/>
            <a:ext cx="3520440" cy="851416"/>
          </a:xfrm>
          <a:prstGeom prst="roundRect">
            <a:avLst>
              <a:gd name="adj" fmla="val 9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48471" y="4729354"/>
            <a:ext cx="3200400" cy="723704"/>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1E293B"/>
                </a:solidFill>
                <a:latin typeface="Arial"/>
              </a:rPr>
              <a:t>Yes, and it still fails → </a:t>
            </a:r>
            <a:r>
              <a:rPr sz="900" b="1" i="0">
                <a:solidFill>
                  <a:srgbClr val="B45309"/>
                </a:solidFill>
                <a:latin typeface="Arial"/>
              </a:rPr>
              <a:t>policy</a:t>
            </a:r>
            <a:r>
              <a:rPr sz="900" b="0" i="0">
                <a:solidFill>
                  <a:srgbClr val="1E293B"/>
                </a:solidFill>
                <a:latin typeface="Arial"/>
              </a:rPr>
              <a:t>: the verifier does not accept this issuer or this credential type. Not a bug.</a:t>
            </a:r>
          </a:p>
        </p:txBody>
      </p:sp>
      <p:sp>
        <p:nvSpPr>
          <p:cNvPr id="33" name="Rounded Rectangle 32"/>
          <p:cNvSpPr/>
          <p:nvPr/>
        </p:nvSpPr>
        <p:spPr>
          <a:xfrm>
            <a:off x="502920" y="5776597"/>
            <a:ext cx="11185855" cy="496186"/>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5776597"/>
            <a:ext cx="45720" cy="496186"/>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5861737"/>
            <a:ext cx="10820095" cy="359960"/>
          </a:xfrm>
          <a:prstGeom prst="rect">
            <a:avLst/>
          </a:prstGeom>
          <a:noFill/>
        </p:spPr>
        <p:txBody>
          <a:bodyPr wrap="square" lIns="0" rIns="0" tIns="0" bIns="0" anchor="t">
            <a:spAutoFit/>
          </a:bodyPr>
          <a:lstStyle/>
          <a:p>
            <a:pPr algn="l">
              <a:lnSpc>
                <a:spcPct val="122000"/>
              </a:lnSpc>
              <a:spcBef>
                <a:spcPts val="0"/>
              </a:spcBef>
              <a:spcAft>
                <a:spcPts val="0"/>
              </a:spcAft>
            </a:pPr>
            <a:r>
              <a:rPr sz="1030" b="0" i="0">
                <a:solidFill>
                  <a:srgbClr val="1E293B"/>
                </a:solidFill>
                <a:latin typeface="Arial"/>
              </a:rPr>
              <a:t>The discipline this builds: </a:t>
            </a:r>
            <a:r>
              <a:rPr sz="1030" b="1" i="0">
                <a:solidFill>
                  <a:srgbClr val="0E9488"/>
                </a:solidFill>
                <a:latin typeface="Arial"/>
              </a:rPr>
              <a:t>name the owner before you debug.</a:t>
            </a:r>
            <a:r>
              <a:rPr sz="1030" b="0" i="0">
                <a:solidFill>
                  <a:srgbClr val="1E293B"/>
                </a:solidFill>
                <a:latin typeface="Arial"/>
              </a:rPr>
              <a:t> A developer who spends an hour in the wallet on a problem the issuer caused has lost the hour and learned nothing.</a:t>
            </a:r>
          </a:p>
        </p:txBody>
      </p:sp>
      <p:sp>
        <p:nvSpPr>
          <p:cNvPr id="36" name="TextBox 3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Troubleshooting and interoperability</a:t>
            </a:r>
          </a:p>
        </p:txBody>
      </p:sp>
      <p:sp>
        <p:nvSpPr>
          <p:cNvPr id="37" name="TextBox 3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TROUBLESHOOTING</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Failure catalogue 1 — issuance</a:t>
            </a:r>
          </a:p>
        </p:txBody>
      </p:sp>
      <p:sp>
        <p:nvSpPr>
          <p:cNvPr id="4" name="TextBox 3"/>
          <p:cNvSpPr txBox="1"/>
          <p:nvPr/>
        </p:nvSpPr>
        <p:spPr>
          <a:xfrm>
            <a:off x="502920" y="1078992"/>
            <a:ext cx="11185855" cy="300138"/>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5B6B7F"/>
                </a:solidFill>
                <a:latin typeface="Arial"/>
              </a:rPr>
              <a:t>Symptom, most likely cause, who owns it, and where to look.</a:t>
            </a:r>
          </a:p>
        </p:txBody>
      </p:sp>
      <p:cxnSp>
        <p:nvCxnSpPr>
          <p:cNvPr id="5" name="Connector 4"/>
          <p:cNvCxnSpPr/>
          <p:nvPr/>
        </p:nvCxnSpPr>
        <p:spPr>
          <a:xfrm>
            <a:off x="502920" y="1470570"/>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64777"/>
          <a:ext cx="11185853" cy="4608004"/>
        </p:xfrm>
        <a:graphic>
          <a:graphicData uri="http://schemas.openxmlformats.org/drawingml/2006/table">
            <a:tbl>
              <a:tblPr firstRow="1">
                <a:tableStyleId>{2D5ABB26-0587-4C30-8999-92F81FD0307C}</a:tableStyleId>
              </a:tblPr>
              <a:tblGrid>
                <a:gridCol w="2621684"/>
                <a:gridCol w="3408190"/>
                <a:gridCol w="1310842"/>
                <a:gridCol w="3845137"/>
              </a:tblGrid>
              <a:tr h="282483">
                <a:tc>
                  <a:txBody>
                    <a:bodyPr wrap="square"/>
                    <a:lstStyle/>
                    <a:p>
                      <a:pPr algn="l"/>
                      <a:r>
                        <a:rPr sz="940" b="1">
                          <a:solidFill>
                            <a:srgbClr val="FFFFFF"/>
                          </a:solidFill>
                          <a:latin typeface="Arial"/>
                        </a:rPr>
                        <a:t>Symptom</a:t>
                      </a:r>
                    </a:p>
                  </a:txBody>
                  <a:tcPr marL="64008" marR="54864" marT="27432" marB="27432" anchor="ctr">
                    <a:solidFill>
                      <a:srgbClr val="1D4E89"/>
                    </a:solidFill>
                  </a:tcPr>
                </a:tc>
                <a:tc>
                  <a:txBody>
                    <a:bodyPr wrap="square"/>
                    <a:lstStyle/>
                    <a:p>
                      <a:pPr algn="l"/>
                      <a:r>
                        <a:rPr sz="940" b="1">
                          <a:solidFill>
                            <a:srgbClr val="FFFFFF"/>
                          </a:solidFill>
                          <a:latin typeface="Arial"/>
                        </a:rPr>
                        <a:t>Most likely cause</a:t>
                      </a:r>
                    </a:p>
                  </a:txBody>
                  <a:tcPr marL="64008" marR="54864" marT="27432" marB="27432" anchor="ctr">
                    <a:solidFill>
                      <a:srgbClr val="1D4E89"/>
                    </a:solidFill>
                  </a:tcPr>
                </a:tc>
                <a:tc>
                  <a:txBody>
                    <a:bodyPr wrap="square"/>
                    <a:lstStyle/>
                    <a:p>
                      <a:pPr algn="l"/>
                      <a:r>
                        <a:rPr sz="940" b="1">
                          <a:solidFill>
                            <a:srgbClr val="FFFFFF"/>
                          </a:solidFill>
                          <a:latin typeface="Arial"/>
                        </a:rPr>
                        <a:t>Owner</a:t>
                      </a:r>
                    </a:p>
                  </a:txBody>
                  <a:tcPr marL="64008" marR="54864" marT="27432" marB="27432" anchor="ctr">
                    <a:solidFill>
                      <a:srgbClr val="1D4E89"/>
                    </a:solidFill>
                  </a:tcPr>
                </a:tc>
                <a:tc>
                  <a:txBody>
                    <a:bodyPr wrap="square"/>
                    <a:lstStyle/>
                    <a:p>
                      <a:pPr algn="l"/>
                      <a:r>
                        <a:rPr sz="940" b="1">
                          <a:solidFill>
                            <a:srgbClr val="FFFFFF"/>
                          </a:solidFill>
                          <a:latin typeface="Arial"/>
                        </a:rPr>
                        <a:t>Where to look</a:t>
                      </a:r>
                    </a:p>
                  </a:txBody>
                  <a:tcPr marL="64008" marR="54864" marT="27432" marB="27432" anchor="ctr">
                    <a:solidFill>
                      <a:srgbClr val="1D4E89"/>
                    </a:solidFill>
                  </a:tcPr>
                </a:tc>
              </a:tr>
              <a:tr h="334713">
                <a:tc>
                  <a:txBody>
                    <a:bodyPr wrap="square"/>
                    <a:lstStyle/>
                    <a:p>
                      <a:pPr algn="l">
                        <a:lnSpc>
                          <a:spcPct val="105000"/>
                        </a:lnSpc>
                      </a:pPr>
                      <a:r>
                        <a:rPr sz="860" b="0">
                          <a:solidFill>
                            <a:srgbClr val="1E293B"/>
                          </a:solidFill>
                          <a:latin typeface="Arial"/>
                        </a:rPr>
                        <a:t>Credential Offer QR does nothing</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Scheme not registered, or the payload is not a recognised offer</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Wallet</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Device logs; confirm the scheme in </a:t>
                      </a:r>
                      <a:r>
                        <a:rPr sz="860" b="0">
                          <a:solidFill>
                            <a:srgbClr val="1D4E89"/>
                          </a:solidFill>
                          <a:latin typeface="Consolas"/>
                        </a:rPr>
                        <a:t>AndroidManifest.xml</a:t>
                      </a:r>
                      <a:r>
                        <a:rPr sz="860" b="0">
                          <a:solidFill>
                            <a:srgbClr val="1E293B"/>
                          </a:solidFill>
                          <a:latin typeface="Arial"/>
                        </a:rPr>
                        <a:t> / </a:t>
                      </a:r>
                      <a:r>
                        <a:rPr sz="860" b="0">
                          <a:solidFill>
                            <a:srgbClr val="1D4E89"/>
                          </a:solidFill>
                          <a:latin typeface="Consolas"/>
                        </a:rPr>
                        <a:t>Info.plist</a:t>
                      </a:r>
                    </a:p>
                  </a:txBody>
                  <a:tcPr marL="64008" marR="54864" marT="18288" marB="18288" anchor="ctr">
                    <a:solidFill>
                      <a:srgbClr val="FFFFFF"/>
                    </a:solidFill>
                  </a:tcPr>
                </a:tc>
              </a:tr>
              <a:tr h="334713">
                <a:tc>
                  <a:txBody>
                    <a:bodyPr wrap="square"/>
                    <a:lstStyle/>
                    <a:p>
                      <a:pPr algn="l">
                        <a:lnSpc>
                          <a:spcPct val="105000"/>
                        </a:lnSpc>
                      </a:pPr>
                      <a:r>
                        <a:rPr sz="860" b="0">
                          <a:solidFill>
                            <a:srgbClr val="1E293B"/>
                          </a:solidFill>
                          <a:latin typeface="Arial"/>
                        </a:rPr>
                        <a:t>Invalid Credential Offer</a:t>
                      </a:r>
                    </a:p>
                  </a:txBody>
                  <a:tcPr marL="64008" marR="54864" marT="18288" marB="18288" anchor="ctr">
                    <a:solidFill>
                      <a:srgbClr val="F3F6F9"/>
                    </a:solidFill>
                  </a:tcPr>
                </a:tc>
                <a:tc>
                  <a:txBody>
                    <a:bodyPr wrap="square"/>
                    <a:lstStyle/>
                    <a:p>
                      <a:pPr algn="l">
                        <a:lnSpc>
                          <a:spcPct val="105000"/>
                        </a:lnSpc>
                      </a:pPr>
                      <a:r>
                        <a:rPr sz="860" b="0">
                          <a:solidFill>
                            <a:srgbClr val="1D4E89"/>
                          </a:solidFill>
                          <a:latin typeface="Consolas"/>
                        </a:rPr>
                        <a:t>credential_configuration_ids</a:t>
                      </a:r>
                      <a:r>
                        <a:rPr sz="860" b="0">
                          <a:solidFill>
                            <a:srgbClr val="1E293B"/>
                          </a:solidFill>
                          <a:latin typeface="Arial"/>
                        </a:rPr>
                        <a:t> does not match the issuer metadata</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Issuer</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Compare the offer against </a:t>
                      </a:r>
                      <a:r>
                        <a:rPr sz="860" b="0">
                          <a:solidFill>
                            <a:srgbClr val="1D4E89"/>
                          </a:solidFill>
                          <a:latin typeface="Consolas"/>
                        </a:rPr>
                        <a:t>credential_configurations_supported</a:t>
                      </a:r>
                    </a:p>
                  </a:txBody>
                  <a:tcPr marL="64008" marR="54864" marT="18288" marB="18288" anchor="ctr">
                    <a:solidFill>
                      <a:srgbClr val="F3F6F9"/>
                    </a:solidFill>
                  </a:tcPr>
                </a:tc>
              </a:tr>
              <a:tr h="334713">
                <a:tc>
                  <a:txBody>
                    <a:bodyPr wrap="square"/>
                    <a:lstStyle/>
                    <a:p>
                      <a:pPr algn="l">
                        <a:lnSpc>
                          <a:spcPct val="105000"/>
                        </a:lnSpc>
                      </a:pPr>
                      <a:r>
                        <a:rPr sz="860" b="0">
                          <a:solidFill>
                            <a:srgbClr val="1E293B"/>
                          </a:solidFill>
                          <a:latin typeface="Arial"/>
                        </a:rPr>
                        <a:t>Issuer metadata unavailable</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Wrong well-known path, host unreachable from the phone, or a redirect</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Issuer / network</a:t>
                      </a:r>
                    </a:p>
                  </a:txBody>
                  <a:tcPr marL="64008" marR="54864" marT="18288" marB="18288" anchor="ctr">
                    <a:solidFill>
                      <a:srgbClr val="FFFFFF"/>
                    </a:solidFill>
                  </a:tcPr>
                </a:tc>
                <a:tc>
                  <a:txBody>
                    <a:bodyPr wrap="square"/>
                    <a:lstStyle/>
                    <a:p>
                      <a:pPr algn="l">
                        <a:lnSpc>
                          <a:spcPct val="105000"/>
                        </a:lnSpc>
                      </a:pPr>
                      <a:r>
                        <a:rPr sz="860" b="0">
                          <a:solidFill>
                            <a:srgbClr val="1D4E89"/>
                          </a:solidFill>
                          <a:latin typeface="Consolas"/>
                        </a:rPr>
                        <a:t>curl</a:t>
                      </a:r>
                      <a:r>
                        <a:rPr sz="860" b="0">
                          <a:solidFill>
                            <a:srgbClr val="1E293B"/>
                          </a:solidFill>
                          <a:latin typeface="Arial"/>
                        </a:rPr>
                        <a:t> the well-known URL from a device network; check Mimoto's cache</a:t>
                      </a:r>
                    </a:p>
                  </a:txBody>
                  <a:tcPr marL="64008" marR="54864" marT="18288" marB="18288" anchor="ctr">
                    <a:solidFill>
                      <a:srgbClr val="FFFFFF"/>
                    </a:solidFill>
                  </a:tcPr>
                </a:tc>
              </a:tr>
              <a:tr h="334713">
                <a:tc>
                  <a:txBody>
                    <a:bodyPr wrap="square"/>
                    <a:lstStyle/>
                    <a:p>
                      <a:pPr algn="l">
                        <a:lnSpc>
                          <a:spcPct val="105000"/>
                        </a:lnSpc>
                      </a:pPr>
                      <a:r>
                        <a:rPr sz="860" b="0">
                          <a:solidFill>
                            <a:srgbClr val="1E293B"/>
                          </a:solidFill>
                          <a:latin typeface="Arial"/>
                        </a:rPr>
                        <a:t>Empty credential list</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Draft 11 vs 13 metadata shape mismatch</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Issuer</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Look for </a:t>
                      </a:r>
                      <a:r>
                        <a:rPr sz="860" b="0">
                          <a:solidFill>
                            <a:srgbClr val="1D4E89"/>
                          </a:solidFill>
                          <a:latin typeface="Consolas"/>
                        </a:rPr>
                        <a:t>credentials_supported</a:t>
                      </a:r>
                      <a:r>
                        <a:rPr sz="860" b="0">
                          <a:solidFill>
                            <a:srgbClr val="1E293B"/>
                          </a:solidFill>
                          <a:latin typeface="Arial"/>
                        </a:rPr>
                        <a:t> vs </a:t>
                      </a:r>
                      <a:r>
                        <a:rPr sz="860" b="0">
                          <a:solidFill>
                            <a:srgbClr val="1D4E89"/>
                          </a:solidFill>
                          <a:latin typeface="Consolas"/>
                        </a:rPr>
                        <a:t>credential_configurations_supported</a:t>
                      </a:r>
                    </a:p>
                  </a:txBody>
                  <a:tcPr marL="64008" marR="54864" marT="18288" marB="18288" anchor="ctr">
                    <a:solidFill>
                      <a:srgbClr val="F3F6F9"/>
                    </a:solidFill>
                  </a:tcPr>
                </a:tc>
              </a:tr>
              <a:tr h="334713">
                <a:tc>
                  <a:txBody>
                    <a:bodyPr wrap="square"/>
                    <a:lstStyle/>
                    <a:p>
                      <a:pPr algn="l">
                        <a:lnSpc>
                          <a:spcPct val="105000"/>
                        </a:lnSpc>
                      </a:pPr>
                      <a:r>
                        <a:rPr sz="860" b="0">
                          <a:solidFill>
                            <a:srgbClr val="1E293B"/>
                          </a:solidFill>
                          <a:latin typeface="Arial"/>
                        </a:rPr>
                        <a:t>Authorization redirect fails</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Redirect URI not registered at the AS, or mismatched by one character</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Issuer / config</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Compare all three copies: AS registration, Mimoto issuer config, app manifest</a:t>
                      </a:r>
                    </a:p>
                  </a:txBody>
                  <a:tcPr marL="64008" marR="54864" marT="18288" marB="18288" anchor="ctr">
                    <a:solidFill>
                      <a:srgbClr val="FFFFFF"/>
                    </a:solidFill>
                  </a:tcPr>
                </a:tc>
              </a:tr>
              <a:tr h="334713">
                <a:tc>
                  <a:txBody>
                    <a:bodyPr wrap="square"/>
                    <a:lstStyle/>
                    <a:p>
                      <a:pPr algn="l">
                        <a:lnSpc>
                          <a:spcPct val="105000"/>
                        </a:lnSpc>
                      </a:pPr>
                      <a:r>
                        <a:rPr sz="860" b="0">
                          <a:solidFill>
                            <a:srgbClr val="1E293B"/>
                          </a:solidFill>
                          <a:latin typeface="Arial"/>
                        </a:rPr>
                        <a:t>Browser closes, nothing happens</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The deep link did not reach the app</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Wallet / OS config</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Test the URI with </a:t>
                      </a:r>
                      <a:r>
                        <a:rPr sz="860" b="0">
                          <a:solidFill>
                            <a:srgbClr val="1D4E89"/>
                          </a:solidFill>
                          <a:latin typeface="Consolas"/>
                        </a:rPr>
                        <a:t>adb shell am start -a android.intent.action.VIEW -d …</a:t>
                      </a:r>
                    </a:p>
                  </a:txBody>
                  <a:tcPr marL="64008" marR="54864" marT="18288" marB="18288" anchor="ctr">
                    <a:solidFill>
                      <a:srgbClr val="F3F6F9"/>
                    </a:solidFill>
                  </a:tcPr>
                </a:tc>
              </a:tr>
              <a:tr h="334713">
                <a:tc>
                  <a:txBody>
                    <a:bodyPr wrap="square"/>
                    <a:lstStyle/>
                    <a:p>
                      <a:pPr algn="l">
                        <a:lnSpc>
                          <a:spcPct val="105000"/>
                        </a:lnSpc>
                      </a:pPr>
                      <a:r>
                        <a:rPr sz="860" b="0">
                          <a:solidFill>
                            <a:srgbClr val="1E293B"/>
                          </a:solidFill>
                          <a:latin typeface="Arial"/>
                        </a:rPr>
                        <a:t>PKCE mismatch at </a:t>
                      </a:r>
                      <a:r>
                        <a:rPr sz="860" b="0">
                          <a:solidFill>
                            <a:srgbClr val="1D4E89"/>
                          </a:solidFill>
                          <a:latin typeface="Consolas"/>
                        </a:rPr>
                        <a:t>/token</a:t>
                      </a:r>
                    </a:p>
                  </a:txBody>
                  <a:tcPr marL="64008" marR="54864" marT="18288" marB="18288" anchor="ctr">
                    <a:solidFill>
                      <a:srgbClr val="FFFFFF"/>
                    </a:solidFill>
                  </a:tcPr>
                </a:tc>
                <a:tc>
                  <a:txBody>
                    <a:bodyPr wrap="square"/>
                    <a:lstStyle/>
                    <a:p>
                      <a:pPr algn="l">
                        <a:lnSpc>
                          <a:spcPct val="105000"/>
                        </a:lnSpc>
                      </a:pPr>
                      <a:r>
                        <a:rPr sz="860" b="0">
                          <a:solidFill>
                            <a:srgbClr val="1D4E89"/>
                          </a:solidFill>
                          <a:latin typeface="Consolas"/>
                        </a:rPr>
                        <a:t>code_verifier</a:t>
                      </a:r>
                      <a:r>
                        <a:rPr sz="860" b="0">
                          <a:solidFill>
                            <a:srgbClr val="1E293B"/>
                          </a:solidFill>
                          <a:latin typeface="Arial"/>
                        </a:rPr>
                        <a:t> lost — a new PKCE session was created mid-flow</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Wallet / library</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Check for process death and re-entry into the flow</a:t>
                      </a:r>
                    </a:p>
                  </a:txBody>
                  <a:tcPr marL="64008" marR="54864" marT="18288" marB="18288" anchor="ctr">
                    <a:solidFill>
                      <a:srgbClr val="FFFFFF"/>
                    </a:solidFill>
                  </a:tcPr>
                </a:tc>
              </a:tr>
              <a:tr h="334713">
                <a:tc>
                  <a:txBody>
                    <a:bodyPr wrap="square"/>
                    <a:lstStyle/>
                    <a:p>
                      <a:pPr algn="l">
                        <a:lnSpc>
                          <a:spcPct val="105000"/>
                        </a:lnSpc>
                      </a:pPr>
                      <a:r>
                        <a:rPr sz="860" b="0">
                          <a:solidFill>
                            <a:srgbClr val="1E293B"/>
                          </a:solidFill>
                          <a:latin typeface="Arial"/>
                        </a:rPr>
                        <a:t>Token request fails</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Client id or secret wrong, grant type unsupported, or code already used</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AS / Mimoto</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Mimoto's </a:t>
                      </a:r>
                      <a:r>
                        <a:rPr sz="860" b="0">
                          <a:solidFill>
                            <a:srgbClr val="1D4E89"/>
                          </a:solidFill>
                          <a:latin typeface="Consolas"/>
                        </a:rPr>
                        <a:t>/get-token/{issuer}</a:t>
                      </a:r>
                      <a:r>
                        <a:rPr sz="860" b="0">
                          <a:solidFill>
                            <a:srgbClr val="1E293B"/>
                          </a:solidFill>
                          <a:latin typeface="Arial"/>
                        </a:rPr>
                        <a:t> log plus the AS log</a:t>
                      </a:r>
                    </a:p>
                  </a:txBody>
                  <a:tcPr marL="64008" marR="54864" marT="18288" marB="18288" anchor="ctr">
                    <a:solidFill>
                      <a:srgbClr val="F3F6F9"/>
                    </a:solidFill>
                  </a:tcPr>
                </a:tc>
              </a:tr>
              <a:tr h="308965">
                <a:tc>
                  <a:txBody>
                    <a:bodyPr wrap="square"/>
                    <a:lstStyle/>
                    <a:p>
                      <a:pPr algn="l">
                        <a:lnSpc>
                          <a:spcPct val="105000"/>
                        </a:lnSpc>
                      </a:pPr>
                      <a:r>
                        <a:rPr sz="860" b="0">
                          <a:solidFill>
                            <a:srgbClr val="1E293B"/>
                          </a:solidFill>
                          <a:latin typeface="Arial"/>
                        </a:rPr>
                        <a:t>Bearer vs DPoP mismatch</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The issuer demands </a:t>
                      </a:r>
                      <a:r>
                        <a:rPr sz="860" b="0">
                          <a:solidFill>
                            <a:srgbClr val="1D4E89"/>
                          </a:solidFill>
                          <a:latin typeface="Consolas"/>
                        </a:rPr>
                        <a:t>DPoP</a:t>
                      </a:r>
                      <a:r>
                        <a:rPr sz="860" b="0">
                          <a:solidFill>
                            <a:srgbClr val="1E293B"/>
                          </a:solidFill>
                          <a:latin typeface="Arial"/>
                        </a:rPr>
                        <a:t> but the wallet sends </a:t>
                      </a:r>
                      <a:r>
                        <a:rPr sz="860" b="0">
                          <a:solidFill>
                            <a:srgbClr val="1D4E89"/>
                          </a:solidFill>
                          <a:latin typeface="Consolas"/>
                        </a:rPr>
                        <a:t>Bearer</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Issuer</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Inji sends Bearer today — the issuer must accept it</a:t>
                      </a:r>
                    </a:p>
                  </a:txBody>
                  <a:tcPr marL="64008" marR="54864" marT="18288" marB="18288" anchor="ctr">
                    <a:solidFill>
                      <a:srgbClr val="FFFFFF"/>
                    </a:solidFill>
                  </a:tcPr>
                </a:tc>
              </a:tr>
              <a:tr h="334713">
                <a:tc>
                  <a:txBody>
                    <a:bodyPr wrap="square"/>
                    <a:lstStyle/>
                    <a:p>
                      <a:pPr algn="l">
                        <a:lnSpc>
                          <a:spcPct val="105000"/>
                        </a:lnSpc>
                      </a:pPr>
                      <a:r>
                        <a:rPr sz="860" b="0">
                          <a:solidFill>
                            <a:srgbClr val="1D4E89"/>
                          </a:solidFill>
                          <a:latin typeface="Consolas"/>
                        </a:rPr>
                        <a:t>c_nonce</a:t>
                      </a:r>
                      <a:r>
                        <a:rPr sz="860" b="0">
                          <a:solidFill>
                            <a:srgbClr val="1E293B"/>
                          </a:solidFill>
                          <a:latin typeface="Arial"/>
                        </a:rPr>
                        <a:t> / nonce failure</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The proof was built with a stale or missing </a:t>
                      </a:r>
                      <a:r>
                        <a:rPr sz="860" b="0">
                          <a:solidFill>
                            <a:srgbClr val="1D4E89"/>
                          </a:solidFill>
                          <a:latin typeface="Consolas"/>
                        </a:rPr>
                        <a:t>c_nonce</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Wallet / issuer</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Confirm </a:t>
                      </a:r>
                      <a:r>
                        <a:rPr sz="860" b="0">
                          <a:solidFill>
                            <a:srgbClr val="1D4E89"/>
                          </a:solidFill>
                          <a:latin typeface="Consolas"/>
                        </a:rPr>
                        <a:t>c_nonce</a:t>
                      </a:r>
                      <a:r>
                        <a:rPr sz="860" b="0">
                          <a:solidFill>
                            <a:srgbClr val="1E293B"/>
                          </a:solidFill>
                          <a:latin typeface="Arial"/>
                        </a:rPr>
                        <a:t> is returned by the token endpoint and echoed in the proof</a:t>
                      </a:r>
                    </a:p>
                  </a:txBody>
                  <a:tcPr marL="64008" marR="54864" marT="18288" marB="18288" anchor="ctr">
                    <a:solidFill>
                      <a:srgbClr val="F3F6F9"/>
                    </a:solidFill>
                  </a:tcPr>
                </a:tc>
              </a:tr>
              <a:tr h="334713">
                <a:tc>
                  <a:txBody>
                    <a:bodyPr wrap="square"/>
                    <a:lstStyle/>
                    <a:p>
                      <a:pPr algn="l">
                        <a:lnSpc>
                          <a:spcPct val="105000"/>
                        </a:lnSpc>
                      </a:pPr>
                      <a:r>
                        <a:rPr sz="860" b="0">
                          <a:solidFill>
                            <a:srgbClr val="1E293B"/>
                          </a:solidFill>
                          <a:latin typeface="Arial"/>
                        </a:rPr>
                        <a:t>Credential request proof rejected</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Wrong </a:t>
                      </a:r>
                      <a:r>
                        <a:rPr sz="860" b="0">
                          <a:solidFill>
                            <a:srgbClr val="1D4E89"/>
                          </a:solidFill>
                          <a:latin typeface="Consolas"/>
                        </a:rPr>
                        <a:t>alg</a:t>
                      </a:r>
                      <a:r>
                        <a:rPr sz="860" b="0">
                          <a:solidFill>
                            <a:srgbClr val="1E293B"/>
                          </a:solidFill>
                          <a:latin typeface="Arial"/>
                        </a:rPr>
                        <a:t>, missing </a:t>
                      </a:r>
                      <a:r>
                        <a:rPr sz="860" b="0">
                          <a:solidFill>
                            <a:srgbClr val="1D4E89"/>
                          </a:solidFill>
                          <a:latin typeface="Consolas"/>
                        </a:rPr>
                        <a:t>aud</a:t>
                      </a:r>
                      <a:r>
                        <a:rPr sz="860" b="0">
                          <a:solidFill>
                            <a:srgbClr val="1E293B"/>
                          </a:solidFill>
                          <a:latin typeface="Arial"/>
                        </a:rPr>
                        <a:t>, wrong </a:t>
                      </a:r>
                      <a:r>
                        <a:rPr sz="860" b="0">
                          <a:solidFill>
                            <a:srgbClr val="1D4E89"/>
                          </a:solidFill>
                          <a:latin typeface="Consolas"/>
                        </a:rPr>
                        <a:t>typ</a:t>
                      </a:r>
                      <a:r>
                        <a:rPr sz="860" b="0">
                          <a:solidFill>
                            <a:srgbClr val="1E293B"/>
                          </a:solidFill>
                          <a:latin typeface="Arial"/>
                        </a:rPr>
                        <a:t>, or an unsupported binding method</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Wallet / issuer</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Decode the proof JWT; compare against </a:t>
                      </a:r>
                      <a:r>
                        <a:rPr sz="860" b="0">
                          <a:solidFill>
                            <a:srgbClr val="1D4E89"/>
                          </a:solidFill>
                          <a:latin typeface="Consolas"/>
                        </a:rPr>
                        <a:t>proof_types_supported</a:t>
                      </a:r>
                    </a:p>
                  </a:txBody>
                  <a:tcPr marL="64008" marR="54864" marT="18288" marB="18288" anchor="ctr">
                    <a:solidFill>
                      <a:srgbClr val="FFFFFF"/>
                    </a:solidFill>
                  </a:tcPr>
                </a:tc>
              </a:tr>
              <a:tr h="334713">
                <a:tc>
                  <a:txBody>
                    <a:bodyPr wrap="square"/>
                    <a:lstStyle/>
                    <a:p>
                      <a:pPr algn="l">
                        <a:lnSpc>
                          <a:spcPct val="105000"/>
                        </a:lnSpc>
                      </a:pPr>
                      <a:r>
                        <a:rPr sz="860" b="0">
                          <a:solidFill>
                            <a:srgbClr val="1E293B"/>
                          </a:solidFill>
                          <a:latin typeface="Arial"/>
                        </a:rPr>
                        <a:t>Unsupported credential format</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The wallet does not support the format the issuer returned</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Issuer / wallet</a:t>
                      </a:r>
                    </a:p>
                  </a:txBody>
                  <a:tcPr marL="64008" marR="54864" marT="18288" marB="18288" anchor="ctr">
                    <a:solidFill>
                      <a:srgbClr val="F3F6F9"/>
                    </a:solidFill>
                  </a:tcPr>
                </a:tc>
                <a:tc>
                  <a:txBody>
                    <a:bodyPr wrap="square"/>
                    <a:lstStyle/>
                    <a:p>
                      <a:pPr algn="l">
                        <a:lnSpc>
                          <a:spcPct val="105000"/>
                        </a:lnSpc>
                      </a:pPr>
                      <a:r>
                        <a:rPr sz="860" b="0">
                          <a:solidFill>
                            <a:srgbClr val="1E293B"/>
                          </a:solidFill>
                          <a:latin typeface="Arial"/>
                        </a:rPr>
                        <a:t>Compare </a:t>
                      </a:r>
                      <a:r>
                        <a:rPr sz="860" b="0">
                          <a:solidFill>
                            <a:srgbClr val="1D4E89"/>
                          </a:solidFill>
                          <a:latin typeface="Consolas"/>
                        </a:rPr>
                        <a:t>format</a:t>
                      </a:r>
                      <a:r>
                        <a:rPr sz="860" b="0">
                          <a:solidFill>
                            <a:srgbClr val="1E293B"/>
                          </a:solidFill>
                          <a:latin typeface="Arial"/>
                        </a:rPr>
                        <a:t> in the credential request and in issuer metadata</a:t>
                      </a:r>
                    </a:p>
                  </a:txBody>
                  <a:tcPr marL="64008" marR="54864" marT="18288" marB="18288" anchor="ctr">
                    <a:solidFill>
                      <a:srgbClr val="F3F6F9"/>
                    </a:solidFill>
                  </a:tcPr>
                </a:tc>
              </a:tr>
              <a:tr h="334713">
                <a:tc>
                  <a:txBody>
                    <a:bodyPr wrap="square"/>
                    <a:lstStyle/>
                    <a:p>
                      <a:pPr algn="l">
                        <a:lnSpc>
                          <a:spcPct val="105000"/>
                        </a:lnSpc>
                      </a:pPr>
                      <a:r>
                        <a:rPr sz="860" b="0">
                          <a:solidFill>
                            <a:srgbClr val="1E293B"/>
                          </a:solidFill>
                          <a:latin typeface="Arial"/>
                        </a:rPr>
                        <a:t>Download times out</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Slow credential endpoint versus the configured timeout</a:t>
                      </a:r>
                    </a:p>
                  </a:txBody>
                  <a:tcPr marL="64008" marR="54864" marT="18288" marB="18288" anchor="ctr">
                    <a:solidFill>
                      <a:srgbClr val="FFFFFF"/>
                    </a:solidFill>
                  </a:tcPr>
                </a:tc>
                <a:tc>
                  <a:txBody>
                    <a:bodyPr wrap="square"/>
                    <a:lstStyle/>
                    <a:p>
                      <a:pPr algn="l">
                        <a:lnSpc>
                          <a:spcPct val="105000"/>
                        </a:lnSpc>
                      </a:pPr>
                      <a:r>
                        <a:rPr sz="860" b="0">
                          <a:solidFill>
                            <a:srgbClr val="1E293B"/>
                          </a:solidFill>
                          <a:latin typeface="Arial"/>
                        </a:rPr>
                        <a:t>Issuer / config</a:t>
                      </a:r>
                    </a:p>
                  </a:txBody>
                  <a:tcPr marL="64008" marR="54864" marT="18288" marB="18288" anchor="ctr">
                    <a:solidFill>
                      <a:srgbClr val="FFFFFF"/>
                    </a:solidFill>
                  </a:tcPr>
                </a:tc>
                <a:tc>
                  <a:txBody>
                    <a:bodyPr wrap="square"/>
                    <a:lstStyle/>
                    <a:p>
                      <a:pPr algn="l">
                        <a:lnSpc>
                          <a:spcPct val="105000"/>
                        </a:lnSpc>
                      </a:pPr>
                      <a:r>
                        <a:rPr sz="860" b="0">
                          <a:solidFill>
                            <a:srgbClr val="1D4E89"/>
                          </a:solidFill>
                          <a:latin typeface="Consolas"/>
                        </a:rPr>
                        <a:t>mosip.inji.openId4VCIDownloadVCTimeout</a:t>
                      </a:r>
                      <a:r>
                        <a:rPr sz="860" b="0">
                          <a:solidFill>
                            <a:srgbClr val="1E293B"/>
                          </a:solidFill>
                          <a:latin typeface="Arial"/>
                        </a:rPr>
                        <a:t>; library </a:t>
                      </a:r>
                      <a:r>
                        <a:rPr sz="860" b="0">
                          <a:solidFill>
                            <a:srgbClr val="1D4E89"/>
                          </a:solidFill>
                          <a:latin typeface="Consolas"/>
                        </a:rPr>
                        <a:t>downloadTimeoutInMillis</a:t>
                      </a:r>
                    </a:p>
                  </a:txBody>
                  <a:tcPr marL="64008" marR="54864" marT="18288" marB="18288" anchor="ctr">
                    <a:solidFill>
                      <a:srgbClr val="FFFFFF"/>
                    </a:solidFill>
                  </a:tcPr>
                </a:tc>
              </a:tr>
            </a:tbl>
          </a:graphicData>
        </a:graphic>
      </p:graphicFrame>
      <p:sp>
        <p:nvSpPr>
          <p:cNvPr id="7" name="TextBox 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Troubleshooting and interoperability</a:t>
            </a:r>
          </a:p>
        </p:txBody>
      </p:sp>
      <p:sp>
        <p:nvSpPr>
          <p:cNvPr id="8" name="TextBox 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TROUBLESHOOTING</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Failure catalogue 2 — crypto, formats, presentation and platform</a:t>
            </a:r>
          </a:p>
        </p:txBody>
      </p:sp>
      <p:sp>
        <p:nvSpPr>
          <p:cNvPr id="4" name="TextBox 3"/>
          <p:cNvSpPr txBox="1"/>
          <p:nvPr/>
        </p:nvSpPr>
        <p:spPr>
          <a:xfrm>
            <a:off x="502920" y="1078992"/>
            <a:ext cx="11185855" cy="278707"/>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B6B7F"/>
                </a:solidFill>
                <a:latin typeface="Arial"/>
              </a:rPr>
              <a:t>The second half. These appear later in a project and take longer to diagnose.</a:t>
            </a:r>
          </a:p>
        </p:txBody>
      </p:sp>
      <p:cxnSp>
        <p:nvCxnSpPr>
          <p:cNvPr id="5" name="Connector 4"/>
          <p:cNvCxnSpPr/>
          <p:nvPr/>
        </p:nvCxnSpPr>
        <p:spPr>
          <a:xfrm>
            <a:off x="502920" y="1449139"/>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29479"/>
          <a:ext cx="11185852" cy="4643297"/>
        </p:xfrm>
        <a:graphic>
          <a:graphicData uri="http://schemas.openxmlformats.org/drawingml/2006/table">
            <a:tbl>
              <a:tblPr firstRow="1">
                <a:tableStyleId>{2D5ABB26-0587-4C30-8999-92F81FD0307C}</a:tableStyleId>
              </a:tblPr>
              <a:tblGrid>
                <a:gridCol w="2796463"/>
                <a:gridCol w="3670358"/>
                <a:gridCol w="1223452"/>
                <a:gridCol w="3495579"/>
              </a:tblGrid>
              <a:tr h="262312">
                <a:tc>
                  <a:txBody>
                    <a:bodyPr wrap="square"/>
                    <a:lstStyle/>
                    <a:p>
                      <a:pPr algn="l"/>
                      <a:r>
                        <a:rPr sz="910" b="1">
                          <a:solidFill>
                            <a:srgbClr val="FFFFFF"/>
                          </a:solidFill>
                          <a:latin typeface="Arial"/>
                        </a:rPr>
                        <a:t>Symptom</a:t>
                      </a:r>
                    </a:p>
                  </a:txBody>
                  <a:tcPr marL="64008" marR="54864" marT="27432" marB="27432" anchor="ctr">
                    <a:solidFill>
                      <a:srgbClr val="1D4E89"/>
                    </a:solidFill>
                  </a:tcPr>
                </a:tc>
                <a:tc>
                  <a:txBody>
                    <a:bodyPr wrap="square"/>
                    <a:lstStyle/>
                    <a:p>
                      <a:pPr algn="l"/>
                      <a:r>
                        <a:rPr sz="910" b="1">
                          <a:solidFill>
                            <a:srgbClr val="FFFFFF"/>
                          </a:solidFill>
                          <a:latin typeface="Arial"/>
                        </a:rPr>
                        <a:t>Most likely cause</a:t>
                      </a:r>
                    </a:p>
                  </a:txBody>
                  <a:tcPr marL="64008" marR="54864" marT="27432" marB="27432" anchor="ctr">
                    <a:solidFill>
                      <a:srgbClr val="1D4E89"/>
                    </a:solidFill>
                  </a:tcPr>
                </a:tc>
                <a:tc>
                  <a:txBody>
                    <a:bodyPr wrap="square"/>
                    <a:lstStyle/>
                    <a:p>
                      <a:pPr algn="l"/>
                      <a:r>
                        <a:rPr sz="910" b="1">
                          <a:solidFill>
                            <a:srgbClr val="FFFFFF"/>
                          </a:solidFill>
                          <a:latin typeface="Arial"/>
                        </a:rPr>
                        <a:t>Owner</a:t>
                      </a:r>
                    </a:p>
                  </a:txBody>
                  <a:tcPr marL="64008" marR="54864" marT="27432" marB="27432" anchor="ctr">
                    <a:solidFill>
                      <a:srgbClr val="1D4E89"/>
                    </a:solidFill>
                  </a:tcPr>
                </a:tc>
                <a:tc>
                  <a:txBody>
                    <a:bodyPr wrap="square"/>
                    <a:lstStyle/>
                    <a:p>
                      <a:pPr algn="l"/>
                      <a:r>
                        <a:rPr sz="910" b="1">
                          <a:solidFill>
                            <a:srgbClr val="FFFFFF"/>
                          </a:solidFill>
                          <a:latin typeface="Arial"/>
                        </a:rPr>
                        <a:t>Where to look</a:t>
                      </a:r>
                    </a:p>
                  </a:txBody>
                  <a:tcPr marL="64008" marR="54864" marT="27432" marB="27432" anchor="ctr">
                    <a:solidFill>
                      <a:srgbClr val="1D4E89"/>
                    </a:solidFill>
                  </a:tcPr>
                </a:tc>
              </a:tr>
              <a:tr h="266411">
                <a:tc>
                  <a:txBody>
                    <a:bodyPr wrap="square"/>
                    <a:lstStyle/>
                    <a:p>
                      <a:pPr algn="l">
                        <a:lnSpc>
                          <a:spcPct val="105000"/>
                        </a:lnSpc>
                      </a:pPr>
                      <a:r>
                        <a:rPr sz="810" b="0">
                          <a:solidFill>
                            <a:srgbClr val="1E293B"/>
                          </a:solidFill>
                          <a:latin typeface="Arial"/>
                        </a:rPr>
                        <a:t>Issuer </a:t>
                      </a:r>
                      <a:r>
                        <a:rPr sz="810" b="0">
                          <a:solidFill>
                            <a:srgbClr val="1D4E89"/>
                          </a:solidFill>
                          <a:latin typeface="Consolas"/>
                        </a:rPr>
                        <a:t>kid</a:t>
                      </a:r>
                      <a:r>
                        <a:rPr sz="810" b="0">
                          <a:solidFill>
                            <a:srgbClr val="1E293B"/>
                          </a:solidFill>
                          <a:latin typeface="Arial"/>
                        </a:rPr>
                        <a:t> not found</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Key rotated and removed, or </a:t>
                      </a:r>
                      <a:r>
                        <a:rPr sz="810" b="0">
                          <a:solidFill>
                            <a:srgbClr val="1D4E89"/>
                          </a:solidFill>
                          <a:latin typeface="Consolas"/>
                        </a:rPr>
                        <a:t>kid</a:t>
                      </a:r>
                      <a:r>
                        <a:rPr sz="810" b="0">
                          <a:solidFill>
                            <a:srgbClr val="1E293B"/>
                          </a:solidFill>
                          <a:latin typeface="Arial"/>
                        </a:rPr>
                        <a:t> never published</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Issuer</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Fetch the DID document / JWKS and list the key ids</a:t>
                      </a:r>
                    </a:p>
                  </a:txBody>
                  <a:tcPr marL="64008" marR="54864" marT="18288" marB="18288" anchor="ctr">
                    <a:solidFill>
                      <a:srgbClr val="FFFFFF"/>
                    </a:solidFill>
                  </a:tcPr>
                </a:tc>
              </a:tr>
              <a:tr h="266411">
                <a:tc>
                  <a:txBody>
                    <a:bodyPr wrap="square"/>
                    <a:lstStyle/>
                    <a:p>
                      <a:pPr algn="l">
                        <a:lnSpc>
                          <a:spcPct val="105000"/>
                        </a:lnSpc>
                      </a:pPr>
                      <a:r>
                        <a:rPr sz="810" b="0">
                          <a:solidFill>
                            <a:srgbClr val="1E293B"/>
                          </a:solidFill>
                          <a:latin typeface="Arial"/>
                        </a:rPr>
                        <a:t>JWKS resolution failure</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Redirect, WAF challenge, or wrong content type</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Issuer / ops</a:t>
                      </a:r>
                    </a:p>
                  </a:txBody>
                  <a:tcPr marL="64008" marR="54864" marT="18288" marB="18288" anchor="ctr">
                    <a:solidFill>
                      <a:srgbClr val="F3F6F9"/>
                    </a:solidFill>
                  </a:tcPr>
                </a:tc>
                <a:tc>
                  <a:txBody>
                    <a:bodyPr wrap="square"/>
                    <a:lstStyle/>
                    <a:p>
                      <a:pPr algn="l">
                        <a:lnSpc>
                          <a:spcPct val="105000"/>
                        </a:lnSpc>
                      </a:pPr>
                      <a:r>
                        <a:rPr sz="810" b="0">
                          <a:solidFill>
                            <a:srgbClr val="1D4E89"/>
                          </a:solidFill>
                          <a:latin typeface="Consolas"/>
                        </a:rPr>
                        <a:t>curl -v</a:t>
                      </a:r>
                      <a:r>
                        <a:rPr sz="810" b="0">
                          <a:solidFill>
                            <a:srgbClr val="1E293B"/>
                          </a:solidFill>
                          <a:latin typeface="Arial"/>
                        </a:rPr>
                        <a:t> the JWKS URL from outside your network</a:t>
                      </a:r>
                    </a:p>
                  </a:txBody>
                  <a:tcPr marL="64008" marR="54864" marT="18288" marB="18288" anchor="ctr">
                    <a:solidFill>
                      <a:srgbClr val="F3F6F9"/>
                    </a:solidFill>
                  </a:tcPr>
                </a:tc>
              </a:tr>
              <a:tr h="304893">
                <a:tc>
                  <a:txBody>
                    <a:bodyPr wrap="square"/>
                    <a:lstStyle/>
                    <a:p>
                      <a:pPr algn="l">
                        <a:lnSpc>
                          <a:spcPct val="105000"/>
                        </a:lnSpc>
                      </a:pPr>
                      <a:r>
                        <a:rPr sz="810" b="0">
                          <a:solidFill>
                            <a:srgbClr val="1E293B"/>
                          </a:solidFill>
                          <a:latin typeface="Arial"/>
                        </a:rPr>
                        <a:t>Credential signature verification fails</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Wrong key, wrong </a:t>
                      </a:r>
                      <a:r>
                        <a:rPr sz="810" b="0">
                          <a:solidFill>
                            <a:srgbClr val="1D4E89"/>
                          </a:solidFill>
                          <a:latin typeface="Consolas"/>
                        </a:rPr>
                        <a:t>alg</a:t>
                      </a:r>
                      <a:r>
                        <a:rPr sz="810" b="0">
                          <a:solidFill>
                            <a:srgbClr val="1E293B"/>
                          </a:solidFill>
                          <a:latin typeface="Arial"/>
                        </a:rPr>
                        <a:t>, or the payload was altered in transit</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Issuer</a:t>
                      </a:r>
                    </a:p>
                  </a:txBody>
                  <a:tcPr marL="64008" marR="54864" marT="18288" marB="18288" anchor="ctr">
                    <a:solidFill>
                      <a:srgbClr val="FFFFFF"/>
                    </a:solidFill>
                  </a:tcPr>
                </a:tc>
                <a:tc>
                  <a:txBody>
                    <a:bodyPr wrap="square"/>
                    <a:lstStyle/>
                    <a:p>
                      <a:pPr algn="l">
                        <a:lnSpc>
                          <a:spcPct val="105000"/>
                        </a:lnSpc>
                      </a:pPr>
                      <a:r>
                        <a:rPr sz="810" b="0">
                          <a:solidFill>
                            <a:srgbClr val="1D4E89"/>
                          </a:solidFill>
                          <a:latin typeface="Consolas"/>
                        </a:rPr>
                        <a:t>vc-verifier</a:t>
                      </a:r>
                      <a:r>
                        <a:rPr sz="810" b="0">
                          <a:solidFill>
                            <a:srgbClr val="1E293B"/>
                          </a:solidFill>
                          <a:latin typeface="Arial"/>
                        </a:rPr>
                        <a:t> error code; re-verify the raw credential offline</a:t>
                      </a:r>
                    </a:p>
                  </a:txBody>
                  <a:tcPr marL="64008" marR="54864" marT="18288" marB="18288" anchor="ctr">
                    <a:solidFill>
                      <a:srgbClr val="FFFFFF"/>
                    </a:solidFill>
                  </a:tcPr>
                </a:tc>
              </a:tr>
              <a:tr h="304893">
                <a:tc>
                  <a:txBody>
                    <a:bodyPr wrap="square"/>
                    <a:lstStyle/>
                    <a:p>
                      <a:pPr algn="l">
                        <a:lnSpc>
                          <a:spcPct val="105000"/>
                        </a:lnSpc>
                      </a:pPr>
                      <a:r>
                        <a:rPr sz="810" b="0">
                          <a:solidFill>
                            <a:srgbClr val="1E293B"/>
                          </a:solidFill>
                          <a:latin typeface="Arial"/>
                        </a:rPr>
                        <a:t>SD-JWT disclosure failure</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Digest not present in </a:t>
                      </a:r>
                      <a:r>
                        <a:rPr sz="810" b="0">
                          <a:solidFill>
                            <a:srgbClr val="1D4E89"/>
                          </a:solidFill>
                          <a:latin typeface="Consolas"/>
                        </a:rPr>
                        <a:t>_sd</a:t>
                      </a:r>
                      <a:r>
                        <a:rPr sz="810" b="0">
                          <a:solidFill>
                            <a:srgbClr val="1E293B"/>
                          </a:solidFill>
                          <a:latin typeface="Arial"/>
                        </a:rPr>
                        <a:t>, or </a:t>
                      </a:r>
                      <a:r>
                        <a:rPr sz="810" b="0">
                          <a:solidFill>
                            <a:srgbClr val="1D4E89"/>
                          </a:solidFill>
                          <a:latin typeface="Consolas"/>
                        </a:rPr>
                        <a:t>_sd_alg</a:t>
                      </a:r>
                      <a:r>
                        <a:rPr sz="810" b="0">
                          <a:solidFill>
                            <a:srgbClr val="1E293B"/>
                          </a:solidFill>
                          <a:latin typeface="Arial"/>
                        </a:rPr>
                        <a:t> unsupported / mismatched</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Issuer</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Recompute the digest of each disclosure and compare to </a:t>
                      </a:r>
                      <a:r>
                        <a:rPr sz="810" b="0">
                          <a:solidFill>
                            <a:srgbClr val="1D4E89"/>
                          </a:solidFill>
                          <a:latin typeface="Consolas"/>
                        </a:rPr>
                        <a:t>_sd</a:t>
                      </a:r>
                    </a:p>
                  </a:txBody>
                  <a:tcPr marL="64008" marR="54864" marT="18288" marB="18288" anchor="ctr">
                    <a:solidFill>
                      <a:srgbClr val="F3F6F9"/>
                    </a:solidFill>
                  </a:tcPr>
                </a:tc>
              </a:tr>
              <a:tr h="304893">
                <a:tc>
                  <a:txBody>
                    <a:bodyPr wrap="square"/>
                    <a:lstStyle/>
                    <a:p>
                      <a:pPr algn="l">
                        <a:lnSpc>
                          <a:spcPct val="105000"/>
                        </a:lnSpc>
                      </a:pPr>
                      <a:r>
                        <a:rPr sz="810" b="0">
                          <a:solidFill>
                            <a:srgbClr val="1E293B"/>
                          </a:solidFill>
                          <a:latin typeface="Arial"/>
                        </a:rPr>
                        <a:t>mDoc parsing failure</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Malformed CBOR or an unexpected structure</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Issuer</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Decode the CBOR independently; check namespaces and </a:t>
                      </a:r>
                      <a:r>
                        <a:rPr sz="810" b="0">
                          <a:solidFill>
                            <a:srgbClr val="1D4E89"/>
                          </a:solidFill>
                          <a:latin typeface="Consolas"/>
                        </a:rPr>
                        <a:t>docType</a:t>
                      </a:r>
                    </a:p>
                  </a:txBody>
                  <a:tcPr marL="64008" marR="54864" marT="18288" marB="18288" anchor="ctr">
                    <a:solidFill>
                      <a:srgbClr val="FFFFFF"/>
                    </a:solidFill>
                  </a:tcPr>
                </a:tc>
              </a:tr>
              <a:tr h="304893">
                <a:tc>
                  <a:txBody>
                    <a:bodyPr wrap="square"/>
                    <a:lstStyle/>
                    <a:p>
                      <a:pPr algn="l">
                        <a:lnSpc>
                          <a:spcPct val="105000"/>
                        </a:lnSpc>
                      </a:pPr>
                      <a:r>
                        <a:rPr sz="810" b="0">
                          <a:solidFill>
                            <a:srgbClr val="1E293B"/>
                          </a:solidFill>
                          <a:latin typeface="Arial"/>
                        </a:rPr>
                        <a:t>mDoc issuer authentication fails</a:t>
                      </a:r>
                    </a:p>
                  </a:txBody>
                  <a:tcPr marL="64008" marR="54864" marT="18288" marB="18288" anchor="ctr">
                    <a:solidFill>
                      <a:srgbClr val="F3F6F9"/>
                    </a:solidFill>
                  </a:tcPr>
                </a:tc>
                <a:tc>
                  <a:txBody>
                    <a:bodyPr wrap="square"/>
                    <a:lstStyle/>
                    <a:p>
                      <a:pPr algn="l">
                        <a:lnSpc>
                          <a:spcPct val="105000"/>
                        </a:lnSpc>
                      </a:pPr>
                      <a:r>
                        <a:rPr sz="810" b="0">
                          <a:solidFill>
                            <a:srgbClr val="1D4E89"/>
                          </a:solidFill>
                          <a:latin typeface="Consolas"/>
                        </a:rPr>
                        <a:t>issuerAuth</a:t>
                      </a:r>
                      <a:r>
                        <a:rPr sz="810" b="0">
                          <a:solidFill>
                            <a:srgbClr val="1E293B"/>
                          </a:solidFill>
                          <a:latin typeface="Arial"/>
                        </a:rPr>
                        <a:t> COSE signature invalid, or the chain does not reach a trusted root</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Issuer / PKI</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Validate the document signer certificate separately</a:t>
                      </a:r>
                    </a:p>
                  </a:txBody>
                  <a:tcPr marL="64008" marR="54864" marT="18288" marB="18288" anchor="ctr">
                    <a:solidFill>
                      <a:srgbClr val="F3F6F9"/>
                    </a:solidFill>
                  </a:tcPr>
                </a:tc>
              </a:tr>
              <a:tr h="266411">
                <a:tc>
                  <a:txBody>
                    <a:bodyPr wrap="square"/>
                    <a:lstStyle/>
                    <a:p>
                      <a:pPr algn="l">
                        <a:lnSpc>
                          <a:spcPct val="105000"/>
                        </a:lnSpc>
                      </a:pPr>
                      <a:r>
                        <a:rPr sz="810" b="0">
                          <a:solidFill>
                            <a:srgbClr val="1E293B"/>
                          </a:solidFill>
                          <a:latin typeface="Arial"/>
                        </a:rPr>
                        <a:t>Device authentication fails</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The device key in the MSO does not match the key that signed</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Wallet</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Confirm which key was used; check the keystore alias</a:t>
                      </a:r>
                    </a:p>
                  </a:txBody>
                  <a:tcPr marL="64008" marR="54864" marT="18288" marB="18288" anchor="ctr">
                    <a:solidFill>
                      <a:srgbClr val="FFFFFF"/>
                    </a:solidFill>
                  </a:tcPr>
                </a:tc>
              </a:tr>
              <a:tr h="304893">
                <a:tc>
                  <a:txBody>
                    <a:bodyPr wrap="square"/>
                    <a:lstStyle/>
                    <a:p>
                      <a:pPr algn="l">
                        <a:lnSpc>
                          <a:spcPct val="105000"/>
                        </a:lnSpc>
                      </a:pPr>
                      <a:r>
                        <a:rPr sz="810" b="0">
                          <a:solidFill>
                            <a:srgbClr val="1E293B"/>
                          </a:solidFill>
                          <a:latin typeface="Arial"/>
                        </a:rPr>
                        <a:t>QR parsing failure</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Unexpected scheme, truncated payload, or a QR too dense to scan</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Verifier</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Decode the QR to text and inspect it; prefer </a:t>
                      </a:r>
                      <a:r>
                        <a:rPr sz="810" b="0">
                          <a:solidFill>
                            <a:srgbClr val="1D4E89"/>
                          </a:solidFill>
                          <a:latin typeface="Consolas"/>
                        </a:rPr>
                        <a:t>request_uri</a:t>
                      </a:r>
                    </a:p>
                  </a:txBody>
                  <a:tcPr marL="64008" marR="54864" marT="18288" marB="18288" anchor="ctr">
                    <a:solidFill>
                      <a:srgbClr val="F3F6F9"/>
                    </a:solidFill>
                  </a:tcPr>
                </a:tc>
              </a:tr>
              <a:tr h="304893">
                <a:tc>
                  <a:txBody>
                    <a:bodyPr wrap="square"/>
                    <a:lstStyle/>
                    <a:p>
                      <a:pPr algn="l">
                        <a:lnSpc>
                          <a:spcPct val="105000"/>
                        </a:lnSpc>
                      </a:pPr>
                      <a:r>
                        <a:rPr sz="810" b="0">
                          <a:solidFill>
                            <a:srgbClr val="1E293B"/>
                          </a:solidFill>
                          <a:latin typeface="Arial"/>
                        </a:rPr>
                        <a:t>OpenID4VP request validation fails</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client_id scheme mismatch, unsigned request where signing is required, verifier not in the trusted list</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Verifier / config</a:t>
                      </a:r>
                    </a:p>
                  </a:txBody>
                  <a:tcPr marL="64008" marR="54864" marT="18288" marB="18288" anchor="ctr">
                    <a:solidFill>
                      <a:srgbClr val="FFFFFF"/>
                    </a:solidFill>
                  </a:tcPr>
                </a:tc>
                <a:tc>
                  <a:txBody>
                    <a:bodyPr wrap="square"/>
                    <a:lstStyle/>
                    <a:p>
                      <a:pPr algn="l">
                        <a:lnSpc>
                          <a:spcPct val="105000"/>
                        </a:lnSpc>
                      </a:pPr>
                      <a:r>
                        <a:rPr sz="810" b="0">
                          <a:solidFill>
                            <a:srgbClr val="1D4E89"/>
                          </a:solidFill>
                          <a:latin typeface="Consolas"/>
                        </a:rPr>
                        <a:t>mimoto-trusted-verifiers.json</a:t>
                      </a:r>
                      <a:r>
                        <a:rPr sz="810" b="0">
                          <a:solidFill>
                            <a:srgbClr val="1E293B"/>
                          </a:solidFill>
                          <a:latin typeface="Arial"/>
                        </a:rPr>
                        <a:t>; </a:t>
                      </a:r>
                      <a:r>
                        <a:rPr sz="810" b="0">
                          <a:solidFill>
                            <a:srgbClr val="1D4E89"/>
                          </a:solidFill>
                          <a:latin typeface="Consolas"/>
                        </a:rPr>
                        <a:t>shouldValidateClient</a:t>
                      </a:r>
                      <a:r>
                        <a:rPr sz="810" b="0">
                          <a:solidFill>
                            <a:srgbClr val="1E293B"/>
                          </a:solidFill>
                          <a:latin typeface="Arial"/>
                        </a:rPr>
                        <a:t>; </a:t>
                      </a:r>
                      <a:r>
                        <a:rPr sz="810" b="0">
                          <a:solidFill>
                            <a:srgbClr val="1D4E89"/>
                          </a:solidFill>
                          <a:latin typeface="Consolas"/>
                        </a:rPr>
                        <a:t>allow_unsigned_request</a:t>
                      </a:r>
                    </a:p>
                  </a:txBody>
                  <a:tcPr marL="64008" marR="54864" marT="18288" marB="18288" anchor="ctr">
                    <a:solidFill>
                      <a:srgbClr val="FFFFFF"/>
                    </a:solidFill>
                  </a:tcPr>
                </a:tc>
              </a:tr>
              <a:tr h="304893">
                <a:tc>
                  <a:txBody>
                    <a:bodyPr wrap="square"/>
                    <a:lstStyle/>
                    <a:p>
                      <a:pPr algn="l">
                        <a:lnSpc>
                          <a:spcPct val="105000"/>
                        </a:lnSpc>
                      </a:pPr>
                      <a:r>
                        <a:rPr sz="810" b="0">
                          <a:solidFill>
                            <a:srgbClr val="1E293B"/>
                          </a:solidFill>
                          <a:latin typeface="Arial"/>
                        </a:rPr>
                        <a:t>VP generation fails</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No matching credential, or no </a:t>
                      </a:r>
                      <a:r>
                        <a:rPr sz="810" b="0">
                          <a:solidFill>
                            <a:srgbClr val="1D4E89"/>
                          </a:solidFill>
                          <a:latin typeface="Consolas"/>
                        </a:rPr>
                        <a:t>cnf</a:t>
                      </a:r>
                      <a:r>
                        <a:rPr sz="810" b="0">
                          <a:solidFill>
                            <a:srgbClr val="1E293B"/>
                          </a:solidFill>
                          <a:latin typeface="Arial"/>
                        </a:rPr>
                        <a:t> so no key binding is possible</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Wallet</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Check the </a:t>
                      </a:r>
                      <a:r>
                        <a:rPr sz="810" b="0">
                          <a:solidFill>
                            <a:srgbClr val="1D4E89"/>
                          </a:solidFill>
                          <a:latin typeface="Consolas"/>
                        </a:rPr>
                        <a:t>presentation_definition</a:t>
                      </a:r>
                      <a:r>
                        <a:rPr sz="810" b="0">
                          <a:solidFill>
                            <a:srgbClr val="1E293B"/>
                          </a:solidFill>
                          <a:latin typeface="Arial"/>
                        </a:rPr>
                        <a:t> constraints against what is stored</a:t>
                      </a:r>
                    </a:p>
                  </a:txBody>
                  <a:tcPr marL="64008" marR="54864" marT="18288" marB="18288" anchor="ctr">
                    <a:solidFill>
                      <a:srgbClr val="F3F6F9"/>
                    </a:solidFill>
                  </a:tcPr>
                </a:tc>
              </a:tr>
              <a:tr h="266411">
                <a:tc>
                  <a:txBody>
                    <a:bodyPr wrap="square"/>
                    <a:lstStyle/>
                    <a:p>
                      <a:pPr algn="l">
                        <a:lnSpc>
                          <a:spcPct val="105000"/>
                        </a:lnSpc>
                      </a:pPr>
                      <a:r>
                        <a:rPr sz="810" b="0">
                          <a:solidFill>
                            <a:srgbClr val="1E293B"/>
                          </a:solidFill>
                          <a:latin typeface="Arial"/>
                        </a:rPr>
                        <a:t>Verifier rejects the presentation</a:t>
                      </a:r>
                    </a:p>
                  </a:txBody>
                  <a:tcPr marL="64008" marR="54864" marT="18288" marB="18288" anchor="ctr">
                    <a:solidFill>
                      <a:srgbClr val="FFFFFF"/>
                    </a:solidFill>
                  </a:tcPr>
                </a:tc>
                <a:tc>
                  <a:txBody>
                    <a:bodyPr wrap="square"/>
                    <a:lstStyle/>
                    <a:p>
                      <a:pPr algn="l">
                        <a:lnSpc>
                          <a:spcPct val="105000"/>
                        </a:lnSpc>
                      </a:pPr>
                      <a:r>
                        <a:rPr sz="810" b="0">
                          <a:solidFill>
                            <a:srgbClr val="1D4E89"/>
                          </a:solidFill>
                          <a:latin typeface="Consolas"/>
                        </a:rPr>
                        <a:t>nonce</a:t>
                      </a:r>
                      <a:r>
                        <a:rPr sz="810" b="0">
                          <a:solidFill>
                            <a:srgbClr val="1E293B"/>
                          </a:solidFill>
                          <a:latin typeface="Arial"/>
                        </a:rPr>
                        <a:t>/</a:t>
                      </a:r>
                      <a:r>
                        <a:rPr sz="810" b="0">
                          <a:solidFill>
                            <a:srgbClr val="1D4E89"/>
                          </a:solidFill>
                          <a:latin typeface="Consolas"/>
                        </a:rPr>
                        <a:t>aud</a:t>
                      </a:r>
                      <a:r>
                        <a:rPr sz="810" b="0">
                          <a:solidFill>
                            <a:srgbClr val="1E293B"/>
                          </a:solidFill>
                          <a:latin typeface="Arial"/>
                        </a:rPr>
                        <a:t> mismatch, unacceptable issuer, or policy</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Verifier</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Verifier log; confirm it is checking the right </a:t>
                      </a:r>
                      <a:r>
                        <a:rPr sz="810" b="0">
                          <a:solidFill>
                            <a:srgbClr val="1D4E89"/>
                          </a:solidFill>
                          <a:latin typeface="Consolas"/>
                        </a:rPr>
                        <a:t>nonce</a:t>
                      </a:r>
                    </a:p>
                  </a:txBody>
                  <a:tcPr marL="64008" marR="54864" marT="18288" marB="18288" anchor="ctr">
                    <a:solidFill>
                      <a:srgbClr val="FFFFFF"/>
                    </a:solidFill>
                  </a:tcPr>
                </a:tc>
              </a:tr>
              <a:tr h="304893">
                <a:tc>
                  <a:txBody>
                    <a:bodyPr wrap="square"/>
                    <a:lstStyle/>
                    <a:p>
                      <a:pPr algn="l">
                        <a:lnSpc>
                          <a:spcPct val="105000"/>
                        </a:lnSpc>
                      </a:pPr>
                      <a:r>
                        <a:rPr sz="810" b="0">
                          <a:solidFill>
                            <a:srgbClr val="1E293B"/>
                          </a:solidFill>
                          <a:latin typeface="Arial"/>
                        </a:rPr>
                        <a:t>Web: 401 after login</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Cookies not sent — </a:t>
                      </a:r>
                      <a:r>
                        <a:rPr sz="810" b="0">
                          <a:solidFill>
                            <a:srgbClr val="1D4E89"/>
                          </a:solidFill>
                          <a:latin typeface="Consolas"/>
                        </a:rPr>
                        <a:t>credentials: 'include'</a:t>
                      </a:r>
                      <a:r>
                        <a:rPr sz="810" b="0">
                          <a:solidFill>
                            <a:srgbClr val="1E293B"/>
                          </a:solidFill>
                          <a:latin typeface="Arial"/>
                        </a:rPr>
                        <a:t>, </a:t>
                      </a:r>
                      <a:r>
                        <a:rPr sz="810" b="0">
                          <a:solidFill>
                            <a:srgbClr val="1D4E89"/>
                          </a:solidFill>
                          <a:latin typeface="Consolas"/>
                        </a:rPr>
                        <a:t>SameSite</a:t>
                      </a:r>
                      <a:r>
                        <a:rPr sz="810" b="0">
                          <a:solidFill>
                            <a:srgbClr val="1E293B"/>
                          </a:solidFill>
                          <a:latin typeface="Arial"/>
                        </a:rPr>
                        <a:t>, or a domain mismatch</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Web / Mimoto</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Browser network tab; Mimoto session configuration</a:t>
                      </a:r>
                    </a:p>
                  </a:txBody>
                  <a:tcPr marL="64008" marR="54864" marT="18288" marB="18288" anchor="ctr">
                    <a:solidFill>
                      <a:srgbClr val="F3F6F9"/>
                    </a:solidFill>
                  </a:tcPr>
                </a:tc>
              </a:tr>
              <a:tr h="266411">
                <a:tc>
                  <a:txBody>
                    <a:bodyPr wrap="square"/>
                    <a:lstStyle/>
                    <a:p>
                      <a:pPr algn="l">
                        <a:lnSpc>
                          <a:spcPct val="105000"/>
                        </a:lnSpc>
                      </a:pPr>
                      <a:r>
                        <a:rPr sz="810" b="0">
                          <a:solidFill>
                            <a:srgbClr val="1E293B"/>
                          </a:solidFill>
                          <a:latin typeface="Arial"/>
                        </a:rPr>
                        <a:t>Web: CORS error</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Origin not allowed by Mimoto, or a preflight failing</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Mimoto</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Response headers on the preflight </a:t>
                      </a:r>
                      <a:r>
                        <a:rPr sz="810" b="0">
                          <a:solidFill>
                            <a:srgbClr val="1D4E89"/>
                          </a:solidFill>
                          <a:latin typeface="Consolas"/>
                        </a:rPr>
                        <a:t>OPTIONS</a:t>
                      </a:r>
                    </a:p>
                  </a:txBody>
                  <a:tcPr marL="64008" marR="54864" marT="18288" marB="18288" anchor="ctr">
                    <a:solidFill>
                      <a:srgbClr val="FFFFFF"/>
                    </a:solidFill>
                  </a:tcPr>
                </a:tc>
              </a:tr>
              <a:tr h="304893">
                <a:tc>
                  <a:txBody>
                    <a:bodyPr wrap="square"/>
                    <a:lstStyle/>
                    <a:p>
                      <a:pPr algn="l">
                        <a:lnSpc>
                          <a:spcPct val="105000"/>
                        </a:lnSpc>
                      </a:pPr>
                      <a:r>
                        <a:rPr sz="810" b="0">
                          <a:solidFill>
                            <a:srgbClr val="1E293B"/>
                          </a:solidFill>
                          <a:latin typeface="Arial"/>
                        </a:rPr>
                        <a:t>Android-specific failure</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Scheme hijack by another app, network security config blocking a CA, or Keystore constraints</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Wallet / OS</a:t>
                      </a:r>
                    </a:p>
                  </a:txBody>
                  <a:tcPr marL="64008" marR="54864" marT="18288" marB="18288" anchor="ctr">
                    <a:solidFill>
                      <a:srgbClr val="F3F6F9"/>
                    </a:solidFill>
                  </a:tcPr>
                </a:tc>
                <a:tc>
                  <a:txBody>
                    <a:bodyPr wrap="square"/>
                    <a:lstStyle/>
                    <a:p>
                      <a:pPr algn="l">
                        <a:lnSpc>
                          <a:spcPct val="105000"/>
                        </a:lnSpc>
                      </a:pPr>
                      <a:r>
                        <a:rPr sz="810" b="0">
                          <a:solidFill>
                            <a:srgbClr val="1E293B"/>
                          </a:solidFill>
                          <a:latin typeface="Arial"/>
                        </a:rPr>
                        <a:t>logcat; check for a chooser dialog; review </a:t>
                      </a:r>
                      <a:r>
                        <a:rPr sz="810" b="0">
                          <a:solidFill>
                            <a:srgbClr val="1D4E89"/>
                          </a:solidFill>
                          <a:latin typeface="Consolas"/>
                        </a:rPr>
                        <a:t>network_security_config</a:t>
                      </a:r>
                    </a:p>
                  </a:txBody>
                  <a:tcPr marL="64008" marR="54864" marT="18288" marB="18288" anchor="ctr">
                    <a:solidFill>
                      <a:srgbClr val="F3F6F9"/>
                    </a:solidFill>
                  </a:tcPr>
                </a:tc>
              </a:tr>
              <a:tr h="304893">
                <a:tc>
                  <a:txBody>
                    <a:bodyPr wrap="square"/>
                    <a:lstStyle/>
                    <a:p>
                      <a:pPr algn="l">
                        <a:lnSpc>
                          <a:spcPct val="105000"/>
                        </a:lnSpc>
                      </a:pPr>
                      <a:r>
                        <a:rPr sz="810" b="0">
                          <a:solidFill>
                            <a:srgbClr val="1E293B"/>
                          </a:solidFill>
                          <a:latin typeface="Arial"/>
                        </a:rPr>
                        <a:t>iOS-specific failure</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URL scheme not declared, associated domain not verified, Keychain access group wrong</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Wallet / OS</a:t>
                      </a:r>
                    </a:p>
                  </a:txBody>
                  <a:tcPr marL="64008" marR="54864" marT="18288" marB="18288" anchor="ctr">
                    <a:solidFill>
                      <a:srgbClr val="FFFFFF"/>
                    </a:solidFill>
                  </a:tcPr>
                </a:tc>
                <a:tc>
                  <a:txBody>
                    <a:bodyPr wrap="square"/>
                    <a:lstStyle/>
                    <a:p>
                      <a:pPr algn="l">
                        <a:lnSpc>
                          <a:spcPct val="105000"/>
                        </a:lnSpc>
                      </a:pPr>
                      <a:r>
                        <a:rPr sz="810" b="0">
                          <a:solidFill>
                            <a:srgbClr val="1E293B"/>
                          </a:solidFill>
                          <a:latin typeface="Arial"/>
                        </a:rPr>
                        <a:t>Console.app; confirm </a:t>
                      </a:r>
                      <a:r>
                        <a:rPr sz="810" b="0">
                          <a:solidFill>
                            <a:srgbClr val="1D4E89"/>
                          </a:solidFill>
                          <a:latin typeface="Consolas"/>
                        </a:rPr>
                        <a:t>Info.plist</a:t>
                      </a:r>
                      <a:r>
                        <a:rPr sz="810" b="0">
                          <a:solidFill>
                            <a:srgbClr val="1E293B"/>
                          </a:solidFill>
                          <a:latin typeface="Arial"/>
                        </a:rPr>
                        <a:t> entries</a:t>
                      </a:r>
                    </a:p>
                  </a:txBody>
                  <a:tcPr marL="64008" marR="54864" marT="18288" marB="18288" anchor="ctr">
                    <a:solidFill>
                      <a:srgbClr val="FFFFFF"/>
                    </a:solidFill>
                  </a:tcPr>
                </a:tc>
              </a:tr>
            </a:tbl>
          </a:graphicData>
        </a:graphic>
      </p:graphicFrame>
      <p:sp>
        <p:nvSpPr>
          <p:cNvPr id="7" name="TextBox 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Troubleshooting and interoperability</a:t>
            </a:r>
          </a:p>
        </p:txBody>
      </p:sp>
      <p:sp>
        <p:nvSpPr>
          <p:cNvPr id="8" name="TextBox 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EXTERNAL ISSUERS AND VERIFIERS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Interoperability: working with systems you did not build</a:t>
            </a:r>
          </a:p>
        </p:txBody>
      </p:sp>
      <p:sp>
        <p:nvSpPr>
          <p:cNvPr id="4" name="TextBox 3"/>
          <p:cNvSpPr txBox="1"/>
          <p:nvPr/>
        </p:nvSpPr>
        <p:spPr>
          <a:xfrm>
            <a:off x="502920" y="1078992"/>
            <a:ext cx="11185855" cy="302229"/>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Interoperability is a negotiated agreement, not a property you get for free by using a standard.</a:t>
            </a:r>
          </a:p>
        </p:txBody>
      </p:sp>
      <p:cxnSp>
        <p:nvCxnSpPr>
          <p:cNvPr id="5" name="Connector 4"/>
          <p:cNvCxnSpPr/>
          <p:nvPr/>
        </p:nvCxnSpPr>
        <p:spPr>
          <a:xfrm>
            <a:off x="502920" y="1472661"/>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68222"/>
            <a:ext cx="3566160" cy="2711180"/>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68222"/>
            <a:ext cx="50292" cy="271118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810448"/>
            <a:ext cx="3182112" cy="266673"/>
          </a:xfrm>
          <a:prstGeom prst="rect">
            <a:avLst/>
          </a:prstGeom>
          <a:noFill/>
        </p:spPr>
        <p:txBody>
          <a:bodyPr wrap="square" lIns="0" rIns="0" tIns="0" bIns="0" anchor="t">
            <a:spAutoFit/>
          </a:bodyPr>
          <a:lstStyle/>
          <a:p>
            <a:pPr algn="l">
              <a:lnSpc>
                <a:spcPct val="114000"/>
              </a:lnSpc>
              <a:spcBef>
                <a:spcPts val="0"/>
              </a:spcBef>
              <a:spcAft>
                <a:spcPts val="0"/>
              </a:spcAft>
            </a:pPr>
            <a:r>
              <a:rPr sz="1180" b="1" i="0">
                <a:solidFill>
                  <a:srgbClr val="1D4E89"/>
                </a:solidFill>
              </a:rPr>
              <a:t>Agree these in writing, first</a:t>
            </a:r>
          </a:p>
        </p:txBody>
      </p:sp>
      <p:sp>
        <p:nvSpPr>
          <p:cNvPr id="9" name="Oval 8"/>
          <p:cNvSpPr/>
          <p:nvPr/>
        </p:nvSpPr>
        <p:spPr>
          <a:xfrm>
            <a:off x="745236" y="2094948"/>
            <a:ext cx="77724" cy="75557"/>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032676"/>
            <a:ext cx="2953512" cy="408454"/>
          </a:xfrm>
          <a:prstGeom prst="rect">
            <a:avLst/>
          </a:prstGeom>
          <a:noFill/>
        </p:spPr>
        <p:txBody>
          <a:bodyPr wrap="square" lIns="0" rIns="0" tIns="0" bIns="0" anchor="t">
            <a:spAutoFit/>
          </a:bodyPr>
          <a:lstStyle/>
          <a:p>
            <a:pPr algn="l">
              <a:lnSpc>
                <a:spcPct val="124000"/>
              </a:lnSpc>
              <a:spcBef>
                <a:spcPts val="0"/>
              </a:spcBef>
              <a:spcAft>
                <a:spcPts val="0"/>
              </a:spcAft>
            </a:pPr>
            <a:r>
              <a:rPr sz="960" b="1" i="0">
                <a:solidFill>
                  <a:srgbClr val="0F172A"/>
                </a:solidFill>
                <a:latin typeface="Arial"/>
              </a:rPr>
              <a:t>Draft versions</a:t>
            </a:r>
            <a:r>
              <a:rPr sz="960" b="0" i="0">
                <a:solidFill>
                  <a:srgbClr val="0F172A"/>
                </a:solidFill>
                <a:latin typeface="Arial"/>
              </a:rPr>
              <a:t>: OpenID4VCI 11 or 13; OpenID4VP 21 or 23.</a:t>
            </a:r>
          </a:p>
        </p:txBody>
      </p:sp>
      <p:sp>
        <p:nvSpPr>
          <p:cNvPr id="11" name="Oval 10"/>
          <p:cNvSpPr/>
          <p:nvPr/>
        </p:nvSpPr>
        <p:spPr>
          <a:xfrm>
            <a:off x="745236" y="2472291"/>
            <a:ext cx="77724" cy="75557"/>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410018"/>
            <a:ext cx="2953512" cy="408454"/>
          </a:xfrm>
          <a:prstGeom prst="rect">
            <a:avLst/>
          </a:prstGeom>
          <a:noFill/>
        </p:spPr>
        <p:txBody>
          <a:bodyPr wrap="square" lIns="0" rIns="0" tIns="0" bIns="0" anchor="t">
            <a:spAutoFit/>
          </a:bodyPr>
          <a:lstStyle/>
          <a:p>
            <a:pPr algn="l">
              <a:lnSpc>
                <a:spcPct val="124000"/>
              </a:lnSpc>
              <a:spcBef>
                <a:spcPts val="0"/>
              </a:spcBef>
              <a:spcAft>
                <a:spcPts val="0"/>
              </a:spcAft>
            </a:pPr>
            <a:r>
              <a:rPr sz="960" b="1" i="0">
                <a:solidFill>
                  <a:srgbClr val="0F172A"/>
                </a:solidFill>
                <a:latin typeface="Arial"/>
              </a:rPr>
              <a:t>Format string</a:t>
            </a:r>
            <a:r>
              <a:rPr sz="960" b="0" i="0">
                <a:solidFill>
                  <a:srgbClr val="0F172A"/>
                </a:solidFill>
                <a:latin typeface="Arial"/>
              </a:rPr>
              <a:t>: </a:t>
            </a:r>
            <a:r>
              <a:rPr sz="960" b="0" i="0">
                <a:solidFill>
                  <a:srgbClr val="1D4E89"/>
                </a:solidFill>
                <a:latin typeface="Consolas"/>
              </a:rPr>
              <a:t>vc+sd-jwt</a:t>
            </a:r>
            <a:r>
              <a:rPr sz="960" b="0" i="0">
                <a:solidFill>
                  <a:srgbClr val="0F172A"/>
                </a:solidFill>
                <a:latin typeface="Arial"/>
              </a:rPr>
              <a:t> or </a:t>
            </a:r>
            <a:r>
              <a:rPr sz="960" b="0" i="0">
                <a:solidFill>
                  <a:srgbClr val="1D4E89"/>
                </a:solidFill>
                <a:latin typeface="Consolas"/>
              </a:rPr>
              <a:t>dc+sd-jwt</a:t>
            </a:r>
            <a:r>
              <a:rPr sz="960" b="0" i="0">
                <a:solidFill>
                  <a:srgbClr val="0F172A"/>
                </a:solidFill>
                <a:latin typeface="Arial"/>
              </a:rPr>
              <a:t>; </a:t>
            </a:r>
            <a:r>
              <a:rPr sz="960" b="0" i="0">
                <a:solidFill>
                  <a:srgbClr val="1D4E89"/>
                </a:solidFill>
                <a:latin typeface="Consolas"/>
              </a:rPr>
              <a:t>ldp_vc</a:t>
            </a:r>
            <a:r>
              <a:rPr sz="960" b="0" i="0">
                <a:solidFill>
                  <a:srgbClr val="0F172A"/>
                </a:solidFill>
                <a:latin typeface="Arial"/>
              </a:rPr>
              <a:t>; </a:t>
            </a:r>
            <a:r>
              <a:rPr sz="960" b="0" i="0">
                <a:solidFill>
                  <a:srgbClr val="1D4E89"/>
                </a:solidFill>
                <a:latin typeface="Consolas"/>
              </a:rPr>
              <a:t>mso_mdoc</a:t>
            </a:r>
            <a:r>
              <a:rPr sz="960" b="0" i="0">
                <a:solidFill>
                  <a:srgbClr val="0F172A"/>
                </a:solidFill>
                <a:latin typeface="Arial"/>
              </a:rPr>
              <a:t>.</a:t>
            </a:r>
          </a:p>
        </p:txBody>
      </p:sp>
      <p:sp>
        <p:nvSpPr>
          <p:cNvPr id="13" name="Oval 12"/>
          <p:cNvSpPr/>
          <p:nvPr/>
        </p:nvSpPr>
        <p:spPr>
          <a:xfrm>
            <a:off x="745236" y="2849634"/>
            <a:ext cx="77724" cy="75557"/>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787361"/>
            <a:ext cx="2953512" cy="408454"/>
          </a:xfrm>
          <a:prstGeom prst="rect">
            <a:avLst/>
          </a:prstGeom>
          <a:noFill/>
        </p:spPr>
        <p:txBody>
          <a:bodyPr wrap="square" lIns="0" rIns="0" tIns="0" bIns="0" anchor="t">
            <a:spAutoFit/>
          </a:bodyPr>
          <a:lstStyle/>
          <a:p>
            <a:pPr algn="l">
              <a:lnSpc>
                <a:spcPct val="124000"/>
              </a:lnSpc>
              <a:spcBef>
                <a:spcPts val="0"/>
              </a:spcBef>
              <a:spcAft>
                <a:spcPts val="0"/>
              </a:spcAft>
            </a:pPr>
            <a:r>
              <a:rPr sz="960" b="1" i="0">
                <a:solidFill>
                  <a:srgbClr val="0F172A"/>
                </a:solidFill>
                <a:latin typeface="Arial"/>
              </a:rPr>
              <a:t>Algorithms</a:t>
            </a:r>
            <a:r>
              <a:rPr sz="960" b="0" i="0">
                <a:solidFill>
                  <a:srgbClr val="0F172A"/>
                </a:solidFill>
                <a:latin typeface="Arial"/>
              </a:rPr>
              <a:t>: signing algs for credentials, proofs and key binding.</a:t>
            </a:r>
          </a:p>
        </p:txBody>
      </p:sp>
      <p:sp>
        <p:nvSpPr>
          <p:cNvPr id="15" name="Oval 14"/>
          <p:cNvSpPr/>
          <p:nvPr/>
        </p:nvSpPr>
        <p:spPr>
          <a:xfrm>
            <a:off x="745236" y="3226977"/>
            <a:ext cx="77724" cy="75557"/>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164704"/>
            <a:ext cx="2953512" cy="408454"/>
          </a:xfrm>
          <a:prstGeom prst="rect">
            <a:avLst/>
          </a:prstGeom>
          <a:noFill/>
        </p:spPr>
        <p:txBody>
          <a:bodyPr wrap="square" lIns="0" rIns="0" tIns="0" bIns="0" anchor="t">
            <a:spAutoFit/>
          </a:bodyPr>
          <a:lstStyle/>
          <a:p>
            <a:pPr algn="l">
              <a:lnSpc>
                <a:spcPct val="124000"/>
              </a:lnSpc>
              <a:spcBef>
                <a:spcPts val="0"/>
              </a:spcBef>
              <a:spcAft>
                <a:spcPts val="0"/>
              </a:spcAft>
            </a:pPr>
            <a:r>
              <a:rPr sz="960" b="1" i="0">
                <a:solidFill>
                  <a:srgbClr val="0F172A"/>
                </a:solidFill>
                <a:latin typeface="Arial"/>
              </a:rPr>
              <a:t>Key publication</a:t>
            </a:r>
            <a:r>
              <a:rPr sz="960" b="0" i="0">
                <a:solidFill>
                  <a:srgbClr val="0F172A"/>
                </a:solidFill>
                <a:latin typeface="Arial"/>
              </a:rPr>
              <a:t>: </a:t>
            </a:r>
            <a:r>
              <a:rPr sz="960" b="0" i="0">
                <a:solidFill>
                  <a:srgbClr val="1D4E89"/>
                </a:solidFill>
                <a:latin typeface="Consolas"/>
              </a:rPr>
              <a:t>x5c</a:t>
            </a:r>
            <a:r>
              <a:rPr sz="960" b="0" i="0">
                <a:solidFill>
                  <a:srgbClr val="0F172A"/>
                </a:solidFill>
                <a:latin typeface="Arial"/>
              </a:rPr>
              <a:t>, JWKS, DID method — and the rotation policy.</a:t>
            </a:r>
          </a:p>
        </p:txBody>
      </p:sp>
      <p:sp>
        <p:nvSpPr>
          <p:cNvPr id="17" name="Oval 16"/>
          <p:cNvSpPr/>
          <p:nvPr/>
        </p:nvSpPr>
        <p:spPr>
          <a:xfrm>
            <a:off x="745236" y="3604321"/>
            <a:ext cx="77724" cy="75557"/>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542047"/>
            <a:ext cx="2953512" cy="408454"/>
          </a:xfrm>
          <a:prstGeom prst="rect">
            <a:avLst/>
          </a:prstGeom>
          <a:noFill/>
        </p:spPr>
        <p:txBody>
          <a:bodyPr wrap="square" lIns="0" rIns="0" tIns="0" bIns="0" anchor="t">
            <a:spAutoFit/>
          </a:bodyPr>
          <a:lstStyle/>
          <a:p>
            <a:pPr algn="l">
              <a:lnSpc>
                <a:spcPct val="124000"/>
              </a:lnSpc>
              <a:spcBef>
                <a:spcPts val="0"/>
              </a:spcBef>
              <a:spcAft>
                <a:spcPts val="0"/>
              </a:spcAft>
            </a:pPr>
            <a:r>
              <a:rPr sz="960" b="1" i="0">
                <a:solidFill>
                  <a:srgbClr val="0F172A"/>
                </a:solidFill>
                <a:latin typeface="Arial"/>
              </a:rPr>
              <a:t>client_id scheme</a:t>
            </a:r>
            <a:r>
              <a:rPr sz="960" b="0" i="0">
                <a:solidFill>
                  <a:srgbClr val="0F172A"/>
                </a:solidFill>
                <a:latin typeface="Arial"/>
              </a:rPr>
              <a:t> and whether requests are signed.</a:t>
            </a:r>
          </a:p>
        </p:txBody>
      </p:sp>
      <p:sp>
        <p:nvSpPr>
          <p:cNvPr id="19" name="Oval 18"/>
          <p:cNvSpPr/>
          <p:nvPr/>
        </p:nvSpPr>
        <p:spPr>
          <a:xfrm>
            <a:off x="745236" y="3981663"/>
            <a:ext cx="77724" cy="75557"/>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919390"/>
            <a:ext cx="2953512" cy="559347"/>
          </a:xfrm>
          <a:prstGeom prst="rect">
            <a:avLst/>
          </a:prstGeom>
          <a:noFill/>
        </p:spPr>
        <p:txBody>
          <a:bodyPr wrap="square" lIns="0" rIns="0" tIns="0" bIns="0" anchor="t">
            <a:spAutoFit/>
          </a:bodyPr>
          <a:lstStyle/>
          <a:p>
            <a:pPr algn="l">
              <a:lnSpc>
                <a:spcPct val="124000"/>
              </a:lnSpc>
              <a:spcBef>
                <a:spcPts val="0"/>
              </a:spcBef>
              <a:spcAft>
                <a:spcPts val="0"/>
              </a:spcAft>
            </a:pPr>
            <a:r>
              <a:rPr sz="960" b="1" i="0">
                <a:solidFill>
                  <a:srgbClr val="0F172A"/>
                </a:solidFill>
                <a:latin typeface="Arial"/>
              </a:rPr>
              <a:t>Response mode</a:t>
            </a:r>
            <a:r>
              <a:rPr sz="960" b="0" i="0">
                <a:solidFill>
                  <a:srgbClr val="0F172A"/>
                </a:solidFill>
                <a:latin typeface="Arial"/>
              </a:rPr>
              <a:t>: </a:t>
            </a:r>
            <a:r>
              <a:rPr sz="960" b="0" i="0">
                <a:solidFill>
                  <a:srgbClr val="1D4E89"/>
                </a:solidFill>
                <a:latin typeface="Consolas"/>
              </a:rPr>
              <a:t>direct_post</a:t>
            </a:r>
            <a:r>
              <a:rPr sz="960" b="0" i="0">
                <a:solidFill>
                  <a:srgbClr val="0F172A"/>
                </a:solidFill>
                <a:latin typeface="Arial"/>
              </a:rPr>
              <a:t> or </a:t>
            </a:r>
            <a:r>
              <a:rPr sz="960" b="0" i="0">
                <a:solidFill>
                  <a:srgbClr val="1D4E89"/>
                </a:solidFill>
                <a:latin typeface="Consolas"/>
              </a:rPr>
              <a:t>direct_post.jwt</a:t>
            </a:r>
            <a:r>
              <a:rPr sz="960" b="0" i="0">
                <a:solidFill>
                  <a:srgbClr val="0F172A"/>
                </a:solidFill>
                <a:latin typeface="Arial"/>
              </a:rPr>
              <a:t>, and the encryption algorithms.</a:t>
            </a:r>
          </a:p>
        </p:txBody>
      </p:sp>
      <p:sp>
        <p:nvSpPr>
          <p:cNvPr id="21" name="Rounded Rectangle 20"/>
          <p:cNvSpPr/>
          <p:nvPr/>
        </p:nvSpPr>
        <p:spPr>
          <a:xfrm>
            <a:off x="4297680" y="1668222"/>
            <a:ext cx="3566160" cy="2711180"/>
          </a:xfrm>
          <a:prstGeom prst="roundRect">
            <a:avLst>
              <a:gd name="adj" fmla="val 45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1668222"/>
            <a:ext cx="50292" cy="27111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35424" y="1810448"/>
            <a:ext cx="3182112" cy="266673"/>
          </a:xfrm>
          <a:prstGeom prst="rect">
            <a:avLst/>
          </a:prstGeom>
          <a:noFill/>
        </p:spPr>
        <p:txBody>
          <a:bodyPr wrap="square" lIns="0" rIns="0" tIns="0" bIns="0" anchor="t">
            <a:spAutoFit/>
          </a:bodyPr>
          <a:lstStyle/>
          <a:p>
            <a:pPr algn="l">
              <a:lnSpc>
                <a:spcPct val="114000"/>
              </a:lnSpc>
              <a:spcBef>
                <a:spcPts val="0"/>
              </a:spcBef>
              <a:spcAft>
                <a:spcPts val="0"/>
              </a:spcAft>
            </a:pPr>
            <a:r>
              <a:rPr sz="1180" b="1" i="0">
                <a:solidFill>
                  <a:srgbClr val="B45309"/>
                </a:solidFill>
              </a:rPr>
              <a:t>Where skew actually bites</a:t>
            </a:r>
          </a:p>
        </p:txBody>
      </p:sp>
      <p:sp>
        <p:nvSpPr>
          <p:cNvPr id="24" name="Oval 23"/>
          <p:cNvSpPr/>
          <p:nvPr/>
        </p:nvSpPr>
        <p:spPr>
          <a:xfrm>
            <a:off x="4539996" y="2094948"/>
            <a:ext cx="77724" cy="75557"/>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27448" y="2032676"/>
            <a:ext cx="2953512" cy="710239"/>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Draft 11 publishes </a:t>
            </a:r>
            <a:r>
              <a:rPr sz="960" b="0" i="0">
                <a:solidFill>
                  <a:srgbClr val="1D4E89"/>
                </a:solidFill>
                <a:latin typeface="Consolas"/>
              </a:rPr>
              <a:t>credentials_supported</a:t>
            </a:r>
            <a:r>
              <a:rPr sz="960" b="0" i="0">
                <a:solidFill>
                  <a:srgbClr val="0F172A"/>
                </a:solidFill>
                <a:latin typeface="Arial"/>
              </a:rPr>
              <a:t>; draft 13 publishes </a:t>
            </a:r>
            <a:r>
              <a:rPr sz="960" b="0" i="0">
                <a:solidFill>
                  <a:srgbClr val="1D4E89"/>
                </a:solidFill>
                <a:latin typeface="Consolas"/>
              </a:rPr>
              <a:t>credential_configurations_supported</a:t>
            </a:r>
            <a:r>
              <a:rPr sz="960" b="0" i="0">
                <a:solidFill>
                  <a:srgbClr val="0F172A"/>
                </a:solidFill>
                <a:latin typeface="Arial"/>
              </a:rPr>
              <a:t>. A mismatch shows as an </a:t>
            </a:r>
            <a:r>
              <a:rPr sz="960" b="1" i="0">
                <a:solidFill>
                  <a:srgbClr val="0F172A"/>
                </a:solidFill>
                <a:latin typeface="Arial"/>
              </a:rPr>
              <a:t>empty list</a:t>
            </a:r>
            <a:r>
              <a:rPr sz="960" b="0" i="0">
                <a:solidFill>
                  <a:srgbClr val="0F172A"/>
                </a:solidFill>
                <a:latin typeface="Arial"/>
              </a:rPr>
              <a:t>, not an error.</a:t>
            </a:r>
          </a:p>
        </p:txBody>
      </p:sp>
      <p:sp>
        <p:nvSpPr>
          <p:cNvPr id="26" name="Oval 25"/>
          <p:cNvSpPr/>
          <p:nvPr/>
        </p:nvSpPr>
        <p:spPr>
          <a:xfrm>
            <a:off x="4539996" y="2774077"/>
            <a:ext cx="77724" cy="75557"/>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27448" y="2711803"/>
            <a:ext cx="2953512" cy="710239"/>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OpenID4VP draft 21 uses a separate </a:t>
            </a:r>
            <a:r>
              <a:rPr sz="960" b="0" i="0">
                <a:solidFill>
                  <a:srgbClr val="1D4E89"/>
                </a:solidFill>
                <a:latin typeface="Consolas"/>
              </a:rPr>
              <a:t>client_id_scheme</a:t>
            </a:r>
            <a:r>
              <a:rPr sz="960" b="0" i="0">
                <a:solidFill>
                  <a:srgbClr val="0F172A"/>
                </a:solidFill>
                <a:latin typeface="Arial"/>
              </a:rPr>
              <a:t>; draft 23 folds it into </a:t>
            </a:r>
            <a:r>
              <a:rPr sz="960" b="0" i="0">
                <a:solidFill>
                  <a:srgbClr val="1D4E89"/>
                </a:solidFill>
                <a:latin typeface="Consolas"/>
              </a:rPr>
              <a:t>client_id</a:t>
            </a:r>
            <a:r>
              <a:rPr sz="960" b="0" i="0">
                <a:solidFill>
                  <a:srgbClr val="0F172A"/>
                </a:solidFill>
                <a:latin typeface="Arial"/>
              </a:rPr>
              <a:t>. </a:t>
            </a:r>
            <a:r>
              <a:rPr sz="960" b="0" i="0">
                <a:solidFill>
                  <a:srgbClr val="1D4E89"/>
                </a:solidFill>
                <a:latin typeface="Consolas"/>
              </a:rPr>
              <a:t>inji-openid4vp</a:t>
            </a:r>
            <a:r>
              <a:rPr sz="960" b="0" i="0">
                <a:solidFill>
                  <a:srgbClr val="0F172A"/>
                </a:solidFill>
                <a:latin typeface="Arial"/>
              </a:rPr>
              <a:t> infers the draft from its presence.</a:t>
            </a:r>
          </a:p>
        </p:txBody>
      </p:sp>
      <p:sp>
        <p:nvSpPr>
          <p:cNvPr id="28" name="Oval 27"/>
          <p:cNvSpPr/>
          <p:nvPr/>
        </p:nvSpPr>
        <p:spPr>
          <a:xfrm>
            <a:off x="4539996" y="3453206"/>
            <a:ext cx="77724" cy="75557"/>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27448" y="3390932"/>
            <a:ext cx="2953512" cy="710239"/>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1D4E89"/>
                </a:solidFill>
                <a:latin typeface="Consolas"/>
              </a:rPr>
              <a:t>vc+sd-jwt</a:t>
            </a:r>
            <a:r>
              <a:rPr sz="960" b="0" i="0">
                <a:solidFill>
                  <a:srgbClr val="0F172A"/>
                </a:solidFill>
                <a:latin typeface="Arial"/>
              </a:rPr>
              <a:t> and </a:t>
            </a:r>
            <a:r>
              <a:rPr sz="960" b="0" i="0">
                <a:solidFill>
                  <a:srgbClr val="1D4E89"/>
                </a:solidFill>
                <a:latin typeface="Consolas"/>
              </a:rPr>
              <a:t>dc+sd-jwt</a:t>
            </a:r>
            <a:r>
              <a:rPr sz="960" b="0" i="0">
                <a:solidFill>
                  <a:srgbClr val="0F172A"/>
                </a:solidFill>
                <a:latin typeface="Arial"/>
              </a:rPr>
              <a:t> are the same format at different points in the IETF draft's life. Both are supported; agree on one.</a:t>
            </a:r>
          </a:p>
        </p:txBody>
      </p:sp>
      <p:sp>
        <p:nvSpPr>
          <p:cNvPr id="30" name="Oval 29"/>
          <p:cNvSpPr/>
          <p:nvPr/>
        </p:nvSpPr>
        <p:spPr>
          <a:xfrm>
            <a:off x="4539996" y="4132333"/>
            <a:ext cx="77724" cy="75557"/>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27448" y="4070060"/>
            <a:ext cx="2953512" cy="559347"/>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Presentation Exchange is being replaced by DCQL in later OpenID4VP drafts. Do not build deep dependencies on the submission shape.</a:t>
            </a:r>
          </a:p>
        </p:txBody>
      </p:sp>
      <p:sp>
        <p:nvSpPr>
          <p:cNvPr id="32" name="Rounded Rectangle 31"/>
          <p:cNvSpPr/>
          <p:nvPr/>
        </p:nvSpPr>
        <p:spPr>
          <a:xfrm>
            <a:off x="8110728" y="1668222"/>
            <a:ext cx="3575304" cy="2711180"/>
          </a:xfrm>
          <a:prstGeom prst="roundRect">
            <a:avLst>
              <a:gd name="adj" fmla="val 45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10728" y="1668222"/>
            <a:ext cx="50292" cy="2711180"/>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48472" y="1810448"/>
            <a:ext cx="3191256" cy="266673"/>
          </a:xfrm>
          <a:prstGeom prst="rect">
            <a:avLst/>
          </a:prstGeom>
          <a:noFill/>
        </p:spPr>
        <p:txBody>
          <a:bodyPr wrap="square" lIns="0" rIns="0" tIns="0" bIns="0" anchor="t">
            <a:spAutoFit/>
          </a:bodyPr>
          <a:lstStyle/>
          <a:p>
            <a:pPr algn="l">
              <a:lnSpc>
                <a:spcPct val="114000"/>
              </a:lnSpc>
              <a:spcBef>
                <a:spcPts val="0"/>
              </a:spcBef>
              <a:spcAft>
                <a:spcPts val="0"/>
              </a:spcAft>
            </a:pPr>
            <a:r>
              <a:rPr sz="1180" b="1" i="0">
                <a:solidFill>
                  <a:srgbClr val="15703D"/>
                </a:solidFill>
              </a:rPr>
              <a:t>How to test it</a:t>
            </a:r>
          </a:p>
        </p:txBody>
      </p:sp>
      <p:sp>
        <p:nvSpPr>
          <p:cNvPr id="35" name="Oval 34"/>
          <p:cNvSpPr/>
          <p:nvPr/>
        </p:nvSpPr>
        <p:spPr>
          <a:xfrm>
            <a:off x="8353044" y="2094948"/>
            <a:ext cx="77724" cy="75557"/>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0496" y="2032676"/>
            <a:ext cx="2962656" cy="559347"/>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Build a </a:t>
            </a:r>
            <a:r>
              <a:rPr sz="960" b="1" i="0">
                <a:solidFill>
                  <a:srgbClr val="0F172A"/>
                </a:solidFill>
                <a:latin typeface="Arial"/>
              </a:rPr>
              <a:t>conformance checklist</a:t>
            </a:r>
            <a:r>
              <a:rPr sz="960" b="0" i="0">
                <a:solidFill>
                  <a:srgbClr val="0F172A"/>
                </a:solidFill>
                <a:latin typeface="Arial"/>
              </a:rPr>
              <a:t> from the agreed list and run it before every release on both sides.</a:t>
            </a:r>
          </a:p>
        </p:txBody>
      </p:sp>
      <p:sp>
        <p:nvSpPr>
          <p:cNvPr id="37" name="Oval 36"/>
          <p:cNvSpPr/>
          <p:nvPr/>
        </p:nvSpPr>
        <p:spPr>
          <a:xfrm>
            <a:off x="8353044" y="2623185"/>
            <a:ext cx="77724" cy="75557"/>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0496" y="2560911"/>
            <a:ext cx="2962656" cy="408454"/>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Keep a reference issuer and a reference verifier you control, for bisecting failures.</a:t>
            </a:r>
          </a:p>
        </p:txBody>
      </p:sp>
      <p:sp>
        <p:nvSpPr>
          <p:cNvPr id="39" name="Oval 38"/>
          <p:cNvSpPr/>
          <p:nvPr/>
        </p:nvSpPr>
        <p:spPr>
          <a:xfrm>
            <a:off x="8353044" y="3000527"/>
            <a:ext cx="77724" cy="75557"/>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0496" y="2938254"/>
            <a:ext cx="2962656" cy="559347"/>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Test with a </a:t>
            </a:r>
            <a:r>
              <a:rPr sz="960" b="1" i="0">
                <a:solidFill>
                  <a:srgbClr val="0F172A"/>
                </a:solidFill>
                <a:latin typeface="Arial"/>
              </a:rPr>
              <a:t>second wallet</a:t>
            </a:r>
            <a:r>
              <a:rPr sz="960" b="0" i="0">
                <a:solidFill>
                  <a:srgbClr val="0F172A"/>
                </a:solidFill>
                <a:latin typeface="Arial"/>
              </a:rPr>
              <a:t> that is not Inji. If only Inji can read your credentials, you have not achieved interoperability.</a:t>
            </a:r>
          </a:p>
        </p:txBody>
      </p:sp>
      <p:sp>
        <p:nvSpPr>
          <p:cNvPr id="41" name="Oval 40"/>
          <p:cNvSpPr/>
          <p:nvPr/>
        </p:nvSpPr>
        <p:spPr>
          <a:xfrm>
            <a:off x="8353044" y="3528763"/>
            <a:ext cx="77724" cy="75557"/>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40496" y="3466490"/>
            <a:ext cx="2962656" cy="408454"/>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Use the OpenID Foundation conformance suites where they cover your profile.</a:t>
            </a:r>
          </a:p>
        </p:txBody>
      </p:sp>
      <p:sp>
        <p:nvSpPr>
          <p:cNvPr id="43" name="Oval 42"/>
          <p:cNvSpPr/>
          <p:nvPr/>
        </p:nvSpPr>
        <p:spPr>
          <a:xfrm>
            <a:off x="8353044" y="3906105"/>
            <a:ext cx="77724" cy="75557"/>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40496" y="3843832"/>
            <a:ext cx="2962656" cy="408454"/>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Test key rotation as a scheduled exercise, not as an incident.</a:t>
            </a:r>
          </a:p>
        </p:txBody>
      </p:sp>
      <p:graphicFrame>
        <p:nvGraphicFramePr>
          <p:cNvPr id="45" name="Table 44"/>
          <p:cNvGraphicFramePr>
            <a:graphicFrameLocks noGrp="1"/>
          </p:cNvGraphicFramePr>
          <p:nvPr/>
        </p:nvGraphicFramePr>
        <p:xfrm>
          <a:off x="502920" y="4601630"/>
          <a:ext cx="11185854" cy="1671150"/>
        </p:xfrm>
        <a:graphic>
          <a:graphicData uri="http://schemas.openxmlformats.org/drawingml/2006/table">
            <a:tbl>
              <a:tblPr firstRow="1">
                <a:tableStyleId>{2D5ABB26-0587-4C30-8999-92F81FD0307C}</a:tableStyleId>
              </a:tblPr>
              <a:tblGrid>
                <a:gridCol w="2200496"/>
                <a:gridCol w="8985358"/>
              </a:tblGrid>
              <a:tr h="284451">
                <a:tc>
                  <a:txBody>
                    <a:bodyPr wrap="square"/>
                    <a:lstStyle/>
                    <a:p>
                      <a:pPr algn="l"/>
                      <a:r>
                        <a:rPr sz="940" b="1">
                          <a:solidFill>
                            <a:srgbClr val="FFFFFF"/>
                          </a:solidFill>
                          <a:latin typeface="Arial"/>
                        </a:rPr>
                        <a:t>Principle</a:t>
                      </a:r>
                    </a:p>
                  </a:txBody>
                  <a:tcPr marL="64008" marR="54864" marT="27432" marB="27432" anchor="ctr">
                    <a:solidFill>
                      <a:srgbClr val="1D4E89"/>
                    </a:solidFill>
                  </a:tcPr>
                </a:tc>
                <a:tc>
                  <a:txBody>
                    <a:bodyPr wrap="square"/>
                    <a:lstStyle/>
                    <a:p>
                      <a:pPr algn="l"/>
                      <a:r>
                        <a:rPr sz="940" b="1">
                          <a:solidFill>
                            <a:srgbClr val="FFFFFF"/>
                          </a:solidFill>
                          <a:latin typeface="Arial"/>
                        </a:rPr>
                        <a:t>What it means in practice</a:t>
                      </a:r>
                    </a:p>
                  </a:txBody>
                  <a:tcPr marL="64008" marR="54864" marT="27432" marB="27432" anchor="ctr">
                    <a:solidFill>
                      <a:srgbClr val="1D4E89"/>
                    </a:solidFill>
                  </a:tcPr>
                </a:tc>
              </a:tr>
              <a:tr h="462233">
                <a:tc>
                  <a:txBody>
                    <a:bodyPr wrap="square"/>
                    <a:lstStyle/>
                    <a:p>
                      <a:pPr algn="l">
                        <a:lnSpc>
                          <a:spcPct val="105000"/>
                        </a:lnSpc>
                      </a:pPr>
                      <a:r>
                        <a:rPr sz="930" b="0">
                          <a:solidFill>
                            <a:srgbClr val="1E293B"/>
                          </a:solidFill>
                          <a:latin typeface="Arial"/>
                        </a:rPr>
                        <a:t>Graceful failure</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An unknown format, algorithm or draft should produce a </a:t>
                      </a:r>
                      <a:r>
                        <a:rPr sz="930" b="1">
                          <a:solidFill>
                            <a:srgbClr val="0F172A"/>
                          </a:solidFill>
                          <a:latin typeface="Arial"/>
                        </a:rPr>
                        <a:t>clear, specific</a:t>
                      </a:r>
                      <a:r>
                        <a:rPr sz="930" b="0">
                          <a:solidFill>
                            <a:srgbClr val="1E293B"/>
                          </a:solidFill>
                          <a:latin typeface="Arial"/>
                        </a:rPr>
                        <a:t> error — never a crash and never a silent empty screen</a:t>
                      </a:r>
                    </a:p>
                  </a:txBody>
                  <a:tcPr marL="64008" marR="54864" marT="18288" marB="18288" anchor="ctr">
                    <a:solidFill>
                      <a:srgbClr val="FFFFFF"/>
                    </a:solidFill>
                  </a:tcPr>
                </a:tc>
              </a:tr>
              <a:tr h="462233">
                <a:tc>
                  <a:txBody>
                    <a:bodyPr wrap="square"/>
                    <a:lstStyle/>
                    <a:p>
                      <a:pPr algn="l">
                        <a:lnSpc>
                          <a:spcPct val="105000"/>
                        </a:lnSpc>
                      </a:pPr>
                      <a:r>
                        <a:rPr sz="930" b="0">
                          <a:solidFill>
                            <a:srgbClr val="1E293B"/>
                          </a:solidFill>
                          <a:latin typeface="Arial"/>
                        </a:rPr>
                        <a:t>Capability advertisement</a:t>
                      </a:r>
                    </a:p>
                  </a:txBody>
                  <a:tcPr marL="64008" marR="54864" marT="18288" marB="18288" anchor="ctr">
                    <a:solidFill>
                      <a:srgbClr val="F3F6F9"/>
                    </a:solidFill>
                  </a:tcPr>
                </a:tc>
                <a:tc>
                  <a:txBody>
                    <a:bodyPr wrap="square"/>
                    <a:lstStyle/>
                    <a:p>
                      <a:pPr algn="l">
                        <a:lnSpc>
                          <a:spcPct val="105000"/>
                        </a:lnSpc>
                      </a:pPr>
                      <a:r>
                        <a:rPr sz="930" b="0">
                          <a:solidFill>
                            <a:srgbClr val="1E293B"/>
                          </a:solidFill>
                          <a:latin typeface="Arial"/>
                        </a:rPr>
                        <a:t>Inji publishes </a:t>
                      </a:r>
                      <a:r>
                        <a:rPr sz="930" b="0">
                          <a:solidFill>
                            <a:srgbClr val="1D4E89"/>
                          </a:solidFill>
                          <a:latin typeface="Consolas"/>
                        </a:rPr>
                        <a:t>walletMetadata</a:t>
                      </a:r>
                      <a:r>
                        <a:rPr sz="930" b="0">
                          <a:solidFill>
                            <a:srgbClr val="1E293B"/>
                          </a:solidFill>
                          <a:latin typeface="Arial"/>
                        </a:rPr>
                        <a:t>: supported </a:t>
                      </a:r>
                      <a:r>
                        <a:rPr sz="930" b="0">
                          <a:solidFill>
                            <a:srgbClr val="1D4E89"/>
                          </a:solidFill>
                          <a:latin typeface="Consolas"/>
                        </a:rPr>
                        <a:t>vp_formats</a:t>
                      </a:r>
                      <a:r>
                        <a:rPr sz="930" b="0">
                          <a:solidFill>
                            <a:srgbClr val="1E293B"/>
                          </a:solidFill>
                          <a:latin typeface="Arial"/>
                        </a:rPr>
                        <a:t>, </a:t>
                      </a:r>
                      <a:r>
                        <a:rPr sz="930" b="0">
                          <a:solidFill>
                            <a:srgbClr val="1D4E89"/>
                          </a:solidFill>
                          <a:latin typeface="Consolas"/>
                        </a:rPr>
                        <a:t>client_id_schemes</a:t>
                      </a:r>
                      <a:r>
                        <a:rPr sz="930" b="0">
                          <a:solidFill>
                            <a:srgbClr val="1E293B"/>
                          </a:solidFill>
                          <a:latin typeface="Arial"/>
                        </a:rPr>
                        <a:t>, request signing algs, response encryption algs. Verifiers can read it when the request is fetched by reference with </a:t>
                      </a:r>
                      <a:r>
                        <a:rPr sz="930" b="0">
                          <a:solidFill>
                            <a:srgbClr val="1D4E89"/>
                          </a:solidFill>
                          <a:latin typeface="Consolas"/>
                        </a:rPr>
                        <a:t>request_uri_method=post</a:t>
                      </a:r>
                    </a:p>
                  </a:txBody>
                  <a:tcPr marL="64008" marR="54864" marT="18288" marB="18288" anchor="ctr">
                    <a:solidFill>
                      <a:srgbClr val="F3F6F9"/>
                    </a:solidFill>
                  </a:tcPr>
                </a:tc>
              </a:tr>
              <a:tr h="462233">
                <a:tc>
                  <a:txBody>
                    <a:bodyPr wrap="square"/>
                    <a:lstStyle/>
                    <a:p>
                      <a:pPr algn="l">
                        <a:lnSpc>
                          <a:spcPct val="105000"/>
                        </a:lnSpc>
                      </a:pPr>
                      <a:r>
                        <a:rPr sz="930" b="0">
                          <a:solidFill>
                            <a:srgbClr val="1E293B"/>
                          </a:solidFill>
                          <a:latin typeface="Arial"/>
                        </a:rPr>
                        <a:t>Version negotiation</a:t>
                      </a:r>
                    </a:p>
                  </a:txBody>
                  <a:tcPr marL="64008" marR="54864" marT="18288" marB="18288" anchor="ctr">
                    <a:solidFill>
                      <a:srgbClr val="FFFFFF"/>
                    </a:solidFill>
                  </a:tcPr>
                </a:tc>
                <a:tc>
                  <a:txBody>
                    <a:bodyPr wrap="square"/>
                    <a:lstStyle/>
                    <a:p>
                      <a:pPr algn="l">
                        <a:lnSpc>
                          <a:spcPct val="105000"/>
                        </a:lnSpc>
                      </a:pPr>
                      <a:r>
                        <a:rPr sz="930" b="0">
                          <a:solidFill>
                            <a:srgbClr val="1E293B"/>
                          </a:solidFill>
                          <a:latin typeface="Arial"/>
                        </a:rPr>
                        <a:t>There is none in the protocol. It is a deployment agreement, which is why the left-hand card exists</a:t>
                      </a:r>
                    </a:p>
                  </a:txBody>
                  <a:tcPr marL="64008" marR="54864" marT="18288" marB="18288" anchor="ctr">
                    <a:solidFill>
                      <a:srgbClr val="FFFFFF"/>
                    </a:solidFill>
                  </a:tcPr>
                </a:tc>
              </a:tr>
            </a:tbl>
          </a:graphicData>
        </a:graphic>
      </p:graphicFrame>
      <p:sp>
        <p:nvSpPr>
          <p:cNvPr id="46" name="TextBox 4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Troubleshooting and interoperability</a:t>
            </a:r>
          </a:p>
        </p:txBody>
      </p:sp>
      <p:sp>
        <p:nvSpPr>
          <p:cNvPr id="47" name="TextBox 4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7772400" cy="310896"/>
          </a:xfrm>
          <a:prstGeom prst="rect">
            <a:avLst/>
          </a:prstGeom>
          <a:noFill/>
        </p:spPr>
        <p:txBody>
          <a:bodyPr wrap="square" lIns="0" rIns="0" tIns="0" bIns="0" anchor="t">
            <a:spAutoFit/>
          </a:bodyPr>
          <a:lstStyle/>
          <a:p>
            <a:pPr algn="l">
              <a:lnSpc>
                <a:spcPct val="114000"/>
              </a:lnSpc>
              <a:spcBef>
                <a:spcPts val="0"/>
              </a:spcBef>
              <a:spcAft>
                <a:spcPts val="0"/>
              </a:spcAft>
            </a:pPr>
            <a:r>
              <a:rPr sz="1000" b="1" i="0">
                <a:solidFill>
                  <a:srgbClr val="D6F0ED"/>
                </a:solidFill>
              </a:rPr>
              <a:t>DEMO CHECKPOINT 9   •   8 minutes</a:t>
            </a:r>
          </a:p>
        </p:txBody>
      </p:sp>
      <p:sp>
        <p:nvSpPr>
          <p:cNvPr id="4" name="TextBox 3"/>
          <p:cNvSpPr txBox="1"/>
          <p:nvPr/>
        </p:nvSpPr>
        <p:spPr>
          <a:xfrm>
            <a:off x="502920" y="411480"/>
            <a:ext cx="8778240" cy="384048"/>
          </a:xfrm>
          <a:prstGeom prst="rect">
            <a:avLst/>
          </a:prstGeom>
          <a:noFill/>
        </p:spPr>
        <p:txBody>
          <a:bodyPr wrap="square" lIns="0" rIns="0" tIns="0" bIns="0" anchor="t">
            <a:spAutoFit/>
          </a:bodyPr>
          <a:lstStyle/>
          <a:p>
            <a:pPr algn="l">
              <a:lnSpc>
                <a:spcPct val="114000"/>
              </a:lnSpc>
              <a:spcBef>
                <a:spcPts val="0"/>
              </a:spcBef>
              <a:spcAft>
                <a:spcPts val="0"/>
              </a:spcAft>
            </a:pPr>
            <a:r>
              <a:rPr sz="2000" b="1" i="0">
                <a:solidFill>
                  <a:srgbClr val="FFFFFF"/>
                </a:solidFill>
              </a:rPr>
              <a:t>Break one configuration on purpose, then find it</a:t>
            </a:r>
          </a:p>
        </p:txBody>
      </p:sp>
      <p:sp>
        <p:nvSpPr>
          <p:cNvPr id="5" name="Rounded Rectangle 4"/>
          <p:cNvSpPr/>
          <p:nvPr/>
        </p:nvSpPr>
        <p:spPr>
          <a:xfrm>
            <a:off x="502920" y="1133856"/>
            <a:ext cx="3547872" cy="3822191"/>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33856"/>
            <a:ext cx="50292" cy="3822191"/>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Before you start</a:t>
            </a:r>
          </a:p>
        </p:txBody>
      </p:sp>
      <p:sp>
        <p:nvSpPr>
          <p:cNvPr id="8" name="Oval 7"/>
          <p:cNvSpPr/>
          <p:nvPr/>
        </p:nvSpPr>
        <p:spPr>
          <a:xfrm>
            <a:off x="745236" y="157612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working end-to-end setup.</a:t>
            </a:r>
          </a:p>
        </p:txBody>
      </p:sp>
      <p:sp>
        <p:nvSpPr>
          <p:cNvPr id="10" name="Oval 9"/>
          <p:cNvSpPr/>
          <p:nvPr/>
        </p:nvSpPr>
        <p:spPr>
          <a:xfrm>
            <a:off x="745236" y="181706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749704"/>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Logs visible for Wallet, Mimoto and the issuer at the same time.</a:t>
            </a:r>
          </a:p>
        </p:txBody>
      </p:sp>
      <p:sp>
        <p:nvSpPr>
          <p:cNvPr id="12" name="Oval 11"/>
          <p:cNvSpPr/>
          <p:nvPr/>
        </p:nvSpPr>
        <p:spPr>
          <a:xfrm>
            <a:off x="745236" y="2221230"/>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153869"/>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triage tree slide on a second screen.</a:t>
            </a:r>
          </a:p>
        </p:txBody>
      </p:sp>
      <p:sp>
        <p:nvSpPr>
          <p:cNvPr id="14" name="Oval 13"/>
          <p:cNvSpPr/>
          <p:nvPr/>
        </p:nvSpPr>
        <p:spPr>
          <a:xfrm>
            <a:off x="745236" y="2462174"/>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394813"/>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A volunteer from the room who has not seen the change.</a:t>
            </a:r>
          </a:p>
        </p:txBody>
      </p:sp>
      <p:sp>
        <p:nvSpPr>
          <p:cNvPr id="16" name="Rounded Rectangle 15"/>
          <p:cNvSpPr/>
          <p:nvPr/>
        </p:nvSpPr>
        <p:spPr>
          <a:xfrm>
            <a:off x="4224528" y="1133856"/>
            <a:ext cx="3547872" cy="3822191"/>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133856"/>
            <a:ext cx="50292" cy="382219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1280160"/>
            <a:ext cx="316382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rPr>
              <a:t>What the room sees</a:t>
            </a:r>
          </a:p>
        </p:txBody>
      </p:sp>
      <p:sp>
        <p:nvSpPr>
          <p:cNvPr id="19" name="Oval 18"/>
          <p:cNvSpPr/>
          <p:nvPr/>
        </p:nvSpPr>
        <p:spPr>
          <a:xfrm>
            <a:off x="4466844" y="157612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1508760"/>
            <a:ext cx="293522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facilitator changes </a:t>
            </a:r>
            <a:r>
              <a:rPr sz="1019" b="1" i="0">
                <a:solidFill>
                  <a:srgbClr val="0F172A"/>
                </a:solidFill>
                <a:latin typeface="Arial"/>
              </a:rPr>
              <a:t>one</a:t>
            </a:r>
            <a:r>
              <a:rPr sz="1019" b="0" i="0">
                <a:solidFill>
                  <a:srgbClr val="0F172A"/>
                </a:solidFill>
                <a:latin typeface="Arial"/>
              </a:rPr>
              <a:t> thing without telling the room.</a:t>
            </a:r>
          </a:p>
        </p:txBody>
      </p:sp>
      <p:sp>
        <p:nvSpPr>
          <p:cNvPr id="21" name="Oval 20"/>
          <p:cNvSpPr/>
          <p:nvPr/>
        </p:nvSpPr>
        <p:spPr>
          <a:xfrm>
            <a:off x="4466844" y="198028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1912924"/>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journey fails.</a:t>
            </a:r>
          </a:p>
        </p:txBody>
      </p:sp>
      <p:sp>
        <p:nvSpPr>
          <p:cNvPr id="23" name="Oval 22"/>
          <p:cNvSpPr/>
          <p:nvPr/>
        </p:nvSpPr>
        <p:spPr>
          <a:xfrm>
            <a:off x="4466844" y="2221230"/>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153869"/>
            <a:ext cx="2935224" cy="762609"/>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The room works the triage tree out loud: did anything leave the phone? did the server answer? is the message well formed? does the crypto check out?</a:t>
            </a:r>
          </a:p>
        </p:txBody>
      </p:sp>
      <p:sp>
        <p:nvSpPr>
          <p:cNvPr id="25" name="Oval 24"/>
          <p:cNvSpPr/>
          <p:nvPr/>
        </p:nvSpPr>
        <p:spPr>
          <a:xfrm>
            <a:off x="4466844" y="2951835"/>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54296" y="2884474"/>
            <a:ext cx="2935224" cy="27294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Someone names the owner, then the field.</a:t>
            </a:r>
          </a:p>
        </p:txBody>
      </p:sp>
      <p:sp>
        <p:nvSpPr>
          <p:cNvPr id="27" name="Rounded Rectangle 26"/>
          <p:cNvSpPr/>
          <p:nvPr/>
        </p:nvSpPr>
        <p:spPr>
          <a:xfrm>
            <a:off x="7946136" y="1133856"/>
            <a:ext cx="3730752" cy="3822191"/>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46136" y="1133856"/>
            <a:ext cx="50292" cy="38221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3880" y="1280160"/>
            <a:ext cx="3346704"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rPr>
              <a:t>What is really happening</a:t>
            </a:r>
          </a:p>
        </p:txBody>
      </p:sp>
      <p:sp>
        <p:nvSpPr>
          <p:cNvPr id="30" name="Oval 29"/>
          <p:cNvSpPr/>
          <p:nvPr/>
        </p:nvSpPr>
        <p:spPr>
          <a:xfrm>
            <a:off x="8188452" y="157612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5904" y="1508760"/>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Good things to break, in rising order of difficulty:</a:t>
            </a:r>
          </a:p>
        </p:txBody>
      </p:sp>
      <p:sp>
        <p:nvSpPr>
          <p:cNvPr id="32" name="Oval 31"/>
          <p:cNvSpPr/>
          <p:nvPr/>
        </p:nvSpPr>
        <p:spPr>
          <a:xfrm>
            <a:off x="8188452" y="198028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4" y="1912924"/>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1. Change </a:t>
            </a:r>
            <a:r>
              <a:rPr sz="1019" b="0" i="0">
                <a:solidFill>
                  <a:srgbClr val="1D4E89"/>
                </a:solidFill>
                <a:latin typeface="Consolas"/>
              </a:rPr>
              <a:t>redirect_uri</a:t>
            </a:r>
            <a:r>
              <a:rPr sz="1019" b="0" i="0">
                <a:solidFill>
                  <a:srgbClr val="0F172A"/>
                </a:solidFill>
                <a:latin typeface="Arial"/>
              </a:rPr>
              <a:t> in </a:t>
            </a:r>
            <a:r>
              <a:rPr sz="1019" b="0" i="0">
                <a:solidFill>
                  <a:srgbClr val="1D4E89"/>
                </a:solidFill>
                <a:latin typeface="Consolas"/>
              </a:rPr>
              <a:t>mimoto-issuers-config.json</a:t>
            </a:r>
            <a:r>
              <a:rPr sz="1019" b="0" i="0">
                <a:solidFill>
                  <a:srgbClr val="0F172A"/>
                </a:solidFill>
                <a:latin typeface="Arial"/>
              </a:rPr>
              <a:t> by one character.</a:t>
            </a:r>
          </a:p>
        </p:txBody>
      </p:sp>
      <p:sp>
        <p:nvSpPr>
          <p:cNvPr id="34" name="Oval 33"/>
          <p:cNvSpPr/>
          <p:nvPr/>
        </p:nvSpPr>
        <p:spPr>
          <a:xfrm>
            <a:off x="8188452" y="238445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2317089"/>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2. Set the issuer's </a:t>
            </a:r>
            <a:r>
              <a:rPr sz="1019" b="0" i="0">
                <a:solidFill>
                  <a:srgbClr val="1D4E89"/>
                </a:solidFill>
                <a:latin typeface="Consolas"/>
              </a:rPr>
              <a:t>enabled</a:t>
            </a:r>
            <a:r>
              <a:rPr sz="1019" b="0" i="0">
                <a:solidFill>
                  <a:srgbClr val="0F172A"/>
                </a:solidFill>
                <a:latin typeface="Arial"/>
              </a:rPr>
              <a:t> to </a:t>
            </a:r>
            <a:r>
              <a:rPr sz="1019" b="0" i="0">
                <a:solidFill>
                  <a:srgbClr val="1D4E89"/>
                </a:solidFill>
                <a:latin typeface="Consolas"/>
              </a:rPr>
              <a:t>false</a:t>
            </a:r>
            <a:r>
              <a:rPr sz="1019" b="0" i="0">
                <a:solidFill>
                  <a:srgbClr val="0F172A"/>
                </a:solidFill>
                <a:latin typeface="Arial"/>
              </a:rPr>
              <a:t>.</a:t>
            </a:r>
          </a:p>
        </p:txBody>
      </p:sp>
      <p:sp>
        <p:nvSpPr>
          <p:cNvPr id="36" name="Oval 35"/>
          <p:cNvSpPr/>
          <p:nvPr/>
        </p:nvSpPr>
        <p:spPr>
          <a:xfrm>
            <a:off x="8188452" y="2788615"/>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5904" y="2721254"/>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3. Remove the verifier from </a:t>
            </a:r>
            <a:r>
              <a:rPr sz="1019" b="0" i="0">
                <a:solidFill>
                  <a:srgbClr val="1D4E89"/>
                </a:solidFill>
                <a:latin typeface="Consolas"/>
              </a:rPr>
              <a:t>mimoto-trusted-verifiers.json</a:t>
            </a:r>
            <a:r>
              <a:rPr sz="1019" b="0" i="0">
                <a:solidFill>
                  <a:srgbClr val="0F172A"/>
                </a:solidFill>
                <a:latin typeface="Arial"/>
              </a:rPr>
              <a:t>.</a:t>
            </a:r>
          </a:p>
        </p:txBody>
      </p:sp>
      <p:sp>
        <p:nvSpPr>
          <p:cNvPr id="38" name="Oval 37"/>
          <p:cNvSpPr/>
          <p:nvPr/>
        </p:nvSpPr>
        <p:spPr>
          <a:xfrm>
            <a:off x="8188452" y="319278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75904" y="3125419"/>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4. Point </a:t>
            </a:r>
            <a:r>
              <a:rPr sz="1019" b="0" i="0">
                <a:solidFill>
                  <a:srgbClr val="1D4E89"/>
                </a:solidFill>
                <a:latin typeface="Consolas"/>
              </a:rPr>
              <a:t>wellknown_endpoint</a:t>
            </a:r>
            <a:r>
              <a:rPr sz="1019" b="0" i="0">
                <a:solidFill>
                  <a:srgbClr val="0F172A"/>
                </a:solidFill>
                <a:latin typeface="Arial"/>
              </a:rPr>
              <a:t> at a URL that returns HTML.</a:t>
            </a:r>
          </a:p>
        </p:txBody>
      </p:sp>
      <p:sp>
        <p:nvSpPr>
          <p:cNvPr id="40" name="Oval 39"/>
          <p:cNvSpPr/>
          <p:nvPr/>
        </p:nvSpPr>
        <p:spPr>
          <a:xfrm>
            <a:off x="8188452" y="3596944"/>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75904" y="3529584"/>
            <a:ext cx="3118104" cy="436168"/>
          </a:xfrm>
          <a:prstGeom prst="rect">
            <a:avLst/>
          </a:prstGeom>
          <a:noFill/>
        </p:spPr>
        <p:txBody>
          <a:bodyPr wrap="square" lIns="0" rIns="0" tIns="0" bIns="0" anchor="t">
            <a:spAutoFit/>
          </a:bodyPr>
          <a:lstStyle/>
          <a:p>
            <a:pPr algn="l">
              <a:lnSpc>
                <a:spcPct val="124000"/>
              </a:lnSpc>
              <a:spcBef>
                <a:spcPts val="0"/>
              </a:spcBef>
              <a:spcAft>
                <a:spcPts val="0"/>
              </a:spcAft>
            </a:pPr>
            <a:r>
              <a:rPr sz="1019" b="0" i="0">
                <a:solidFill>
                  <a:srgbClr val="0F172A"/>
                </a:solidFill>
                <a:latin typeface="Arial"/>
              </a:rPr>
              <a:t>5. Change the issuer's signing </a:t>
            </a:r>
            <a:r>
              <a:rPr sz="1019" b="0" i="0">
                <a:solidFill>
                  <a:srgbClr val="1D4E89"/>
                </a:solidFill>
                <a:latin typeface="Consolas"/>
              </a:rPr>
              <a:t>kid</a:t>
            </a:r>
            <a:r>
              <a:rPr sz="1019" b="0" i="0">
                <a:solidFill>
                  <a:srgbClr val="0F172A"/>
                </a:solidFill>
                <a:latin typeface="Arial"/>
              </a:rPr>
              <a:t> without publishing the new key.</a:t>
            </a:r>
          </a:p>
        </p:txBody>
      </p:sp>
      <p:sp>
        <p:nvSpPr>
          <p:cNvPr id="42" name="Rounded Rectangle 41"/>
          <p:cNvSpPr/>
          <p:nvPr/>
        </p:nvSpPr>
        <p:spPr>
          <a:xfrm>
            <a:off x="502920" y="5175504"/>
            <a:ext cx="11185855" cy="724154"/>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5175504"/>
            <a:ext cx="45720" cy="72415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266944"/>
            <a:ext cx="10820095" cy="577850"/>
          </a:xfrm>
          <a:prstGeom prst="rect">
            <a:avLst/>
          </a:prstGeom>
          <a:noFill/>
        </p:spPr>
        <p:txBody>
          <a:bodyPr wrap="square" lIns="0" rIns="0" tIns="0" bIns="0" anchor="t">
            <a:spAutoFit/>
          </a:bodyPr>
          <a:lstStyle/>
          <a:p>
            <a:pPr algn="l">
              <a:lnSpc>
                <a:spcPct val="114000"/>
              </a:lnSpc>
              <a:spcBef>
                <a:spcPts val="0"/>
              </a:spcBef>
              <a:spcAft>
                <a:spcPts val="0"/>
              </a:spcAft>
            </a:pPr>
            <a:r>
              <a:rPr sz="980" b="1" i="0">
                <a:solidFill>
                  <a:srgbClr val="B45309"/>
                </a:solidFill>
              </a:rPr>
              <a:t>If it breaks in front of the room</a:t>
            </a:r>
          </a:p>
          <a:p>
            <a:pPr algn="l">
              <a:lnSpc>
                <a:spcPct val="122000"/>
              </a:lnSpc>
              <a:spcBef>
                <a:spcPts val="0"/>
              </a:spcBef>
              <a:spcAft>
                <a:spcPts val="0"/>
              </a:spcAft>
            </a:pPr>
            <a:r>
              <a:rPr sz="1030" b="0" i="0">
                <a:solidFill>
                  <a:srgbClr val="1E293B"/>
                </a:solidFill>
                <a:latin typeface="Arial"/>
              </a:rPr>
              <a:t>Break number 5 last. It is the one that teaches the most, because everything looks healthy until the very final verification step — exactly like a real key-rotation incident.</a:t>
            </a:r>
          </a:p>
        </p:txBody>
      </p:sp>
      <p:sp>
        <p:nvSpPr>
          <p:cNvPr id="45" name="TextBox 4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Troubleshooting and interoperability</a:t>
            </a:r>
          </a:p>
        </p:txBody>
      </p:sp>
      <p:sp>
        <p:nvSpPr>
          <p:cNvPr id="46" name="TextBox 4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58368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1" i="0">
                <a:solidFill>
                  <a:srgbClr val="0E9488"/>
                </a:solidFill>
              </a:rPr>
              <a:t>SECTION 13</a:t>
            </a:r>
          </a:p>
        </p:txBody>
      </p:sp>
      <p:sp>
        <p:nvSpPr>
          <p:cNvPr id="5" name="TextBox 4"/>
          <p:cNvSpPr txBox="1"/>
          <p:nvPr/>
        </p:nvSpPr>
        <p:spPr>
          <a:xfrm>
            <a:off x="914400" y="2176272"/>
            <a:ext cx="6766560" cy="1188720"/>
          </a:xfrm>
          <a:prstGeom prst="rect">
            <a:avLst/>
          </a:prstGeom>
          <a:noFill/>
        </p:spPr>
        <p:txBody>
          <a:bodyPr wrap="square" lIns="0" rIns="0" tIns="0" bIns="0" anchor="t">
            <a:spAutoFit/>
          </a:bodyPr>
          <a:lstStyle/>
          <a:p>
            <a:pPr algn="l">
              <a:lnSpc>
                <a:spcPct val="103000"/>
              </a:lnSpc>
              <a:spcBef>
                <a:spcPts val="0"/>
              </a:spcBef>
              <a:spcAft>
                <a:spcPts val="0"/>
              </a:spcAft>
            </a:pPr>
            <a:r>
              <a:rPr sz="3400" b="1" i="0">
                <a:solidFill>
                  <a:srgbClr val="FFFFFF"/>
                </a:solidFill>
              </a:rPr>
              <a:t>Brazil: the open technical decisions</a:t>
            </a:r>
          </a:p>
        </p:txBody>
      </p:sp>
      <p:sp>
        <p:nvSpPr>
          <p:cNvPr id="6" name="TextBox 5"/>
          <p:cNvSpPr txBox="1"/>
          <p:nvPr/>
        </p:nvSpPr>
        <p:spPr>
          <a:xfrm>
            <a:off x="914400" y="3584448"/>
            <a:ext cx="6400800" cy="82296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9EB8CE"/>
                </a:solidFill>
              </a:rPr>
              <a:t>This section deliberately contains no answers. These are the decisions that have to be made, the order to make them in, and what each one constrains downstream.</a:t>
            </a:r>
          </a:p>
        </p:txBody>
      </p:sp>
      <p:sp>
        <p:nvSpPr>
          <p:cNvPr id="7" name="Rounded Rectangle 6"/>
          <p:cNvSpPr/>
          <p:nvPr/>
        </p:nvSpPr>
        <p:spPr>
          <a:xfrm>
            <a:off x="8595360" y="2103120"/>
            <a:ext cx="2651760" cy="914400"/>
          </a:xfrm>
          <a:prstGeom prst="roundRect">
            <a:avLst>
              <a:gd name="adj" fmla="val 10000"/>
            </a:avLst>
          </a:prstGeom>
          <a:no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267712"/>
            <a:ext cx="2468880" cy="411480"/>
          </a:xfrm>
          <a:prstGeom prst="rect">
            <a:avLst/>
          </a:prstGeom>
          <a:noFill/>
        </p:spPr>
        <p:txBody>
          <a:bodyPr wrap="square" lIns="0" rIns="0" tIns="0" bIns="0" anchor="t">
            <a:spAutoFit/>
          </a:bodyPr>
          <a:lstStyle/>
          <a:p>
            <a:pPr algn="ctr">
              <a:lnSpc>
                <a:spcPct val="114000"/>
              </a:lnSpc>
              <a:spcBef>
                <a:spcPts val="0"/>
              </a:spcBef>
              <a:spcAft>
                <a:spcPts val="0"/>
              </a:spcAft>
            </a:pPr>
            <a:r>
              <a:rPr sz="2200" b="1" i="0">
                <a:solidFill>
                  <a:srgbClr val="FFFFFF"/>
                </a:solidFill>
              </a:rPr>
              <a:t>20 min + discussion</a:t>
            </a:r>
          </a:p>
        </p:txBody>
      </p:sp>
      <p:sp>
        <p:nvSpPr>
          <p:cNvPr id="9" name="TextBox 8"/>
          <p:cNvSpPr txBox="1"/>
          <p:nvPr/>
        </p:nvSpPr>
        <p:spPr>
          <a:xfrm>
            <a:off x="8686800" y="2697480"/>
            <a:ext cx="2468880" cy="274320"/>
          </a:xfrm>
          <a:prstGeom prst="rect">
            <a:avLst/>
          </a:prstGeom>
          <a:noFill/>
        </p:spPr>
        <p:txBody>
          <a:bodyPr wrap="square" lIns="0" rIns="0" tIns="0" bIns="0" anchor="t">
            <a:spAutoFit/>
          </a:bodyPr>
          <a:lstStyle/>
          <a:p>
            <a:pPr algn="ctr">
              <a:lnSpc>
                <a:spcPct val="114000"/>
              </a:lnSpc>
              <a:spcBef>
                <a:spcPts val="0"/>
              </a:spcBef>
              <a:spcAft>
                <a:spcPts val="0"/>
              </a:spcAft>
            </a:pPr>
            <a:r>
              <a:rPr sz="900" b="0" i="0">
                <a:solidFill>
                  <a:srgbClr val="0E9488"/>
                </a:solidFill>
              </a:rPr>
              <a:t>teaching time</a:t>
            </a:r>
          </a:p>
        </p:txBody>
      </p:sp>
      <p:sp>
        <p:nvSpPr>
          <p:cNvPr id="10" name="TextBox 9"/>
          <p:cNvSpPr txBox="1"/>
          <p:nvPr/>
        </p:nvSpPr>
        <p:spPr>
          <a:xfrm>
            <a:off x="8595360" y="3246120"/>
            <a:ext cx="27432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IN THIS SECTION</a:t>
            </a:r>
          </a:p>
        </p:txBody>
      </p:sp>
      <p:sp>
        <p:nvSpPr>
          <p:cNvPr id="11" name="Oval 10"/>
          <p:cNvSpPr/>
          <p:nvPr/>
        </p:nvSpPr>
        <p:spPr>
          <a:xfrm>
            <a:off x="8613648" y="359816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96528" y="352958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Credential types and formats</a:t>
            </a:r>
          </a:p>
        </p:txBody>
      </p:sp>
      <p:sp>
        <p:nvSpPr>
          <p:cNvPr id="13" name="Oval 12"/>
          <p:cNvSpPr/>
          <p:nvPr/>
        </p:nvSpPr>
        <p:spPr>
          <a:xfrm>
            <a:off x="8613648" y="3867912"/>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96528" y="3799332"/>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Issuer and authentication systems</a:t>
            </a:r>
          </a:p>
        </p:txBody>
      </p:sp>
      <p:sp>
        <p:nvSpPr>
          <p:cNvPr id="15" name="Oval 14"/>
          <p:cNvSpPr/>
          <p:nvPr/>
        </p:nvSpPr>
        <p:spPr>
          <a:xfrm>
            <a:off x="8613648" y="413766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96528" y="4069080"/>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Claims, disclosure and binding</a:t>
            </a:r>
          </a:p>
        </p:txBody>
      </p:sp>
      <p:sp>
        <p:nvSpPr>
          <p:cNvPr id="17" name="Oval 16"/>
          <p:cNvSpPr/>
          <p:nvPr/>
        </p:nvSpPr>
        <p:spPr>
          <a:xfrm>
            <a:off x="8613648" y="4407408"/>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338828"/>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Trust framework and key publication</a:t>
            </a:r>
          </a:p>
        </p:txBody>
      </p:sp>
      <p:sp>
        <p:nvSpPr>
          <p:cNvPr id="19" name="Oval 18"/>
          <p:cNvSpPr/>
          <p:nvPr/>
        </p:nvSpPr>
        <p:spPr>
          <a:xfrm>
            <a:off x="8613648" y="4677156"/>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528" y="4608576"/>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Verifier ecosystem and offline needs</a:t>
            </a:r>
          </a:p>
        </p:txBody>
      </p:sp>
      <p:sp>
        <p:nvSpPr>
          <p:cNvPr id="21" name="Oval 20"/>
          <p:cNvSpPr/>
          <p:nvPr/>
        </p:nvSpPr>
        <p:spPr>
          <a:xfrm>
            <a:off x="8613648" y="4946904"/>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96528" y="4878324"/>
            <a:ext cx="2560320" cy="274320"/>
          </a:xfrm>
          <a:prstGeom prst="rect">
            <a:avLst/>
          </a:prstGeom>
          <a:noFill/>
        </p:spPr>
        <p:txBody>
          <a:bodyPr wrap="square" lIns="0" rIns="0" tIns="0" bIns="0" anchor="t">
            <a:spAutoFit/>
          </a:bodyPr>
          <a:lstStyle/>
          <a:p>
            <a:pPr algn="l">
              <a:lnSpc>
                <a:spcPct val="115000"/>
              </a:lnSpc>
              <a:spcBef>
                <a:spcPts val="0"/>
              </a:spcBef>
              <a:spcAft>
                <a:spcPts val="0"/>
              </a:spcAft>
            </a:pPr>
            <a:r>
              <a:rPr sz="950" b="0" i="0">
                <a:solidFill>
                  <a:srgbClr val="C6D6E4"/>
                </a:solidFill>
              </a:rPr>
              <a:t>Residency, deployment, customisation</a:t>
            </a:r>
          </a:p>
        </p:txBody>
      </p:sp>
      <p:sp>
        <p:nvSpPr>
          <p:cNvPr id="23" name="Rounded Rectangle 22"/>
          <p:cNvSpPr/>
          <p:nvPr/>
        </p:nvSpPr>
        <p:spPr>
          <a:xfrm>
            <a:off x="50292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Issuer</a:t>
            </a:r>
          </a:p>
        </p:txBody>
      </p:sp>
      <p:cxnSp>
        <p:nvCxnSpPr>
          <p:cNvPr id="24" name="Connector 23"/>
          <p:cNvCxnSpPr/>
          <p:nvPr/>
        </p:nvCxnSpPr>
        <p:spPr>
          <a:xfrm>
            <a:off x="255721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794955"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Mimoto</a:t>
            </a:r>
          </a:p>
        </p:txBody>
      </p:sp>
      <p:cxnSp>
        <p:nvCxnSpPr>
          <p:cNvPr id="26" name="Connector 25"/>
          <p:cNvCxnSpPr/>
          <p:nvPr/>
        </p:nvCxnSpPr>
        <p:spPr>
          <a:xfrm>
            <a:off x="484924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8699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Inji Wallet</a:t>
            </a:r>
          </a:p>
        </p:txBody>
      </p:sp>
      <p:cxnSp>
        <p:nvCxnSpPr>
          <p:cNvPr id="28" name="Connector 27"/>
          <p:cNvCxnSpPr/>
          <p:nvPr/>
        </p:nvCxnSpPr>
        <p:spPr>
          <a:xfrm>
            <a:off x="7141281"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79025" y="5760720"/>
            <a:ext cx="2017715" cy="329184"/>
          </a:xfrm>
          <a:prstGeom prst="roundRect">
            <a:avLst>
              <a:gd name="adj" fmla="val 22000"/>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0">
                <a:solidFill>
                  <a:srgbClr val="5C7892"/>
                </a:solidFill>
                <a:latin typeface="Arial"/>
              </a:rPr>
              <a:t>Credential Store</a:t>
            </a:r>
          </a:p>
        </p:txBody>
      </p:sp>
      <p:cxnSp>
        <p:nvCxnSpPr>
          <p:cNvPr id="30" name="Connector 29"/>
          <p:cNvCxnSpPr/>
          <p:nvPr/>
        </p:nvCxnSpPr>
        <p:spPr>
          <a:xfrm>
            <a:off x="9433316" y="5925312"/>
            <a:ext cx="201168" cy="0"/>
          </a:xfrm>
          <a:prstGeom prst="line">
            <a:avLst/>
          </a:prstGeom>
          <a:ln w="12700">
            <a:solidFill>
              <a:srgbClr val="2C486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1060" y="5760720"/>
            <a:ext cx="2017715" cy="329184"/>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0B1F33"/>
                </a:solidFill>
                <a:latin typeface="Arial"/>
              </a:rPr>
              <a:t>Verifier</a:t>
            </a:r>
          </a:p>
        </p:txBody>
      </p:sp>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Brazil: the open technical decisions</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OPEN QUESTIONS, PART 1</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Brazil discussion — credentials, issuers, claims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Work top to bottom. Each answer narrows the next question. Capture owners and dates, not just opinions.</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582314" cy="416052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3582314" cy="6400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901952"/>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1D4E89"/>
                </a:solidFill>
              </a:rPr>
              <a:t>Credentials and formats</a:t>
            </a:r>
          </a:p>
        </p:txBody>
      </p:sp>
      <p:sp>
        <p:nvSpPr>
          <p:cNvPr id="9" name="Rectangle 8"/>
          <p:cNvSpPr/>
          <p:nvPr/>
        </p:nvSpPr>
        <p:spPr>
          <a:xfrm>
            <a:off x="704088" y="2446020"/>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395728"/>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credential types will Brazil issue first? Second?</a:t>
            </a:r>
          </a:p>
        </p:txBody>
      </p:sp>
      <p:sp>
        <p:nvSpPr>
          <p:cNvPr id="11" name="Rectangle 10"/>
          <p:cNvSpPr/>
          <p:nvPr/>
        </p:nvSpPr>
        <p:spPr>
          <a:xfrm>
            <a:off x="704088" y="2912364"/>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2862072"/>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format for each — SD-JWT VC, mDoc, JSON-LD, or a mix?</a:t>
            </a:r>
          </a:p>
        </p:txBody>
      </p:sp>
      <p:sp>
        <p:nvSpPr>
          <p:cNvPr id="13" name="Rectangle 12"/>
          <p:cNvSpPr/>
          <p:nvPr/>
        </p:nvSpPr>
        <p:spPr>
          <a:xfrm>
            <a:off x="704088" y="3378708"/>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32841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Is one format per credential type acceptable, or must the wallet support several from day one?</a:t>
            </a:r>
          </a:p>
        </p:txBody>
      </p:sp>
      <p:sp>
        <p:nvSpPr>
          <p:cNvPr id="15" name="Rectangle 14"/>
          <p:cNvSpPr/>
          <p:nvPr/>
        </p:nvSpPr>
        <p:spPr>
          <a:xfrm>
            <a:off x="704088" y="3995927"/>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394563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Does any credential need to be an mDL conforming to ISO 18013-5?</a:t>
            </a:r>
          </a:p>
        </p:txBody>
      </p:sp>
      <p:sp>
        <p:nvSpPr>
          <p:cNvPr id="17" name="Rounded Rectangle 16"/>
          <p:cNvSpPr/>
          <p:nvPr/>
        </p:nvSpPr>
        <p:spPr>
          <a:xfrm>
            <a:off x="4304690" y="1682496"/>
            <a:ext cx="3582314" cy="416052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04690" y="1682496"/>
            <a:ext cx="3582314" cy="6400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5858" y="1901952"/>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0E9488"/>
                </a:solidFill>
              </a:rPr>
              <a:t>Issuers and authentication</a:t>
            </a:r>
          </a:p>
        </p:txBody>
      </p:sp>
      <p:sp>
        <p:nvSpPr>
          <p:cNvPr id="20" name="Rectangle 19"/>
          <p:cNvSpPr/>
          <p:nvPr/>
        </p:nvSpPr>
        <p:spPr>
          <a:xfrm>
            <a:off x="4505858" y="2446020"/>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43602" y="2395728"/>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issuer systems already exist, and which will be built?</a:t>
            </a:r>
          </a:p>
        </p:txBody>
      </p:sp>
      <p:sp>
        <p:nvSpPr>
          <p:cNvPr id="22" name="Rectangle 21"/>
          <p:cNvSpPr/>
          <p:nvPr/>
        </p:nvSpPr>
        <p:spPr>
          <a:xfrm>
            <a:off x="4505858" y="2912364"/>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43602" y="2862072"/>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Will Inji Certify be used, or an existing national issuing platform?</a:t>
            </a:r>
          </a:p>
        </p:txBody>
      </p:sp>
      <p:sp>
        <p:nvSpPr>
          <p:cNvPr id="24" name="Rectangle 23"/>
          <p:cNvSpPr/>
          <p:nvPr/>
        </p:nvSpPr>
        <p:spPr>
          <a:xfrm>
            <a:off x="4505858" y="3378708"/>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43602" y="332841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authenticates the citizen at issuance — gov.br, eSignet, something else?</a:t>
            </a:r>
          </a:p>
        </p:txBody>
      </p:sp>
      <p:sp>
        <p:nvSpPr>
          <p:cNvPr id="26" name="Rectangle 25"/>
          <p:cNvSpPr/>
          <p:nvPr/>
        </p:nvSpPr>
        <p:spPr>
          <a:xfrm>
            <a:off x="4505858" y="3845051"/>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43602" y="3794759"/>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grant type: authorization code, pre-authorized code, or both?</a:t>
            </a:r>
          </a:p>
        </p:txBody>
      </p:sp>
      <p:sp>
        <p:nvSpPr>
          <p:cNvPr id="28" name="Rectangle 27"/>
          <p:cNvSpPr/>
          <p:nvPr/>
        </p:nvSpPr>
        <p:spPr>
          <a:xfrm>
            <a:off x="4505858" y="4311395"/>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43602" y="4261103"/>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Where will citizens obtain credentials, and will connectivity be reliable there?</a:t>
            </a:r>
          </a:p>
        </p:txBody>
      </p:sp>
      <p:sp>
        <p:nvSpPr>
          <p:cNvPr id="30" name="Rounded Rectangle 29"/>
          <p:cNvSpPr/>
          <p:nvPr/>
        </p:nvSpPr>
        <p:spPr>
          <a:xfrm>
            <a:off x="8106460" y="1682496"/>
            <a:ext cx="3582314" cy="416052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06460" y="1682496"/>
            <a:ext cx="3582314"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7628" y="1901952"/>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6D28D9"/>
                </a:solidFill>
              </a:rPr>
              <a:t>Claims and disclosure</a:t>
            </a:r>
          </a:p>
        </p:txBody>
      </p:sp>
      <p:sp>
        <p:nvSpPr>
          <p:cNvPr id="33" name="Rectangle 32"/>
          <p:cNvSpPr/>
          <p:nvPr/>
        </p:nvSpPr>
        <p:spPr>
          <a:xfrm>
            <a:off x="8307628" y="2446020"/>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45372" y="2395728"/>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claims are mandatory in each credential?</a:t>
            </a:r>
          </a:p>
        </p:txBody>
      </p:sp>
      <p:sp>
        <p:nvSpPr>
          <p:cNvPr id="35" name="Rectangle 34"/>
          <p:cNvSpPr/>
          <p:nvPr/>
        </p:nvSpPr>
        <p:spPr>
          <a:xfrm>
            <a:off x="8307628" y="2912364"/>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5372" y="2862072"/>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claims must support selective disclosure?</a:t>
            </a:r>
          </a:p>
        </p:txBody>
      </p:sp>
      <p:sp>
        <p:nvSpPr>
          <p:cNvPr id="37" name="Rectangle 36"/>
          <p:cNvSpPr/>
          <p:nvPr/>
        </p:nvSpPr>
        <p:spPr>
          <a:xfrm>
            <a:off x="8307628" y="3378708"/>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5372" y="332841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claims must NEVER be disclosed together (a privacy requirement, not a technical one)?</a:t>
            </a:r>
          </a:p>
        </p:txBody>
      </p:sp>
      <p:sp>
        <p:nvSpPr>
          <p:cNvPr id="39" name="Rectangle 38"/>
          <p:cNvSpPr/>
          <p:nvPr/>
        </p:nvSpPr>
        <p:spPr>
          <a:xfrm>
            <a:off x="8307628" y="3995927"/>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5372" y="394563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are the credential validity periods, and what is the re-issuance trigger?</a:t>
            </a:r>
          </a:p>
        </p:txBody>
      </p:sp>
      <p:sp>
        <p:nvSpPr>
          <p:cNvPr id="41" name="TextBox 4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Brazil: the open technical decisions</a:t>
            </a:r>
          </a:p>
        </p:txBody>
      </p:sp>
      <p:sp>
        <p:nvSpPr>
          <p:cNvPr id="42" name="TextBox 4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OPEN QUESTIONS, PART 2</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Brazil discussion — trust, verifiers, deployment</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These decisions have long lead times. Starting them late is the most common cause of a delayed launch.</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582314" cy="416052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3582314" cy="6400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901952"/>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1D4E89"/>
                </a:solidFill>
              </a:rPr>
              <a:t>Trust and keys</a:t>
            </a:r>
          </a:p>
        </p:txBody>
      </p:sp>
      <p:sp>
        <p:nvSpPr>
          <p:cNvPr id="9" name="Rectangle 8"/>
          <p:cNvSpPr/>
          <p:nvPr/>
        </p:nvSpPr>
        <p:spPr>
          <a:xfrm>
            <a:off x="704088" y="2446020"/>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395728"/>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trust framework governs who may issue and who may verify?</a:t>
            </a:r>
          </a:p>
        </p:txBody>
      </p:sp>
      <p:sp>
        <p:nvSpPr>
          <p:cNvPr id="11" name="Rectangle 10"/>
          <p:cNvSpPr/>
          <p:nvPr/>
        </p:nvSpPr>
        <p:spPr>
          <a:xfrm>
            <a:off x="704088" y="2912364"/>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2862072"/>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How will issuer keys be published — X.509 chain, JWKS, DID? (Note what Inji's verifier supports today.)</a:t>
            </a:r>
          </a:p>
        </p:txBody>
      </p:sp>
      <p:sp>
        <p:nvSpPr>
          <p:cNvPr id="13" name="Rectangle 12"/>
          <p:cNvSpPr/>
          <p:nvPr/>
        </p:nvSpPr>
        <p:spPr>
          <a:xfrm>
            <a:off x="704088" y="3529584"/>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479291"/>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is the key rotation policy, and what is the overlap window?</a:t>
            </a:r>
          </a:p>
        </p:txBody>
      </p:sp>
      <p:sp>
        <p:nvSpPr>
          <p:cNvPr id="15" name="Rectangle 14"/>
          <p:cNvSpPr/>
          <p:nvPr/>
        </p:nvSpPr>
        <p:spPr>
          <a:xfrm>
            <a:off x="704088" y="3995927"/>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394563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holder-binding level is required per credential type? Hardware-backed?</a:t>
            </a:r>
          </a:p>
        </p:txBody>
      </p:sp>
      <p:sp>
        <p:nvSpPr>
          <p:cNvPr id="17" name="Rectangle 16"/>
          <p:cNvSpPr/>
          <p:nvPr/>
        </p:nvSpPr>
        <p:spPr>
          <a:xfrm>
            <a:off x="704088" y="4462271"/>
            <a:ext cx="146304" cy="146304"/>
          </a:xfrm>
          <a:prstGeom prst="rect">
            <a:avLst/>
          </a:prstGeom>
          <a:noFill/>
          <a:ln w="1651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4411979"/>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Who operates the root of trust, and what is the incident process if it is compromised?</a:t>
            </a:r>
          </a:p>
        </p:txBody>
      </p:sp>
      <p:sp>
        <p:nvSpPr>
          <p:cNvPr id="19" name="Rounded Rectangle 18"/>
          <p:cNvSpPr/>
          <p:nvPr/>
        </p:nvSpPr>
        <p:spPr>
          <a:xfrm>
            <a:off x="4304690" y="1682496"/>
            <a:ext cx="3582314" cy="416052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4690" y="1682496"/>
            <a:ext cx="3582314" cy="6400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5858" y="1901952"/>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0E9488"/>
                </a:solidFill>
              </a:rPr>
              <a:t>Verifiers and journeys</a:t>
            </a:r>
          </a:p>
        </p:txBody>
      </p:sp>
      <p:sp>
        <p:nvSpPr>
          <p:cNvPr id="22" name="Rectangle 21"/>
          <p:cNvSpPr/>
          <p:nvPr/>
        </p:nvSpPr>
        <p:spPr>
          <a:xfrm>
            <a:off x="4505858" y="2446020"/>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43602" y="2395728"/>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verifier ecosystem exists today, and who will build the first verifiers?</a:t>
            </a:r>
          </a:p>
        </p:txBody>
      </p:sp>
      <p:sp>
        <p:nvSpPr>
          <p:cNvPr id="24" name="Rectangle 23"/>
          <p:cNvSpPr/>
          <p:nvPr/>
        </p:nvSpPr>
        <p:spPr>
          <a:xfrm>
            <a:off x="4505858" y="2912364"/>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43602" y="2862072"/>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Are offline presentations required? Proximity use cases?</a:t>
            </a:r>
          </a:p>
        </p:txBody>
      </p:sp>
      <p:sp>
        <p:nvSpPr>
          <p:cNvPr id="26" name="Rectangle 25"/>
          <p:cNvSpPr/>
          <p:nvPr/>
        </p:nvSpPr>
        <p:spPr>
          <a:xfrm>
            <a:off x="4505858" y="3378708"/>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43602" y="332841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Is the browser Digital Credentials API (DC API) needed? (Not supported in the versions reviewed.)</a:t>
            </a:r>
          </a:p>
        </p:txBody>
      </p:sp>
      <p:sp>
        <p:nvSpPr>
          <p:cNvPr id="28" name="Rectangle 27"/>
          <p:cNvSpPr/>
          <p:nvPr/>
        </p:nvSpPr>
        <p:spPr>
          <a:xfrm>
            <a:off x="4505858" y="3995927"/>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43602" y="394563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web journeys are in scope: same-device, cross-device, Inji Web as holder, handoff?</a:t>
            </a:r>
          </a:p>
        </p:txBody>
      </p:sp>
      <p:sp>
        <p:nvSpPr>
          <p:cNvPr id="30" name="Rectangle 29"/>
          <p:cNvSpPr/>
          <p:nvPr/>
        </p:nvSpPr>
        <p:spPr>
          <a:xfrm>
            <a:off x="4505858" y="4613147"/>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43602" y="456285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How will verifiers be onboarded, reviewed and revoked?</a:t>
            </a:r>
          </a:p>
        </p:txBody>
      </p:sp>
      <p:sp>
        <p:nvSpPr>
          <p:cNvPr id="32" name="Rounded Rectangle 31"/>
          <p:cNvSpPr/>
          <p:nvPr/>
        </p:nvSpPr>
        <p:spPr>
          <a:xfrm>
            <a:off x="8106460" y="1682496"/>
            <a:ext cx="3582314" cy="416052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06460" y="1682496"/>
            <a:ext cx="3582314"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7628" y="1901952"/>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6D28D9"/>
                </a:solidFill>
              </a:rPr>
              <a:t>Deployment and customisation</a:t>
            </a:r>
          </a:p>
        </p:txBody>
      </p:sp>
      <p:sp>
        <p:nvSpPr>
          <p:cNvPr id="35" name="Rectangle 34"/>
          <p:cNvSpPr/>
          <p:nvPr/>
        </p:nvSpPr>
        <p:spPr>
          <a:xfrm>
            <a:off x="8307628" y="2446020"/>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5372" y="2395728"/>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data residency constraints apply — especially to Mimoto's credential store for Inji Web users?</a:t>
            </a:r>
          </a:p>
        </p:txBody>
      </p:sp>
      <p:sp>
        <p:nvSpPr>
          <p:cNvPr id="37" name="Rectangle 36"/>
          <p:cNvSpPr/>
          <p:nvPr/>
        </p:nvSpPr>
        <p:spPr>
          <a:xfrm>
            <a:off x="8307628" y="3063240"/>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5372" y="3012948"/>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infrastructure is available: Kubernetes, managed Postgres, managed Redis?</a:t>
            </a:r>
          </a:p>
        </p:txBody>
      </p:sp>
      <p:sp>
        <p:nvSpPr>
          <p:cNvPr id="39" name="Rectangle 38"/>
          <p:cNvSpPr/>
          <p:nvPr/>
        </p:nvSpPr>
        <p:spPr>
          <a:xfrm>
            <a:off x="8307628" y="3529584"/>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5372" y="3479291"/>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Which components will Brazil customise, and which stay standard?</a:t>
            </a:r>
          </a:p>
        </p:txBody>
      </p:sp>
      <p:sp>
        <p:nvSpPr>
          <p:cNvPr id="41" name="Rectangle 40"/>
          <p:cNvSpPr/>
          <p:nvPr/>
        </p:nvSpPr>
        <p:spPr>
          <a:xfrm>
            <a:off x="8307628" y="3995927"/>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45372" y="394563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What localisation and branding are required, and who owns each of the three surfaces?</a:t>
            </a:r>
          </a:p>
        </p:txBody>
      </p:sp>
      <p:sp>
        <p:nvSpPr>
          <p:cNvPr id="43" name="Rectangle 42"/>
          <p:cNvSpPr/>
          <p:nvPr/>
        </p:nvSpPr>
        <p:spPr>
          <a:xfrm>
            <a:off x="8307628" y="4613147"/>
            <a:ext cx="146304" cy="146304"/>
          </a:xfrm>
          <a:prstGeom prst="rect">
            <a:avLst/>
          </a:prstGeom>
          <a:no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45372" y="4562855"/>
            <a:ext cx="2942234" cy="914400"/>
          </a:xfrm>
          <a:prstGeom prst="rect">
            <a:avLst/>
          </a:prstGeom>
          <a:noFill/>
        </p:spPr>
        <p:txBody>
          <a:bodyPr wrap="square" lIns="0" rIns="0" tIns="0" bIns="0" anchor="t">
            <a:spAutoFit/>
          </a:bodyPr>
          <a:lstStyle/>
          <a:p>
            <a:pPr algn="l">
              <a:lnSpc>
                <a:spcPct val="126000"/>
              </a:lnSpc>
              <a:spcBef>
                <a:spcPts val="0"/>
              </a:spcBef>
              <a:spcAft>
                <a:spcPts val="0"/>
              </a:spcAft>
            </a:pPr>
            <a:r>
              <a:rPr sz="990" b="0" i="0">
                <a:solidFill>
                  <a:srgbClr val="1E293B"/>
                </a:solidFill>
              </a:rPr>
              <a:t>How will changes be contributed upstream rather than forked?</a:t>
            </a:r>
          </a:p>
        </p:txBody>
      </p:sp>
      <p:sp>
        <p:nvSpPr>
          <p:cNvPr id="45" name="TextBox 4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Brazil: the open technical decisions</a:t>
            </a:r>
          </a:p>
        </p:txBody>
      </p:sp>
      <p:sp>
        <p:nvSpPr>
          <p:cNvPr id="46" name="TextBox 4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SEQUENCING</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The order to decide things in</a:t>
            </a:r>
          </a:p>
        </p:txBody>
      </p:sp>
      <p:sp>
        <p:nvSpPr>
          <p:cNvPr id="4" name="TextBox 3"/>
          <p:cNvSpPr txBox="1"/>
          <p:nvPr/>
        </p:nvSpPr>
        <p:spPr>
          <a:xfrm>
            <a:off x="502920" y="1078992"/>
            <a:ext cx="11185855" cy="309233"/>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Each decision constrains the ones to its right. Making them out of order causes rework.</a:t>
            </a:r>
          </a:p>
        </p:txBody>
      </p:sp>
      <p:cxnSp>
        <p:nvCxnSpPr>
          <p:cNvPr id="5" name="Connector 4"/>
          <p:cNvCxnSpPr/>
          <p:nvPr/>
        </p:nvCxnSpPr>
        <p:spPr>
          <a:xfrm>
            <a:off x="502920" y="1479665"/>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952610"/>
            <a:ext cx="1472575" cy="213734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952610"/>
            <a:ext cx="1472575" cy="68213"/>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2152703"/>
            <a:ext cx="1216543" cy="682132"/>
          </a:xfrm>
          <a:prstGeom prst="rect">
            <a:avLst/>
          </a:prstGeom>
          <a:noFill/>
        </p:spPr>
        <p:txBody>
          <a:bodyPr wrap="square" lIns="0" rIns="0" tIns="0" bIns="0" anchor="t">
            <a:spAutoFit/>
          </a:bodyPr>
          <a:lstStyle/>
          <a:p>
            <a:pPr algn="l">
              <a:lnSpc>
                <a:spcPct val="112000"/>
              </a:lnSpc>
              <a:spcBef>
                <a:spcPts val="0"/>
              </a:spcBef>
              <a:spcAft>
                <a:spcPts val="0"/>
              </a:spcAft>
            </a:pPr>
            <a:r>
              <a:rPr sz="1080" b="1" i="0">
                <a:solidFill>
                  <a:srgbClr val="1D4E89"/>
                </a:solidFill>
              </a:rPr>
              <a:t>1  Use cases and claims</a:t>
            </a:r>
          </a:p>
        </p:txBody>
      </p:sp>
      <p:sp>
        <p:nvSpPr>
          <p:cNvPr id="9" name="TextBox 8"/>
          <p:cNvSpPr txBox="1"/>
          <p:nvPr/>
        </p:nvSpPr>
        <p:spPr>
          <a:xfrm>
            <a:off x="630936" y="2880311"/>
            <a:ext cx="1216543" cy="1091412"/>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5B6B7F"/>
                </a:solidFill>
              </a:rPr>
              <a:t>Which credentials, which claims, which must be withholdable</a:t>
            </a:r>
          </a:p>
        </p:txBody>
      </p:sp>
      <p:cxnSp>
        <p:nvCxnSpPr>
          <p:cNvPr id="10" name="Connector 9"/>
          <p:cNvCxnSpPr/>
          <p:nvPr/>
        </p:nvCxnSpPr>
        <p:spPr>
          <a:xfrm>
            <a:off x="1993783" y="2998547"/>
            <a:ext cx="109728" cy="0"/>
          </a:xfrm>
          <a:prstGeom prst="line">
            <a:avLst/>
          </a:prstGeom>
          <a:ln w="1778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121799" y="1952610"/>
            <a:ext cx="1472575" cy="213734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21799" y="1952610"/>
            <a:ext cx="1472575" cy="68213"/>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49815" y="2152703"/>
            <a:ext cx="1216543" cy="682132"/>
          </a:xfrm>
          <a:prstGeom prst="rect">
            <a:avLst/>
          </a:prstGeom>
          <a:noFill/>
        </p:spPr>
        <p:txBody>
          <a:bodyPr wrap="square" lIns="0" rIns="0" tIns="0" bIns="0" anchor="t">
            <a:spAutoFit/>
          </a:bodyPr>
          <a:lstStyle/>
          <a:p>
            <a:pPr algn="l">
              <a:lnSpc>
                <a:spcPct val="112000"/>
              </a:lnSpc>
              <a:spcBef>
                <a:spcPts val="0"/>
              </a:spcBef>
              <a:spcAft>
                <a:spcPts val="0"/>
              </a:spcAft>
            </a:pPr>
            <a:r>
              <a:rPr sz="1080" b="1" i="0">
                <a:solidFill>
                  <a:srgbClr val="0E9488"/>
                </a:solidFill>
              </a:rPr>
              <a:t>2  Format per credential</a:t>
            </a:r>
          </a:p>
        </p:txBody>
      </p:sp>
      <p:sp>
        <p:nvSpPr>
          <p:cNvPr id="14" name="TextBox 13"/>
          <p:cNvSpPr txBox="1"/>
          <p:nvPr/>
        </p:nvSpPr>
        <p:spPr>
          <a:xfrm>
            <a:off x="2249815" y="2880311"/>
            <a:ext cx="1216543" cy="1091412"/>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5B6B7F"/>
                </a:solidFill>
              </a:rPr>
              <a:t>Follows directly from disclosure and offline needs</a:t>
            </a:r>
          </a:p>
        </p:txBody>
      </p:sp>
      <p:cxnSp>
        <p:nvCxnSpPr>
          <p:cNvPr id="15" name="Connector 14"/>
          <p:cNvCxnSpPr/>
          <p:nvPr/>
        </p:nvCxnSpPr>
        <p:spPr>
          <a:xfrm>
            <a:off x="3612663" y="2998547"/>
            <a:ext cx="109728" cy="0"/>
          </a:xfrm>
          <a:prstGeom prst="line">
            <a:avLst/>
          </a:prstGeom>
          <a:ln w="1778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740679" y="1952610"/>
            <a:ext cx="1472575" cy="213734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40679" y="1952610"/>
            <a:ext cx="1472575" cy="68213"/>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68695" y="2152703"/>
            <a:ext cx="1216543" cy="682132"/>
          </a:xfrm>
          <a:prstGeom prst="rect">
            <a:avLst/>
          </a:prstGeom>
          <a:noFill/>
        </p:spPr>
        <p:txBody>
          <a:bodyPr wrap="square" lIns="0" rIns="0" tIns="0" bIns="0" anchor="t">
            <a:spAutoFit/>
          </a:bodyPr>
          <a:lstStyle/>
          <a:p>
            <a:pPr algn="l">
              <a:lnSpc>
                <a:spcPct val="112000"/>
              </a:lnSpc>
              <a:spcBef>
                <a:spcPts val="0"/>
              </a:spcBef>
              <a:spcAft>
                <a:spcPts val="0"/>
              </a:spcAft>
            </a:pPr>
            <a:r>
              <a:rPr sz="1080" b="1" i="0">
                <a:solidFill>
                  <a:srgbClr val="6D28D9"/>
                </a:solidFill>
              </a:rPr>
              <a:t>3  Binding and assurance</a:t>
            </a:r>
          </a:p>
        </p:txBody>
      </p:sp>
      <p:sp>
        <p:nvSpPr>
          <p:cNvPr id="19" name="TextBox 18"/>
          <p:cNvSpPr txBox="1"/>
          <p:nvPr/>
        </p:nvSpPr>
        <p:spPr>
          <a:xfrm>
            <a:off x="3868695" y="2880311"/>
            <a:ext cx="1216543" cy="1091412"/>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5B6B7F"/>
                </a:solidFill>
              </a:rPr>
              <a:t>Bound or unbound; hardware-backed or not; which key types</a:t>
            </a:r>
          </a:p>
        </p:txBody>
      </p:sp>
      <p:cxnSp>
        <p:nvCxnSpPr>
          <p:cNvPr id="20" name="Connector 19"/>
          <p:cNvCxnSpPr/>
          <p:nvPr/>
        </p:nvCxnSpPr>
        <p:spPr>
          <a:xfrm>
            <a:off x="5231543" y="2998547"/>
            <a:ext cx="109728" cy="0"/>
          </a:xfrm>
          <a:prstGeom prst="line">
            <a:avLst/>
          </a:prstGeom>
          <a:ln w="1778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359559" y="1952610"/>
            <a:ext cx="1472575" cy="213734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59559" y="1952610"/>
            <a:ext cx="1472575" cy="6821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7575" y="2152703"/>
            <a:ext cx="1216543" cy="682132"/>
          </a:xfrm>
          <a:prstGeom prst="rect">
            <a:avLst/>
          </a:prstGeom>
          <a:noFill/>
        </p:spPr>
        <p:txBody>
          <a:bodyPr wrap="square" lIns="0" rIns="0" tIns="0" bIns="0" anchor="t">
            <a:spAutoFit/>
          </a:bodyPr>
          <a:lstStyle/>
          <a:p>
            <a:pPr algn="l">
              <a:lnSpc>
                <a:spcPct val="112000"/>
              </a:lnSpc>
              <a:spcBef>
                <a:spcPts val="0"/>
              </a:spcBef>
              <a:spcAft>
                <a:spcPts val="0"/>
              </a:spcAft>
            </a:pPr>
            <a:r>
              <a:rPr sz="1080" b="1" i="0">
                <a:solidFill>
                  <a:srgbClr val="B45309"/>
                </a:solidFill>
              </a:rPr>
              <a:t>4  Trust framework and key publication</a:t>
            </a:r>
          </a:p>
        </p:txBody>
      </p:sp>
      <p:sp>
        <p:nvSpPr>
          <p:cNvPr id="24" name="TextBox 23"/>
          <p:cNvSpPr txBox="1"/>
          <p:nvPr/>
        </p:nvSpPr>
        <p:spPr>
          <a:xfrm>
            <a:off x="5487575" y="2880311"/>
            <a:ext cx="1216543" cy="1091412"/>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5B6B7F"/>
                </a:solidFill>
              </a:rPr>
              <a:t>Who may issue, who may verify, how keys are published and rotated</a:t>
            </a:r>
          </a:p>
        </p:txBody>
      </p:sp>
      <p:cxnSp>
        <p:nvCxnSpPr>
          <p:cNvPr id="25" name="Connector 24"/>
          <p:cNvCxnSpPr/>
          <p:nvPr/>
        </p:nvCxnSpPr>
        <p:spPr>
          <a:xfrm>
            <a:off x="6850423" y="2998547"/>
            <a:ext cx="109728" cy="0"/>
          </a:xfrm>
          <a:prstGeom prst="line">
            <a:avLst/>
          </a:prstGeom>
          <a:ln w="1778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978439" y="1952610"/>
            <a:ext cx="1472575" cy="213734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78439" y="1952610"/>
            <a:ext cx="1472575" cy="68213"/>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06455" y="2152703"/>
            <a:ext cx="1216543" cy="682132"/>
          </a:xfrm>
          <a:prstGeom prst="rect">
            <a:avLst/>
          </a:prstGeom>
          <a:noFill/>
        </p:spPr>
        <p:txBody>
          <a:bodyPr wrap="square" lIns="0" rIns="0" tIns="0" bIns="0" anchor="t">
            <a:spAutoFit/>
          </a:bodyPr>
          <a:lstStyle/>
          <a:p>
            <a:pPr algn="l">
              <a:lnSpc>
                <a:spcPct val="112000"/>
              </a:lnSpc>
              <a:spcBef>
                <a:spcPts val="0"/>
              </a:spcBef>
              <a:spcAft>
                <a:spcPts val="0"/>
              </a:spcAft>
            </a:pPr>
            <a:r>
              <a:rPr sz="1080" b="1" i="0">
                <a:solidFill>
                  <a:srgbClr val="15703D"/>
                </a:solidFill>
              </a:rPr>
              <a:t>5  Issuer platform and auth</a:t>
            </a:r>
          </a:p>
        </p:txBody>
      </p:sp>
      <p:sp>
        <p:nvSpPr>
          <p:cNvPr id="29" name="TextBox 28"/>
          <p:cNvSpPr txBox="1"/>
          <p:nvPr/>
        </p:nvSpPr>
        <p:spPr>
          <a:xfrm>
            <a:off x="7106455" y="2880311"/>
            <a:ext cx="1216543" cy="1091412"/>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5B6B7F"/>
                </a:solidFill>
              </a:rPr>
              <a:t>Certify or bespoke; which authorization server; which grant</a:t>
            </a:r>
          </a:p>
        </p:txBody>
      </p:sp>
      <p:cxnSp>
        <p:nvCxnSpPr>
          <p:cNvPr id="30" name="Connector 29"/>
          <p:cNvCxnSpPr/>
          <p:nvPr/>
        </p:nvCxnSpPr>
        <p:spPr>
          <a:xfrm>
            <a:off x="8469303" y="2998547"/>
            <a:ext cx="109728" cy="0"/>
          </a:xfrm>
          <a:prstGeom prst="line">
            <a:avLst/>
          </a:prstGeom>
          <a:ln w="1778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597319" y="1952610"/>
            <a:ext cx="1472575" cy="213734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597319" y="1952610"/>
            <a:ext cx="1472575" cy="68213"/>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25335" y="2152703"/>
            <a:ext cx="1216543" cy="682132"/>
          </a:xfrm>
          <a:prstGeom prst="rect">
            <a:avLst/>
          </a:prstGeom>
          <a:noFill/>
        </p:spPr>
        <p:txBody>
          <a:bodyPr wrap="square" lIns="0" rIns="0" tIns="0" bIns="0" anchor="t">
            <a:spAutoFit/>
          </a:bodyPr>
          <a:lstStyle/>
          <a:p>
            <a:pPr algn="l">
              <a:lnSpc>
                <a:spcPct val="112000"/>
              </a:lnSpc>
              <a:spcBef>
                <a:spcPts val="0"/>
              </a:spcBef>
              <a:spcAft>
                <a:spcPts val="0"/>
              </a:spcAft>
            </a:pPr>
            <a:r>
              <a:rPr sz="1080" b="1" i="0">
                <a:solidFill>
                  <a:srgbClr val="B31B1B"/>
                </a:solidFill>
              </a:rPr>
              <a:t>6  Journeys and verifiers</a:t>
            </a:r>
          </a:p>
        </p:txBody>
      </p:sp>
      <p:sp>
        <p:nvSpPr>
          <p:cNvPr id="34" name="TextBox 33"/>
          <p:cNvSpPr txBox="1"/>
          <p:nvPr/>
        </p:nvSpPr>
        <p:spPr>
          <a:xfrm>
            <a:off x="8725335" y="2880311"/>
            <a:ext cx="1216543" cy="1091412"/>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5B6B7F"/>
                </a:solidFill>
              </a:rPr>
              <a:t>Same-device, cross-device, web, offline; who builds verifiers</a:t>
            </a:r>
          </a:p>
        </p:txBody>
      </p:sp>
      <p:cxnSp>
        <p:nvCxnSpPr>
          <p:cNvPr id="35" name="Connector 34"/>
          <p:cNvCxnSpPr/>
          <p:nvPr/>
        </p:nvCxnSpPr>
        <p:spPr>
          <a:xfrm>
            <a:off x="10088183" y="2998547"/>
            <a:ext cx="109728" cy="0"/>
          </a:xfrm>
          <a:prstGeom prst="line">
            <a:avLst/>
          </a:prstGeom>
          <a:ln w="1778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216199" y="1952610"/>
            <a:ext cx="1472575" cy="213734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16199" y="1952610"/>
            <a:ext cx="1472575" cy="68213"/>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44215" y="2152703"/>
            <a:ext cx="1216543" cy="682132"/>
          </a:xfrm>
          <a:prstGeom prst="rect">
            <a:avLst/>
          </a:prstGeom>
          <a:noFill/>
        </p:spPr>
        <p:txBody>
          <a:bodyPr wrap="square" lIns="0" rIns="0" tIns="0" bIns="0" anchor="t">
            <a:spAutoFit/>
          </a:bodyPr>
          <a:lstStyle/>
          <a:p>
            <a:pPr algn="l">
              <a:lnSpc>
                <a:spcPct val="112000"/>
              </a:lnSpc>
              <a:spcBef>
                <a:spcPts val="0"/>
              </a:spcBef>
              <a:spcAft>
                <a:spcPts val="0"/>
              </a:spcAft>
            </a:pPr>
            <a:r>
              <a:rPr sz="1080" b="1" i="0">
                <a:solidFill>
                  <a:srgbClr val="12304F"/>
                </a:solidFill>
              </a:rPr>
              <a:t>7  Deployment and residency</a:t>
            </a:r>
          </a:p>
        </p:txBody>
      </p:sp>
      <p:sp>
        <p:nvSpPr>
          <p:cNvPr id="39" name="TextBox 38"/>
          <p:cNvSpPr txBox="1"/>
          <p:nvPr/>
        </p:nvSpPr>
        <p:spPr>
          <a:xfrm>
            <a:off x="10344215" y="2880311"/>
            <a:ext cx="1216543" cy="1091412"/>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5B6B7F"/>
                </a:solidFill>
              </a:rPr>
              <a:t>Where Mimoto runs, what it stores, which environments</a:t>
            </a:r>
          </a:p>
        </p:txBody>
      </p:sp>
      <p:sp>
        <p:nvSpPr>
          <p:cNvPr id="40" name="Rounded Rectangle 39"/>
          <p:cNvSpPr/>
          <p:nvPr/>
        </p:nvSpPr>
        <p:spPr>
          <a:xfrm>
            <a:off x="502920" y="4408288"/>
            <a:ext cx="5440680" cy="1864495"/>
          </a:xfrm>
          <a:prstGeom prst="roundRect">
            <a:avLst>
              <a:gd name="adj" fmla="val 45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4408288"/>
            <a:ext cx="50292" cy="1864495"/>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 y="4553810"/>
            <a:ext cx="5056632" cy="27285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5703D"/>
                </a:solidFill>
              </a:rPr>
              <a:t>What can start in parallel today</a:t>
            </a:r>
          </a:p>
        </p:txBody>
      </p:sp>
      <p:sp>
        <p:nvSpPr>
          <p:cNvPr id="43" name="Oval 42"/>
          <p:cNvSpPr/>
          <p:nvPr/>
        </p:nvSpPr>
        <p:spPr>
          <a:xfrm>
            <a:off x="745236" y="4846874"/>
            <a:ext cx="77724" cy="773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 y="4781188"/>
            <a:ext cx="4828031" cy="427469"/>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Standing up a development environment (docker-compose brings the stack up in minutes).</a:t>
            </a:r>
          </a:p>
        </p:txBody>
      </p:sp>
      <p:sp>
        <p:nvSpPr>
          <p:cNvPr id="45" name="Oval 44"/>
          <p:cNvSpPr/>
          <p:nvPr/>
        </p:nvSpPr>
        <p:spPr>
          <a:xfrm>
            <a:off x="745236" y="5242511"/>
            <a:ext cx="77724" cy="773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 y="5176825"/>
            <a:ext cx="4828031" cy="268305"/>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Reviewing and refining the existing </a:t>
            </a:r>
            <a:r>
              <a:rPr sz="1000" b="0" i="0">
                <a:solidFill>
                  <a:srgbClr val="1D4E89"/>
                </a:solidFill>
                <a:latin typeface="Consolas"/>
              </a:rPr>
              <a:t>pt.json</a:t>
            </a:r>
            <a:r>
              <a:rPr sz="1000" b="0" i="0">
                <a:solidFill>
                  <a:srgbClr val="0F172A"/>
                </a:solidFill>
                <a:latin typeface="Arial"/>
              </a:rPr>
              <a:t> translation.</a:t>
            </a:r>
          </a:p>
        </p:txBody>
      </p:sp>
      <p:sp>
        <p:nvSpPr>
          <p:cNvPr id="47" name="Oval 46"/>
          <p:cNvSpPr/>
          <p:nvPr/>
        </p:nvSpPr>
        <p:spPr>
          <a:xfrm>
            <a:off x="745236" y="5478984"/>
            <a:ext cx="77724" cy="773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688" y="5413297"/>
            <a:ext cx="4828031" cy="268305"/>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Building a throwaway issuer and verifier to learn against.</a:t>
            </a:r>
          </a:p>
        </p:txBody>
      </p:sp>
      <p:sp>
        <p:nvSpPr>
          <p:cNvPr id="49" name="Oval 48"/>
          <p:cNvSpPr/>
          <p:nvPr/>
        </p:nvSpPr>
        <p:spPr>
          <a:xfrm>
            <a:off x="745236" y="5715457"/>
            <a:ext cx="77724" cy="773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2688" y="5649770"/>
            <a:ext cx="4828031" cy="268305"/>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Identifying who owns the national key infrastructure conversation.</a:t>
            </a:r>
          </a:p>
        </p:txBody>
      </p:sp>
      <p:sp>
        <p:nvSpPr>
          <p:cNvPr id="51" name="Rounded Rectangle 50"/>
          <p:cNvSpPr/>
          <p:nvPr/>
        </p:nvSpPr>
        <p:spPr>
          <a:xfrm>
            <a:off x="6245352" y="4408288"/>
            <a:ext cx="5440680" cy="1864495"/>
          </a:xfrm>
          <a:prstGeom prst="roundRect">
            <a:avLst>
              <a:gd name="adj" fmla="val 45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45352" y="4408288"/>
            <a:ext cx="50292" cy="1864495"/>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83096" y="4553810"/>
            <a:ext cx="5056632" cy="27285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B31B1B"/>
                </a:solidFill>
              </a:rPr>
              <a:t>What must not start before its turn</a:t>
            </a:r>
          </a:p>
        </p:txBody>
      </p:sp>
      <p:sp>
        <p:nvSpPr>
          <p:cNvPr id="54" name="Oval 53"/>
          <p:cNvSpPr/>
          <p:nvPr/>
        </p:nvSpPr>
        <p:spPr>
          <a:xfrm>
            <a:off x="6487668" y="4846874"/>
            <a:ext cx="77724" cy="773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75120" y="4781188"/>
            <a:ext cx="4828031" cy="268305"/>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Branding and UI customisation before the journeys are decided.</a:t>
            </a:r>
          </a:p>
        </p:txBody>
      </p:sp>
      <p:sp>
        <p:nvSpPr>
          <p:cNvPr id="56" name="Oval 55"/>
          <p:cNvSpPr/>
          <p:nvPr/>
        </p:nvSpPr>
        <p:spPr>
          <a:xfrm>
            <a:off x="6487668" y="5083347"/>
            <a:ext cx="77724" cy="773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0" y="5017660"/>
            <a:ext cx="4828031" cy="268305"/>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Verifier onboarding before the trust framework exists.</a:t>
            </a:r>
          </a:p>
        </p:txBody>
      </p:sp>
      <p:sp>
        <p:nvSpPr>
          <p:cNvPr id="58" name="Oval 57"/>
          <p:cNvSpPr/>
          <p:nvPr/>
        </p:nvSpPr>
        <p:spPr>
          <a:xfrm>
            <a:off x="6487668" y="5319819"/>
            <a:ext cx="77724" cy="773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0" y="5254133"/>
            <a:ext cx="4828031" cy="268305"/>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Production PKI before the format and binding decisions are made.</a:t>
            </a:r>
          </a:p>
        </p:txBody>
      </p:sp>
      <p:sp>
        <p:nvSpPr>
          <p:cNvPr id="60" name="Oval 59"/>
          <p:cNvSpPr/>
          <p:nvPr/>
        </p:nvSpPr>
        <p:spPr>
          <a:xfrm>
            <a:off x="6487668" y="5556291"/>
            <a:ext cx="77724" cy="773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75120" y="5490605"/>
            <a:ext cx="4828031" cy="427469"/>
          </a:xfrm>
          <a:prstGeom prst="rect">
            <a:avLst/>
          </a:prstGeom>
          <a:noFill/>
        </p:spPr>
        <p:txBody>
          <a:bodyPr wrap="square" lIns="0" rIns="0" tIns="0" bIns="0" anchor="t">
            <a:spAutoFit/>
          </a:bodyPr>
          <a:lstStyle/>
          <a:p>
            <a:pPr algn="l">
              <a:lnSpc>
                <a:spcPct val="124000"/>
              </a:lnSpc>
              <a:spcBef>
                <a:spcPts val="0"/>
              </a:spcBef>
              <a:spcAft>
                <a:spcPts val="0"/>
              </a:spcAft>
            </a:pPr>
            <a:r>
              <a:rPr sz="1000" b="0" i="0">
                <a:solidFill>
                  <a:srgbClr val="0F172A"/>
                </a:solidFill>
                <a:latin typeface="Arial"/>
              </a:rPr>
              <a:t>Any fork of an Inji repository, ever, before trying configuration first.</a:t>
            </a:r>
          </a:p>
        </p:txBody>
      </p:sp>
      <p:sp>
        <p:nvSpPr>
          <p:cNvPr id="62" name="TextBox 6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Brazil: the open technical decisions</a:t>
            </a:r>
          </a:p>
        </p:txBody>
      </p:sp>
      <p:sp>
        <p:nvSpPr>
          <p:cNvPr id="63" name="TextBox 6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DO THESE, IN PAIRS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Hands-on exercises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Nine short exercises. Pick the ones that match your role; do exercise 2 and 9 whatever your role.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0292" cy="1353312"/>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828800"/>
            <a:ext cx="310896" cy="310896"/>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a:t>
            </a:r>
          </a:p>
        </p:txBody>
      </p:sp>
      <p:sp>
        <p:nvSpPr>
          <p:cNvPr id="9" name="TextBox 8"/>
          <p:cNvSpPr txBox="1"/>
          <p:nvPr/>
        </p:nvSpPr>
        <p:spPr>
          <a:xfrm>
            <a:off x="1069848" y="1847088"/>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Identify the components in an issuance flow</a:t>
            </a:r>
          </a:p>
        </p:txBody>
      </p:sp>
      <p:sp>
        <p:nvSpPr>
          <p:cNvPr id="10" name="TextBox 9"/>
          <p:cNvSpPr txBox="1"/>
          <p:nvPr/>
        </p:nvSpPr>
        <p:spPr>
          <a:xfrm>
            <a:off x="3396386" y="1865376"/>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1D4E89"/>
                </a:solidFill>
              </a:rPr>
              <a:t>10 min</a:t>
            </a:r>
          </a:p>
        </p:txBody>
      </p:sp>
      <p:sp>
        <p:nvSpPr>
          <p:cNvPr id="11" name="TextBox 10"/>
          <p:cNvSpPr txBox="1"/>
          <p:nvPr/>
        </p:nvSpPr>
        <p:spPr>
          <a:xfrm>
            <a:off x="704088" y="2212848"/>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Given a network trace from Demo 1, label every request with the component that served it and the protocol step it belongs to.</a:t>
            </a:r>
          </a:p>
        </p:txBody>
      </p:sp>
      <p:sp>
        <p:nvSpPr>
          <p:cNvPr id="12" name="Rounded Rectangle 11"/>
          <p:cNvSpPr/>
          <p:nvPr/>
        </p:nvSpPr>
        <p:spPr>
          <a:xfrm>
            <a:off x="4292498" y="1682496"/>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2498" y="1682496"/>
            <a:ext cx="50292" cy="1353312"/>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75378" y="1828800"/>
            <a:ext cx="310896" cy="310896"/>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a:t>
            </a:r>
          </a:p>
        </p:txBody>
      </p:sp>
      <p:sp>
        <p:nvSpPr>
          <p:cNvPr id="15" name="TextBox 14"/>
          <p:cNvSpPr txBox="1"/>
          <p:nvPr/>
        </p:nvSpPr>
        <p:spPr>
          <a:xfrm>
            <a:off x="4859426" y="1847088"/>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Whose failure is this?</a:t>
            </a:r>
          </a:p>
        </p:txBody>
      </p:sp>
      <p:sp>
        <p:nvSpPr>
          <p:cNvPr id="16" name="TextBox 15"/>
          <p:cNvSpPr txBox="1"/>
          <p:nvPr/>
        </p:nvSpPr>
        <p:spPr>
          <a:xfrm>
            <a:off x="7185964" y="1865376"/>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B31B1B"/>
                </a:solidFill>
              </a:rPr>
              <a:t>10 min</a:t>
            </a:r>
          </a:p>
        </p:txBody>
      </p:sp>
      <p:sp>
        <p:nvSpPr>
          <p:cNvPr id="17" name="TextBox 16"/>
          <p:cNvSpPr txBox="1"/>
          <p:nvPr/>
        </p:nvSpPr>
        <p:spPr>
          <a:xfrm>
            <a:off x="4493666" y="2212848"/>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Ten error messages on cards. Sort them into Issuer, Mimoto, Wallet, Web, Verifier. Use the triage tree. </a:t>
            </a:r>
            <a:r>
              <a:rPr sz="930" b="1" i="0">
                <a:solidFill>
                  <a:srgbClr val="B31B1B"/>
                </a:solidFill>
                <a:latin typeface="Arial"/>
              </a:rPr>
              <a:t>Everyone does this one.</a:t>
            </a:r>
          </a:p>
        </p:txBody>
      </p:sp>
      <p:sp>
        <p:nvSpPr>
          <p:cNvPr id="18" name="Rounded Rectangle 17"/>
          <p:cNvSpPr/>
          <p:nvPr/>
        </p:nvSpPr>
        <p:spPr>
          <a:xfrm>
            <a:off x="8082076" y="1682496"/>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2076" y="1682496"/>
            <a:ext cx="50292" cy="135331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4956" y="1828800"/>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a:t>
            </a:r>
          </a:p>
        </p:txBody>
      </p:sp>
      <p:sp>
        <p:nvSpPr>
          <p:cNvPr id="21" name="TextBox 20"/>
          <p:cNvSpPr txBox="1"/>
          <p:nvPr/>
        </p:nvSpPr>
        <p:spPr>
          <a:xfrm>
            <a:off x="8649004" y="1847088"/>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Inspect a DPoP-style proof</a:t>
            </a:r>
          </a:p>
        </p:txBody>
      </p:sp>
      <p:sp>
        <p:nvSpPr>
          <p:cNvPr id="22" name="TextBox 21"/>
          <p:cNvSpPr txBox="1"/>
          <p:nvPr/>
        </p:nvSpPr>
        <p:spPr>
          <a:xfrm>
            <a:off x="10975543" y="1865376"/>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6D28D9"/>
                </a:solidFill>
              </a:rPr>
              <a:t>8 min</a:t>
            </a:r>
          </a:p>
        </p:txBody>
      </p:sp>
      <p:sp>
        <p:nvSpPr>
          <p:cNvPr id="23" name="TextBox 22"/>
          <p:cNvSpPr txBox="1"/>
          <p:nvPr/>
        </p:nvSpPr>
        <p:spPr>
          <a:xfrm>
            <a:off x="8283244" y="2212848"/>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Decode a credential-request proof JWT. Identify </a:t>
            </a:r>
            <a:r>
              <a:rPr sz="930" b="0" i="0">
                <a:solidFill>
                  <a:srgbClr val="1D4E89"/>
                </a:solidFill>
                <a:latin typeface="Consolas"/>
              </a:rPr>
              <a:t>typ</a:t>
            </a:r>
            <a:r>
              <a:rPr sz="930" b="0" i="0">
                <a:solidFill>
                  <a:srgbClr val="1E293B"/>
                </a:solidFill>
                <a:latin typeface="Arial"/>
              </a:rPr>
              <a:t>, </a:t>
            </a:r>
            <a:r>
              <a:rPr sz="930" b="0" i="0">
                <a:solidFill>
                  <a:srgbClr val="1D4E89"/>
                </a:solidFill>
                <a:latin typeface="Consolas"/>
              </a:rPr>
              <a:t>alg</a:t>
            </a:r>
            <a:r>
              <a:rPr sz="930" b="0" i="0">
                <a:solidFill>
                  <a:srgbClr val="1E293B"/>
                </a:solidFill>
                <a:latin typeface="Arial"/>
              </a:rPr>
              <a:t>, </a:t>
            </a:r>
            <a:r>
              <a:rPr sz="930" b="0" i="0">
                <a:solidFill>
                  <a:srgbClr val="1D4E89"/>
                </a:solidFill>
                <a:latin typeface="Consolas"/>
              </a:rPr>
              <a:t>jwk</a:t>
            </a:r>
            <a:r>
              <a:rPr sz="930" b="0" i="0">
                <a:solidFill>
                  <a:srgbClr val="1E293B"/>
                </a:solidFill>
                <a:latin typeface="Arial"/>
              </a:rPr>
              <a:t>, </a:t>
            </a:r>
            <a:r>
              <a:rPr sz="930" b="0" i="0">
                <a:solidFill>
                  <a:srgbClr val="1D4E89"/>
                </a:solidFill>
                <a:latin typeface="Consolas"/>
              </a:rPr>
              <a:t>aud</a:t>
            </a:r>
            <a:r>
              <a:rPr sz="930" b="0" i="0">
                <a:solidFill>
                  <a:srgbClr val="1E293B"/>
                </a:solidFill>
                <a:latin typeface="Arial"/>
              </a:rPr>
              <a:t>, </a:t>
            </a:r>
            <a:r>
              <a:rPr sz="930" b="0" i="0">
                <a:solidFill>
                  <a:srgbClr val="1D4E89"/>
                </a:solidFill>
                <a:latin typeface="Consolas"/>
              </a:rPr>
              <a:t>nonce</a:t>
            </a:r>
            <a:r>
              <a:rPr sz="930" b="0" i="0">
                <a:solidFill>
                  <a:srgbClr val="1E293B"/>
                </a:solidFill>
                <a:latin typeface="Arial"/>
              </a:rPr>
              <a:t>. Say what each one stops.</a:t>
            </a:r>
          </a:p>
        </p:txBody>
      </p:sp>
      <p:sp>
        <p:nvSpPr>
          <p:cNvPr id="24" name="Rounded Rectangle 23"/>
          <p:cNvSpPr/>
          <p:nvPr/>
        </p:nvSpPr>
        <p:spPr>
          <a:xfrm>
            <a:off x="502920" y="3163824"/>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163824"/>
            <a:ext cx="50292" cy="1353312"/>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3310128"/>
            <a:ext cx="310896" cy="310896"/>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4</a:t>
            </a:r>
          </a:p>
        </p:txBody>
      </p:sp>
      <p:sp>
        <p:nvSpPr>
          <p:cNvPr id="27" name="TextBox 26"/>
          <p:cNvSpPr txBox="1"/>
          <p:nvPr/>
        </p:nvSpPr>
        <p:spPr>
          <a:xfrm>
            <a:off x="1069848" y="3328416"/>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Modify an issuer configuration</a:t>
            </a:r>
          </a:p>
        </p:txBody>
      </p:sp>
      <p:sp>
        <p:nvSpPr>
          <p:cNvPr id="28" name="TextBox 27"/>
          <p:cNvSpPr txBox="1"/>
          <p:nvPr/>
        </p:nvSpPr>
        <p:spPr>
          <a:xfrm>
            <a:off x="3396386" y="3346704"/>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0E9488"/>
                </a:solidFill>
              </a:rPr>
              <a:t>12 min</a:t>
            </a:r>
          </a:p>
        </p:txBody>
      </p:sp>
      <p:sp>
        <p:nvSpPr>
          <p:cNvPr id="29" name="TextBox 28"/>
          <p:cNvSpPr txBox="1"/>
          <p:nvPr/>
        </p:nvSpPr>
        <p:spPr>
          <a:xfrm>
            <a:off x="704088" y="3694176"/>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Add a new issuer to </a:t>
            </a:r>
            <a:r>
              <a:rPr sz="930" b="0" i="0">
                <a:solidFill>
                  <a:srgbClr val="1D4E89"/>
                </a:solidFill>
                <a:latin typeface="Consolas"/>
              </a:rPr>
              <a:t>mimoto-issuers-config.json</a:t>
            </a:r>
            <a:r>
              <a:rPr sz="930" b="0" i="0">
                <a:solidFill>
                  <a:srgbClr val="1E293B"/>
                </a:solidFill>
                <a:latin typeface="Arial"/>
              </a:rPr>
              <a:t>, restart, and see it appear in </a:t>
            </a:r>
            <a:r>
              <a:rPr sz="930" b="0" i="0">
                <a:solidFill>
                  <a:srgbClr val="1D4E89"/>
                </a:solidFill>
                <a:latin typeface="Consolas"/>
              </a:rPr>
              <a:t>GET /v2/issuers</a:t>
            </a:r>
            <a:r>
              <a:rPr sz="930" b="0" i="0">
                <a:solidFill>
                  <a:srgbClr val="1E293B"/>
                </a:solidFill>
                <a:latin typeface="Arial"/>
              </a:rPr>
              <a:t> and in the app.</a:t>
            </a:r>
          </a:p>
        </p:txBody>
      </p:sp>
      <p:sp>
        <p:nvSpPr>
          <p:cNvPr id="30" name="Rounded Rectangle 29"/>
          <p:cNvSpPr/>
          <p:nvPr/>
        </p:nvSpPr>
        <p:spPr>
          <a:xfrm>
            <a:off x="4292498" y="3163824"/>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2498" y="3163824"/>
            <a:ext cx="50292" cy="1353312"/>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475378" y="3310128"/>
            <a:ext cx="310896" cy="310896"/>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5</a:t>
            </a:r>
          </a:p>
        </p:txBody>
      </p:sp>
      <p:sp>
        <p:nvSpPr>
          <p:cNvPr id="33" name="TextBox 32"/>
          <p:cNvSpPr txBox="1"/>
          <p:nvPr/>
        </p:nvSpPr>
        <p:spPr>
          <a:xfrm>
            <a:off x="4859426" y="3328416"/>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Trace an OpenID4VCI flow in code</a:t>
            </a:r>
          </a:p>
        </p:txBody>
      </p:sp>
      <p:sp>
        <p:nvSpPr>
          <p:cNvPr id="34" name="TextBox 33"/>
          <p:cNvSpPr txBox="1"/>
          <p:nvPr/>
        </p:nvSpPr>
        <p:spPr>
          <a:xfrm>
            <a:off x="7185964" y="3346704"/>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1D4E89"/>
                </a:solidFill>
              </a:rPr>
              <a:t>12 min</a:t>
            </a:r>
          </a:p>
        </p:txBody>
      </p:sp>
      <p:sp>
        <p:nvSpPr>
          <p:cNvPr id="35" name="TextBox 34"/>
          <p:cNvSpPr txBox="1"/>
          <p:nvPr/>
        </p:nvSpPr>
        <p:spPr>
          <a:xfrm>
            <a:off x="4493666" y="3694176"/>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From </a:t>
            </a:r>
            <a:r>
              <a:rPr sz="930" b="0" i="0">
                <a:solidFill>
                  <a:srgbClr val="1D4E89"/>
                </a:solidFill>
                <a:latin typeface="Consolas"/>
              </a:rPr>
              <a:t>machines/Issuers/</a:t>
            </a:r>
            <a:r>
              <a:rPr sz="930" b="0" i="0">
                <a:solidFill>
                  <a:srgbClr val="1E293B"/>
                </a:solidFill>
                <a:latin typeface="Arial"/>
              </a:rPr>
              <a:t> to </a:t>
            </a:r>
            <a:r>
              <a:rPr sz="930" b="0" i="0">
                <a:solidFill>
                  <a:srgbClr val="1D4E89"/>
                </a:solidFill>
                <a:latin typeface="Consolas"/>
              </a:rPr>
              <a:t>inji-vci-client</a:t>
            </a:r>
            <a:r>
              <a:rPr sz="930" b="0" i="0">
                <a:solidFill>
                  <a:srgbClr val="1E293B"/>
                </a:solidFill>
                <a:latin typeface="Arial"/>
              </a:rPr>
              <a:t>. Put a breakpoint on </a:t>
            </a:r>
            <a:r>
              <a:rPr sz="930" b="0" i="0">
                <a:solidFill>
                  <a:srgbClr val="1D4E89"/>
                </a:solidFill>
                <a:latin typeface="Consolas"/>
              </a:rPr>
              <a:t>getProofJwt</a:t>
            </a:r>
            <a:r>
              <a:rPr sz="930" b="0" i="0">
                <a:solidFill>
                  <a:srgbClr val="1E293B"/>
                </a:solidFill>
                <a:latin typeface="Arial"/>
              </a:rPr>
              <a:t> and read the </a:t>
            </a:r>
            <a:r>
              <a:rPr sz="930" b="0" i="0">
                <a:solidFill>
                  <a:srgbClr val="1D4E89"/>
                </a:solidFill>
                <a:latin typeface="Consolas"/>
              </a:rPr>
              <a:t>c_nonce</a:t>
            </a:r>
            <a:r>
              <a:rPr sz="930" b="0" i="0">
                <a:solidFill>
                  <a:srgbClr val="1E293B"/>
                </a:solidFill>
                <a:latin typeface="Arial"/>
              </a:rPr>
              <a:t>.</a:t>
            </a:r>
          </a:p>
        </p:txBody>
      </p:sp>
      <p:sp>
        <p:nvSpPr>
          <p:cNvPr id="36" name="Rounded Rectangle 35"/>
          <p:cNvSpPr/>
          <p:nvPr/>
        </p:nvSpPr>
        <p:spPr>
          <a:xfrm>
            <a:off x="8082076" y="3163824"/>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82076" y="3163824"/>
            <a:ext cx="50292" cy="1353312"/>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64956" y="3310128"/>
            <a:ext cx="310896" cy="310896"/>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6</a:t>
            </a:r>
          </a:p>
        </p:txBody>
      </p:sp>
      <p:sp>
        <p:nvSpPr>
          <p:cNvPr id="39" name="TextBox 38"/>
          <p:cNvSpPr txBox="1"/>
          <p:nvPr/>
        </p:nvSpPr>
        <p:spPr>
          <a:xfrm>
            <a:off x="8649004" y="3328416"/>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Inspect SD-JWT disclosures</a:t>
            </a:r>
          </a:p>
        </p:txBody>
      </p:sp>
      <p:sp>
        <p:nvSpPr>
          <p:cNvPr id="40" name="TextBox 39"/>
          <p:cNvSpPr txBox="1"/>
          <p:nvPr/>
        </p:nvSpPr>
        <p:spPr>
          <a:xfrm>
            <a:off x="10975543" y="3346704"/>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15703D"/>
                </a:solidFill>
              </a:rPr>
              <a:t>10 min</a:t>
            </a:r>
          </a:p>
        </p:txBody>
      </p:sp>
      <p:sp>
        <p:nvSpPr>
          <p:cNvPr id="41" name="TextBox 40"/>
          <p:cNvSpPr txBox="1"/>
          <p:nvPr/>
        </p:nvSpPr>
        <p:spPr>
          <a:xfrm>
            <a:off x="8283244" y="3694176"/>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Split a credential on </a:t>
            </a:r>
            <a:r>
              <a:rPr sz="930" b="0" i="0">
                <a:solidFill>
                  <a:srgbClr val="1D4E89"/>
                </a:solidFill>
                <a:latin typeface="Consolas"/>
              </a:rPr>
              <a:t>~</a:t>
            </a:r>
            <a:r>
              <a:rPr sz="930" b="0" i="0">
                <a:solidFill>
                  <a:srgbClr val="1E293B"/>
                </a:solidFill>
                <a:latin typeface="Arial"/>
              </a:rPr>
              <a:t>. Base64url-decode one disclosure. Recompute its SHA-256 and find it in </a:t>
            </a:r>
            <a:r>
              <a:rPr sz="930" b="0" i="0">
                <a:solidFill>
                  <a:srgbClr val="1D4E89"/>
                </a:solidFill>
                <a:latin typeface="Consolas"/>
              </a:rPr>
              <a:t>_sd</a:t>
            </a:r>
            <a:r>
              <a:rPr sz="930" b="0" i="0">
                <a:solidFill>
                  <a:srgbClr val="1E293B"/>
                </a:solidFill>
                <a:latin typeface="Arial"/>
              </a:rPr>
              <a:t>.</a:t>
            </a:r>
          </a:p>
        </p:txBody>
      </p:sp>
      <p:sp>
        <p:nvSpPr>
          <p:cNvPr id="42" name="Rounded Rectangle 41"/>
          <p:cNvSpPr/>
          <p:nvPr/>
        </p:nvSpPr>
        <p:spPr>
          <a:xfrm>
            <a:off x="502920" y="4645152"/>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4645152"/>
            <a:ext cx="50292" cy="135331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5800" y="4791456"/>
            <a:ext cx="310896" cy="3108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7</a:t>
            </a:r>
          </a:p>
        </p:txBody>
      </p:sp>
      <p:sp>
        <p:nvSpPr>
          <p:cNvPr id="45" name="TextBox 44"/>
          <p:cNvSpPr txBox="1"/>
          <p:nvPr/>
        </p:nvSpPr>
        <p:spPr>
          <a:xfrm>
            <a:off x="1069848" y="4809744"/>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Inspect an mDoc structure</a:t>
            </a:r>
          </a:p>
        </p:txBody>
      </p:sp>
      <p:sp>
        <p:nvSpPr>
          <p:cNvPr id="46" name="TextBox 45"/>
          <p:cNvSpPr txBox="1"/>
          <p:nvPr/>
        </p:nvSpPr>
        <p:spPr>
          <a:xfrm>
            <a:off x="3396386" y="4828032"/>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B45309"/>
                </a:solidFill>
              </a:rPr>
              <a:t>12 min</a:t>
            </a:r>
          </a:p>
        </p:txBody>
      </p:sp>
      <p:sp>
        <p:nvSpPr>
          <p:cNvPr id="47" name="TextBox 46"/>
          <p:cNvSpPr txBox="1"/>
          <p:nvPr/>
        </p:nvSpPr>
        <p:spPr>
          <a:xfrm>
            <a:off x="704088" y="5175504"/>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Decode the base64url CBOR. Find the namespaces, the element digests, the </a:t>
            </a:r>
            <a:r>
              <a:rPr sz="930" b="0" i="0">
                <a:solidFill>
                  <a:srgbClr val="1D4E89"/>
                </a:solidFill>
                <a:latin typeface="Consolas"/>
              </a:rPr>
              <a:t>deviceKey</a:t>
            </a:r>
            <a:r>
              <a:rPr sz="930" b="0" i="0">
                <a:solidFill>
                  <a:srgbClr val="1E293B"/>
                </a:solidFill>
                <a:latin typeface="Arial"/>
              </a:rPr>
              <a:t> and the </a:t>
            </a:r>
            <a:r>
              <a:rPr sz="930" b="0" i="0">
                <a:solidFill>
                  <a:srgbClr val="1D4E89"/>
                </a:solidFill>
                <a:latin typeface="Consolas"/>
              </a:rPr>
              <a:t>validityInfo</a:t>
            </a:r>
            <a:r>
              <a:rPr sz="930" b="0" i="0">
                <a:solidFill>
                  <a:srgbClr val="1E293B"/>
                </a:solidFill>
                <a:latin typeface="Arial"/>
              </a:rPr>
              <a:t>.</a:t>
            </a:r>
          </a:p>
        </p:txBody>
      </p:sp>
      <p:sp>
        <p:nvSpPr>
          <p:cNvPr id="48" name="Rounded Rectangle 47"/>
          <p:cNvSpPr/>
          <p:nvPr/>
        </p:nvSpPr>
        <p:spPr>
          <a:xfrm>
            <a:off x="4292498" y="4645152"/>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92498" y="4645152"/>
            <a:ext cx="50292" cy="1353312"/>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475378" y="4791456"/>
            <a:ext cx="310896" cy="310896"/>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8</a:t>
            </a:r>
          </a:p>
        </p:txBody>
      </p:sp>
      <p:sp>
        <p:nvSpPr>
          <p:cNvPr id="51" name="TextBox 50"/>
          <p:cNvSpPr txBox="1"/>
          <p:nvPr/>
        </p:nvSpPr>
        <p:spPr>
          <a:xfrm>
            <a:off x="4859426" y="4809744"/>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Trace an OpenID4VP request</a:t>
            </a:r>
          </a:p>
        </p:txBody>
      </p:sp>
      <p:sp>
        <p:nvSpPr>
          <p:cNvPr id="52" name="TextBox 51"/>
          <p:cNvSpPr txBox="1"/>
          <p:nvPr/>
        </p:nvSpPr>
        <p:spPr>
          <a:xfrm>
            <a:off x="7185964" y="4828032"/>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0E9488"/>
                </a:solidFill>
              </a:rPr>
              <a:t>12 min</a:t>
            </a:r>
          </a:p>
        </p:txBody>
      </p:sp>
      <p:sp>
        <p:nvSpPr>
          <p:cNvPr id="53" name="TextBox 52"/>
          <p:cNvSpPr txBox="1"/>
          <p:nvPr/>
        </p:nvSpPr>
        <p:spPr>
          <a:xfrm>
            <a:off x="4493666" y="5175504"/>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From the QR to the POST at </a:t>
            </a:r>
            <a:r>
              <a:rPr sz="930" b="0" i="0">
                <a:solidFill>
                  <a:srgbClr val="1D4E89"/>
                </a:solidFill>
                <a:latin typeface="Consolas"/>
              </a:rPr>
              <a:t>response_uri</a:t>
            </a:r>
            <a:r>
              <a:rPr sz="930" b="0" i="0">
                <a:solidFill>
                  <a:srgbClr val="1E293B"/>
                </a:solidFill>
                <a:latin typeface="Arial"/>
              </a:rPr>
              <a:t>. Identify </a:t>
            </a:r>
            <a:r>
              <a:rPr sz="930" b="0" i="0">
                <a:solidFill>
                  <a:srgbClr val="1D4E89"/>
                </a:solidFill>
                <a:latin typeface="Consolas"/>
              </a:rPr>
              <a:t>nonce</a:t>
            </a:r>
            <a:r>
              <a:rPr sz="930" b="0" i="0">
                <a:solidFill>
                  <a:srgbClr val="1E293B"/>
                </a:solidFill>
                <a:latin typeface="Arial"/>
              </a:rPr>
              <a:t>, </a:t>
            </a:r>
            <a:r>
              <a:rPr sz="930" b="0" i="0">
                <a:solidFill>
                  <a:srgbClr val="1D4E89"/>
                </a:solidFill>
                <a:latin typeface="Consolas"/>
              </a:rPr>
              <a:t>state</a:t>
            </a:r>
            <a:r>
              <a:rPr sz="930" b="0" i="0">
                <a:solidFill>
                  <a:srgbClr val="1E293B"/>
                </a:solidFill>
                <a:latin typeface="Arial"/>
              </a:rPr>
              <a:t>, </a:t>
            </a:r>
            <a:r>
              <a:rPr sz="930" b="0" i="0">
                <a:solidFill>
                  <a:srgbClr val="1D4E89"/>
                </a:solidFill>
                <a:latin typeface="Consolas"/>
              </a:rPr>
              <a:t>client_id_scheme</a:t>
            </a:r>
            <a:r>
              <a:rPr sz="930" b="0" i="0">
                <a:solidFill>
                  <a:srgbClr val="1E293B"/>
                </a:solidFill>
                <a:latin typeface="Arial"/>
              </a:rPr>
              <a:t> and the response mode.</a:t>
            </a:r>
          </a:p>
        </p:txBody>
      </p:sp>
      <p:sp>
        <p:nvSpPr>
          <p:cNvPr id="54" name="Rounded Rectangle 53"/>
          <p:cNvSpPr/>
          <p:nvPr/>
        </p:nvSpPr>
        <p:spPr>
          <a:xfrm>
            <a:off x="8082076" y="4645152"/>
            <a:ext cx="3606698" cy="135331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082076" y="4645152"/>
            <a:ext cx="50292" cy="1353312"/>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264956" y="4791456"/>
            <a:ext cx="310896" cy="310896"/>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9</a:t>
            </a:r>
          </a:p>
        </p:txBody>
      </p:sp>
      <p:sp>
        <p:nvSpPr>
          <p:cNvPr id="57" name="TextBox 56"/>
          <p:cNvSpPr txBox="1"/>
          <p:nvPr/>
        </p:nvSpPr>
        <p:spPr>
          <a:xfrm>
            <a:off x="8649004" y="4809744"/>
            <a:ext cx="2417978" cy="274320"/>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F172A"/>
                </a:solidFill>
              </a:rPr>
              <a:t>Diagnose a kid-resolution failure</a:t>
            </a:r>
          </a:p>
        </p:txBody>
      </p:sp>
      <p:sp>
        <p:nvSpPr>
          <p:cNvPr id="58" name="TextBox 57"/>
          <p:cNvSpPr txBox="1"/>
          <p:nvPr/>
        </p:nvSpPr>
        <p:spPr>
          <a:xfrm>
            <a:off x="10975543" y="4828032"/>
            <a:ext cx="566928" cy="237744"/>
          </a:xfrm>
          <a:prstGeom prst="rect">
            <a:avLst/>
          </a:prstGeom>
          <a:noFill/>
        </p:spPr>
        <p:txBody>
          <a:bodyPr wrap="square" lIns="0" rIns="0" tIns="0" bIns="0" anchor="t">
            <a:spAutoFit/>
          </a:bodyPr>
          <a:lstStyle/>
          <a:p>
            <a:pPr algn="r">
              <a:lnSpc>
                <a:spcPct val="114000"/>
              </a:lnSpc>
              <a:spcBef>
                <a:spcPts val="0"/>
              </a:spcBef>
              <a:spcAft>
                <a:spcPts val="0"/>
              </a:spcAft>
            </a:pPr>
            <a:r>
              <a:rPr sz="840" b="1" i="0">
                <a:solidFill>
                  <a:srgbClr val="B31B1B"/>
                </a:solidFill>
              </a:rPr>
              <a:t>10 min</a:t>
            </a:r>
          </a:p>
        </p:txBody>
      </p:sp>
      <p:sp>
        <p:nvSpPr>
          <p:cNvPr id="59" name="TextBox 58"/>
          <p:cNvSpPr txBox="1"/>
          <p:nvPr/>
        </p:nvSpPr>
        <p:spPr>
          <a:xfrm>
            <a:off x="8283244" y="5175504"/>
            <a:ext cx="3204362" cy="768096"/>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Given a credential whose </a:t>
            </a:r>
            <a:r>
              <a:rPr sz="930" b="0" i="0">
                <a:solidFill>
                  <a:srgbClr val="1D4E89"/>
                </a:solidFill>
                <a:latin typeface="Consolas"/>
              </a:rPr>
              <a:t>kid</a:t>
            </a:r>
            <a:r>
              <a:rPr sz="930" b="0" i="0">
                <a:solidFill>
                  <a:srgbClr val="1E293B"/>
                </a:solidFill>
                <a:latin typeface="Arial"/>
              </a:rPr>
              <a:t> is not published, produce the exact error and name the one change that fixes it. </a:t>
            </a:r>
            <a:r>
              <a:rPr sz="930" b="1" i="0">
                <a:solidFill>
                  <a:srgbClr val="B31B1B"/>
                </a:solidFill>
                <a:latin typeface="Arial"/>
              </a:rPr>
              <a:t>Everyone does this one.</a:t>
            </a:r>
          </a:p>
        </p:txBody>
      </p:sp>
      <p:sp>
        <p:nvSpPr>
          <p:cNvPr id="60" name="TextBox 5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Exercises</a:t>
            </a:r>
          </a:p>
        </p:txBody>
      </p:sp>
      <p:sp>
        <p:nvSpPr>
          <p:cNvPr id="61" name="TextBox 6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FINAL RECAP, PART 1</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Recap: the architecture and who owns what</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If you remember one slide from today, make it this one.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773936"/>
            <a:ext cx="1754367" cy="960120"/>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Arial"/>
              </a:rPr>
              <a:t>Issuer</a:t>
            </a:r>
          </a:p>
          <a:p>
            <a:pPr algn="ctr">
              <a:spcBef>
                <a:spcPts val="200"/>
              </a:spcBef>
            </a:pPr>
            <a:r>
              <a:rPr sz="850">
                <a:solidFill>
                  <a:srgbClr val="D6F0ED"/>
                </a:solidFill>
                <a:latin typeface="Arial"/>
              </a:rPr>
              <a:t>Inji Certify / national system</a:t>
            </a:r>
          </a:p>
        </p:txBody>
      </p:sp>
      <p:sp>
        <p:nvSpPr>
          <p:cNvPr id="7" name="Rounded Rectangle 6"/>
          <p:cNvSpPr/>
          <p:nvPr/>
        </p:nvSpPr>
        <p:spPr>
          <a:xfrm>
            <a:off x="452628" y="1723644"/>
            <a:ext cx="1854951" cy="1060704"/>
          </a:xfrm>
          <a:prstGeom prst="roundRect">
            <a:avLst>
              <a:gd name="adj" fmla="val 10000"/>
            </a:avLst>
          </a:prstGeom>
          <a:noFill/>
          <a:ln w="2540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860791" y="1773936"/>
            <a:ext cx="1754367" cy="960120"/>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Arial"/>
              </a:rPr>
              <a:t>Mimoto</a:t>
            </a:r>
          </a:p>
          <a:p>
            <a:pPr algn="ctr">
              <a:spcBef>
                <a:spcPts val="200"/>
              </a:spcBef>
            </a:pPr>
            <a:r>
              <a:rPr sz="850">
                <a:solidFill>
                  <a:srgbClr val="D6F0ED"/>
                </a:solidFill>
                <a:latin typeface="Arial"/>
              </a:rPr>
              <a:t>wallet backend (BFF)</a:t>
            </a:r>
          </a:p>
        </p:txBody>
      </p:sp>
      <p:sp>
        <p:nvSpPr>
          <p:cNvPr id="9" name="Rounded Rectangle 8"/>
          <p:cNvSpPr/>
          <p:nvPr/>
        </p:nvSpPr>
        <p:spPr>
          <a:xfrm>
            <a:off x="2810499" y="1723644"/>
            <a:ext cx="1854951" cy="1060704"/>
          </a:xfrm>
          <a:prstGeom prst="roundRect">
            <a:avLst>
              <a:gd name="adj" fmla="val 10000"/>
            </a:avLst>
          </a:prstGeom>
          <a:noFill/>
          <a:ln w="2540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18663" y="1773936"/>
            <a:ext cx="1754367" cy="960120"/>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Arial"/>
              </a:rPr>
              <a:t>Inji Wallet</a:t>
            </a:r>
          </a:p>
          <a:p>
            <a:pPr algn="ctr">
              <a:spcBef>
                <a:spcPts val="200"/>
              </a:spcBef>
            </a:pPr>
            <a:r>
              <a:rPr sz="850">
                <a:solidFill>
                  <a:srgbClr val="D6F0ED"/>
                </a:solidFill>
                <a:latin typeface="Arial"/>
              </a:rPr>
              <a:t>holder app  |  Inji Web</a:t>
            </a:r>
          </a:p>
        </p:txBody>
      </p:sp>
      <p:sp>
        <p:nvSpPr>
          <p:cNvPr id="11" name="Rounded Rectangle 10"/>
          <p:cNvSpPr/>
          <p:nvPr/>
        </p:nvSpPr>
        <p:spPr>
          <a:xfrm>
            <a:off x="5168371" y="1723644"/>
            <a:ext cx="1854951" cy="1060704"/>
          </a:xfrm>
          <a:prstGeom prst="roundRect">
            <a:avLst>
              <a:gd name="adj" fmla="val 10000"/>
            </a:avLst>
          </a:prstGeom>
          <a:noFill/>
          <a:ln w="2540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6535" y="1773936"/>
            <a:ext cx="1754367" cy="960120"/>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Arial"/>
              </a:rPr>
              <a:t>Credential Store</a:t>
            </a:r>
          </a:p>
          <a:p>
            <a:pPr algn="ctr">
              <a:spcBef>
                <a:spcPts val="200"/>
              </a:spcBef>
            </a:pPr>
            <a:r>
              <a:rPr sz="850">
                <a:solidFill>
                  <a:srgbClr val="D6F0ED"/>
                </a:solidFill>
                <a:latin typeface="Arial"/>
              </a:rPr>
              <a:t>encrypted, on device / DB</a:t>
            </a:r>
          </a:p>
        </p:txBody>
      </p:sp>
      <p:sp>
        <p:nvSpPr>
          <p:cNvPr id="13" name="Rounded Rectangle 12"/>
          <p:cNvSpPr/>
          <p:nvPr/>
        </p:nvSpPr>
        <p:spPr>
          <a:xfrm>
            <a:off x="7526243" y="1723644"/>
            <a:ext cx="1854951" cy="1060704"/>
          </a:xfrm>
          <a:prstGeom prst="roundRect">
            <a:avLst>
              <a:gd name="adj" fmla="val 10000"/>
            </a:avLst>
          </a:prstGeom>
          <a:noFill/>
          <a:ln w="2540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934407" y="1773936"/>
            <a:ext cx="1754367" cy="960120"/>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Arial"/>
              </a:rPr>
              <a:t>Verifier</a:t>
            </a:r>
          </a:p>
          <a:p>
            <a:pPr algn="ctr">
              <a:spcBef>
                <a:spcPts val="200"/>
              </a:spcBef>
            </a:pPr>
            <a:r>
              <a:rPr sz="850">
                <a:solidFill>
                  <a:srgbClr val="D6F0ED"/>
                </a:solidFill>
                <a:latin typeface="Arial"/>
              </a:rPr>
              <a:t>Inji Verify / relying party</a:t>
            </a:r>
          </a:p>
        </p:txBody>
      </p:sp>
      <p:sp>
        <p:nvSpPr>
          <p:cNvPr id="15" name="Rounded Rectangle 14"/>
          <p:cNvSpPr/>
          <p:nvPr/>
        </p:nvSpPr>
        <p:spPr>
          <a:xfrm>
            <a:off x="9884115" y="1723644"/>
            <a:ext cx="1854951" cy="1060704"/>
          </a:xfrm>
          <a:prstGeom prst="roundRect">
            <a:avLst>
              <a:gd name="adj" fmla="val 10000"/>
            </a:avLst>
          </a:prstGeom>
          <a:noFill/>
          <a:ln w="2540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2312151" y="2253996"/>
            <a:ext cx="493776"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964679" y="1408176"/>
            <a:ext cx="1188720" cy="246888"/>
          </a:xfrm>
          <a:prstGeom prst="roundRect">
            <a:avLst>
              <a:gd name="adj" fmla="val 22000"/>
            </a:avLst>
          </a:prstGeom>
          <a:solidFill>
            <a:srgbClr val="D6F0ED"/>
          </a:solidFill>
          <a:ln w="1143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0E9488"/>
                </a:solidFill>
                <a:latin typeface="Arial"/>
              </a:rPr>
              <a:t>OpenID4VCI</a:t>
            </a:r>
          </a:p>
        </p:txBody>
      </p:sp>
      <p:cxnSp>
        <p:nvCxnSpPr>
          <p:cNvPr id="18" name="Connector 17"/>
          <p:cNvCxnSpPr/>
          <p:nvPr/>
        </p:nvCxnSpPr>
        <p:spPr>
          <a:xfrm>
            <a:off x="2559039" y="1655064"/>
            <a:ext cx="0" cy="580644"/>
          </a:xfrm>
          <a:prstGeom prst="line">
            <a:avLst/>
          </a:prstGeom>
          <a:ln w="1143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70023" y="2253996"/>
            <a:ext cx="493776"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59711" y="1408176"/>
            <a:ext cx="914400" cy="246888"/>
          </a:xfrm>
          <a:prstGeom prst="roundRect">
            <a:avLst>
              <a:gd name="adj" fmla="val 22000"/>
            </a:avLst>
          </a:prstGeom>
          <a:solidFill>
            <a:srgbClr val="FFFFFF"/>
          </a:solidFill>
          <a:ln w="1143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0">
                <a:solidFill>
                  <a:srgbClr val="5B6B7F"/>
                </a:solidFill>
                <a:latin typeface="Arial"/>
              </a:rPr>
              <a:t>downloads</a:t>
            </a:r>
          </a:p>
        </p:txBody>
      </p:sp>
      <p:cxnSp>
        <p:nvCxnSpPr>
          <p:cNvPr id="21" name="Connector 20"/>
          <p:cNvCxnSpPr/>
          <p:nvPr/>
        </p:nvCxnSpPr>
        <p:spPr>
          <a:xfrm>
            <a:off x="4916911" y="1655064"/>
            <a:ext cx="0" cy="580644"/>
          </a:xfrm>
          <a:prstGeom prst="line">
            <a:avLst/>
          </a:prstGeom>
          <a:ln w="1143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027895" y="2253996"/>
            <a:ext cx="493776"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817583" y="1408176"/>
            <a:ext cx="914400" cy="246888"/>
          </a:xfrm>
          <a:prstGeom prst="roundRect">
            <a:avLst>
              <a:gd name="adj" fmla="val 22000"/>
            </a:avLst>
          </a:prstGeom>
          <a:solidFill>
            <a:srgbClr val="FFFFFF"/>
          </a:solidFill>
          <a:ln w="1143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0">
                <a:solidFill>
                  <a:srgbClr val="5B6B7F"/>
                </a:solidFill>
                <a:latin typeface="Arial"/>
              </a:rPr>
              <a:t>writes</a:t>
            </a:r>
          </a:p>
        </p:txBody>
      </p:sp>
      <p:cxnSp>
        <p:nvCxnSpPr>
          <p:cNvPr id="24" name="Connector 23"/>
          <p:cNvCxnSpPr/>
          <p:nvPr/>
        </p:nvCxnSpPr>
        <p:spPr>
          <a:xfrm>
            <a:off x="7274783" y="1655064"/>
            <a:ext cx="0" cy="580644"/>
          </a:xfrm>
          <a:prstGeom prst="line">
            <a:avLst/>
          </a:prstGeom>
          <a:ln w="1143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385767" y="2253996"/>
            <a:ext cx="493776" cy="0"/>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38295" y="1408176"/>
            <a:ext cx="1188720" cy="246888"/>
          </a:xfrm>
          <a:prstGeom prst="roundRect">
            <a:avLst>
              <a:gd name="adj" fmla="val 22000"/>
            </a:avLst>
          </a:prstGeom>
          <a:solidFill>
            <a:srgbClr val="D6F0ED"/>
          </a:solidFill>
          <a:ln w="1143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0E9488"/>
                </a:solidFill>
                <a:latin typeface="Arial"/>
              </a:rPr>
              <a:t>OpenID4VP</a:t>
            </a:r>
          </a:p>
        </p:txBody>
      </p:sp>
      <p:cxnSp>
        <p:nvCxnSpPr>
          <p:cNvPr id="27" name="Connector 26"/>
          <p:cNvCxnSpPr/>
          <p:nvPr/>
        </p:nvCxnSpPr>
        <p:spPr>
          <a:xfrm>
            <a:off x="9632655" y="1655064"/>
            <a:ext cx="0" cy="580644"/>
          </a:xfrm>
          <a:prstGeom prst="line">
            <a:avLst/>
          </a:prstGeom>
          <a:ln w="11430">
            <a:solidFill>
              <a:srgbClr val="CBD5E1"/>
            </a:solidFill>
            <a:prstDash val="sysDash"/>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218663" y="3209544"/>
            <a:ext cx="1754367" cy="548640"/>
          </a:xfrm>
          <a:prstGeom prst="roundRect">
            <a:avLst>
              <a:gd name="adj" fmla="val 16000"/>
            </a:avLst>
          </a:prstGeom>
          <a:solidFill>
            <a:srgbClr val="FFFFFF"/>
          </a:solidFill>
          <a:ln w="16510">
            <a:solidFill>
              <a:srgbClr val="0E948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E9488"/>
                </a:solidFill>
                <a:latin typeface="Arial"/>
              </a:rPr>
              <a:t>Inji Web  (browser holder)</a:t>
            </a:r>
          </a:p>
        </p:txBody>
      </p:sp>
      <p:cxnSp>
        <p:nvCxnSpPr>
          <p:cNvPr id="29" name="Connector 28"/>
          <p:cNvCxnSpPr/>
          <p:nvPr/>
        </p:nvCxnSpPr>
        <p:spPr>
          <a:xfrm>
            <a:off x="6095847" y="2734056"/>
            <a:ext cx="0" cy="475488"/>
          </a:xfrm>
          <a:prstGeom prst="line">
            <a:avLst/>
          </a:prstGeom>
          <a:ln w="13970">
            <a:solidFill>
              <a:srgbClr val="0E9488"/>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737975" y="3483864"/>
            <a:ext cx="1480688" cy="0"/>
          </a:xfrm>
          <a:prstGeom prst="line">
            <a:avLst/>
          </a:prstGeom>
          <a:ln w="13970">
            <a:solidFill>
              <a:srgbClr val="0E9488"/>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737975" y="2734056"/>
            <a:ext cx="0" cy="749808"/>
          </a:xfrm>
          <a:prstGeom prst="line">
            <a:avLst/>
          </a:prstGeom>
          <a:ln w="13970">
            <a:solidFill>
              <a:srgbClr val="0E9488"/>
            </a:solidFill>
            <a:prstDash val="sys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829415" y="3520440"/>
            <a:ext cx="1297807" cy="219456"/>
          </a:xfrm>
          <a:prstGeom prst="rect">
            <a:avLst/>
          </a:prstGeom>
          <a:noFill/>
        </p:spPr>
        <p:txBody>
          <a:bodyPr wrap="square" lIns="0" rIns="0" tIns="0" bIns="0" anchor="t">
            <a:spAutoFit/>
          </a:bodyPr>
          <a:lstStyle/>
          <a:p>
            <a:pPr algn="ctr">
              <a:lnSpc>
                <a:spcPct val="114000"/>
              </a:lnSpc>
              <a:spcBef>
                <a:spcPts val="0"/>
              </a:spcBef>
              <a:spcAft>
                <a:spcPts val="0"/>
              </a:spcAft>
            </a:pPr>
            <a:r>
              <a:rPr sz="800" b="0" i="1">
                <a:solidFill>
                  <a:srgbClr val="0E9488"/>
                </a:solidFill>
              </a:rPr>
              <a:t>Inji Web uses Mimoto as its BFF</a:t>
            </a:r>
          </a:p>
        </p:txBody>
      </p:sp>
      <p:sp>
        <p:nvSpPr>
          <p:cNvPr id="33" name="Rounded Rectangle 32"/>
          <p:cNvSpPr/>
          <p:nvPr/>
        </p:nvSpPr>
        <p:spPr>
          <a:xfrm>
            <a:off x="502920" y="4059936"/>
            <a:ext cx="2090867" cy="187451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4059936"/>
            <a:ext cx="2090867" cy="59436"/>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242816"/>
            <a:ext cx="1761683" cy="274320"/>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1D4E89"/>
                </a:solidFill>
              </a:rPr>
              <a:t>Issuer</a:t>
            </a:r>
          </a:p>
        </p:txBody>
      </p:sp>
      <p:sp>
        <p:nvSpPr>
          <p:cNvPr id="36" name="Oval 35"/>
          <p:cNvSpPr/>
          <p:nvPr/>
        </p:nvSpPr>
        <p:spPr>
          <a:xfrm>
            <a:off x="685800" y="4640580"/>
            <a:ext cx="64008" cy="6400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 y="4590288"/>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Authenticates the citizen</a:t>
            </a:r>
          </a:p>
        </p:txBody>
      </p:sp>
      <p:sp>
        <p:nvSpPr>
          <p:cNvPr id="38" name="Oval 37"/>
          <p:cNvSpPr/>
          <p:nvPr/>
        </p:nvSpPr>
        <p:spPr>
          <a:xfrm>
            <a:off x="685800" y="4818888"/>
            <a:ext cx="64008" cy="6400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2104" y="4768596"/>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Decides eligibility</a:t>
            </a:r>
          </a:p>
        </p:txBody>
      </p:sp>
      <p:sp>
        <p:nvSpPr>
          <p:cNvPr id="40" name="Oval 39"/>
          <p:cNvSpPr/>
          <p:nvPr/>
        </p:nvSpPr>
        <p:spPr>
          <a:xfrm>
            <a:off x="685800" y="4997196"/>
            <a:ext cx="64008" cy="6400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4946904"/>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Signs the credential</a:t>
            </a:r>
          </a:p>
        </p:txBody>
      </p:sp>
      <p:sp>
        <p:nvSpPr>
          <p:cNvPr id="42" name="Oval 41"/>
          <p:cNvSpPr/>
          <p:nvPr/>
        </p:nvSpPr>
        <p:spPr>
          <a:xfrm>
            <a:off x="685800" y="5175504"/>
            <a:ext cx="64008" cy="6400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104" y="5125212"/>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Publishes metadata and keys</a:t>
            </a:r>
          </a:p>
        </p:txBody>
      </p:sp>
      <p:sp>
        <p:nvSpPr>
          <p:cNvPr id="44" name="Oval 43"/>
          <p:cNvSpPr/>
          <p:nvPr/>
        </p:nvSpPr>
        <p:spPr>
          <a:xfrm>
            <a:off x="685800" y="5495544"/>
            <a:ext cx="64008" cy="6400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2104" y="5445252"/>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Owns key rotation</a:t>
            </a:r>
          </a:p>
        </p:txBody>
      </p:sp>
      <p:sp>
        <p:nvSpPr>
          <p:cNvPr id="46" name="Rounded Rectangle 45"/>
          <p:cNvSpPr/>
          <p:nvPr/>
        </p:nvSpPr>
        <p:spPr>
          <a:xfrm>
            <a:off x="2776667" y="4059936"/>
            <a:ext cx="2090867" cy="187451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776667" y="4059936"/>
            <a:ext cx="2090867" cy="5943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41259" y="4242816"/>
            <a:ext cx="1761683" cy="274320"/>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6D28D9"/>
                </a:solidFill>
              </a:rPr>
              <a:t>Mimoto</a:t>
            </a:r>
          </a:p>
        </p:txBody>
      </p:sp>
      <p:sp>
        <p:nvSpPr>
          <p:cNvPr id="49" name="Oval 48"/>
          <p:cNvSpPr/>
          <p:nvPr/>
        </p:nvSpPr>
        <p:spPr>
          <a:xfrm>
            <a:off x="2959547" y="4640580"/>
            <a:ext cx="64008" cy="640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05851" y="4590288"/>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Issuer catalogue</a:t>
            </a:r>
          </a:p>
        </p:txBody>
      </p:sp>
      <p:sp>
        <p:nvSpPr>
          <p:cNvPr id="51" name="Oval 50"/>
          <p:cNvSpPr/>
          <p:nvPr/>
        </p:nvSpPr>
        <p:spPr>
          <a:xfrm>
            <a:off x="2959547" y="4818888"/>
            <a:ext cx="64008" cy="640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05851" y="4768596"/>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Trusted verifier list</a:t>
            </a:r>
          </a:p>
        </p:txBody>
      </p:sp>
      <p:sp>
        <p:nvSpPr>
          <p:cNvPr id="53" name="Oval 52"/>
          <p:cNvSpPr/>
          <p:nvPr/>
        </p:nvSpPr>
        <p:spPr>
          <a:xfrm>
            <a:off x="2959547" y="4997196"/>
            <a:ext cx="64008" cy="640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05851" y="4946904"/>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Token exchange brokering</a:t>
            </a:r>
          </a:p>
        </p:txBody>
      </p:sp>
      <p:sp>
        <p:nvSpPr>
          <p:cNvPr id="55" name="Oval 54"/>
          <p:cNvSpPr/>
          <p:nvPr/>
        </p:nvSpPr>
        <p:spPr>
          <a:xfrm>
            <a:off x="2959547" y="5175504"/>
            <a:ext cx="64008" cy="640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05851" y="5125212"/>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Credential store for Inji Web</a:t>
            </a:r>
          </a:p>
        </p:txBody>
      </p:sp>
      <p:sp>
        <p:nvSpPr>
          <p:cNvPr id="57" name="Oval 56"/>
          <p:cNvSpPr/>
          <p:nvPr/>
        </p:nvSpPr>
        <p:spPr>
          <a:xfrm>
            <a:off x="2959547" y="5495544"/>
            <a:ext cx="64008" cy="640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105851" y="5445252"/>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Caching, sessions, PDF</a:t>
            </a:r>
          </a:p>
        </p:txBody>
      </p:sp>
      <p:sp>
        <p:nvSpPr>
          <p:cNvPr id="59" name="Rounded Rectangle 58"/>
          <p:cNvSpPr/>
          <p:nvPr/>
        </p:nvSpPr>
        <p:spPr>
          <a:xfrm>
            <a:off x="5050414" y="4059936"/>
            <a:ext cx="2090867" cy="187451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050414" y="4059936"/>
            <a:ext cx="2090867" cy="59436"/>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215006" y="4242816"/>
            <a:ext cx="1761683" cy="274320"/>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E9488"/>
                </a:solidFill>
              </a:rPr>
              <a:t>Inji Wallet</a:t>
            </a:r>
          </a:p>
        </p:txBody>
      </p:sp>
      <p:sp>
        <p:nvSpPr>
          <p:cNvPr id="62" name="Oval 61"/>
          <p:cNvSpPr/>
          <p:nvPr/>
        </p:nvSpPr>
        <p:spPr>
          <a:xfrm>
            <a:off x="5233294" y="464058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79598" y="4590288"/>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Holds credentials on device</a:t>
            </a:r>
          </a:p>
        </p:txBody>
      </p:sp>
      <p:sp>
        <p:nvSpPr>
          <p:cNvPr id="64" name="Oval 63"/>
          <p:cNvSpPr/>
          <p:nvPr/>
        </p:nvSpPr>
        <p:spPr>
          <a:xfrm>
            <a:off x="5233294" y="4960620"/>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379598" y="4910328"/>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Generates and protects keys</a:t>
            </a:r>
          </a:p>
        </p:txBody>
      </p:sp>
      <p:sp>
        <p:nvSpPr>
          <p:cNvPr id="66" name="Oval 65"/>
          <p:cNvSpPr/>
          <p:nvPr/>
        </p:nvSpPr>
        <p:spPr>
          <a:xfrm>
            <a:off x="5233294" y="5280659"/>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79598" y="5230368"/>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Signs proofs and presentations</a:t>
            </a:r>
          </a:p>
        </p:txBody>
      </p:sp>
      <p:sp>
        <p:nvSpPr>
          <p:cNvPr id="68" name="Oval 67"/>
          <p:cNvSpPr/>
          <p:nvPr/>
        </p:nvSpPr>
        <p:spPr>
          <a:xfrm>
            <a:off x="5233294" y="5600699"/>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379598" y="5550407"/>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Shows consent</a:t>
            </a:r>
          </a:p>
        </p:txBody>
      </p:sp>
      <p:sp>
        <p:nvSpPr>
          <p:cNvPr id="70" name="Oval 69"/>
          <p:cNvSpPr/>
          <p:nvPr/>
        </p:nvSpPr>
        <p:spPr>
          <a:xfrm>
            <a:off x="5233294" y="5779007"/>
            <a:ext cx="64008" cy="640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379598" y="5728716"/>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Works offline for display</a:t>
            </a:r>
          </a:p>
        </p:txBody>
      </p:sp>
      <p:sp>
        <p:nvSpPr>
          <p:cNvPr id="72" name="Rounded Rectangle 71"/>
          <p:cNvSpPr/>
          <p:nvPr/>
        </p:nvSpPr>
        <p:spPr>
          <a:xfrm>
            <a:off x="7324161" y="4059936"/>
            <a:ext cx="2090867" cy="187451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324161" y="4059936"/>
            <a:ext cx="2090867" cy="5943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488753" y="4242816"/>
            <a:ext cx="1761683" cy="274320"/>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B45309"/>
                </a:solidFill>
              </a:rPr>
              <a:t>Inji Web</a:t>
            </a:r>
          </a:p>
        </p:txBody>
      </p:sp>
      <p:sp>
        <p:nvSpPr>
          <p:cNvPr id="75" name="Oval 74"/>
          <p:cNvSpPr/>
          <p:nvPr/>
        </p:nvSpPr>
        <p:spPr>
          <a:xfrm>
            <a:off x="7507041" y="4640580"/>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653345" y="4590288"/>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Browser holder</a:t>
            </a:r>
          </a:p>
        </p:txBody>
      </p:sp>
      <p:sp>
        <p:nvSpPr>
          <p:cNvPr id="77" name="Oval 76"/>
          <p:cNvSpPr/>
          <p:nvPr/>
        </p:nvSpPr>
        <p:spPr>
          <a:xfrm>
            <a:off x="7507041" y="4818888"/>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653345" y="4768596"/>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No local key, no local store</a:t>
            </a:r>
          </a:p>
        </p:txBody>
      </p:sp>
      <p:sp>
        <p:nvSpPr>
          <p:cNvPr id="79" name="Oval 78"/>
          <p:cNvSpPr/>
          <p:nvPr/>
        </p:nvSpPr>
        <p:spPr>
          <a:xfrm>
            <a:off x="7507041" y="5138928"/>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653345" y="5088636"/>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Mimoto is its backend</a:t>
            </a:r>
          </a:p>
        </p:txBody>
      </p:sp>
      <p:sp>
        <p:nvSpPr>
          <p:cNvPr id="81" name="Oval 80"/>
          <p:cNvSpPr/>
          <p:nvPr/>
        </p:nvSpPr>
        <p:spPr>
          <a:xfrm>
            <a:off x="7507041" y="5317236"/>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653345" y="5266944"/>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Guest and logged-in journeys</a:t>
            </a:r>
          </a:p>
        </p:txBody>
      </p:sp>
      <p:sp>
        <p:nvSpPr>
          <p:cNvPr id="83" name="Oval 82"/>
          <p:cNvSpPr/>
          <p:nvPr/>
        </p:nvSpPr>
        <p:spPr>
          <a:xfrm>
            <a:off x="7507041" y="5637276"/>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653345" y="5586984"/>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For people without a phone</a:t>
            </a:r>
          </a:p>
        </p:txBody>
      </p:sp>
      <p:sp>
        <p:nvSpPr>
          <p:cNvPr id="85" name="Rounded Rectangle 84"/>
          <p:cNvSpPr/>
          <p:nvPr/>
        </p:nvSpPr>
        <p:spPr>
          <a:xfrm>
            <a:off x="9597908" y="4059936"/>
            <a:ext cx="2090867" cy="1874519"/>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597908" y="4059936"/>
            <a:ext cx="2090867" cy="59436"/>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762500" y="4242816"/>
            <a:ext cx="1761683" cy="274320"/>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15703D"/>
                </a:solidFill>
              </a:rPr>
              <a:t>Verifier</a:t>
            </a:r>
          </a:p>
        </p:txBody>
      </p:sp>
      <p:sp>
        <p:nvSpPr>
          <p:cNvPr id="88" name="Oval 87"/>
          <p:cNvSpPr/>
          <p:nvPr/>
        </p:nvSpPr>
        <p:spPr>
          <a:xfrm>
            <a:off x="9780788" y="4640580"/>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927092" y="4590288"/>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Builds the request</a:t>
            </a:r>
          </a:p>
        </p:txBody>
      </p:sp>
      <p:sp>
        <p:nvSpPr>
          <p:cNvPr id="90" name="Oval 89"/>
          <p:cNvSpPr/>
          <p:nvPr/>
        </p:nvSpPr>
        <p:spPr>
          <a:xfrm>
            <a:off x="9780788" y="4818888"/>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927092" y="4768596"/>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Validates issuer signature</a:t>
            </a:r>
          </a:p>
        </p:txBody>
      </p:sp>
      <p:sp>
        <p:nvSpPr>
          <p:cNvPr id="92" name="Oval 91"/>
          <p:cNvSpPr/>
          <p:nvPr/>
        </p:nvSpPr>
        <p:spPr>
          <a:xfrm>
            <a:off x="9780788" y="4997196"/>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927092" y="4946904"/>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Validates holder binding</a:t>
            </a:r>
          </a:p>
        </p:txBody>
      </p:sp>
      <p:sp>
        <p:nvSpPr>
          <p:cNvPr id="94" name="Oval 93"/>
          <p:cNvSpPr/>
          <p:nvPr/>
        </p:nvSpPr>
        <p:spPr>
          <a:xfrm>
            <a:off x="9780788" y="5175504"/>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927092" y="5125212"/>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Checks nonce and audience</a:t>
            </a:r>
          </a:p>
        </p:txBody>
      </p:sp>
      <p:sp>
        <p:nvSpPr>
          <p:cNvPr id="96" name="Oval 95"/>
          <p:cNvSpPr/>
          <p:nvPr/>
        </p:nvSpPr>
        <p:spPr>
          <a:xfrm>
            <a:off x="9780788" y="5353812"/>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927092" y="5303520"/>
            <a:ext cx="1597091" cy="36576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E293B"/>
                </a:solidFill>
              </a:rPr>
              <a:t>Makes the decision</a:t>
            </a:r>
          </a:p>
        </p:txBody>
      </p:sp>
      <p:sp>
        <p:nvSpPr>
          <p:cNvPr id="98" name="TextBox 9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Recap and next steps</a:t>
            </a:r>
          </a:p>
        </p:txBody>
      </p:sp>
      <p:sp>
        <p:nvSpPr>
          <p:cNvPr id="99" name="TextBox 9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FINAL RECAP, PART 2</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Recap: protocols, security and the lessons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The eight sentences worth carrying out of the room.</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5483199" cy="1024128"/>
          </a:xfrm>
          <a:prstGeom prst="roundRect">
            <a:avLst>
              <a:gd name="adj" fmla="val 7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0292" cy="1024128"/>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828800"/>
            <a:ext cx="274320" cy="27432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1</a:t>
            </a:r>
          </a:p>
        </p:txBody>
      </p:sp>
      <p:sp>
        <p:nvSpPr>
          <p:cNvPr id="9" name="TextBox 8"/>
          <p:cNvSpPr txBox="1"/>
          <p:nvPr/>
        </p:nvSpPr>
        <p:spPr>
          <a:xfrm>
            <a:off x="1051560" y="1810512"/>
            <a:ext cx="4733391" cy="457200"/>
          </a:xfrm>
          <a:prstGeom prst="rect">
            <a:avLst/>
          </a:prstGeom>
          <a:noFill/>
        </p:spPr>
        <p:txBody>
          <a:bodyPr wrap="square" lIns="0" rIns="0" tIns="0" bIns="0" anchor="t">
            <a:spAutoFit/>
          </a:bodyPr>
          <a:lstStyle/>
          <a:p>
            <a:pPr algn="l">
              <a:lnSpc>
                <a:spcPct val="115000"/>
              </a:lnSpc>
              <a:spcBef>
                <a:spcPts val="0"/>
              </a:spcBef>
              <a:spcAft>
                <a:spcPts val="0"/>
              </a:spcAft>
            </a:pPr>
            <a:r>
              <a:rPr sz="1080" b="1" i="0">
                <a:solidFill>
                  <a:srgbClr val="0F172A"/>
                </a:solidFill>
              </a:rPr>
              <a:t>OpenID4VCI gets a credential; OpenID4VP shows one.</a:t>
            </a:r>
          </a:p>
        </p:txBody>
      </p:sp>
      <p:sp>
        <p:nvSpPr>
          <p:cNvPr id="10" name="TextBox 9"/>
          <p:cNvSpPr txBox="1"/>
          <p:nvPr/>
        </p:nvSpPr>
        <p:spPr>
          <a:xfrm>
            <a:off x="1051560" y="2286000"/>
            <a:ext cx="4733391" cy="384048"/>
          </a:xfrm>
          <a:prstGeom prst="rect">
            <a:avLst/>
          </a:prstGeom>
          <a:noFill/>
        </p:spPr>
        <p:txBody>
          <a:bodyPr wrap="square" lIns="0" rIns="0" tIns="0" bIns="0" anchor="t">
            <a:spAutoFit/>
          </a:bodyPr>
          <a:lstStyle/>
          <a:p>
            <a:pPr algn="l">
              <a:lnSpc>
                <a:spcPct val="122000"/>
              </a:lnSpc>
              <a:spcBef>
                <a:spcPts val="0"/>
              </a:spcBef>
              <a:spcAft>
                <a:spcPts val="0"/>
              </a:spcAft>
            </a:pPr>
            <a:r>
              <a:rPr sz="930" b="0" i="0">
                <a:solidFill>
                  <a:srgbClr val="5B6B7F"/>
                </a:solidFill>
              </a:rPr>
              <a:t>Two protocols, two directions. Everything else is implementation.</a:t>
            </a:r>
          </a:p>
        </p:txBody>
      </p:sp>
      <p:sp>
        <p:nvSpPr>
          <p:cNvPr id="11" name="Rounded Rectangle 10"/>
          <p:cNvSpPr/>
          <p:nvPr/>
        </p:nvSpPr>
        <p:spPr>
          <a:xfrm>
            <a:off x="6205575" y="1682496"/>
            <a:ext cx="5483199" cy="1024128"/>
          </a:xfrm>
          <a:prstGeom prst="roundRect">
            <a:avLst>
              <a:gd name="adj" fmla="val 7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5575" y="1682496"/>
            <a:ext cx="50292" cy="102412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88455" y="1828800"/>
            <a:ext cx="274320" cy="2743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2</a:t>
            </a:r>
          </a:p>
        </p:txBody>
      </p:sp>
      <p:sp>
        <p:nvSpPr>
          <p:cNvPr id="14" name="TextBox 13"/>
          <p:cNvSpPr txBox="1"/>
          <p:nvPr/>
        </p:nvSpPr>
        <p:spPr>
          <a:xfrm>
            <a:off x="6754215" y="1810512"/>
            <a:ext cx="4733391" cy="457200"/>
          </a:xfrm>
          <a:prstGeom prst="rect">
            <a:avLst/>
          </a:prstGeom>
          <a:noFill/>
        </p:spPr>
        <p:txBody>
          <a:bodyPr wrap="square" lIns="0" rIns="0" tIns="0" bIns="0" anchor="t">
            <a:spAutoFit/>
          </a:bodyPr>
          <a:lstStyle/>
          <a:p>
            <a:pPr algn="l">
              <a:lnSpc>
                <a:spcPct val="115000"/>
              </a:lnSpc>
              <a:spcBef>
                <a:spcPts val="0"/>
              </a:spcBef>
              <a:spcAft>
                <a:spcPts val="0"/>
              </a:spcAft>
            </a:pPr>
            <a:r>
              <a:rPr sz="1080" b="1" i="0">
                <a:solidFill>
                  <a:srgbClr val="0F172A"/>
                </a:solidFill>
              </a:rPr>
              <a:t>PKCE protects the code. DPoP protects the token. The credential proof protects the binding.</a:t>
            </a:r>
          </a:p>
        </p:txBody>
      </p:sp>
      <p:sp>
        <p:nvSpPr>
          <p:cNvPr id="15" name="TextBox 14"/>
          <p:cNvSpPr txBox="1"/>
          <p:nvPr/>
        </p:nvSpPr>
        <p:spPr>
          <a:xfrm>
            <a:off x="6754215" y="2286000"/>
            <a:ext cx="4733391" cy="384048"/>
          </a:xfrm>
          <a:prstGeom prst="rect">
            <a:avLst/>
          </a:prstGeom>
          <a:noFill/>
        </p:spPr>
        <p:txBody>
          <a:bodyPr wrap="square" lIns="0" rIns="0" tIns="0" bIns="0" anchor="t">
            <a:spAutoFit/>
          </a:bodyPr>
          <a:lstStyle/>
          <a:p>
            <a:pPr algn="l">
              <a:lnSpc>
                <a:spcPct val="122000"/>
              </a:lnSpc>
              <a:spcBef>
                <a:spcPts val="0"/>
              </a:spcBef>
              <a:spcAft>
                <a:spcPts val="0"/>
              </a:spcAft>
            </a:pPr>
            <a:r>
              <a:rPr sz="930" b="0" i="0">
                <a:solidFill>
                  <a:srgbClr val="5B6B7F"/>
                </a:solidFill>
              </a:rPr>
              <a:t>Three mechanisms, three assets. Inji implements the first and third today.</a:t>
            </a:r>
          </a:p>
        </p:txBody>
      </p:sp>
      <p:sp>
        <p:nvSpPr>
          <p:cNvPr id="16" name="Rounded Rectangle 15"/>
          <p:cNvSpPr/>
          <p:nvPr/>
        </p:nvSpPr>
        <p:spPr>
          <a:xfrm>
            <a:off x="502920" y="2852928"/>
            <a:ext cx="5483199" cy="1024128"/>
          </a:xfrm>
          <a:prstGeom prst="roundRect">
            <a:avLst>
              <a:gd name="adj" fmla="val 7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852928"/>
            <a:ext cx="50292" cy="102412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5800" y="2999232"/>
            <a:ext cx="274320" cy="274320"/>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3</a:t>
            </a:r>
          </a:p>
        </p:txBody>
      </p:sp>
      <p:sp>
        <p:nvSpPr>
          <p:cNvPr id="19" name="TextBox 18"/>
          <p:cNvSpPr txBox="1"/>
          <p:nvPr/>
        </p:nvSpPr>
        <p:spPr>
          <a:xfrm>
            <a:off x="1051560" y="2980944"/>
            <a:ext cx="4733391" cy="457200"/>
          </a:xfrm>
          <a:prstGeom prst="rect">
            <a:avLst/>
          </a:prstGeom>
          <a:noFill/>
        </p:spPr>
        <p:txBody>
          <a:bodyPr wrap="square" lIns="0" rIns="0" tIns="0" bIns="0" anchor="t">
            <a:spAutoFit/>
          </a:bodyPr>
          <a:lstStyle/>
          <a:p>
            <a:pPr algn="l">
              <a:lnSpc>
                <a:spcPct val="115000"/>
              </a:lnSpc>
              <a:spcBef>
                <a:spcPts val="0"/>
              </a:spcBef>
              <a:spcAft>
                <a:spcPts val="0"/>
              </a:spcAft>
            </a:pPr>
            <a:r>
              <a:rPr sz="1080" b="1" i="0">
                <a:solidFill>
                  <a:srgbClr val="0F172A"/>
                </a:solidFill>
              </a:rPr>
              <a:t>Proof type, binding method, holder binding, key binding are four different things.</a:t>
            </a:r>
          </a:p>
        </p:txBody>
      </p:sp>
      <p:sp>
        <p:nvSpPr>
          <p:cNvPr id="20" name="TextBox 19"/>
          <p:cNvSpPr txBox="1"/>
          <p:nvPr/>
        </p:nvSpPr>
        <p:spPr>
          <a:xfrm>
            <a:off x="1051560" y="3456432"/>
            <a:ext cx="4733391" cy="384048"/>
          </a:xfrm>
          <a:prstGeom prst="rect">
            <a:avLst/>
          </a:prstGeom>
          <a:noFill/>
        </p:spPr>
        <p:txBody>
          <a:bodyPr wrap="square" lIns="0" rIns="0" tIns="0" bIns="0" anchor="t">
            <a:spAutoFit/>
          </a:bodyPr>
          <a:lstStyle/>
          <a:p>
            <a:pPr algn="l">
              <a:lnSpc>
                <a:spcPct val="122000"/>
              </a:lnSpc>
              <a:spcBef>
                <a:spcPts val="0"/>
              </a:spcBef>
              <a:spcAft>
                <a:spcPts val="0"/>
              </a:spcAft>
            </a:pPr>
            <a:r>
              <a:rPr sz="930" b="0" i="0">
                <a:solidFill>
                  <a:srgbClr val="5B6B7F"/>
                </a:solidFill>
              </a:rPr>
              <a:t>Ask which one someone means before agreeing to anything.</a:t>
            </a:r>
          </a:p>
        </p:txBody>
      </p:sp>
      <p:sp>
        <p:nvSpPr>
          <p:cNvPr id="21" name="Rounded Rectangle 20"/>
          <p:cNvSpPr/>
          <p:nvPr/>
        </p:nvSpPr>
        <p:spPr>
          <a:xfrm>
            <a:off x="6205575" y="2852928"/>
            <a:ext cx="5483199" cy="1024128"/>
          </a:xfrm>
          <a:prstGeom prst="roundRect">
            <a:avLst>
              <a:gd name="adj" fmla="val 7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5575" y="2852928"/>
            <a:ext cx="50292" cy="10241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88455" y="2999232"/>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4</a:t>
            </a:r>
          </a:p>
        </p:txBody>
      </p:sp>
      <p:sp>
        <p:nvSpPr>
          <p:cNvPr id="24" name="TextBox 23"/>
          <p:cNvSpPr txBox="1"/>
          <p:nvPr/>
        </p:nvSpPr>
        <p:spPr>
          <a:xfrm>
            <a:off x="6754215" y="2980944"/>
            <a:ext cx="4733391" cy="457200"/>
          </a:xfrm>
          <a:prstGeom prst="rect">
            <a:avLst/>
          </a:prstGeom>
          <a:noFill/>
        </p:spPr>
        <p:txBody>
          <a:bodyPr wrap="square" lIns="0" rIns="0" tIns="0" bIns="0" anchor="t">
            <a:spAutoFit/>
          </a:bodyPr>
          <a:lstStyle/>
          <a:p>
            <a:pPr algn="l">
              <a:lnSpc>
                <a:spcPct val="115000"/>
              </a:lnSpc>
              <a:spcBef>
                <a:spcPts val="0"/>
              </a:spcBef>
              <a:spcAft>
                <a:spcPts val="0"/>
              </a:spcAft>
            </a:pPr>
            <a:r>
              <a:rPr sz="1080" b="1" i="0">
                <a:solidFill>
                  <a:srgbClr val="0F172A"/>
                </a:solidFill>
              </a:rPr>
              <a:t>Format choice decides selective disclosure, verification and key resolution.</a:t>
            </a:r>
          </a:p>
        </p:txBody>
      </p:sp>
      <p:sp>
        <p:nvSpPr>
          <p:cNvPr id="25" name="TextBox 24"/>
          <p:cNvSpPr txBox="1"/>
          <p:nvPr/>
        </p:nvSpPr>
        <p:spPr>
          <a:xfrm>
            <a:off x="6754215" y="3456432"/>
            <a:ext cx="4733391" cy="384048"/>
          </a:xfrm>
          <a:prstGeom prst="rect">
            <a:avLst/>
          </a:prstGeom>
          <a:noFill/>
        </p:spPr>
        <p:txBody>
          <a:bodyPr wrap="square" lIns="0" rIns="0" tIns="0" bIns="0" anchor="t">
            <a:spAutoFit/>
          </a:bodyPr>
          <a:lstStyle/>
          <a:p>
            <a:pPr algn="l">
              <a:lnSpc>
                <a:spcPct val="122000"/>
              </a:lnSpc>
              <a:spcBef>
                <a:spcPts val="0"/>
              </a:spcBef>
              <a:spcAft>
                <a:spcPts val="0"/>
              </a:spcAft>
            </a:pPr>
            <a:r>
              <a:rPr sz="930" b="0" i="0">
                <a:solidFill>
                  <a:srgbClr val="5B6B7F"/>
                </a:solidFill>
              </a:rPr>
              <a:t>It follows from your claims, not from fashion. It is the hardest decision to reverse.</a:t>
            </a:r>
          </a:p>
        </p:txBody>
      </p:sp>
      <p:sp>
        <p:nvSpPr>
          <p:cNvPr id="26" name="Rounded Rectangle 25"/>
          <p:cNvSpPr/>
          <p:nvPr/>
        </p:nvSpPr>
        <p:spPr>
          <a:xfrm>
            <a:off x="502920" y="4023360"/>
            <a:ext cx="5483199" cy="1024128"/>
          </a:xfrm>
          <a:prstGeom prst="roundRect">
            <a:avLst>
              <a:gd name="adj" fmla="val 7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4023360"/>
            <a:ext cx="50292" cy="1024128"/>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5800" y="4169664"/>
            <a:ext cx="274320" cy="274320"/>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5</a:t>
            </a:r>
          </a:p>
        </p:txBody>
      </p:sp>
      <p:sp>
        <p:nvSpPr>
          <p:cNvPr id="29" name="TextBox 28"/>
          <p:cNvSpPr txBox="1"/>
          <p:nvPr/>
        </p:nvSpPr>
        <p:spPr>
          <a:xfrm>
            <a:off x="1051560" y="4151376"/>
            <a:ext cx="4733391" cy="457200"/>
          </a:xfrm>
          <a:prstGeom prst="rect">
            <a:avLst/>
          </a:prstGeom>
          <a:noFill/>
        </p:spPr>
        <p:txBody>
          <a:bodyPr wrap="square" lIns="0" rIns="0" tIns="0" bIns="0" anchor="t">
            <a:spAutoFit/>
          </a:bodyPr>
          <a:lstStyle/>
          <a:p>
            <a:pPr algn="l">
              <a:lnSpc>
                <a:spcPct val="115000"/>
              </a:lnSpc>
              <a:spcBef>
                <a:spcPts val="0"/>
              </a:spcBef>
              <a:spcAft>
                <a:spcPts val="0"/>
              </a:spcAft>
            </a:pPr>
            <a:r>
              <a:rPr sz="1080" b="1" i="0">
                <a:solidFill>
                  <a:srgbClr val="0F172A"/>
                </a:solidFill>
              </a:rPr>
              <a:t>Signature verification is not trust.</a:t>
            </a:r>
          </a:p>
        </p:txBody>
      </p:sp>
      <p:sp>
        <p:nvSpPr>
          <p:cNvPr id="30" name="TextBox 29"/>
          <p:cNvSpPr txBox="1"/>
          <p:nvPr/>
        </p:nvSpPr>
        <p:spPr>
          <a:xfrm>
            <a:off x="1051560" y="4626864"/>
            <a:ext cx="4733391" cy="384048"/>
          </a:xfrm>
          <a:prstGeom prst="rect">
            <a:avLst/>
          </a:prstGeom>
          <a:noFill/>
        </p:spPr>
        <p:txBody>
          <a:bodyPr wrap="square" lIns="0" rIns="0" tIns="0" bIns="0" anchor="t">
            <a:spAutoFit/>
          </a:bodyPr>
          <a:lstStyle/>
          <a:p>
            <a:pPr algn="l">
              <a:lnSpc>
                <a:spcPct val="122000"/>
              </a:lnSpc>
              <a:spcBef>
                <a:spcPts val="0"/>
              </a:spcBef>
              <a:spcAft>
                <a:spcPts val="0"/>
              </a:spcAft>
            </a:pPr>
            <a:r>
              <a:rPr sz="930" b="0" i="0">
                <a:solidFill>
                  <a:srgbClr val="5B6B7F"/>
                </a:solidFill>
              </a:rPr>
              <a:t>A valid signature from an issuer you do not accept is worthless. Trust policy is separate from cryptography.</a:t>
            </a:r>
          </a:p>
        </p:txBody>
      </p:sp>
      <p:sp>
        <p:nvSpPr>
          <p:cNvPr id="31" name="Rounded Rectangle 30"/>
          <p:cNvSpPr/>
          <p:nvPr/>
        </p:nvSpPr>
        <p:spPr>
          <a:xfrm>
            <a:off x="6205575" y="4023360"/>
            <a:ext cx="5483199" cy="1024128"/>
          </a:xfrm>
          <a:prstGeom prst="roundRect">
            <a:avLst>
              <a:gd name="adj" fmla="val 7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05575" y="4023360"/>
            <a:ext cx="50292" cy="102412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88455" y="4169664"/>
            <a:ext cx="274320" cy="27432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6</a:t>
            </a:r>
          </a:p>
        </p:txBody>
      </p:sp>
      <p:sp>
        <p:nvSpPr>
          <p:cNvPr id="34" name="TextBox 33"/>
          <p:cNvSpPr txBox="1"/>
          <p:nvPr/>
        </p:nvSpPr>
        <p:spPr>
          <a:xfrm>
            <a:off x="6754215" y="4151376"/>
            <a:ext cx="4733391" cy="457200"/>
          </a:xfrm>
          <a:prstGeom prst="rect">
            <a:avLst/>
          </a:prstGeom>
          <a:noFill/>
        </p:spPr>
        <p:txBody>
          <a:bodyPr wrap="square" lIns="0" rIns="0" tIns="0" bIns="0" anchor="t">
            <a:spAutoFit/>
          </a:bodyPr>
          <a:lstStyle/>
          <a:p>
            <a:pPr algn="l">
              <a:lnSpc>
                <a:spcPct val="115000"/>
              </a:lnSpc>
              <a:spcBef>
                <a:spcPts val="0"/>
              </a:spcBef>
              <a:spcAft>
                <a:spcPts val="0"/>
              </a:spcAft>
            </a:pPr>
            <a:r>
              <a:rPr sz="1080" b="1" i="0">
                <a:solidFill>
                  <a:srgbClr val="0F172A"/>
                </a:solidFill>
              </a:rPr>
              <a:t>The consent screen is a security control.</a:t>
            </a:r>
          </a:p>
        </p:txBody>
      </p:sp>
      <p:sp>
        <p:nvSpPr>
          <p:cNvPr id="35" name="TextBox 34"/>
          <p:cNvSpPr txBox="1"/>
          <p:nvPr/>
        </p:nvSpPr>
        <p:spPr>
          <a:xfrm>
            <a:off x="6754215" y="4626864"/>
            <a:ext cx="4733391" cy="384048"/>
          </a:xfrm>
          <a:prstGeom prst="rect">
            <a:avLst/>
          </a:prstGeom>
          <a:noFill/>
        </p:spPr>
        <p:txBody>
          <a:bodyPr wrap="square" lIns="0" rIns="0" tIns="0" bIns="0" anchor="t">
            <a:spAutoFit/>
          </a:bodyPr>
          <a:lstStyle/>
          <a:p>
            <a:pPr algn="l">
              <a:lnSpc>
                <a:spcPct val="122000"/>
              </a:lnSpc>
              <a:spcBef>
                <a:spcPts val="0"/>
              </a:spcBef>
              <a:spcAft>
                <a:spcPts val="0"/>
              </a:spcAft>
            </a:pPr>
            <a:r>
              <a:rPr sz="930" b="0" i="0">
                <a:solidFill>
                  <a:srgbClr val="5B6B7F"/>
                </a:solidFill>
              </a:rPr>
              <a:t>Most real attacks are social. Design it as carefully as you design the crypto.</a:t>
            </a:r>
          </a:p>
        </p:txBody>
      </p:sp>
      <p:sp>
        <p:nvSpPr>
          <p:cNvPr id="36" name="Rounded Rectangle 35"/>
          <p:cNvSpPr/>
          <p:nvPr/>
        </p:nvSpPr>
        <p:spPr>
          <a:xfrm>
            <a:off x="502920" y="5193792"/>
            <a:ext cx="5483199" cy="1024128"/>
          </a:xfrm>
          <a:prstGeom prst="roundRect">
            <a:avLst>
              <a:gd name="adj" fmla="val 7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5193792"/>
            <a:ext cx="50292" cy="1024128"/>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5800" y="5340096"/>
            <a:ext cx="274320" cy="274320"/>
          </a:xfrm>
          <a:prstGeom prst="ellipse">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7</a:t>
            </a:r>
          </a:p>
        </p:txBody>
      </p:sp>
      <p:sp>
        <p:nvSpPr>
          <p:cNvPr id="39" name="TextBox 38"/>
          <p:cNvSpPr txBox="1"/>
          <p:nvPr/>
        </p:nvSpPr>
        <p:spPr>
          <a:xfrm>
            <a:off x="1051560" y="5321807"/>
            <a:ext cx="4733391" cy="457200"/>
          </a:xfrm>
          <a:prstGeom prst="rect">
            <a:avLst/>
          </a:prstGeom>
          <a:noFill/>
        </p:spPr>
        <p:txBody>
          <a:bodyPr wrap="square" lIns="0" rIns="0" tIns="0" bIns="0" anchor="t">
            <a:spAutoFit/>
          </a:bodyPr>
          <a:lstStyle/>
          <a:p>
            <a:pPr algn="l">
              <a:lnSpc>
                <a:spcPct val="115000"/>
              </a:lnSpc>
              <a:spcBef>
                <a:spcPts val="0"/>
              </a:spcBef>
              <a:spcAft>
                <a:spcPts val="0"/>
              </a:spcAft>
            </a:pPr>
            <a:r>
              <a:rPr sz="1080" b="1" i="0">
                <a:solidFill>
                  <a:srgbClr val="0F172A"/>
                </a:solidFill>
              </a:rPr>
              <a:t>Key rotation without overlap breaks every credential you ever issued.</a:t>
            </a:r>
          </a:p>
        </p:txBody>
      </p:sp>
      <p:sp>
        <p:nvSpPr>
          <p:cNvPr id="40" name="TextBox 39"/>
          <p:cNvSpPr txBox="1"/>
          <p:nvPr/>
        </p:nvSpPr>
        <p:spPr>
          <a:xfrm>
            <a:off x="1051560" y="5797296"/>
            <a:ext cx="4733391" cy="384048"/>
          </a:xfrm>
          <a:prstGeom prst="rect">
            <a:avLst/>
          </a:prstGeom>
          <a:noFill/>
        </p:spPr>
        <p:txBody>
          <a:bodyPr wrap="square" lIns="0" rIns="0" tIns="0" bIns="0" anchor="t">
            <a:spAutoFit/>
          </a:bodyPr>
          <a:lstStyle/>
          <a:p>
            <a:pPr algn="l">
              <a:lnSpc>
                <a:spcPct val="122000"/>
              </a:lnSpc>
              <a:spcBef>
                <a:spcPts val="0"/>
              </a:spcBef>
              <a:spcAft>
                <a:spcPts val="0"/>
              </a:spcAft>
            </a:pPr>
            <a:r>
              <a:rPr sz="930" b="0" i="0">
                <a:solidFill>
                  <a:srgbClr val="5B6B7F"/>
                </a:solidFill>
              </a:rPr>
              <a:t>Publish retired keys for at least one full credential lifetime.</a:t>
            </a:r>
          </a:p>
        </p:txBody>
      </p:sp>
      <p:sp>
        <p:nvSpPr>
          <p:cNvPr id="41" name="Rounded Rectangle 40"/>
          <p:cNvSpPr/>
          <p:nvPr/>
        </p:nvSpPr>
        <p:spPr>
          <a:xfrm>
            <a:off x="6205575" y="5193792"/>
            <a:ext cx="5483199" cy="1024128"/>
          </a:xfrm>
          <a:prstGeom prst="roundRect">
            <a:avLst>
              <a:gd name="adj" fmla="val 7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05575" y="5193792"/>
            <a:ext cx="50292" cy="102412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88455" y="5340096"/>
            <a:ext cx="274320" cy="2743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8</a:t>
            </a:r>
          </a:p>
        </p:txBody>
      </p:sp>
      <p:sp>
        <p:nvSpPr>
          <p:cNvPr id="44" name="TextBox 43"/>
          <p:cNvSpPr txBox="1"/>
          <p:nvPr/>
        </p:nvSpPr>
        <p:spPr>
          <a:xfrm>
            <a:off x="6754215" y="5321807"/>
            <a:ext cx="4733391" cy="457200"/>
          </a:xfrm>
          <a:prstGeom prst="rect">
            <a:avLst/>
          </a:prstGeom>
          <a:noFill/>
        </p:spPr>
        <p:txBody>
          <a:bodyPr wrap="square" lIns="0" rIns="0" tIns="0" bIns="0" anchor="t">
            <a:spAutoFit/>
          </a:bodyPr>
          <a:lstStyle/>
          <a:p>
            <a:pPr algn="l">
              <a:lnSpc>
                <a:spcPct val="115000"/>
              </a:lnSpc>
              <a:spcBef>
                <a:spcPts val="0"/>
              </a:spcBef>
              <a:spcAft>
                <a:spcPts val="0"/>
              </a:spcAft>
            </a:pPr>
            <a:r>
              <a:rPr sz="1080" b="1" i="0">
                <a:solidFill>
                  <a:srgbClr val="0F172A"/>
                </a:solidFill>
              </a:rPr>
              <a:t>Configuration beats customisation, every time.</a:t>
            </a:r>
          </a:p>
        </p:txBody>
      </p:sp>
      <p:sp>
        <p:nvSpPr>
          <p:cNvPr id="45" name="TextBox 44"/>
          <p:cNvSpPr txBox="1"/>
          <p:nvPr/>
        </p:nvSpPr>
        <p:spPr>
          <a:xfrm>
            <a:off x="6754215" y="5797296"/>
            <a:ext cx="4733391" cy="384048"/>
          </a:xfrm>
          <a:prstGeom prst="rect">
            <a:avLst/>
          </a:prstGeom>
          <a:noFill/>
        </p:spPr>
        <p:txBody>
          <a:bodyPr wrap="square" lIns="0" rIns="0" tIns="0" bIns="0" anchor="t">
            <a:spAutoFit/>
          </a:bodyPr>
          <a:lstStyle/>
          <a:p>
            <a:pPr algn="l">
              <a:lnSpc>
                <a:spcPct val="122000"/>
              </a:lnSpc>
              <a:spcBef>
                <a:spcPts val="0"/>
              </a:spcBef>
              <a:spcAft>
                <a:spcPts val="0"/>
              </a:spcAft>
            </a:pPr>
            <a:r>
              <a:rPr sz="930" b="0" i="0">
                <a:solidFill>
                  <a:srgbClr val="5B6B7F"/>
                </a:solidFill>
              </a:rPr>
              <a:t>Push change into issuer metadata and Mimoto config. App-store cycles are the slowest thing you own.</a:t>
            </a:r>
          </a:p>
        </p:txBody>
      </p:sp>
      <p:sp>
        <p:nvSpPr>
          <p:cNvPr id="46" name="TextBox 4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Recap and next steps</a:t>
            </a:r>
          </a:p>
        </p:txBody>
      </p:sp>
      <p:sp>
        <p:nvSpPr>
          <p:cNvPr id="47" name="TextBox 4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rPr>
              <a:t>WHAT HAPPENS AFTER TODAY</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rPr>
              <a:t>Next steps for the Brazil implementation</a:t>
            </a:r>
          </a:p>
        </p:txBody>
      </p:sp>
      <p:sp>
        <p:nvSpPr>
          <p:cNvPr id="4" name="TextBox 3"/>
          <p:cNvSpPr txBox="1"/>
          <p:nvPr/>
        </p:nvSpPr>
        <p:spPr>
          <a:xfrm>
            <a:off x="502920" y="1078992"/>
            <a:ext cx="11185855" cy="269378"/>
          </a:xfrm>
          <a:prstGeom prst="rect">
            <a:avLst/>
          </a:prstGeom>
          <a:noFill/>
        </p:spPr>
        <p:txBody>
          <a:bodyPr wrap="square" lIns="0" rIns="0" tIns="0" bIns="0" anchor="t">
            <a:spAutoFit/>
          </a:bodyPr>
          <a:lstStyle/>
          <a:p>
            <a:pPr algn="l">
              <a:lnSpc>
                <a:spcPct val="114000"/>
              </a:lnSpc>
              <a:spcBef>
                <a:spcPts val="0"/>
              </a:spcBef>
              <a:spcAft>
                <a:spcPts val="0"/>
              </a:spcAft>
            </a:pPr>
            <a:r>
              <a:rPr sz="1080" b="0" i="0">
                <a:solidFill>
                  <a:srgbClr val="5B6B7F"/>
                </a:solidFill>
                <a:latin typeface="Arial"/>
              </a:rPr>
              <a:t>Concrete, owned, and dated. A workshop that ends without owners ends without effect.</a:t>
            </a:r>
          </a:p>
        </p:txBody>
      </p:sp>
      <p:cxnSp>
        <p:nvCxnSpPr>
          <p:cNvPr id="5" name="Connector 4"/>
          <p:cNvCxnSpPr/>
          <p:nvPr/>
        </p:nvCxnSpPr>
        <p:spPr>
          <a:xfrm>
            <a:off x="502920" y="1439810"/>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14114"/>
            <a:ext cx="2659303" cy="2614559"/>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14114"/>
            <a:ext cx="2659303" cy="5546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04264"/>
            <a:ext cx="2293543" cy="253533"/>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0E9488"/>
                </a:solidFill>
              </a:rPr>
              <a:t>THIS WEEK</a:t>
            </a:r>
          </a:p>
        </p:txBody>
      </p:sp>
      <p:sp>
        <p:nvSpPr>
          <p:cNvPr id="9" name="Oval 8"/>
          <p:cNvSpPr/>
          <p:nvPr/>
        </p:nvSpPr>
        <p:spPr>
          <a:xfrm>
            <a:off x="708660" y="2240067"/>
            <a:ext cx="77724" cy="6734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84564"/>
            <a:ext cx="2083231" cy="498548"/>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Stand up a full local stack (</a:t>
            </a:r>
            <a:r>
              <a:rPr sz="910" b="0" i="0">
                <a:solidFill>
                  <a:srgbClr val="1D4E89"/>
                </a:solidFill>
                <a:latin typeface="Consolas"/>
              </a:rPr>
              <a:t>docker-compose</a:t>
            </a:r>
            <a:r>
              <a:rPr sz="910" b="0" i="0">
                <a:solidFill>
                  <a:srgbClr val="0F172A"/>
                </a:solidFill>
                <a:latin typeface="Arial"/>
              </a:rPr>
              <a:t> in </a:t>
            </a:r>
            <a:r>
              <a:rPr sz="910" b="0" i="0">
                <a:solidFill>
                  <a:srgbClr val="1D4E89"/>
                </a:solidFill>
                <a:latin typeface="Consolas"/>
              </a:rPr>
              <a:t>inji-web</a:t>
            </a:r>
            <a:r>
              <a:rPr sz="910" b="0" i="0">
                <a:solidFill>
                  <a:srgbClr val="0F172A"/>
                </a:solidFill>
                <a:latin typeface="Arial"/>
              </a:rPr>
              <a:t>).</a:t>
            </a:r>
          </a:p>
        </p:txBody>
      </p:sp>
      <p:sp>
        <p:nvSpPr>
          <p:cNvPr id="11" name="Oval 10"/>
          <p:cNvSpPr/>
          <p:nvPr/>
        </p:nvSpPr>
        <p:spPr>
          <a:xfrm>
            <a:off x="708660" y="2730694"/>
            <a:ext cx="77724" cy="6734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675189"/>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Build a throwaway issuer and verifier to experiment against.</a:t>
            </a:r>
          </a:p>
        </p:txBody>
      </p:sp>
      <p:sp>
        <p:nvSpPr>
          <p:cNvPr id="13" name="Oval 12"/>
          <p:cNvSpPr/>
          <p:nvPr/>
        </p:nvSpPr>
        <p:spPr>
          <a:xfrm>
            <a:off x="708660" y="3086828"/>
            <a:ext cx="77724" cy="6734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031324"/>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Assign an owner to every open question from section 13.</a:t>
            </a:r>
          </a:p>
        </p:txBody>
      </p:sp>
      <p:sp>
        <p:nvSpPr>
          <p:cNvPr id="15" name="Oval 14"/>
          <p:cNvSpPr/>
          <p:nvPr/>
        </p:nvSpPr>
        <p:spPr>
          <a:xfrm>
            <a:off x="708660" y="3442963"/>
            <a:ext cx="77724" cy="6734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387458"/>
            <a:ext cx="2083231" cy="498548"/>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Review the existing </a:t>
            </a:r>
            <a:r>
              <a:rPr sz="910" b="0" i="0">
                <a:solidFill>
                  <a:srgbClr val="1D4E89"/>
                </a:solidFill>
                <a:latin typeface="Consolas"/>
              </a:rPr>
              <a:t>pt.json</a:t>
            </a:r>
            <a:r>
              <a:rPr sz="910" b="0" i="0">
                <a:solidFill>
                  <a:srgbClr val="0F172A"/>
                </a:solidFill>
                <a:latin typeface="Arial"/>
              </a:rPr>
              <a:t> translation for Brazilian Portuguese.</a:t>
            </a:r>
          </a:p>
        </p:txBody>
      </p:sp>
      <p:sp>
        <p:nvSpPr>
          <p:cNvPr id="17" name="Rounded Rectangle 16"/>
          <p:cNvSpPr/>
          <p:nvPr/>
        </p:nvSpPr>
        <p:spPr>
          <a:xfrm>
            <a:off x="3345103" y="1614114"/>
            <a:ext cx="2659303" cy="2614559"/>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45103" y="1614114"/>
            <a:ext cx="2659303" cy="5546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7983" y="1804264"/>
            <a:ext cx="2293543" cy="253533"/>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1D4E89"/>
                </a:solidFill>
              </a:rPr>
              <a:t>THIS MONTH</a:t>
            </a:r>
          </a:p>
        </p:txBody>
      </p:sp>
      <p:sp>
        <p:nvSpPr>
          <p:cNvPr id="20" name="Oval 19"/>
          <p:cNvSpPr/>
          <p:nvPr/>
        </p:nvSpPr>
        <p:spPr>
          <a:xfrm>
            <a:off x="3550843" y="2240067"/>
            <a:ext cx="77724" cy="6734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38295" y="2184564"/>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Decide claims and disclosure requirements per credential type.</a:t>
            </a:r>
          </a:p>
        </p:txBody>
      </p:sp>
      <p:sp>
        <p:nvSpPr>
          <p:cNvPr id="22" name="Oval 21"/>
          <p:cNvSpPr/>
          <p:nvPr/>
        </p:nvSpPr>
        <p:spPr>
          <a:xfrm>
            <a:off x="3550843" y="2596202"/>
            <a:ext cx="77724" cy="6734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38295" y="2540698"/>
            <a:ext cx="2083231" cy="498548"/>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Decide the format per credential type, with the reasoning written down.</a:t>
            </a:r>
          </a:p>
        </p:txBody>
      </p:sp>
      <p:sp>
        <p:nvSpPr>
          <p:cNvPr id="24" name="Oval 23"/>
          <p:cNvSpPr/>
          <p:nvPr/>
        </p:nvSpPr>
        <p:spPr>
          <a:xfrm>
            <a:off x="3550843" y="3086828"/>
            <a:ext cx="77724" cy="6734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38295" y="3031324"/>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Agree the binding and assurance level per credential type.</a:t>
            </a:r>
          </a:p>
        </p:txBody>
      </p:sp>
      <p:sp>
        <p:nvSpPr>
          <p:cNvPr id="26" name="Oval 25"/>
          <p:cNvSpPr/>
          <p:nvPr/>
        </p:nvSpPr>
        <p:spPr>
          <a:xfrm>
            <a:off x="3550843" y="3442963"/>
            <a:ext cx="77724" cy="6734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8295" y="3387458"/>
            <a:ext cx="2083231" cy="498548"/>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Start the trust framework and key publication conversation — it has the longest lead time.</a:t>
            </a:r>
          </a:p>
        </p:txBody>
      </p:sp>
      <p:sp>
        <p:nvSpPr>
          <p:cNvPr id="28" name="Rounded Rectangle 27"/>
          <p:cNvSpPr/>
          <p:nvPr/>
        </p:nvSpPr>
        <p:spPr>
          <a:xfrm>
            <a:off x="6187287" y="1614114"/>
            <a:ext cx="2659303" cy="2614559"/>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7287" y="1614114"/>
            <a:ext cx="2659303" cy="554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0167" y="1804264"/>
            <a:ext cx="2293543" cy="253533"/>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6D28D9"/>
                </a:solidFill>
              </a:rPr>
              <a:t>THIS QUARTER</a:t>
            </a:r>
          </a:p>
        </p:txBody>
      </p:sp>
      <p:sp>
        <p:nvSpPr>
          <p:cNvPr id="31" name="Oval 30"/>
          <p:cNvSpPr/>
          <p:nvPr/>
        </p:nvSpPr>
        <p:spPr>
          <a:xfrm>
            <a:off x="6393027" y="2240067"/>
            <a:ext cx="77724" cy="6734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0479" y="2184564"/>
            <a:ext cx="2083231" cy="498548"/>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Agree the interoperability profile in writing with the first external issuer and verifier.</a:t>
            </a:r>
          </a:p>
        </p:txBody>
      </p:sp>
      <p:sp>
        <p:nvSpPr>
          <p:cNvPr id="33" name="Oval 32"/>
          <p:cNvSpPr/>
          <p:nvPr/>
        </p:nvSpPr>
        <p:spPr>
          <a:xfrm>
            <a:off x="6393027" y="2730694"/>
            <a:ext cx="77724" cy="6734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0479" y="2675189"/>
            <a:ext cx="2083231" cy="498548"/>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Run a pilot with real citizens in one region, including a low-connectivity site.</a:t>
            </a:r>
          </a:p>
        </p:txBody>
      </p:sp>
      <p:sp>
        <p:nvSpPr>
          <p:cNvPr id="35" name="Oval 34"/>
          <p:cNvSpPr/>
          <p:nvPr/>
        </p:nvSpPr>
        <p:spPr>
          <a:xfrm>
            <a:off x="6393027" y="3221320"/>
            <a:ext cx="77724" cy="6734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0479" y="3165815"/>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Test key rotation as a planned exercise.</a:t>
            </a:r>
          </a:p>
        </p:txBody>
      </p:sp>
      <p:sp>
        <p:nvSpPr>
          <p:cNvPr id="37" name="Oval 36"/>
          <p:cNvSpPr/>
          <p:nvPr/>
        </p:nvSpPr>
        <p:spPr>
          <a:xfrm>
            <a:off x="6393027" y="3577455"/>
            <a:ext cx="77724" cy="6734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0479" y="3521950"/>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Decide the deployment and data residency model for Mimoto.</a:t>
            </a:r>
          </a:p>
        </p:txBody>
      </p:sp>
      <p:sp>
        <p:nvSpPr>
          <p:cNvPr id="39" name="Rounded Rectangle 38"/>
          <p:cNvSpPr/>
          <p:nvPr/>
        </p:nvSpPr>
        <p:spPr>
          <a:xfrm>
            <a:off x="9029471" y="1614114"/>
            <a:ext cx="2659303" cy="2614559"/>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29471" y="1614114"/>
            <a:ext cx="2659303" cy="55460"/>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12351" y="1804264"/>
            <a:ext cx="2293543" cy="253533"/>
          </a:xfrm>
          <a:prstGeom prst="rect">
            <a:avLst/>
          </a:prstGeom>
          <a:noFill/>
        </p:spPr>
        <p:txBody>
          <a:bodyPr wrap="square" lIns="0" rIns="0" tIns="0" bIns="0" anchor="t">
            <a:spAutoFit/>
          </a:bodyPr>
          <a:lstStyle/>
          <a:p>
            <a:pPr algn="l">
              <a:lnSpc>
                <a:spcPct val="114000"/>
              </a:lnSpc>
              <a:spcBef>
                <a:spcPts val="0"/>
              </a:spcBef>
              <a:spcAft>
                <a:spcPts val="0"/>
              </a:spcAft>
            </a:pPr>
            <a:r>
              <a:rPr sz="1080" b="1" i="0">
                <a:solidFill>
                  <a:srgbClr val="15703D"/>
                </a:solidFill>
              </a:rPr>
              <a:t>ONGOING</a:t>
            </a:r>
          </a:p>
        </p:txBody>
      </p:sp>
      <p:sp>
        <p:nvSpPr>
          <p:cNvPr id="42" name="Oval 41"/>
          <p:cNvSpPr/>
          <p:nvPr/>
        </p:nvSpPr>
        <p:spPr>
          <a:xfrm>
            <a:off x="9235211" y="2240067"/>
            <a:ext cx="77724" cy="67344"/>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22663" y="2184564"/>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Contribute fixes and gaps upstream rather than forking.</a:t>
            </a:r>
          </a:p>
        </p:txBody>
      </p:sp>
      <p:sp>
        <p:nvSpPr>
          <p:cNvPr id="44" name="Oval 43"/>
          <p:cNvSpPr/>
          <p:nvPr/>
        </p:nvSpPr>
        <p:spPr>
          <a:xfrm>
            <a:off x="9235211" y="2596202"/>
            <a:ext cx="77724" cy="67344"/>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22663" y="2540698"/>
            <a:ext cx="2083231" cy="498548"/>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Track draft versions — OpenID4VCI 13+, OpenID4VP 23+, SD-JWT VC, and the DCQL transition.</a:t>
            </a:r>
          </a:p>
        </p:txBody>
      </p:sp>
      <p:sp>
        <p:nvSpPr>
          <p:cNvPr id="46" name="Oval 45"/>
          <p:cNvSpPr/>
          <p:nvPr/>
        </p:nvSpPr>
        <p:spPr>
          <a:xfrm>
            <a:off x="9235211" y="3086828"/>
            <a:ext cx="77724" cy="67344"/>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22663" y="3031324"/>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Keep a conformance checklist and run it every release.</a:t>
            </a:r>
          </a:p>
        </p:txBody>
      </p:sp>
      <p:sp>
        <p:nvSpPr>
          <p:cNvPr id="48" name="Oval 47"/>
          <p:cNvSpPr/>
          <p:nvPr/>
        </p:nvSpPr>
        <p:spPr>
          <a:xfrm>
            <a:off x="9235211" y="3442963"/>
            <a:ext cx="77724" cy="67344"/>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22663" y="3387458"/>
            <a:ext cx="2083231" cy="364056"/>
          </a:xfrm>
          <a:prstGeom prst="rect">
            <a:avLst/>
          </a:prstGeom>
          <a:noFill/>
        </p:spPr>
        <p:txBody>
          <a:bodyPr wrap="square" lIns="0" rIns="0" tIns="0" bIns="0" anchor="t">
            <a:spAutoFit/>
          </a:bodyPr>
          <a:lstStyle/>
          <a:p>
            <a:pPr algn="l">
              <a:lnSpc>
                <a:spcPct val="124000"/>
              </a:lnSpc>
              <a:spcBef>
                <a:spcPts val="0"/>
              </a:spcBef>
              <a:spcAft>
                <a:spcPts val="0"/>
              </a:spcAft>
            </a:pPr>
            <a:r>
              <a:rPr sz="910" b="0" i="0">
                <a:solidFill>
                  <a:srgbClr val="0F172A"/>
                </a:solidFill>
                <a:latin typeface="Arial"/>
              </a:rPr>
              <a:t>Re-run this workshop for each new team that joins.</a:t>
            </a:r>
          </a:p>
        </p:txBody>
      </p:sp>
      <p:sp>
        <p:nvSpPr>
          <p:cNvPr id="50" name="TextBox 49"/>
          <p:cNvSpPr txBox="1"/>
          <p:nvPr/>
        </p:nvSpPr>
        <p:spPr>
          <a:xfrm>
            <a:off x="502920" y="4450515"/>
            <a:ext cx="11185855" cy="253533"/>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rPr>
              <a:t>REFERENCES — read these, not blog posts</a:t>
            </a:r>
          </a:p>
        </p:txBody>
      </p:sp>
      <p:graphicFrame>
        <p:nvGraphicFramePr>
          <p:cNvPr id="51" name="Table 50"/>
          <p:cNvGraphicFramePr>
            <a:graphicFrameLocks noGrp="1"/>
          </p:cNvGraphicFramePr>
          <p:nvPr/>
        </p:nvGraphicFramePr>
        <p:xfrm>
          <a:off x="502920" y="4719894"/>
          <a:ext cx="11185854" cy="1552887"/>
        </p:xfrm>
        <a:graphic>
          <a:graphicData uri="http://schemas.openxmlformats.org/drawingml/2006/table">
            <a:tbl>
              <a:tblPr firstRow="1">
                <a:tableStyleId>{2D5ABB26-0587-4C30-8999-92F81FD0307C}</a:tableStyleId>
              </a:tblPr>
              <a:tblGrid>
                <a:gridCol w="1650372"/>
                <a:gridCol w="4767741"/>
                <a:gridCol w="4767741"/>
              </a:tblGrid>
              <a:tr h="221841">
                <a:tc>
                  <a:txBody>
                    <a:bodyPr wrap="square"/>
                    <a:lstStyle/>
                    <a:p>
                      <a:pPr algn="l"/>
                      <a:r>
                        <a:rPr sz="890" b="1">
                          <a:solidFill>
                            <a:srgbClr val="FFFFFF"/>
                          </a:solidFill>
                          <a:latin typeface="Arial"/>
                        </a:rPr>
                        <a:t>Topic</a:t>
                      </a:r>
                    </a:p>
                  </a:txBody>
                  <a:tcPr marL="64008" marR="54864" marT="27432" marB="27432" anchor="ctr">
                    <a:solidFill>
                      <a:srgbClr val="1D4E89"/>
                    </a:solidFill>
                  </a:tcPr>
                </a:tc>
                <a:tc>
                  <a:txBody>
                    <a:bodyPr wrap="square"/>
                    <a:lstStyle/>
                    <a:p>
                      <a:pPr algn="l"/>
                      <a:r>
                        <a:rPr sz="890" b="1">
                          <a:solidFill>
                            <a:srgbClr val="FFFFFF"/>
                          </a:solidFill>
                          <a:latin typeface="Arial"/>
                        </a:rPr>
                        <a:t>Where</a:t>
                      </a:r>
                    </a:p>
                  </a:txBody>
                  <a:tcPr marL="64008" marR="54864" marT="27432" marB="27432" anchor="ctr">
                    <a:solidFill>
                      <a:srgbClr val="1D4E89"/>
                    </a:solidFill>
                  </a:tcPr>
                </a:tc>
                <a:tc>
                  <a:txBody>
                    <a:bodyPr wrap="square"/>
                    <a:lstStyle/>
                    <a:p>
                      <a:pPr algn="l"/>
                      <a:r>
                        <a:rPr sz="890" b="1">
                          <a:solidFill>
                            <a:srgbClr val="FFFFFF"/>
                          </a:solidFill>
                          <a:latin typeface="Arial"/>
                        </a:rPr>
                        <a:t>Note</a:t>
                      </a:r>
                    </a:p>
                  </a:txBody>
                  <a:tcPr marL="64008" marR="54864" marT="27432" marB="27432" anchor="ctr">
                    <a:solidFill>
                      <a:srgbClr val="1D4E89"/>
                    </a:solidFill>
                  </a:tcPr>
                </a:tc>
              </a:tr>
              <a:tr h="221841">
                <a:tc>
                  <a:txBody>
                    <a:bodyPr wrap="square"/>
                    <a:lstStyle/>
                    <a:p>
                      <a:pPr algn="l">
                        <a:lnSpc>
                          <a:spcPct val="105000"/>
                        </a:lnSpc>
                      </a:pPr>
                      <a:r>
                        <a:rPr sz="830" b="0">
                          <a:solidFill>
                            <a:srgbClr val="1E293B"/>
                          </a:solidFill>
                          <a:latin typeface="Arial"/>
                        </a:rPr>
                        <a:t>OpenID4VCI</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openid.net/specs/openid-4-verifiable-credential-issuance-1_0.html</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Inji supports drafts 11 and 13</a:t>
                      </a:r>
                    </a:p>
                  </a:txBody>
                  <a:tcPr marL="64008" marR="54864" marT="18288" marB="18288" anchor="ctr">
                    <a:solidFill>
                      <a:srgbClr val="FFFFFF"/>
                    </a:solidFill>
                  </a:tcPr>
                </a:tc>
              </a:tr>
              <a:tr h="221841">
                <a:tc>
                  <a:txBody>
                    <a:bodyPr wrap="square"/>
                    <a:lstStyle/>
                    <a:p>
                      <a:pPr algn="l">
                        <a:lnSpc>
                          <a:spcPct val="105000"/>
                        </a:lnSpc>
                      </a:pPr>
                      <a:r>
                        <a:rPr sz="830" b="0">
                          <a:solidFill>
                            <a:srgbClr val="1E293B"/>
                          </a:solidFill>
                          <a:latin typeface="Arial"/>
                        </a:rPr>
                        <a:t>OpenID4VP</a:t>
                      </a:r>
                    </a:p>
                  </a:txBody>
                  <a:tcPr marL="64008" marR="54864" marT="18288" marB="18288" anchor="ctr">
                    <a:solidFill>
                      <a:srgbClr val="F3F6F9"/>
                    </a:solidFill>
                  </a:tcPr>
                </a:tc>
                <a:tc>
                  <a:txBody>
                    <a:bodyPr wrap="square"/>
                    <a:lstStyle/>
                    <a:p>
                      <a:pPr algn="l">
                        <a:lnSpc>
                          <a:spcPct val="105000"/>
                        </a:lnSpc>
                      </a:pPr>
                      <a:r>
                        <a:rPr sz="830" b="0">
                          <a:solidFill>
                            <a:srgbClr val="1E293B"/>
                          </a:solidFill>
                          <a:latin typeface="Arial"/>
                        </a:rPr>
                        <a:t>openid.net/specs/openid-4-verifiable-presentations-1_0-23.html</a:t>
                      </a:r>
                    </a:p>
                  </a:txBody>
                  <a:tcPr marL="64008" marR="54864" marT="18288" marB="18288" anchor="ctr">
                    <a:solidFill>
                      <a:srgbClr val="F3F6F9"/>
                    </a:solidFill>
                  </a:tcPr>
                </a:tc>
                <a:tc>
                  <a:txBody>
                    <a:bodyPr wrap="square"/>
                    <a:lstStyle/>
                    <a:p>
                      <a:pPr algn="l">
                        <a:lnSpc>
                          <a:spcPct val="105000"/>
                        </a:lnSpc>
                      </a:pPr>
                      <a:r>
                        <a:rPr sz="830" b="0">
                          <a:solidFill>
                            <a:srgbClr val="1E293B"/>
                          </a:solidFill>
                          <a:latin typeface="Arial"/>
                        </a:rPr>
                        <a:t>Inji supports drafts 21 and 23</a:t>
                      </a:r>
                    </a:p>
                  </a:txBody>
                  <a:tcPr marL="64008" marR="54864" marT="18288" marB="18288" anchor="ctr">
                    <a:solidFill>
                      <a:srgbClr val="F3F6F9"/>
                    </a:solidFill>
                  </a:tcPr>
                </a:tc>
              </a:tr>
              <a:tr h="221841">
                <a:tc>
                  <a:txBody>
                    <a:bodyPr wrap="square"/>
                    <a:lstStyle/>
                    <a:p>
                      <a:pPr algn="l">
                        <a:lnSpc>
                          <a:spcPct val="105000"/>
                        </a:lnSpc>
                      </a:pPr>
                      <a:r>
                        <a:rPr sz="830" b="0">
                          <a:solidFill>
                            <a:srgbClr val="1E293B"/>
                          </a:solidFill>
                          <a:latin typeface="Arial"/>
                        </a:rPr>
                        <a:t>SD-JWT VC</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datatracker.ietf.org — draft-ietf-oauth-sd-jwt-vc</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and draft-ietf-oauth-selective-disclosure-jwt</a:t>
                      </a:r>
                    </a:p>
                  </a:txBody>
                  <a:tcPr marL="64008" marR="54864" marT="18288" marB="18288" anchor="ctr">
                    <a:solidFill>
                      <a:srgbClr val="FFFFFF"/>
                    </a:solidFill>
                  </a:tcPr>
                </a:tc>
              </a:tr>
              <a:tr h="221841">
                <a:tc>
                  <a:txBody>
                    <a:bodyPr wrap="square"/>
                    <a:lstStyle/>
                    <a:p>
                      <a:pPr algn="l">
                        <a:lnSpc>
                          <a:spcPct val="105000"/>
                        </a:lnSpc>
                      </a:pPr>
                      <a:r>
                        <a:rPr sz="830" b="0">
                          <a:solidFill>
                            <a:srgbClr val="1E293B"/>
                          </a:solidFill>
                          <a:latin typeface="Arial"/>
                        </a:rPr>
                        <a:t>PKCE / DPoP</a:t>
                      </a:r>
                    </a:p>
                  </a:txBody>
                  <a:tcPr marL="64008" marR="54864" marT="18288" marB="18288" anchor="ctr">
                    <a:solidFill>
                      <a:srgbClr val="F3F6F9"/>
                    </a:solidFill>
                  </a:tcPr>
                </a:tc>
                <a:tc>
                  <a:txBody>
                    <a:bodyPr wrap="square"/>
                    <a:lstStyle/>
                    <a:p>
                      <a:pPr algn="l">
                        <a:lnSpc>
                          <a:spcPct val="105000"/>
                        </a:lnSpc>
                      </a:pPr>
                      <a:r>
                        <a:rPr sz="830" b="0">
                          <a:solidFill>
                            <a:srgbClr val="1E293B"/>
                          </a:solidFill>
                          <a:latin typeface="Arial"/>
                        </a:rPr>
                        <a:t>RFC 7636  ·  RFC 9449</a:t>
                      </a:r>
                    </a:p>
                  </a:txBody>
                  <a:tcPr marL="64008" marR="54864" marT="18288" marB="18288" anchor="ctr">
                    <a:solidFill>
                      <a:srgbClr val="F3F6F9"/>
                    </a:solidFill>
                  </a:tcPr>
                </a:tc>
                <a:tc>
                  <a:txBody>
                    <a:bodyPr wrap="square"/>
                    <a:lstStyle/>
                    <a:p>
                      <a:pPr algn="l">
                        <a:lnSpc>
                          <a:spcPct val="105000"/>
                        </a:lnSpc>
                      </a:pPr>
                      <a:r>
                        <a:rPr sz="830" b="0">
                          <a:solidFill>
                            <a:srgbClr val="1E293B"/>
                          </a:solidFill>
                          <a:latin typeface="Arial"/>
                        </a:rPr>
                        <a:t>and RFC 8414 for AS metadata</a:t>
                      </a:r>
                    </a:p>
                  </a:txBody>
                  <a:tcPr marL="64008" marR="54864" marT="18288" marB="18288" anchor="ctr">
                    <a:solidFill>
                      <a:srgbClr val="F3F6F9"/>
                    </a:solidFill>
                  </a:tcPr>
                </a:tc>
              </a:tr>
              <a:tr h="221841">
                <a:tc>
                  <a:txBody>
                    <a:bodyPr wrap="square"/>
                    <a:lstStyle/>
                    <a:p>
                      <a:pPr algn="l">
                        <a:lnSpc>
                          <a:spcPct val="105000"/>
                        </a:lnSpc>
                      </a:pPr>
                      <a:r>
                        <a:rPr sz="830" b="0">
                          <a:solidFill>
                            <a:srgbClr val="1E293B"/>
                          </a:solidFill>
                          <a:latin typeface="Arial"/>
                        </a:rPr>
                        <a:t>mDoc / mDL</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ISO/IEC 18013-5  ·  ISO/IEC TS 18013-7</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proximity and online presentation</a:t>
                      </a:r>
                    </a:p>
                  </a:txBody>
                  <a:tcPr marL="64008" marR="54864" marT="18288" marB="18288" anchor="ctr">
                    <a:solidFill>
                      <a:srgbClr val="FFFFFF"/>
                    </a:solidFill>
                  </a:tcPr>
                </a:tc>
              </a:tr>
              <a:tr h="221841">
                <a:tc>
                  <a:txBody>
                    <a:bodyPr wrap="square"/>
                    <a:lstStyle/>
                    <a:p>
                      <a:pPr algn="l">
                        <a:lnSpc>
                          <a:spcPct val="105000"/>
                        </a:lnSpc>
                      </a:pPr>
                      <a:r>
                        <a:rPr sz="830" b="0">
                          <a:solidFill>
                            <a:srgbClr val="1E293B"/>
                          </a:solidFill>
                          <a:latin typeface="Arial"/>
                        </a:rPr>
                        <a:t>Inji</a:t>
                      </a:r>
                    </a:p>
                  </a:txBody>
                  <a:tcPr marL="64008" marR="54864" marT="18288" marB="18288" anchor="ctr">
                    <a:solidFill>
                      <a:srgbClr val="F3F6F9"/>
                    </a:solidFill>
                  </a:tcPr>
                </a:tc>
                <a:tc>
                  <a:txBody>
                    <a:bodyPr wrap="square"/>
                    <a:lstStyle/>
                    <a:p>
                      <a:pPr algn="l">
                        <a:lnSpc>
                          <a:spcPct val="105000"/>
                        </a:lnSpc>
                      </a:pPr>
                      <a:r>
                        <a:rPr sz="830" b="0">
                          <a:solidFill>
                            <a:srgbClr val="1E293B"/>
                          </a:solidFill>
                          <a:latin typeface="Arial"/>
                        </a:rPr>
                        <a:t>docs.inji.io  ·  github.com/mosip</a:t>
                      </a:r>
                    </a:p>
                  </a:txBody>
                  <a:tcPr marL="64008" marR="54864" marT="18288" marB="18288" anchor="ctr">
                    <a:solidFill>
                      <a:srgbClr val="F3F6F9"/>
                    </a:solidFill>
                  </a:tcPr>
                </a:tc>
                <a:tc>
                  <a:txBody>
                    <a:bodyPr wrap="square"/>
                    <a:lstStyle/>
                    <a:p>
                      <a:pPr algn="l">
                        <a:lnSpc>
                          <a:spcPct val="105000"/>
                        </a:lnSpc>
                      </a:pPr>
                      <a:r>
                        <a:rPr sz="830" b="0">
                          <a:solidFill>
                            <a:srgbClr val="1E293B"/>
                          </a:solidFill>
                          <a:latin typeface="Arial"/>
                        </a:rPr>
                        <a:t>inji-wallet, inji-web, mimoto, inji-vci-client, inji-openid4vp, vc-verifier</a:t>
                      </a:r>
                    </a:p>
                  </a:txBody>
                  <a:tcPr marL="64008" marR="54864" marT="18288" marB="18288" anchor="ctr">
                    <a:solidFill>
                      <a:srgbClr val="F3F6F9"/>
                    </a:solidFill>
                  </a:tcPr>
                </a:tc>
              </a:tr>
            </a:tbl>
          </a:graphicData>
        </a:graphic>
      </p:graphicFrame>
      <p:sp>
        <p:nvSpPr>
          <p:cNvPr id="52" name="TextBox 5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rPr>
              <a:t>Recap and next steps</a:t>
            </a:r>
          </a:p>
        </p:txBody>
      </p:sp>
      <p:sp>
        <p:nvSpPr>
          <p:cNvPr id="53" name="TextBox 5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48840"/>
            <a:ext cx="7863840" cy="1371600"/>
          </a:xfrm>
          <a:prstGeom prst="rect">
            <a:avLst/>
          </a:prstGeom>
          <a:noFill/>
        </p:spPr>
        <p:txBody>
          <a:bodyPr wrap="square" lIns="0" rIns="0" tIns="0" bIns="0" anchor="t">
            <a:spAutoFit/>
          </a:bodyPr>
          <a:lstStyle/>
          <a:p>
            <a:pPr algn="l">
              <a:lnSpc>
                <a:spcPct val="110000"/>
              </a:lnSpc>
              <a:spcBef>
                <a:spcPts val="0"/>
              </a:spcBef>
              <a:spcAft>
                <a:spcPts val="0"/>
              </a:spcAft>
            </a:pPr>
            <a:r>
              <a:rPr sz="3200" b="1" i="0">
                <a:solidFill>
                  <a:srgbClr val="FFFFFF"/>
                </a:solidFill>
              </a:rPr>
              <a:t>Obrigado — questions, arguments,
and disagreements welcome.</a:t>
            </a:r>
          </a:p>
        </p:txBody>
      </p:sp>
      <p:cxnSp>
        <p:nvCxnSpPr>
          <p:cNvPr id="5" name="Connector 4"/>
          <p:cNvCxnSpPr/>
          <p:nvPr/>
        </p:nvCxnSpPr>
        <p:spPr>
          <a:xfrm>
            <a:off x="1280160" y="3840480"/>
            <a:ext cx="3291840" cy="0"/>
          </a:xfrm>
          <a:prstGeom prst="line">
            <a:avLst/>
          </a:prstGeom>
          <a:ln w="31750">
            <a:solidFill>
              <a:srgbClr val="0E9488"/>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80160" y="4069080"/>
            <a:ext cx="8229600" cy="1280160"/>
          </a:xfrm>
          <a:prstGeom prst="rect">
            <a:avLst/>
          </a:prstGeom>
          <a:noFill/>
        </p:spPr>
        <p:txBody>
          <a:bodyPr wrap="square" lIns="0" rIns="0" tIns="0" bIns="0" anchor="t">
            <a:spAutoFit/>
          </a:bodyPr>
          <a:lstStyle/>
          <a:p>
            <a:pPr algn="l">
              <a:lnSpc>
                <a:spcPct val="130000"/>
              </a:lnSpc>
              <a:spcBef>
                <a:spcPts val="0"/>
              </a:spcBef>
              <a:spcAft>
                <a:spcPts val="0"/>
              </a:spcAft>
            </a:pPr>
            <a:r>
              <a:rPr sz="1400" b="0" i="0">
                <a:solidFill>
                  <a:srgbClr val="9EB8CE"/>
                </a:solidFill>
              </a:rPr>
              <a:t>The best outcome of today is a list of things we could not answer, each with a name against it.</a:t>
            </a:r>
          </a:p>
          <a:p>
            <a:pPr algn="l">
              <a:lnSpc>
                <a:spcPct val="130000"/>
              </a:lnSpc>
              <a:spcBef>
                <a:spcPts val="1000"/>
              </a:spcBef>
              <a:spcAft>
                <a:spcPts val="0"/>
              </a:spcAft>
            </a:pPr>
            <a:r>
              <a:rPr sz="1150" b="0" i="0">
                <a:solidFill>
                  <a:srgbClr val="62809B"/>
                </a:solidFill>
              </a:rPr>
              <a:t>Slides include full speaker notes. Every version-specific statement should be re-checked against the release you deploy.</a:t>
            </a:r>
          </a:p>
        </p:txBody>
      </p:sp>
      <p:sp>
        <p:nvSpPr>
          <p:cNvPr id="7" name="TextBox 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rPr>
              <a:t>Recap and next steps</a:t>
            </a:r>
          </a:p>
        </p:txBody>
      </p:sp>
      <p:sp>
        <p:nvSpPr>
          <p:cNvPr id="8" name="TextBox 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rPr>
              <a:t>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